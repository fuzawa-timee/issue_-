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5"/>
    <p:sldMasterId id="2147483684" r:id="rId6"/>
    <p:sldMasterId id="214748368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Lst>
  <p:sldSz cy="5143500" cx="9144000"/>
  <p:notesSz cx="6858000" cy="9144000"/>
  <p:embeddedFontLst>
    <p:embeddedFont>
      <p:font typeface="M PLUS 1p"/>
      <p:regular r:id="rId50"/>
      <p:bold r:id="rId51"/>
    </p:embeddedFont>
    <p:embeddedFont>
      <p:font typeface="Noto Sans"/>
      <p:regular r:id="rId52"/>
      <p:bold r:id="rId53"/>
      <p:italic r:id="rId54"/>
      <p:boldItalic r:id="rId55"/>
    </p:embeddedFont>
    <p:embeddedFont>
      <p:font typeface="Noto Sans SemiBold"/>
      <p:regular r:id="rId56"/>
      <p:bold r:id="rId57"/>
      <p:italic r:id="rId58"/>
      <p:boldItalic r:id="rId59"/>
    </p:embeddedFont>
    <p:embeddedFont>
      <p:font typeface="Noto Sans JP"/>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EEEEEE"/>
          </p15:clr>
        </p15:guide>
        <p15:guide id="2" pos="2880">
          <p15:clr>
            <a:srgbClr val="EEEEEE"/>
          </p15:clr>
        </p15:guide>
        <p15:guide id="3" orient="horz" pos="2985">
          <p15:clr>
            <a:srgbClr val="EEEEEE"/>
          </p15:clr>
        </p15:guide>
        <p15:guide id="4" orient="horz" pos="719">
          <p15:clr>
            <a:srgbClr val="EEEEEE"/>
          </p15:clr>
        </p15:guide>
        <p15:guide id="5" orient="horz" pos="1001">
          <p15:clr>
            <a:srgbClr val="EEEEEE"/>
          </p15:clr>
        </p15:guide>
        <p15:guide id="6" pos="113">
          <p15:clr>
            <a:srgbClr val="EEEEEE"/>
          </p15:clr>
        </p15:guide>
        <p15:guide id="7" pos="5647">
          <p15:clr>
            <a:srgbClr val="EEEEEE"/>
          </p15:clr>
        </p15:guide>
        <p15:guide id="8" pos="1497">
          <p15:clr>
            <a:srgbClr val="EEEEEE"/>
          </p15:clr>
        </p15:guide>
        <p15:guide id="9" pos="4263">
          <p15:clr>
            <a:srgbClr val="EEEEEE"/>
          </p15:clr>
        </p15:guide>
        <p15:guide id="10" orient="horz" pos="1064">
          <p15:clr>
            <a:srgbClr val="747775"/>
          </p15:clr>
        </p15:guide>
        <p15:guide id="11" orient="horz" pos="2749">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Koki Nakad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2985" orient="horz"/>
        <p:guide pos="719" orient="horz"/>
        <p:guide pos="1001" orient="horz"/>
        <p:guide pos="113"/>
        <p:guide pos="5647"/>
        <p:guide pos="1497"/>
        <p:guide pos="4263"/>
        <p:guide pos="1064" orient="horz"/>
        <p:guide pos="2749"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1" Type="http://schemas.openxmlformats.org/officeDocument/2006/relationships/font" Target="fonts/NotoSansJP-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NotoSansJP-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MPLUS1p-bold.fntdata"/><Relationship Id="rId50" Type="http://schemas.openxmlformats.org/officeDocument/2006/relationships/font" Target="fonts/MPLUS1p-regular.fntdata"/><Relationship Id="rId53" Type="http://schemas.openxmlformats.org/officeDocument/2006/relationships/font" Target="fonts/NotoSans-bold.fntdata"/><Relationship Id="rId52" Type="http://schemas.openxmlformats.org/officeDocument/2006/relationships/font" Target="fonts/NotoSans-regular.fntdata"/><Relationship Id="rId11" Type="http://schemas.openxmlformats.org/officeDocument/2006/relationships/slide" Target="slides/slide3.xml"/><Relationship Id="rId55" Type="http://schemas.openxmlformats.org/officeDocument/2006/relationships/font" Target="fonts/NotoSans-boldItalic.fntdata"/><Relationship Id="rId10" Type="http://schemas.openxmlformats.org/officeDocument/2006/relationships/slide" Target="slides/slide2.xml"/><Relationship Id="rId54" Type="http://schemas.openxmlformats.org/officeDocument/2006/relationships/font" Target="fonts/NotoSans-italic.fntdata"/><Relationship Id="rId13" Type="http://schemas.openxmlformats.org/officeDocument/2006/relationships/slide" Target="slides/slide5.xml"/><Relationship Id="rId57" Type="http://schemas.openxmlformats.org/officeDocument/2006/relationships/font" Target="fonts/NotoSansSemiBold-bold.fntdata"/><Relationship Id="rId12" Type="http://schemas.openxmlformats.org/officeDocument/2006/relationships/slide" Target="slides/slide4.xml"/><Relationship Id="rId56" Type="http://schemas.openxmlformats.org/officeDocument/2006/relationships/font" Target="fonts/NotoSansSemiBold-regular.fntdata"/><Relationship Id="rId15" Type="http://schemas.openxmlformats.org/officeDocument/2006/relationships/slide" Target="slides/slide7.xml"/><Relationship Id="rId59" Type="http://schemas.openxmlformats.org/officeDocument/2006/relationships/font" Target="fonts/NotoSansSemiBold-boldItalic.fntdata"/><Relationship Id="rId14" Type="http://schemas.openxmlformats.org/officeDocument/2006/relationships/slide" Target="slides/slide6.xml"/><Relationship Id="rId58" Type="http://schemas.openxmlformats.org/officeDocument/2006/relationships/font" Target="fonts/NotoSansSemi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26T05:15:38.436">
    <p:pos x="118" y="30"/>
    <p:text>25年9月以降テセウス文脈で企業キャンセル理由が刷新されて細分化されているので、キャンセル理由で傾向がないか深掘ってみてもいいかも？</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6b5fdb3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b6b5fdb3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6b5fdb303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6b5fdb303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6b5fdb303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b6b5fdb303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6b5fdb303_0_1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b6b5fdb303_0_1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6b5fdb303_0_1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b6b5fdb303_0_1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b6b5fdb303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b6b5fdb303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6b5fdb303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b6b5fdb303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b6b5fdb303_0_1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b6b5fdb303_0_1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6b5fdb303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b6b5fdb303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6b5fdb303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b6b5fdb303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6b5fdb303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b6b5fdb303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6b5fdb303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b6b5fdb303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b6b5fdb303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b6b5fdb303_0_1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6b5fdb303_0_2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b6b5fdb303_0_2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6b5fdb303_0_1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b6b5fdb303_0_1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b6b5fdb303_0_1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b6b5fdb303_0_1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b6b5fdb303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b6b5fdb303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b6b5fdb303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b6b5fdb303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chemeClr val="dk1"/>
                </a:solidFill>
              </a:rPr>
              <a:t>未マッチの場合は、「今回は縁がなかった」のような割り切りや、「条件が悪かったかな」のような自責にもなるので、そこまでサービスへのヘイトはたまらないのかも。</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b6b5fdb303_0_1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b6b5fdb303_0_1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b6b5fdb303_0_1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b6b5fdb303_0_1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hktn memo: </a:t>
            </a:r>
            <a:r>
              <a:rPr lang="ja"/>
              <a:t>単発ほどGood評価なしの追加掲載率が低いのは「もともと継続する気がないから評価もしない」というのもあるかも（管理画面への来訪とは別の話で）</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b6b5fdb303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b6b5fdb303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b6b5fdb303_0_1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b6b5fdb303_0_1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b6b5fdb303_0_1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b6b5fdb303_0_1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6b5fdb303_0_1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b6b5fdb303_0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b6b5fdb303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b6b5fdb303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ba743bcc3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ba743bcc3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6b5fdb303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b6b5fdb303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b6b5fdb303_0_1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b6b5fdb303_0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b6b5fdb303_0_1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b6b5fdb303_0_1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ba743bcc3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ba743bcc3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因果関係ではないので解釈注意</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ba743bcc3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ba743bcc3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おそらくは募集開始までのリードタイムが長い → 稼働率が極端に低くならない という関係性があるものと推察</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b6b5fdb303_0_1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3b6b5fdb303_0_1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b6b5fdb303_0_1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3b6b5fdb303_0_1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ba743bcc3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ba743bcc3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b6b5fdb303_0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b6b5fdb303_0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b6b5fdb303_0_15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6" name="Google Shape;926;g3b6b5fdb303_0_15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b6b5fdb303_0_1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b6b5fdb303_0_1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b6b5fdb303_0_2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3b6b5fdb303_0_2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b6b5fdb303_0_2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b6b5fdb303_0_2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b6b5fdb303_0_2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b6b5fdb303_0_2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6b5fdb303_0_1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b6b5fdb303_0_1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3">
  <p:cSld name="CUSTOM_6">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8684" y="47394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52" name="Google Shape;52;p13"/>
          <p:cNvSpPr/>
          <p:nvPr/>
        </p:nvSpPr>
        <p:spPr>
          <a:xfrm>
            <a:off x="-12150" y="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pic>
        <p:nvPicPr>
          <p:cNvPr id="53" name="Google Shape;53;p13"/>
          <p:cNvPicPr preferRelativeResize="0"/>
          <p:nvPr/>
        </p:nvPicPr>
        <p:blipFill>
          <a:blip r:embed="rId2">
            <a:alphaModFix/>
          </a:blip>
          <a:stretch>
            <a:fillRect/>
          </a:stretch>
        </p:blipFill>
        <p:spPr>
          <a:xfrm>
            <a:off x="311700" y="4233874"/>
            <a:ext cx="1541675" cy="404725"/>
          </a:xfrm>
          <a:prstGeom prst="rect">
            <a:avLst/>
          </a:prstGeom>
          <a:noFill/>
          <a:ln>
            <a:noFill/>
          </a:ln>
        </p:spPr>
      </p:pic>
      <p:pic>
        <p:nvPicPr>
          <p:cNvPr id="54" name="Google Shape;54;p13"/>
          <p:cNvPicPr preferRelativeResize="0"/>
          <p:nvPr/>
        </p:nvPicPr>
        <p:blipFill>
          <a:blip r:embed="rId3">
            <a:alphaModFix/>
          </a:blip>
          <a:stretch>
            <a:fillRect/>
          </a:stretch>
        </p:blipFill>
        <p:spPr>
          <a:xfrm>
            <a:off x="6925900" y="2834125"/>
            <a:ext cx="2218100" cy="2088725"/>
          </a:xfrm>
          <a:prstGeom prst="rect">
            <a:avLst/>
          </a:prstGeom>
          <a:noFill/>
          <a:ln>
            <a:noFill/>
          </a:ln>
        </p:spPr>
      </p:pic>
      <p:sp>
        <p:nvSpPr>
          <p:cNvPr id="55" name="Google Shape;55;p13"/>
          <p:cNvSpPr/>
          <p:nvPr/>
        </p:nvSpPr>
        <p:spPr>
          <a:xfrm>
            <a:off x="-12150" y="463860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56" name="Google Shape;56;p13"/>
          <p:cNvSpPr txBox="1"/>
          <p:nvPr>
            <p:ph idx="2" type="sldNum"/>
          </p:nvPr>
        </p:nvSpPr>
        <p:spPr>
          <a:xfrm>
            <a:off x="8558684" y="4739417"/>
            <a:ext cx="548700" cy="393600"/>
          </a:xfrm>
          <a:prstGeom prst="rect">
            <a:avLst/>
          </a:prstGeom>
        </p:spPr>
        <p:txBody>
          <a:bodyPr anchorCtr="0" anchor="ctr" bIns="91425" lIns="91425" spcFirstLastPara="1" rIns="91425" wrap="square" tIns="91425">
            <a:normAutofit/>
          </a:bodyPr>
          <a:lstStyle>
            <a:lvl1pPr lvl="0" algn="r">
              <a:buNone/>
              <a:defRPr sz="600">
                <a:solidFill>
                  <a:schemeClr val="lt1"/>
                </a:solidFill>
                <a:latin typeface="Noto Sans JP"/>
                <a:ea typeface="Noto Sans JP"/>
                <a:cs typeface="Noto Sans JP"/>
                <a:sym typeface="Noto Sans JP"/>
              </a:defRPr>
            </a:lvl1pPr>
            <a:lvl2pPr lvl="1" algn="r">
              <a:buNone/>
              <a:defRPr sz="600">
                <a:solidFill>
                  <a:schemeClr val="lt1"/>
                </a:solidFill>
                <a:latin typeface="Noto Sans JP"/>
                <a:ea typeface="Noto Sans JP"/>
                <a:cs typeface="Noto Sans JP"/>
                <a:sym typeface="Noto Sans JP"/>
              </a:defRPr>
            </a:lvl2pPr>
            <a:lvl3pPr lvl="2" algn="r">
              <a:buNone/>
              <a:defRPr sz="600">
                <a:solidFill>
                  <a:schemeClr val="lt1"/>
                </a:solidFill>
                <a:latin typeface="Noto Sans JP"/>
                <a:ea typeface="Noto Sans JP"/>
                <a:cs typeface="Noto Sans JP"/>
                <a:sym typeface="Noto Sans JP"/>
              </a:defRPr>
            </a:lvl3pPr>
            <a:lvl4pPr lvl="3" algn="r">
              <a:buNone/>
              <a:defRPr sz="600">
                <a:solidFill>
                  <a:schemeClr val="lt1"/>
                </a:solidFill>
                <a:latin typeface="Noto Sans JP"/>
                <a:ea typeface="Noto Sans JP"/>
                <a:cs typeface="Noto Sans JP"/>
                <a:sym typeface="Noto Sans JP"/>
              </a:defRPr>
            </a:lvl4pPr>
            <a:lvl5pPr lvl="4" algn="r">
              <a:buNone/>
              <a:defRPr sz="600">
                <a:solidFill>
                  <a:schemeClr val="lt1"/>
                </a:solidFill>
                <a:latin typeface="Noto Sans JP"/>
                <a:ea typeface="Noto Sans JP"/>
                <a:cs typeface="Noto Sans JP"/>
                <a:sym typeface="Noto Sans JP"/>
              </a:defRPr>
            </a:lvl5pPr>
            <a:lvl6pPr lvl="5" algn="r">
              <a:buNone/>
              <a:defRPr sz="600">
                <a:solidFill>
                  <a:schemeClr val="lt1"/>
                </a:solidFill>
                <a:latin typeface="Noto Sans JP"/>
                <a:ea typeface="Noto Sans JP"/>
                <a:cs typeface="Noto Sans JP"/>
                <a:sym typeface="Noto Sans JP"/>
              </a:defRPr>
            </a:lvl6pPr>
            <a:lvl7pPr lvl="6" algn="r">
              <a:buNone/>
              <a:defRPr sz="600">
                <a:solidFill>
                  <a:schemeClr val="lt1"/>
                </a:solidFill>
                <a:latin typeface="Noto Sans JP"/>
                <a:ea typeface="Noto Sans JP"/>
                <a:cs typeface="Noto Sans JP"/>
                <a:sym typeface="Noto Sans JP"/>
              </a:defRPr>
            </a:lvl7pPr>
            <a:lvl8pPr lvl="7" algn="r">
              <a:buNone/>
              <a:defRPr sz="600">
                <a:solidFill>
                  <a:schemeClr val="lt1"/>
                </a:solidFill>
                <a:latin typeface="Noto Sans JP"/>
                <a:ea typeface="Noto Sans JP"/>
                <a:cs typeface="Noto Sans JP"/>
                <a:sym typeface="Noto Sans JP"/>
              </a:defRPr>
            </a:lvl8pPr>
            <a:lvl9pPr lvl="8" algn="r">
              <a:buNone/>
              <a:defRPr sz="600">
                <a:solidFill>
                  <a:schemeClr val="lt1"/>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57" name="Google Shape;57;p13"/>
          <p:cNvSpPr txBox="1"/>
          <p:nvPr>
            <p:ph type="title"/>
          </p:nvPr>
        </p:nvSpPr>
        <p:spPr>
          <a:xfrm>
            <a:off x="607050" y="2063838"/>
            <a:ext cx="7929900" cy="6111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
        <p:nvSpPr>
          <p:cNvPr id="58" name="Google Shape;58;p13"/>
          <p:cNvSpPr/>
          <p:nvPr/>
        </p:nvSpPr>
        <p:spPr>
          <a:xfrm>
            <a:off x="7425750" y="500402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CUSTOM_8">
    <p:spTree>
      <p:nvGrpSpPr>
        <p:cNvPr id="59" name="Shape 59"/>
        <p:cNvGrpSpPr/>
        <p:nvPr/>
      </p:nvGrpSpPr>
      <p:grpSpPr>
        <a:xfrm>
          <a:off x="0" y="0"/>
          <a:ext cx="0" cy="0"/>
          <a:chOff x="0" y="0"/>
          <a:chExt cx="0" cy="0"/>
        </a:xfrm>
      </p:grpSpPr>
      <p:sp>
        <p:nvSpPr>
          <p:cNvPr id="60" name="Google Shape;60;p14"/>
          <p:cNvSpPr txBox="1"/>
          <p:nvPr>
            <p:ph idx="12" type="sldNum"/>
          </p:nvPr>
        </p:nvSpPr>
        <p:spPr>
          <a:xfrm>
            <a:off x="8558684" y="47394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61" name="Google Shape;61;p14"/>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62" name="Google Shape;62;p14"/>
          <p:cNvSpPr txBox="1"/>
          <p:nvPr>
            <p:ph type="title"/>
          </p:nvPr>
        </p:nvSpPr>
        <p:spPr>
          <a:xfrm>
            <a:off x="187525" y="48100"/>
            <a:ext cx="84672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Noto Sans JP"/>
              <a:buNone/>
              <a:defRPr b="1">
                <a:latin typeface="Noto Sans JP"/>
                <a:ea typeface="Noto Sans JP"/>
                <a:cs typeface="Noto Sans JP"/>
                <a:sym typeface="Noto Sans JP"/>
              </a:defRPr>
            </a:lvl1pPr>
            <a:lvl2pPr lvl="1">
              <a:spcBef>
                <a:spcPts val="0"/>
              </a:spcBef>
              <a:spcAft>
                <a:spcPts val="0"/>
              </a:spcAft>
              <a:buSzPts val="2800"/>
              <a:buFont typeface="Noto Sans JP"/>
              <a:buNone/>
              <a:defRPr b="1">
                <a:latin typeface="Noto Sans JP"/>
                <a:ea typeface="Noto Sans JP"/>
                <a:cs typeface="Noto Sans JP"/>
                <a:sym typeface="Noto Sans JP"/>
              </a:defRPr>
            </a:lvl2pPr>
            <a:lvl3pPr lvl="2">
              <a:spcBef>
                <a:spcPts val="0"/>
              </a:spcBef>
              <a:spcAft>
                <a:spcPts val="0"/>
              </a:spcAft>
              <a:buSzPts val="2800"/>
              <a:buFont typeface="Noto Sans JP"/>
              <a:buNone/>
              <a:defRPr b="1">
                <a:latin typeface="Noto Sans JP"/>
                <a:ea typeface="Noto Sans JP"/>
                <a:cs typeface="Noto Sans JP"/>
                <a:sym typeface="Noto Sans JP"/>
              </a:defRPr>
            </a:lvl3pPr>
            <a:lvl4pPr lvl="3">
              <a:spcBef>
                <a:spcPts val="0"/>
              </a:spcBef>
              <a:spcAft>
                <a:spcPts val="0"/>
              </a:spcAft>
              <a:buSzPts val="2800"/>
              <a:buFont typeface="Noto Sans JP"/>
              <a:buNone/>
              <a:defRPr b="1">
                <a:latin typeface="Noto Sans JP"/>
                <a:ea typeface="Noto Sans JP"/>
                <a:cs typeface="Noto Sans JP"/>
                <a:sym typeface="Noto Sans JP"/>
              </a:defRPr>
            </a:lvl4pPr>
            <a:lvl5pPr lvl="4">
              <a:spcBef>
                <a:spcPts val="0"/>
              </a:spcBef>
              <a:spcAft>
                <a:spcPts val="0"/>
              </a:spcAft>
              <a:buSzPts val="2800"/>
              <a:buFont typeface="Noto Sans JP"/>
              <a:buNone/>
              <a:defRPr b="1">
                <a:latin typeface="Noto Sans JP"/>
                <a:ea typeface="Noto Sans JP"/>
                <a:cs typeface="Noto Sans JP"/>
                <a:sym typeface="Noto Sans JP"/>
              </a:defRPr>
            </a:lvl5pPr>
            <a:lvl6pPr lvl="5">
              <a:spcBef>
                <a:spcPts val="0"/>
              </a:spcBef>
              <a:spcAft>
                <a:spcPts val="0"/>
              </a:spcAft>
              <a:buSzPts val="2800"/>
              <a:buFont typeface="Noto Sans JP"/>
              <a:buNone/>
              <a:defRPr b="1">
                <a:latin typeface="Noto Sans JP"/>
                <a:ea typeface="Noto Sans JP"/>
                <a:cs typeface="Noto Sans JP"/>
                <a:sym typeface="Noto Sans JP"/>
              </a:defRPr>
            </a:lvl6pPr>
            <a:lvl7pPr lvl="6">
              <a:spcBef>
                <a:spcPts val="0"/>
              </a:spcBef>
              <a:spcAft>
                <a:spcPts val="0"/>
              </a:spcAft>
              <a:buSzPts val="2800"/>
              <a:buFont typeface="Noto Sans JP"/>
              <a:buNone/>
              <a:defRPr b="1">
                <a:latin typeface="Noto Sans JP"/>
                <a:ea typeface="Noto Sans JP"/>
                <a:cs typeface="Noto Sans JP"/>
                <a:sym typeface="Noto Sans JP"/>
              </a:defRPr>
            </a:lvl7pPr>
            <a:lvl8pPr lvl="7">
              <a:spcBef>
                <a:spcPts val="0"/>
              </a:spcBef>
              <a:spcAft>
                <a:spcPts val="0"/>
              </a:spcAft>
              <a:buSzPts val="2800"/>
              <a:buFont typeface="Noto Sans JP"/>
              <a:buNone/>
              <a:defRPr b="1">
                <a:latin typeface="Noto Sans JP"/>
                <a:ea typeface="Noto Sans JP"/>
                <a:cs typeface="Noto Sans JP"/>
                <a:sym typeface="Noto Sans JP"/>
              </a:defRPr>
            </a:lvl8pPr>
            <a:lvl9pPr lvl="8">
              <a:spcBef>
                <a:spcPts val="0"/>
              </a:spcBef>
              <a:spcAft>
                <a:spcPts val="0"/>
              </a:spcAft>
              <a:buSzPts val="2800"/>
              <a:buFont typeface="Noto Sans JP"/>
              <a:buNone/>
              <a:defRPr b="1">
                <a:latin typeface="Noto Sans JP"/>
                <a:ea typeface="Noto Sans JP"/>
                <a:cs typeface="Noto Sans JP"/>
                <a:sym typeface="Noto Sans JP"/>
              </a:defRPr>
            </a:lvl9pPr>
          </a:lstStyle>
          <a:p/>
        </p:txBody>
      </p:sp>
      <p:sp>
        <p:nvSpPr>
          <p:cNvPr id="63" name="Google Shape;63;p14"/>
          <p:cNvSpPr txBox="1"/>
          <p:nvPr>
            <p:ph idx="1" type="subTitle"/>
          </p:nvPr>
        </p:nvSpPr>
        <p:spPr>
          <a:xfrm>
            <a:off x="1591900" y="1332650"/>
            <a:ext cx="7334400" cy="393600"/>
          </a:xfrm>
          <a:prstGeom prst="rect">
            <a:avLst/>
          </a:prstGeom>
        </p:spPr>
        <p:txBody>
          <a:bodyPr anchorCtr="0" anchor="t" bIns="91425" lIns="91425" spcFirstLastPara="1" rIns="91425" wrap="square" tIns="91425">
            <a:sp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64" name="Google Shape;64;p14"/>
          <p:cNvSpPr txBox="1"/>
          <p:nvPr>
            <p:ph idx="2" type="subTitle"/>
          </p:nvPr>
        </p:nvSpPr>
        <p:spPr>
          <a:xfrm>
            <a:off x="1591900" y="2000800"/>
            <a:ext cx="73344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65" name="Google Shape;65;p14"/>
          <p:cNvSpPr txBox="1"/>
          <p:nvPr>
            <p:ph idx="3" type="subTitle"/>
          </p:nvPr>
        </p:nvSpPr>
        <p:spPr>
          <a:xfrm>
            <a:off x="1591900" y="2749200"/>
            <a:ext cx="73344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66" name="Google Shape;66;p14"/>
          <p:cNvSpPr txBox="1"/>
          <p:nvPr>
            <p:ph idx="4" type="subTitle"/>
          </p:nvPr>
        </p:nvSpPr>
        <p:spPr>
          <a:xfrm>
            <a:off x="1591900" y="3497600"/>
            <a:ext cx="73344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0">
  <p:cSld name="CUSTOM_5">
    <p:spTree>
      <p:nvGrpSpPr>
        <p:cNvPr id="70" name="Shape 70"/>
        <p:cNvGrpSpPr/>
        <p:nvPr/>
      </p:nvGrpSpPr>
      <p:grpSpPr>
        <a:xfrm>
          <a:off x="0" y="0"/>
          <a:ext cx="0" cy="0"/>
          <a:chOff x="0" y="0"/>
          <a:chExt cx="0" cy="0"/>
        </a:xfrm>
      </p:grpSpPr>
      <p:pic>
        <p:nvPicPr>
          <p:cNvPr descr="preencoded.png" id="71" name="Google Shape;71;p16"/>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72" name="Google Shape;72;p16"/>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73" name="Google Shape;73;p16"/>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2pPr>
            <a:lvl3pPr lvl="2"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3pPr>
            <a:lvl4pPr lvl="3"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4pPr>
            <a:lvl5pPr lvl="4"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5pPr>
            <a:lvl6pPr lvl="5"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6pPr>
            <a:lvl7pPr lvl="6"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7pPr>
            <a:lvl8pPr lvl="7"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8pPr>
            <a:lvl9pPr lvl="8"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9pPr>
          </a:lstStyle>
          <a:p/>
        </p:txBody>
      </p:sp>
      <p:sp>
        <p:nvSpPr>
          <p:cNvPr id="74" name="Google Shape;74;p16"/>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75" name="Google Shape;75;p16"/>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1">
  <p:cSld name="CUSTOM">
    <p:spTree>
      <p:nvGrpSpPr>
        <p:cNvPr id="76" name="Shape 76"/>
        <p:cNvGrpSpPr/>
        <p:nvPr/>
      </p:nvGrpSpPr>
      <p:grpSpPr>
        <a:xfrm>
          <a:off x="0" y="0"/>
          <a:ext cx="0" cy="0"/>
          <a:chOff x="0" y="0"/>
          <a:chExt cx="0" cy="0"/>
        </a:xfrm>
      </p:grpSpPr>
      <p:pic>
        <p:nvPicPr>
          <p:cNvPr descr="preencoded.png" id="77" name="Google Shape;77;p17"/>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78" name="Google Shape;78;p17"/>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79" name="Google Shape;79;p17"/>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2pPr>
            <a:lvl3pPr lvl="2"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3pPr>
            <a:lvl4pPr lvl="3"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4pPr>
            <a:lvl5pPr lvl="4"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5pPr>
            <a:lvl6pPr lvl="5"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6pPr>
            <a:lvl7pPr lvl="6"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7pPr>
            <a:lvl8pPr lvl="7"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8pPr>
            <a:lvl9pPr lvl="8" marR="0" algn="l">
              <a:lnSpc>
                <a:spcPct val="100000"/>
              </a:lnSpc>
              <a:spcBef>
                <a:spcPts val="0"/>
              </a:spcBef>
              <a:spcAft>
                <a:spcPts val="0"/>
              </a:spcAft>
              <a:buClr>
                <a:srgbClr val="000000"/>
              </a:buClr>
              <a:buSzPts val="1400"/>
              <a:buFont typeface="Noto Sans"/>
              <a:buNone/>
              <a:defRPr b="1" i="0" sz="1400" u="none" cap="none" strike="noStrike">
                <a:solidFill>
                  <a:srgbClr val="000000"/>
                </a:solidFill>
                <a:latin typeface="Noto Sans"/>
                <a:ea typeface="Noto Sans"/>
                <a:cs typeface="Noto Sans"/>
                <a:sym typeface="Noto Sans"/>
              </a:defRPr>
            </a:lvl9pPr>
          </a:lstStyle>
          <a:p/>
        </p:txBody>
      </p:sp>
      <p:sp>
        <p:nvSpPr>
          <p:cNvPr id="80" name="Google Shape;80;p17"/>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81" name="Google Shape;81;p17"/>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82" name="Google Shape;82;p17"/>
          <p:cNvSpPr txBox="1"/>
          <p:nvPr>
            <p:ph idx="2" type="body"/>
          </p:nvPr>
        </p:nvSpPr>
        <p:spPr>
          <a:xfrm>
            <a:off x="378125" y="770500"/>
            <a:ext cx="8248500" cy="27009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2">
  <p:cSld name="CUSTOM_3">
    <p:spTree>
      <p:nvGrpSpPr>
        <p:cNvPr id="83" name="Shape 83"/>
        <p:cNvGrpSpPr/>
        <p:nvPr/>
      </p:nvGrpSpPr>
      <p:grpSpPr>
        <a:xfrm>
          <a:off x="0" y="0"/>
          <a:ext cx="0" cy="0"/>
          <a:chOff x="0" y="0"/>
          <a:chExt cx="0" cy="0"/>
        </a:xfrm>
      </p:grpSpPr>
      <p:pic>
        <p:nvPicPr>
          <p:cNvPr descr="preencoded.png" id="84" name="Google Shape;84;p18"/>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85" name="Google Shape;85;p18"/>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86" name="Google Shape;86;p18"/>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87" name="Google Shape;87;p18"/>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88" name="Google Shape;88;p18"/>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89" name="Google Shape;89;p18"/>
          <p:cNvSpPr txBox="1"/>
          <p:nvPr>
            <p:ph idx="2" type="body"/>
          </p:nvPr>
        </p:nvSpPr>
        <p:spPr>
          <a:xfrm>
            <a:off x="378450" y="1243125"/>
            <a:ext cx="8248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90" name="Google Shape;90;p18"/>
          <p:cNvSpPr txBox="1"/>
          <p:nvPr>
            <p:ph idx="3"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oto Sans JP"/>
              <a:buNone/>
              <a:defRPr b="1" sz="2400">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783">
          <p15:clr>
            <a:srgbClr val="E46962"/>
          </p15:clr>
        </p15:guide>
        <p15:guide id="2" pos="2880">
          <p15:clr>
            <a:srgbClr val="E46962"/>
          </p15:clr>
        </p15:guide>
        <p15:guide id="3" pos="2976">
          <p15:clr>
            <a:srgbClr val="E46962"/>
          </p15:clr>
        </p15:guide>
        <p15:guide id="4" orient="horz" pos="504">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3">
  <p:cSld name="CUSTOM_3_1">
    <p:spTree>
      <p:nvGrpSpPr>
        <p:cNvPr id="91" name="Shape 91"/>
        <p:cNvGrpSpPr/>
        <p:nvPr/>
      </p:nvGrpSpPr>
      <p:grpSpPr>
        <a:xfrm>
          <a:off x="0" y="0"/>
          <a:ext cx="0" cy="0"/>
          <a:chOff x="0" y="0"/>
          <a:chExt cx="0" cy="0"/>
        </a:xfrm>
      </p:grpSpPr>
      <p:pic>
        <p:nvPicPr>
          <p:cNvPr descr="preencoded.png" id="92" name="Google Shape;92;p19"/>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93" name="Google Shape;93;p19"/>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94" name="Google Shape;94;p19"/>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95" name="Google Shape;95;p19"/>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96" name="Google Shape;96;p19"/>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97" name="Google Shape;97;p19"/>
          <p:cNvSpPr txBox="1"/>
          <p:nvPr>
            <p:ph idx="2" type="body"/>
          </p:nvPr>
        </p:nvSpPr>
        <p:spPr>
          <a:xfrm>
            <a:off x="378450" y="1243125"/>
            <a:ext cx="8248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98" name="Google Shape;98;p19"/>
          <p:cNvSpPr txBox="1"/>
          <p:nvPr>
            <p:ph idx="3"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Noto Sans JP"/>
              <a:buNone/>
              <a:defRPr>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4">
  <p:cSld name="CUSTOM_4">
    <p:spTree>
      <p:nvGrpSpPr>
        <p:cNvPr id="99" name="Shape 99"/>
        <p:cNvGrpSpPr/>
        <p:nvPr/>
      </p:nvGrpSpPr>
      <p:grpSpPr>
        <a:xfrm>
          <a:off x="0" y="0"/>
          <a:ext cx="0" cy="0"/>
          <a:chOff x="0" y="0"/>
          <a:chExt cx="0" cy="0"/>
        </a:xfrm>
      </p:grpSpPr>
      <p:pic>
        <p:nvPicPr>
          <p:cNvPr descr="preencoded.png" id="100" name="Google Shape;100;p20"/>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101" name="Google Shape;101;p20"/>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102" name="Google Shape;102;p20"/>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103" name="Google Shape;103;p20"/>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04" name="Google Shape;104;p20"/>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05" name="Google Shape;105;p20"/>
          <p:cNvSpPr txBox="1"/>
          <p:nvPr>
            <p:ph idx="2" type="body"/>
          </p:nvPr>
        </p:nvSpPr>
        <p:spPr>
          <a:xfrm>
            <a:off x="378125" y="770500"/>
            <a:ext cx="38001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06" name="Google Shape;106;p20"/>
          <p:cNvSpPr txBox="1"/>
          <p:nvPr>
            <p:ph idx="3" type="body"/>
          </p:nvPr>
        </p:nvSpPr>
        <p:spPr>
          <a:xfrm>
            <a:off x="4937525" y="770500"/>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5">
  <p:cSld name="CUSTOM_3_2">
    <p:spTree>
      <p:nvGrpSpPr>
        <p:cNvPr id="107" name="Shape 107"/>
        <p:cNvGrpSpPr/>
        <p:nvPr/>
      </p:nvGrpSpPr>
      <p:grpSpPr>
        <a:xfrm>
          <a:off x="0" y="0"/>
          <a:ext cx="0" cy="0"/>
          <a:chOff x="0" y="0"/>
          <a:chExt cx="0" cy="0"/>
        </a:xfrm>
      </p:grpSpPr>
      <p:pic>
        <p:nvPicPr>
          <p:cNvPr descr="preencoded.png" id="108" name="Google Shape;108;p21"/>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109" name="Google Shape;109;p21"/>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110" name="Google Shape;110;p21"/>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111" name="Google Shape;111;p21"/>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12" name="Google Shape;112;p21"/>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13" name="Google Shape;113;p21"/>
          <p:cNvSpPr txBox="1"/>
          <p:nvPr>
            <p:ph idx="2" type="body"/>
          </p:nvPr>
        </p:nvSpPr>
        <p:spPr>
          <a:xfrm>
            <a:off x="49189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14" name="Google Shape;114;p21"/>
          <p:cNvSpPr txBox="1"/>
          <p:nvPr>
            <p:ph idx="3" type="body"/>
          </p:nvPr>
        </p:nvSpPr>
        <p:spPr>
          <a:xfrm>
            <a:off x="3784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15" name="Google Shape;115;p21"/>
          <p:cNvSpPr txBox="1"/>
          <p:nvPr>
            <p:ph idx="4"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oto Sans JP"/>
              <a:buNone/>
              <a:defRPr b="1" sz="2400">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本文 template_06">
  <p:cSld name="CUSTOM_3_1_1">
    <p:spTree>
      <p:nvGrpSpPr>
        <p:cNvPr id="116" name="Shape 116"/>
        <p:cNvGrpSpPr/>
        <p:nvPr/>
      </p:nvGrpSpPr>
      <p:grpSpPr>
        <a:xfrm>
          <a:off x="0" y="0"/>
          <a:ext cx="0" cy="0"/>
          <a:chOff x="0" y="0"/>
          <a:chExt cx="0" cy="0"/>
        </a:xfrm>
      </p:grpSpPr>
      <p:pic>
        <p:nvPicPr>
          <p:cNvPr descr="preencoded.png" id="117" name="Google Shape;117;p22"/>
          <p:cNvPicPr preferRelativeResize="0"/>
          <p:nvPr/>
        </p:nvPicPr>
        <p:blipFill rotWithShape="1">
          <a:blip r:embed="rId2">
            <a:alphaModFix/>
          </a:blip>
          <a:srcRect b="0" l="0" r="0" t="0"/>
          <a:stretch/>
        </p:blipFill>
        <p:spPr>
          <a:xfrm>
            <a:off x="0" y="4762500"/>
            <a:ext cx="9144006" cy="381000"/>
          </a:xfrm>
          <a:prstGeom prst="rect">
            <a:avLst/>
          </a:prstGeom>
          <a:noFill/>
          <a:ln>
            <a:noFill/>
          </a:ln>
        </p:spPr>
      </p:pic>
      <p:pic>
        <p:nvPicPr>
          <p:cNvPr id="118" name="Google Shape;118;p22"/>
          <p:cNvPicPr preferRelativeResize="0"/>
          <p:nvPr/>
        </p:nvPicPr>
        <p:blipFill rotWithShape="1">
          <a:blip r:embed="rId3">
            <a:alphaModFix/>
          </a:blip>
          <a:srcRect b="0" l="0" r="0" t="0"/>
          <a:stretch/>
        </p:blipFill>
        <p:spPr>
          <a:xfrm>
            <a:off x="0" y="-6"/>
            <a:ext cx="9144000" cy="528638"/>
          </a:xfrm>
          <a:prstGeom prst="rect">
            <a:avLst/>
          </a:prstGeom>
          <a:noFill/>
          <a:ln>
            <a:noFill/>
          </a:ln>
        </p:spPr>
      </p:pic>
      <p:sp>
        <p:nvSpPr>
          <p:cNvPr id="119" name="Google Shape;119;p22"/>
          <p:cNvSpPr txBox="1"/>
          <p:nvPr>
            <p:ph idx="1" type="subTitle"/>
          </p:nvPr>
        </p:nvSpPr>
        <p:spPr>
          <a:xfrm>
            <a:off x="333063" y="168163"/>
            <a:ext cx="6748500" cy="192300"/>
          </a:xfrm>
          <a:prstGeom prst="rect">
            <a:avLst/>
          </a:prstGeom>
          <a:noFill/>
          <a:ln>
            <a:noFill/>
          </a:ln>
        </p:spPr>
        <p:txBody>
          <a:bodyPr anchorCtr="0" anchor="ctr" bIns="45725" lIns="45725" spcFirstLastPara="1" rIns="45725" wrap="square" tIns="45725">
            <a:noAutofit/>
          </a:bodyPr>
          <a:lstStyle>
            <a:lvl1pPr lvl="0" marR="0" algn="l">
              <a:lnSpc>
                <a:spcPct val="100000"/>
              </a:lnSpc>
              <a:spcBef>
                <a:spcPts val="0"/>
              </a:spcBef>
              <a:spcAft>
                <a:spcPts val="0"/>
              </a:spcAft>
              <a:buClr>
                <a:schemeClr val="lt1"/>
              </a:buClr>
              <a:buSzPts val="1400"/>
              <a:buFont typeface="Noto Sans JP"/>
              <a:buNone/>
              <a:defRPr b="1" i="0" sz="14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2pPr>
            <a:lvl3pPr lvl="2"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3pPr>
            <a:lvl4pPr lvl="3"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4pPr>
            <a:lvl5pPr lvl="4"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5pPr>
            <a:lvl6pPr lvl="5"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6pPr>
            <a:lvl7pPr lvl="6"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7pPr>
            <a:lvl8pPr lvl="7"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8pPr>
            <a:lvl9pPr lvl="8" marR="0" algn="l">
              <a:lnSpc>
                <a:spcPct val="100000"/>
              </a:lnSpc>
              <a:spcBef>
                <a:spcPts val="0"/>
              </a:spcBef>
              <a:spcAft>
                <a:spcPts val="0"/>
              </a:spcAft>
              <a:buClr>
                <a:schemeClr val="lt1"/>
              </a:buClr>
              <a:buSzPts val="1400"/>
              <a:buFont typeface="Noto Sans"/>
              <a:buNone/>
              <a:defRPr b="1" i="0" sz="1400" u="none" cap="none" strike="noStrike">
                <a:solidFill>
                  <a:schemeClr val="lt1"/>
                </a:solidFill>
                <a:latin typeface="Noto Sans"/>
                <a:ea typeface="Noto Sans"/>
                <a:cs typeface="Noto Sans"/>
                <a:sym typeface="Noto Sans"/>
              </a:defRPr>
            </a:lvl9pPr>
          </a:lstStyle>
          <a:p/>
        </p:txBody>
      </p:sp>
      <p:sp>
        <p:nvSpPr>
          <p:cNvPr id="120" name="Google Shape;120;p22"/>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21" name="Google Shape;121;p22"/>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22" name="Google Shape;122;p22"/>
          <p:cNvSpPr txBox="1"/>
          <p:nvPr>
            <p:ph idx="2" type="body"/>
          </p:nvPr>
        </p:nvSpPr>
        <p:spPr>
          <a:xfrm>
            <a:off x="49189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23" name="Google Shape;123;p22"/>
          <p:cNvSpPr txBox="1"/>
          <p:nvPr>
            <p:ph idx="3" type="body"/>
          </p:nvPr>
        </p:nvSpPr>
        <p:spPr>
          <a:xfrm>
            <a:off x="378450" y="1243125"/>
            <a:ext cx="3865500" cy="25485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1pPr>
            <a:lvl2pPr indent="-317500" lvl="1" marL="914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2pPr>
            <a:lvl3pPr indent="-317500" lvl="2" marL="1371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3pPr>
            <a:lvl4pPr indent="-317500" lvl="3" marL="1828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4pPr>
            <a:lvl5pPr indent="-317500" lvl="4" marL="22860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5pPr>
            <a:lvl6pPr indent="-317500" lvl="5" marL="27432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6pPr>
            <a:lvl7pPr indent="-317500" lvl="6" marL="32004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7pPr>
            <a:lvl8pPr indent="-317500" lvl="7" marL="36576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8pPr>
            <a:lvl9pPr indent="-317500" lvl="8" marL="4114800">
              <a:spcBef>
                <a:spcPts val="0"/>
              </a:spcBef>
              <a:spcAft>
                <a:spcPts val="0"/>
              </a:spcAft>
              <a:buClr>
                <a:schemeClr val="lt1"/>
              </a:buClr>
              <a:buSzPts val="1400"/>
              <a:buFont typeface="Noto Sans JP"/>
              <a:buChar char="■"/>
              <a:defRPr>
                <a:solidFill>
                  <a:schemeClr val="lt1"/>
                </a:solidFill>
                <a:latin typeface="Noto Sans JP"/>
                <a:ea typeface="Noto Sans JP"/>
                <a:cs typeface="Noto Sans JP"/>
                <a:sym typeface="Noto Sans JP"/>
              </a:defRPr>
            </a:lvl9pPr>
          </a:lstStyle>
          <a:p/>
        </p:txBody>
      </p:sp>
      <p:sp>
        <p:nvSpPr>
          <p:cNvPr id="124" name="Google Shape;124;p22"/>
          <p:cNvSpPr txBox="1"/>
          <p:nvPr>
            <p:ph idx="4" type="subTitle"/>
          </p:nvPr>
        </p:nvSpPr>
        <p:spPr>
          <a:xfrm>
            <a:off x="378450" y="747325"/>
            <a:ext cx="8248500" cy="4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1400"/>
              <a:buFont typeface="Noto Sans JP"/>
              <a:buNone/>
              <a:defRPr>
                <a:solidFill>
                  <a:schemeClr val="lt1"/>
                </a:solidFill>
                <a:latin typeface="Noto Sans JP"/>
                <a:ea typeface="Noto Sans JP"/>
                <a:cs typeface="Noto Sans JP"/>
                <a:sym typeface="Noto Sans JP"/>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1620">
          <p15:clr>
            <a:srgbClr val="E46962"/>
          </p15:clr>
        </p15:guide>
        <p15:guide id="2" pos="288">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扉ページ用">
  <p:cSld name="DEFAULT_1">
    <p:bg>
      <p:bgPr>
        <a:solidFill>
          <a:schemeClr val="dk2"/>
        </a:solidFill>
      </p:bgPr>
    </p:bg>
    <p:spTree>
      <p:nvGrpSpPr>
        <p:cNvPr id="125" name="Shape 125"/>
        <p:cNvGrpSpPr/>
        <p:nvPr/>
      </p:nvGrpSpPr>
      <p:grpSpPr>
        <a:xfrm>
          <a:off x="0" y="0"/>
          <a:ext cx="0" cy="0"/>
          <a:chOff x="0" y="0"/>
          <a:chExt cx="0" cy="0"/>
        </a:xfrm>
      </p:grpSpPr>
      <p:pic>
        <p:nvPicPr>
          <p:cNvPr descr="preencoded.png" id="126" name="Google Shape;126;p23"/>
          <p:cNvPicPr preferRelativeResize="0"/>
          <p:nvPr/>
        </p:nvPicPr>
        <p:blipFill rotWithShape="1">
          <a:blip r:embed="rId2">
            <a:alphaModFix/>
          </a:blip>
          <a:srcRect b="0" l="0" r="0" t="0"/>
          <a:stretch/>
        </p:blipFill>
        <p:spPr>
          <a:xfrm>
            <a:off x="0" y="4762500"/>
            <a:ext cx="9144006" cy="381000"/>
          </a:xfrm>
          <a:prstGeom prst="rect">
            <a:avLst/>
          </a:prstGeom>
          <a:noFill/>
          <a:ln>
            <a:noFill/>
          </a:ln>
        </p:spPr>
      </p:pic>
      <p:sp>
        <p:nvSpPr>
          <p:cNvPr id="127" name="Google Shape;127;p23"/>
          <p:cNvSpPr/>
          <p:nvPr/>
        </p:nvSpPr>
        <p:spPr>
          <a:xfrm>
            <a:off x="6943725" y="494347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
        <p:nvSpPr>
          <p:cNvPr id="128" name="Google Shape;128;p23"/>
          <p:cNvSpPr txBox="1"/>
          <p:nvPr>
            <p:ph idx="12" type="sldNum"/>
          </p:nvPr>
        </p:nvSpPr>
        <p:spPr>
          <a:xfrm>
            <a:off x="8370272" y="4783872"/>
            <a:ext cx="548700" cy="3939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2"/>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29" name="Google Shape;129;p23"/>
          <p:cNvSpPr txBox="1"/>
          <p:nvPr>
            <p:ph type="title"/>
          </p:nvPr>
        </p:nvSpPr>
        <p:spPr>
          <a:xfrm>
            <a:off x="457200" y="1799250"/>
            <a:ext cx="7820400" cy="15450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lt1"/>
              </a:buClr>
              <a:buSzPts val="3600"/>
              <a:buFont typeface="Noto Sans JP"/>
              <a:buNone/>
              <a:defRPr b="1" i="0" sz="3600" u="none" cap="none" strike="noStrike">
                <a:solidFill>
                  <a:schemeClr val="lt1"/>
                </a:solidFill>
                <a:latin typeface="Noto Sans JP"/>
                <a:ea typeface="Noto Sans JP"/>
                <a:cs typeface="Noto Sans JP"/>
                <a:sym typeface="Noto Sans JP"/>
              </a:defRPr>
            </a:lvl1pPr>
            <a:lvl2pPr lvl="1"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2pPr>
            <a:lvl3pPr lvl="2"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3pPr>
            <a:lvl4pPr lvl="3"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4pPr>
            <a:lvl5pPr lvl="4"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5pPr>
            <a:lvl6pPr lvl="5"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6pPr>
            <a:lvl7pPr lvl="6"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7pPr>
            <a:lvl8pPr lvl="7"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8pPr>
            <a:lvl9pPr lvl="8" marR="0" algn="l">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スライドテンプレート_表紙・裏表紙用">
  <p:cSld name="DEFAULT_1_1_1">
    <p:bg>
      <p:bgPr>
        <a:solidFill>
          <a:schemeClr val="dk2"/>
        </a:solidFill>
      </p:bgPr>
    </p:bg>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4" name="Shape 134"/>
        <p:cNvGrpSpPr/>
        <p:nvPr/>
      </p:nvGrpSpPr>
      <p:grpSpPr>
        <a:xfrm>
          <a:off x="0" y="0"/>
          <a:ext cx="0" cy="0"/>
          <a:chOff x="0" y="0"/>
          <a:chExt cx="0" cy="0"/>
        </a:xfrm>
      </p:grpSpPr>
      <p:sp>
        <p:nvSpPr>
          <p:cNvPr id="135" name="Google Shape;135;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36" name="Google Shape;136;p26"/>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7" name="Google Shape;137;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3">
  <p:cSld name="CUSTOM_6">
    <p:spTree>
      <p:nvGrpSpPr>
        <p:cNvPr id="138" name="Shape 138"/>
        <p:cNvGrpSpPr/>
        <p:nvPr/>
      </p:nvGrpSpPr>
      <p:grpSpPr>
        <a:xfrm>
          <a:off x="0" y="0"/>
          <a:ext cx="0" cy="0"/>
          <a:chOff x="0" y="0"/>
          <a:chExt cx="0" cy="0"/>
        </a:xfrm>
      </p:grpSpPr>
      <p:sp>
        <p:nvSpPr>
          <p:cNvPr id="139" name="Google Shape;139;p2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40" name="Google Shape;140;p27"/>
          <p:cNvSpPr/>
          <p:nvPr/>
        </p:nvSpPr>
        <p:spPr>
          <a:xfrm>
            <a:off x="-12150" y="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pic>
        <p:nvPicPr>
          <p:cNvPr id="141" name="Google Shape;141;p27"/>
          <p:cNvPicPr preferRelativeResize="0"/>
          <p:nvPr/>
        </p:nvPicPr>
        <p:blipFill>
          <a:blip r:embed="rId2">
            <a:alphaModFix/>
          </a:blip>
          <a:stretch>
            <a:fillRect/>
          </a:stretch>
        </p:blipFill>
        <p:spPr>
          <a:xfrm>
            <a:off x="311700" y="4233874"/>
            <a:ext cx="1541675" cy="404725"/>
          </a:xfrm>
          <a:prstGeom prst="rect">
            <a:avLst/>
          </a:prstGeom>
          <a:noFill/>
          <a:ln>
            <a:noFill/>
          </a:ln>
        </p:spPr>
      </p:pic>
      <p:pic>
        <p:nvPicPr>
          <p:cNvPr id="142" name="Google Shape;142;p27"/>
          <p:cNvPicPr preferRelativeResize="0"/>
          <p:nvPr/>
        </p:nvPicPr>
        <p:blipFill>
          <a:blip r:embed="rId3">
            <a:alphaModFix/>
          </a:blip>
          <a:stretch>
            <a:fillRect/>
          </a:stretch>
        </p:blipFill>
        <p:spPr>
          <a:xfrm>
            <a:off x="6925900" y="2834125"/>
            <a:ext cx="2218100" cy="2088725"/>
          </a:xfrm>
          <a:prstGeom prst="rect">
            <a:avLst/>
          </a:prstGeom>
          <a:noFill/>
          <a:ln>
            <a:noFill/>
          </a:ln>
        </p:spPr>
      </p:pic>
      <p:sp>
        <p:nvSpPr>
          <p:cNvPr id="143" name="Google Shape;143;p27"/>
          <p:cNvSpPr/>
          <p:nvPr/>
        </p:nvSpPr>
        <p:spPr>
          <a:xfrm>
            <a:off x="-12150" y="463860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44" name="Google Shape;144;p27"/>
          <p:cNvSpPr txBox="1"/>
          <p:nvPr>
            <p:ph idx="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lgn="r">
              <a:buNone/>
              <a:defRPr sz="600">
                <a:solidFill>
                  <a:schemeClr val="lt1"/>
                </a:solidFill>
                <a:latin typeface="Noto Sans JP"/>
                <a:ea typeface="Noto Sans JP"/>
                <a:cs typeface="Noto Sans JP"/>
                <a:sym typeface="Noto Sans JP"/>
              </a:defRPr>
            </a:lvl1pPr>
            <a:lvl2pPr lvl="1" algn="r">
              <a:buNone/>
              <a:defRPr sz="600">
                <a:solidFill>
                  <a:schemeClr val="lt1"/>
                </a:solidFill>
                <a:latin typeface="Noto Sans JP"/>
                <a:ea typeface="Noto Sans JP"/>
                <a:cs typeface="Noto Sans JP"/>
                <a:sym typeface="Noto Sans JP"/>
              </a:defRPr>
            </a:lvl2pPr>
            <a:lvl3pPr lvl="2" algn="r">
              <a:buNone/>
              <a:defRPr sz="600">
                <a:solidFill>
                  <a:schemeClr val="lt1"/>
                </a:solidFill>
                <a:latin typeface="Noto Sans JP"/>
                <a:ea typeface="Noto Sans JP"/>
                <a:cs typeface="Noto Sans JP"/>
                <a:sym typeface="Noto Sans JP"/>
              </a:defRPr>
            </a:lvl3pPr>
            <a:lvl4pPr lvl="3" algn="r">
              <a:buNone/>
              <a:defRPr sz="600">
                <a:solidFill>
                  <a:schemeClr val="lt1"/>
                </a:solidFill>
                <a:latin typeface="Noto Sans JP"/>
                <a:ea typeface="Noto Sans JP"/>
                <a:cs typeface="Noto Sans JP"/>
                <a:sym typeface="Noto Sans JP"/>
              </a:defRPr>
            </a:lvl4pPr>
            <a:lvl5pPr lvl="4" algn="r">
              <a:buNone/>
              <a:defRPr sz="600">
                <a:solidFill>
                  <a:schemeClr val="lt1"/>
                </a:solidFill>
                <a:latin typeface="Noto Sans JP"/>
                <a:ea typeface="Noto Sans JP"/>
                <a:cs typeface="Noto Sans JP"/>
                <a:sym typeface="Noto Sans JP"/>
              </a:defRPr>
            </a:lvl5pPr>
            <a:lvl6pPr lvl="5" algn="r">
              <a:buNone/>
              <a:defRPr sz="600">
                <a:solidFill>
                  <a:schemeClr val="lt1"/>
                </a:solidFill>
                <a:latin typeface="Noto Sans JP"/>
                <a:ea typeface="Noto Sans JP"/>
                <a:cs typeface="Noto Sans JP"/>
                <a:sym typeface="Noto Sans JP"/>
              </a:defRPr>
            </a:lvl6pPr>
            <a:lvl7pPr lvl="6" algn="r">
              <a:buNone/>
              <a:defRPr sz="600">
                <a:solidFill>
                  <a:schemeClr val="lt1"/>
                </a:solidFill>
                <a:latin typeface="Noto Sans JP"/>
                <a:ea typeface="Noto Sans JP"/>
                <a:cs typeface="Noto Sans JP"/>
                <a:sym typeface="Noto Sans JP"/>
              </a:defRPr>
            </a:lvl7pPr>
            <a:lvl8pPr lvl="7" algn="r">
              <a:buNone/>
              <a:defRPr sz="600">
                <a:solidFill>
                  <a:schemeClr val="lt1"/>
                </a:solidFill>
                <a:latin typeface="Noto Sans JP"/>
                <a:ea typeface="Noto Sans JP"/>
                <a:cs typeface="Noto Sans JP"/>
                <a:sym typeface="Noto Sans JP"/>
              </a:defRPr>
            </a:lvl8pPr>
            <a:lvl9pPr lvl="8" algn="r">
              <a:buNone/>
              <a:defRPr sz="600">
                <a:solidFill>
                  <a:schemeClr val="lt1"/>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45" name="Google Shape;145;p27"/>
          <p:cNvSpPr txBox="1"/>
          <p:nvPr>
            <p:ph type="title"/>
          </p:nvPr>
        </p:nvSpPr>
        <p:spPr>
          <a:xfrm>
            <a:off x="607050" y="2063838"/>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
        <p:nvSpPr>
          <p:cNvPr id="146" name="Google Shape;146;p27"/>
          <p:cNvSpPr/>
          <p:nvPr/>
        </p:nvSpPr>
        <p:spPr>
          <a:xfrm>
            <a:off x="7425750" y="500402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コンテンツ">
  <p:cSld name="CUSTOM_3_3">
    <p:spTree>
      <p:nvGrpSpPr>
        <p:cNvPr id="147" name="Shape 147"/>
        <p:cNvGrpSpPr/>
        <p:nvPr/>
      </p:nvGrpSpPr>
      <p:grpSpPr>
        <a:xfrm>
          <a:off x="0" y="0"/>
          <a:ext cx="0" cy="0"/>
          <a:chOff x="0" y="0"/>
          <a:chExt cx="0" cy="0"/>
        </a:xfrm>
      </p:grpSpPr>
      <p:sp>
        <p:nvSpPr>
          <p:cNvPr id="148" name="Google Shape;148;p2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49" name="Google Shape;149;p28"/>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50" name="Google Shape;150;p28"/>
          <p:cNvSpPr txBox="1"/>
          <p:nvPr>
            <p:ph idx="1" type="subTitle"/>
          </p:nvPr>
        </p:nvSpPr>
        <p:spPr>
          <a:xfrm>
            <a:off x="338400" y="55075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Font typeface="Noto Sans JP"/>
              <a:buNone/>
              <a:defRPr sz="1200">
                <a:latin typeface="Noto Sans JP"/>
                <a:ea typeface="Noto Sans JP"/>
                <a:cs typeface="Noto Sans JP"/>
                <a:sym typeface="Noto Sans JP"/>
              </a:defRPr>
            </a:lvl1pPr>
            <a:lvl2pPr lvl="1">
              <a:spcBef>
                <a:spcPts val="0"/>
              </a:spcBef>
              <a:spcAft>
                <a:spcPts val="0"/>
              </a:spcAft>
              <a:buSzPts val="1200"/>
              <a:buFont typeface="Noto Sans JP"/>
              <a:buNone/>
              <a:defRPr sz="1200">
                <a:latin typeface="Noto Sans JP"/>
                <a:ea typeface="Noto Sans JP"/>
                <a:cs typeface="Noto Sans JP"/>
                <a:sym typeface="Noto Sans JP"/>
              </a:defRPr>
            </a:lvl2pPr>
            <a:lvl3pPr lvl="2">
              <a:spcBef>
                <a:spcPts val="0"/>
              </a:spcBef>
              <a:spcAft>
                <a:spcPts val="0"/>
              </a:spcAft>
              <a:buSzPts val="1200"/>
              <a:buFont typeface="Noto Sans JP"/>
              <a:buNone/>
              <a:defRPr sz="1200">
                <a:latin typeface="Noto Sans JP"/>
                <a:ea typeface="Noto Sans JP"/>
                <a:cs typeface="Noto Sans JP"/>
                <a:sym typeface="Noto Sans JP"/>
              </a:defRPr>
            </a:lvl3pPr>
            <a:lvl4pPr lvl="3">
              <a:spcBef>
                <a:spcPts val="0"/>
              </a:spcBef>
              <a:spcAft>
                <a:spcPts val="0"/>
              </a:spcAft>
              <a:buSzPts val="1200"/>
              <a:buFont typeface="Noto Sans JP"/>
              <a:buNone/>
              <a:defRPr sz="1200">
                <a:latin typeface="Noto Sans JP"/>
                <a:ea typeface="Noto Sans JP"/>
                <a:cs typeface="Noto Sans JP"/>
                <a:sym typeface="Noto Sans JP"/>
              </a:defRPr>
            </a:lvl4pPr>
            <a:lvl5pPr lvl="4">
              <a:spcBef>
                <a:spcPts val="0"/>
              </a:spcBef>
              <a:spcAft>
                <a:spcPts val="0"/>
              </a:spcAft>
              <a:buSzPts val="1200"/>
              <a:buFont typeface="Noto Sans JP"/>
              <a:buNone/>
              <a:defRPr sz="1200">
                <a:latin typeface="Noto Sans JP"/>
                <a:ea typeface="Noto Sans JP"/>
                <a:cs typeface="Noto Sans JP"/>
                <a:sym typeface="Noto Sans JP"/>
              </a:defRPr>
            </a:lvl5pPr>
            <a:lvl6pPr lvl="5">
              <a:spcBef>
                <a:spcPts val="0"/>
              </a:spcBef>
              <a:spcAft>
                <a:spcPts val="0"/>
              </a:spcAft>
              <a:buSzPts val="1200"/>
              <a:buFont typeface="Noto Sans JP"/>
              <a:buNone/>
              <a:defRPr sz="1200">
                <a:latin typeface="Noto Sans JP"/>
                <a:ea typeface="Noto Sans JP"/>
                <a:cs typeface="Noto Sans JP"/>
                <a:sym typeface="Noto Sans JP"/>
              </a:defRPr>
            </a:lvl6pPr>
            <a:lvl7pPr lvl="6">
              <a:spcBef>
                <a:spcPts val="0"/>
              </a:spcBef>
              <a:spcAft>
                <a:spcPts val="0"/>
              </a:spcAft>
              <a:buSzPts val="1200"/>
              <a:buFont typeface="Noto Sans JP"/>
              <a:buNone/>
              <a:defRPr sz="1200">
                <a:latin typeface="Noto Sans JP"/>
                <a:ea typeface="Noto Sans JP"/>
                <a:cs typeface="Noto Sans JP"/>
                <a:sym typeface="Noto Sans JP"/>
              </a:defRPr>
            </a:lvl7pPr>
            <a:lvl8pPr lvl="7">
              <a:spcBef>
                <a:spcPts val="0"/>
              </a:spcBef>
              <a:spcAft>
                <a:spcPts val="0"/>
              </a:spcAft>
              <a:buSzPts val="1200"/>
              <a:buFont typeface="Noto Sans JP"/>
              <a:buNone/>
              <a:defRPr sz="1200">
                <a:latin typeface="Noto Sans JP"/>
                <a:ea typeface="Noto Sans JP"/>
                <a:cs typeface="Noto Sans JP"/>
                <a:sym typeface="Noto Sans JP"/>
              </a:defRPr>
            </a:lvl8pPr>
            <a:lvl9pPr lvl="8">
              <a:spcBef>
                <a:spcPts val="0"/>
              </a:spcBef>
              <a:spcAft>
                <a:spcPts val="0"/>
              </a:spcAft>
              <a:buSzPts val="1200"/>
              <a:buFont typeface="Noto Sans JP"/>
              <a:buNone/>
              <a:defRPr sz="1200">
                <a:latin typeface="Noto Sans JP"/>
                <a:ea typeface="Noto Sans JP"/>
                <a:cs typeface="Noto Sans JP"/>
                <a:sym typeface="Noto Sans JP"/>
              </a:defRPr>
            </a:lvl9pPr>
          </a:lstStyle>
          <a:p/>
        </p:txBody>
      </p:sp>
      <p:sp>
        <p:nvSpPr>
          <p:cNvPr id="151" name="Google Shape;151;p28"/>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CUSTOM_8">
    <p:spTree>
      <p:nvGrpSpPr>
        <p:cNvPr id="152" name="Shape 152"/>
        <p:cNvGrpSpPr/>
        <p:nvPr/>
      </p:nvGrpSpPr>
      <p:grpSpPr>
        <a:xfrm>
          <a:off x="0" y="0"/>
          <a:ext cx="0" cy="0"/>
          <a:chOff x="0" y="0"/>
          <a:chExt cx="0" cy="0"/>
        </a:xfrm>
      </p:grpSpPr>
      <p:sp>
        <p:nvSpPr>
          <p:cNvPr id="153" name="Google Shape;153;p2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54" name="Google Shape;154;p29"/>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55" name="Google Shape;155;p29"/>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
        <p:nvSpPr>
          <p:cNvPr id="156" name="Google Shape;156;p29"/>
          <p:cNvSpPr txBox="1"/>
          <p:nvPr>
            <p:ph idx="1" type="subTitle"/>
          </p:nvPr>
        </p:nvSpPr>
        <p:spPr>
          <a:xfrm>
            <a:off x="1591900" y="1332650"/>
            <a:ext cx="7334400" cy="3936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57" name="Google Shape;157;p29"/>
          <p:cNvSpPr txBox="1"/>
          <p:nvPr>
            <p:ph idx="2" type="subTitle"/>
          </p:nvPr>
        </p:nvSpPr>
        <p:spPr>
          <a:xfrm>
            <a:off x="1591900" y="20008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58" name="Google Shape;158;p29"/>
          <p:cNvSpPr txBox="1"/>
          <p:nvPr>
            <p:ph idx="3" type="subTitle"/>
          </p:nvPr>
        </p:nvSpPr>
        <p:spPr>
          <a:xfrm>
            <a:off x="1591900" y="27492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59" name="Google Shape;159;p29"/>
          <p:cNvSpPr txBox="1"/>
          <p:nvPr>
            <p:ph idx="4" type="subTitle"/>
          </p:nvPr>
        </p:nvSpPr>
        <p:spPr>
          <a:xfrm>
            <a:off x="1591900" y="34976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ワーカー向け）">
  <p:cSld name="表紙（ワーカー向け）">
    <p:spTree>
      <p:nvGrpSpPr>
        <p:cNvPr id="160" name="Shape 160"/>
        <p:cNvGrpSpPr/>
        <p:nvPr/>
      </p:nvGrpSpPr>
      <p:grpSpPr>
        <a:xfrm>
          <a:off x="0" y="0"/>
          <a:ext cx="0" cy="0"/>
          <a:chOff x="0" y="0"/>
          <a:chExt cx="0" cy="0"/>
        </a:xfrm>
      </p:grpSpPr>
      <p:sp>
        <p:nvSpPr>
          <p:cNvPr id="161" name="Google Shape;161;p30"/>
          <p:cNvSpPr/>
          <p:nvPr/>
        </p:nvSpPr>
        <p:spPr>
          <a:xfrm>
            <a:off x="251225" y="276750"/>
            <a:ext cx="8641500" cy="4499700"/>
          </a:xfrm>
          <a:prstGeom prst="rect">
            <a:avLst/>
          </a:prstGeom>
          <a:solidFill>
            <a:srgbClr val="FFD700"/>
          </a:solidFill>
          <a:ln>
            <a:noFill/>
          </a:ln>
        </p:spPr>
        <p:txBody>
          <a:bodyPr anchorCtr="0" anchor="ctr" bIns="34275" lIns="68550" spcFirstLastPara="1" rIns="68550" wrap="square" tIns="34275">
            <a:noAutofit/>
          </a:bodyPr>
          <a:lstStyle/>
          <a:p>
            <a:pPr indent="0" lvl="0" marL="0" marR="0" rtl="0" algn="l">
              <a:lnSpc>
                <a:spcPct val="100000"/>
              </a:lnSpc>
              <a:spcBef>
                <a:spcPts val="0"/>
              </a:spcBef>
              <a:spcAft>
                <a:spcPts val="0"/>
              </a:spcAft>
              <a:buClr>
                <a:schemeClr val="dk1"/>
              </a:buClr>
              <a:buSzPts val="600"/>
              <a:buFont typeface="Arial"/>
              <a:buNone/>
            </a:pPr>
            <a:r>
              <a:t/>
            </a:r>
            <a:endParaRPr b="0" i="0" sz="600" u="none" cap="none" strike="noStrike">
              <a:solidFill>
                <a:schemeClr val="lt1"/>
              </a:solidFill>
              <a:latin typeface="Arial"/>
              <a:ea typeface="Arial"/>
              <a:cs typeface="Arial"/>
              <a:sym typeface="Arial"/>
            </a:endParaRPr>
          </a:p>
        </p:txBody>
      </p:sp>
      <p:pic>
        <p:nvPicPr>
          <p:cNvPr id="162" name="Google Shape;162;p30"/>
          <p:cNvPicPr preferRelativeResize="0"/>
          <p:nvPr/>
        </p:nvPicPr>
        <p:blipFill rotWithShape="1">
          <a:blip r:embed="rId2">
            <a:alphaModFix/>
          </a:blip>
          <a:srcRect b="0" l="0" r="0" t="0"/>
          <a:stretch/>
        </p:blipFill>
        <p:spPr>
          <a:xfrm rot="-1199997">
            <a:off x="5470371" y="2214141"/>
            <a:ext cx="5464970" cy="51435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1">
  <p:cSld name="CUSTOM">
    <p:spTree>
      <p:nvGrpSpPr>
        <p:cNvPr id="166" name="Shape 166"/>
        <p:cNvGrpSpPr/>
        <p:nvPr/>
      </p:nvGrpSpPr>
      <p:grpSpPr>
        <a:xfrm>
          <a:off x="0" y="0"/>
          <a:ext cx="0" cy="0"/>
          <a:chOff x="0" y="0"/>
          <a:chExt cx="0" cy="0"/>
        </a:xfrm>
      </p:grpSpPr>
      <p:pic>
        <p:nvPicPr>
          <p:cNvPr id="167" name="Google Shape;167;p32"/>
          <p:cNvPicPr preferRelativeResize="0"/>
          <p:nvPr/>
        </p:nvPicPr>
        <p:blipFill>
          <a:blip r:embed="rId2">
            <a:alphaModFix/>
          </a:blip>
          <a:stretch>
            <a:fillRect/>
          </a:stretch>
        </p:blipFill>
        <p:spPr>
          <a:xfrm>
            <a:off x="6683000" y="2764975"/>
            <a:ext cx="2461002" cy="2167919"/>
          </a:xfrm>
          <a:prstGeom prst="rect">
            <a:avLst/>
          </a:prstGeom>
          <a:noFill/>
          <a:ln>
            <a:noFill/>
          </a:ln>
        </p:spPr>
      </p:pic>
      <p:sp>
        <p:nvSpPr>
          <p:cNvPr id="168" name="Google Shape;168;p3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600">
                <a:solidFill>
                  <a:srgbClr val="FFFFFF"/>
                </a:solidFill>
                <a:latin typeface="M PLUS 1p"/>
                <a:ea typeface="M PLUS 1p"/>
                <a:cs typeface="M PLUS 1p"/>
                <a:sym typeface="M PLUS 1p"/>
              </a:rPr>
              <a:t>CONFIDENTIAL</a:t>
            </a:r>
            <a:endParaRPr b="1" sz="600">
              <a:solidFill>
                <a:srgbClr val="FFFFFF"/>
              </a:solidFill>
              <a:latin typeface="M PLUS 1p"/>
              <a:ea typeface="M PLUS 1p"/>
              <a:cs typeface="M PLUS 1p"/>
              <a:sym typeface="M PLUS 1p"/>
            </a:endParaRPr>
          </a:p>
        </p:txBody>
      </p:sp>
      <p:sp>
        <p:nvSpPr>
          <p:cNvPr id="169" name="Google Shape;169;p32"/>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sz="800">
                <a:latin typeface="Noto Sans JP"/>
                <a:ea typeface="Noto Sans JP"/>
                <a:cs typeface="Noto Sans JP"/>
                <a:sym typeface="Noto Sans JP"/>
              </a:defRPr>
            </a:lvl1pPr>
            <a:lvl2pPr lvl="1">
              <a:buNone/>
              <a:defRPr sz="800">
                <a:latin typeface="Noto Sans JP"/>
                <a:ea typeface="Noto Sans JP"/>
                <a:cs typeface="Noto Sans JP"/>
                <a:sym typeface="Noto Sans JP"/>
              </a:defRPr>
            </a:lvl2pPr>
            <a:lvl3pPr lvl="2">
              <a:buNone/>
              <a:defRPr sz="800">
                <a:latin typeface="Noto Sans JP"/>
                <a:ea typeface="Noto Sans JP"/>
                <a:cs typeface="Noto Sans JP"/>
                <a:sym typeface="Noto Sans JP"/>
              </a:defRPr>
            </a:lvl3pPr>
            <a:lvl4pPr lvl="3">
              <a:buNone/>
              <a:defRPr sz="800">
                <a:latin typeface="Noto Sans JP"/>
                <a:ea typeface="Noto Sans JP"/>
                <a:cs typeface="Noto Sans JP"/>
                <a:sym typeface="Noto Sans JP"/>
              </a:defRPr>
            </a:lvl4pPr>
            <a:lvl5pPr lvl="4">
              <a:buNone/>
              <a:defRPr sz="800">
                <a:latin typeface="Noto Sans JP"/>
                <a:ea typeface="Noto Sans JP"/>
                <a:cs typeface="Noto Sans JP"/>
                <a:sym typeface="Noto Sans JP"/>
              </a:defRPr>
            </a:lvl5pPr>
            <a:lvl6pPr lvl="5">
              <a:buNone/>
              <a:defRPr sz="800">
                <a:latin typeface="Noto Sans JP"/>
                <a:ea typeface="Noto Sans JP"/>
                <a:cs typeface="Noto Sans JP"/>
                <a:sym typeface="Noto Sans JP"/>
              </a:defRPr>
            </a:lvl6pPr>
            <a:lvl7pPr lvl="6">
              <a:buNone/>
              <a:defRPr sz="800">
                <a:latin typeface="Noto Sans JP"/>
                <a:ea typeface="Noto Sans JP"/>
                <a:cs typeface="Noto Sans JP"/>
                <a:sym typeface="Noto Sans JP"/>
              </a:defRPr>
            </a:lvl7pPr>
            <a:lvl8pPr lvl="7">
              <a:buNone/>
              <a:defRPr sz="800">
                <a:latin typeface="Noto Sans JP"/>
                <a:ea typeface="Noto Sans JP"/>
                <a:cs typeface="Noto Sans JP"/>
                <a:sym typeface="Noto Sans JP"/>
              </a:defRPr>
            </a:lvl8pPr>
            <a:lvl9pPr lvl="8">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70" name="Google Shape;170;p32"/>
          <p:cNvSpPr txBox="1"/>
          <p:nvPr/>
        </p:nvSpPr>
        <p:spPr>
          <a:xfrm>
            <a:off x="607050" y="2274575"/>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プロダクト本部データアナリティクス部</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a:solidFill>
                <a:srgbClr val="1F1F1F"/>
              </a:solidFill>
              <a:latin typeface="Noto Sans JP"/>
              <a:ea typeface="Noto Sans JP"/>
              <a:cs typeface="Noto Sans JP"/>
              <a:sym typeface="Noto Sans JP"/>
            </a:endParaRPr>
          </a:p>
        </p:txBody>
      </p:sp>
      <p:sp>
        <p:nvSpPr>
          <p:cNvPr id="171" name="Google Shape;171;p32"/>
          <p:cNvSpPr txBox="1"/>
          <p:nvPr>
            <p:ph type="title"/>
          </p:nvPr>
        </p:nvSpPr>
        <p:spPr>
          <a:xfrm>
            <a:off x="607050" y="1663475"/>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2">
  <p:cSld name="CUSTOM_5">
    <p:spTree>
      <p:nvGrpSpPr>
        <p:cNvPr id="172" name="Shape 172"/>
        <p:cNvGrpSpPr/>
        <p:nvPr/>
      </p:nvGrpSpPr>
      <p:grpSpPr>
        <a:xfrm>
          <a:off x="0" y="0"/>
          <a:ext cx="0" cy="0"/>
          <a:chOff x="0" y="0"/>
          <a:chExt cx="0" cy="0"/>
        </a:xfrm>
      </p:grpSpPr>
      <p:pic>
        <p:nvPicPr>
          <p:cNvPr id="173" name="Google Shape;173;p33"/>
          <p:cNvPicPr preferRelativeResize="0"/>
          <p:nvPr/>
        </p:nvPicPr>
        <p:blipFill>
          <a:blip r:embed="rId2">
            <a:alphaModFix/>
          </a:blip>
          <a:stretch>
            <a:fillRect/>
          </a:stretch>
        </p:blipFill>
        <p:spPr>
          <a:xfrm>
            <a:off x="6683000" y="2764975"/>
            <a:ext cx="2461002" cy="2167919"/>
          </a:xfrm>
          <a:prstGeom prst="rect">
            <a:avLst/>
          </a:prstGeom>
          <a:noFill/>
          <a:ln>
            <a:noFill/>
          </a:ln>
        </p:spPr>
      </p:pic>
      <p:sp>
        <p:nvSpPr>
          <p:cNvPr id="174" name="Google Shape;174;p33"/>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sz="800">
                <a:latin typeface="Noto Sans JP"/>
                <a:ea typeface="Noto Sans JP"/>
                <a:cs typeface="Noto Sans JP"/>
                <a:sym typeface="Noto Sans JP"/>
              </a:defRPr>
            </a:lvl1pPr>
            <a:lvl2pPr lvl="1">
              <a:buNone/>
              <a:defRPr sz="800">
                <a:latin typeface="Noto Sans JP"/>
                <a:ea typeface="Noto Sans JP"/>
                <a:cs typeface="Noto Sans JP"/>
                <a:sym typeface="Noto Sans JP"/>
              </a:defRPr>
            </a:lvl2pPr>
            <a:lvl3pPr lvl="2">
              <a:buNone/>
              <a:defRPr sz="800">
                <a:latin typeface="Noto Sans JP"/>
                <a:ea typeface="Noto Sans JP"/>
                <a:cs typeface="Noto Sans JP"/>
                <a:sym typeface="Noto Sans JP"/>
              </a:defRPr>
            </a:lvl3pPr>
            <a:lvl4pPr lvl="3">
              <a:buNone/>
              <a:defRPr sz="800">
                <a:latin typeface="Noto Sans JP"/>
                <a:ea typeface="Noto Sans JP"/>
                <a:cs typeface="Noto Sans JP"/>
                <a:sym typeface="Noto Sans JP"/>
              </a:defRPr>
            </a:lvl4pPr>
            <a:lvl5pPr lvl="4">
              <a:buNone/>
              <a:defRPr sz="800">
                <a:latin typeface="Noto Sans JP"/>
                <a:ea typeface="Noto Sans JP"/>
                <a:cs typeface="Noto Sans JP"/>
                <a:sym typeface="Noto Sans JP"/>
              </a:defRPr>
            </a:lvl5pPr>
            <a:lvl6pPr lvl="5">
              <a:buNone/>
              <a:defRPr sz="800">
                <a:latin typeface="Noto Sans JP"/>
                <a:ea typeface="Noto Sans JP"/>
                <a:cs typeface="Noto Sans JP"/>
                <a:sym typeface="Noto Sans JP"/>
              </a:defRPr>
            </a:lvl6pPr>
            <a:lvl7pPr lvl="6">
              <a:buNone/>
              <a:defRPr sz="800">
                <a:latin typeface="Noto Sans JP"/>
                <a:ea typeface="Noto Sans JP"/>
                <a:cs typeface="Noto Sans JP"/>
                <a:sym typeface="Noto Sans JP"/>
              </a:defRPr>
            </a:lvl7pPr>
            <a:lvl8pPr lvl="7">
              <a:buNone/>
              <a:defRPr sz="800">
                <a:latin typeface="Noto Sans JP"/>
                <a:ea typeface="Noto Sans JP"/>
                <a:cs typeface="Noto Sans JP"/>
                <a:sym typeface="Noto Sans JP"/>
              </a:defRPr>
            </a:lvl8pPr>
            <a:lvl9pPr lvl="8">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75" name="Google Shape;175;p33"/>
          <p:cNvSpPr txBox="1"/>
          <p:nvPr/>
        </p:nvSpPr>
        <p:spPr>
          <a:xfrm>
            <a:off x="607050" y="2274575"/>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プロダクト本部データアナリティクス部</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a:solidFill>
                <a:srgbClr val="1F1F1F"/>
              </a:solidFill>
              <a:latin typeface="Noto Sans JP"/>
              <a:ea typeface="Noto Sans JP"/>
              <a:cs typeface="Noto Sans JP"/>
              <a:sym typeface="Noto Sans JP"/>
            </a:endParaRPr>
          </a:p>
        </p:txBody>
      </p:sp>
      <p:sp>
        <p:nvSpPr>
          <p:cNvPr id="176" name="Google Shape;176;p33"/>
          <p:cNvSpPr txBox="1"/>
          <p:nvPr>
            <p:ph type="title"/>
          </p:nvPr>
        </p:nvSpPr>
        <p:spPr>
          <a:xfrm>
            <a:off x="607050" y="1663475"/>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pattern3">
  <p:cSld name="CUSTOM_6">
    <p:spTree>
      <p:nvGrpSpPr>
        <p:cNvPr id="177" name="Shape 177"/>
        <p:cNvGrpSpPr/>
        <p:nvPr/>
      </p:nvGrpSpPr>
      <p:grpSpPr>
        <a:xfrm>
          <a:off x="0" y="0"/>
          <a:ext cx="0" cy="0"/>
          <a:chOff x="0" y="0"/>
          <a:chExt cx="0" cy="0"/>
        </a:xfrm>
      </p:grpSpPr>
      <p:sp>
        <p:nvSpPr>
          <p:cNvPr id="178" name="Google Shape;178;p34"/>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79" name="Google Shape;179;p34"/>
          <p:cNvSpPr/>
          <p:nvPr/>
        </p:nvSpPr>
        <p:spPr>
          <a:xfrm>
            <a:off x="-12150" y="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pic>
        <p:nvPicPr>
          <p:cNvPr id="180" name="Google Shape;180;p34"/>
          <p:cNvPicPr preferRelativeResize="0"/>
          <p:nvPr/>
        </p:nvPicPr>
        <p:blipFill>
          <a:blip r:embed="rId2">
            <a:alphaModFix/>
          </a:blip>
          <a:stretch>
            <a:fillRect/>
          </a:stretch>
        </p:blipFill>
        <p:spPr>
          <a:xfrm>
            <a:off x="311700" y="4233874"/>
            <a:ext cx="1541675" cy="404725"/>
          </a:xfrm>
          <a:prstGeom prst="rect">
            <a:avLst/>
          </a:prstGeom>
          <a:noFill/>
          <a:ln>
            <a:noFill/>
          </a:ln>
        </p:spPr>
      </p:pic>
      <p:pic>
        <p:nvPicPr>
          <p:cNvPr id="181" name="Google Shape;181;p34"/>
          <p:cNvPicPr preferRelativeResize="0"/>
          <p:nvPr/>
        </p:nvPicPr>
        <p:blipFill>
          <a:blip r:embed="rId3">
            <a:alphaModFix/>
          </a:blip>
          <a:stretch>
            <a:fillRect/>
          </a:stretch>
        </p:blipFill>
        <p:spPr>
          <a:xfrm>
            <a:off x="6925900" y="2834125"/>
            <a:ext cx="2218100" cy="2088725"/>
          </a:xfrm>
          <a:prstGeom prst="rect">
            <a:avLst/>
          </a:prstGeom>
          <a:noFill/>
          <a:ln>
            <a:noFill/>
          </a:ln>
        </p:spPr>
      </p:pic>
      <p:sp>
        <p:nvSpPr>
          <p:cNvPr id="182" name="Google Shape;182;p34"/>
          <p:cNvSpPr/>
          <p:nvPr/>
        </p:nvSpPr>
        <p:spPr>
          <a:xfrm>
            <a:off x="-12150" y="4638600"/>
            <a:ext cx="91683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83" name="Google Shape;183;p34"/>
          <p:cNvSpPr txBox="1"/>
          <p:nvPr>
            <p:ph idx="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lgn="r">
              <a:buNone/>
              <a:defRPr sz="800">
                <a:latin typeface="Noto Sans JP"/>
                <a:ea typeface="Noto Sans JP"/>
                <a:cs typeface="Noto Sans JP"/>
                <a:sym typeface="Noto Sans JP"/>
              </a:defRPr>
            </a:lvl1pPr>
            <a:lvl2pPr lvl="1" algn="r">
              <a:buNone/>
              <a:defRPr sz="800">
                <a:latin typeface="Noto Sans JP"/>
                <a:ea typeface="Noto Sans JP"/>
                <a:cs typeface="Noto Sans JP"/>
                <a:sym typeface="Noto Sans JP"/>
              </a:defRPr>
            </a:lvl2pPr>
            <a:lvl3pPr lvl="2" algn="r">
              <a:buNone/>
              <a:defRPr sz="800">
                <a:latin typeface="Noto Sans JP"/>
                <a:ea typeface="Noto Sans JP"/>
                <a:cs typeface="Noto Sans JP"/>
                <a:sym typeface="Noto Sans JP"/>
              </a:defRPr>
            </a:lvl3pPr>
            <a:lvl4pPr lvl="3" algn="r">
              <a:buNone/>
              <a:defRPr sz="800">
                <a:latin typeface="Noto Sans JP"/>
                <a:ea typeface="Noto Sans JP"/>
                <a:cs typeface="Noto Sans JP"/>
                <a:sym typeface="Noto Sans JP"/>
              </a:defRPr>
            </a:lvl4pPr>
            <a:lvl5pPr lvl="4" algn="r">
              <a:buNone/>
              <a:defRPr sz="800">
                <a:latin typeface="Noto Sans JP"/>
                <a:ea typeface="Noto Sans JP"/>
                <a:cs typeface="Noto Sans JP"/>
                <a:sym typeface="Noto Sans JP"/>
              </a:defRPr>
            </a:lvl5pPr>
            <a:lvl6pPr lvl="5" algn="r">
              <a:buNone/>
              <a:defRPr sz="800">
                <a:latin typeface="Noto Sans JP"/>
                <a:ea typeface="Noto Sans JP"/>
                <a:cs typeface="Noto Sans JP"/>
                <a:sym typeface="Noto Sans JP"/>
              </a:defRPr>
            </a:lvl6pPr>
            <a:lvl7pPr lvl="6" algn="r">
              <a:buNone/>
              <a:defRPr sz="800">
                <a:latin typeface="Noto Sans JP"/>
                <a:ea typeface="Noto Sans JP"/>
                <a:cs typeface="Noto Sans JP"/>
                <a:sym typeface="Noto Sans JP"/>
              </a:defRPr>
            </a:lvl7pPr>
            <a:lvl8pPr lvl="7" algn="r">
              <a:buNone/>
              <a:defRPr sz="800">
                <a:latin typeface="Noto Sans JP"/>
                <a:ea typeface="Noto Sans JP"/>
                <a:cs typeface="Noto Sans JP"/>
                <a:sym typeface="Noto Sans JP"/>
              </a:defRPr>
            </a:lvl8pPr>
            <a:lvl9pPr lvl="8" algn="r">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184" name="Google Shape;184;p34"/>
          <p:cNvSpPr txBox="1"/>
          <p:nvPr/>
        </p:nvSpPr>
        <p:spPr>
          <a:xfrm>
            <a:off x="628650" y="2903163"/>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プロダクト本部データアナリティクス部</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a:solidFill>
                <a:srgbClr val="1F1F1F"/>
              </a:solidFill>
              <a:latin typeface="Noto Sans JP"/>
              <a:ea typeface="Noto Sans JP"/>
              <a:cs typeface="Noto Sans JP"/>
              <a:sym typeface="Noto Sans JP"/>
            </a:endParaRPr>
          </a:p>
        </p:txBody>
      </p:sp>
      <p:sp>
        <p:nvSpPr>
          <p:cNvPr id="185" name="Google Shape;185;p34"/>
          <p:cNvSpPr txBox="1"/>
          <p:nvPr>
            <p:ph type="title"/>
          </p:nvPr>
        </p:nvSpPr>
        <p:spPr>
          <a:xfrm>
            <a:off x="607050" y="2063838"/>
            <a:ext cx="7929900" cy="611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Noto Sans JP"/>
              <a:buNone/>
              <a:defRPr b="1" sz="2800">
                <a:latin typeface="Noto Sans JP"/>
                <a:ea typeface="Noto Sans JP"/>
                <a:cs typeface="Noto Sans JP"/>
                <a:sym typeface="Noto Sans JP"/>
              </a:defRPr>
            </a:lvl1pPr>
            <a:lvl2pPr lvl="1">
              <a:spcBef>
                <a:spcPts val="0"/>
              </a:spcBef>
              <a:spcAft>
                <a:spcPts val="0"/>
              </a:spcAft>
              <a:buSzPts val="2800"/>
              <a:buFont typeface="Noto Sans JP"/>
              <a:buNone/>
              <a:defRPr b="1" sz="2800">
                <a:latin typeface="Noto Sans JP"/>
                <a:ea typeface="Noto Sans JP"/>
                <a:cs typeface="Noto Sans JP"/>
                <a:sym typeface="Noto Sans JP"/>
              </a:defRPr>
            </a:lvl2pPr>
            <a:lvl3pPr lvl="2">
              <a:spcBef>
                <a:spcPts val="0"/>
              </a:spcBef>
              <a:spcAft>
                <a:spcPts val="0"/>
              </a:spcAft>
              <a:buSzPts val="2800"/>
              <a:buFont typeface="Noto Sans JP"/>
              <a:buNone/>
              <a:defRPr b="1" sz="2800">
                <a:latin typeface="Noto Sans JP"/>
                <a:ea typeface="Noto Sans JP"/>
                <a:cs typeface="Noto Sans JP"/>
                <a:sym typeface="Noto Sans JP"/>
              </a:defRPr>
            </a:lvl3pPr>
            <a:lvl4pPr lvl="3">
              <a:spcBef>
                <a:spcPts val="0"/>
              </a:spcBef>
              <a:spcAft>
                <a:spcPts val="0"/>
              </a:spcAft>
              <a:buSzPts val="2800"/>
              <a:buFont typeface="Noto Sans JP"/>
              <a:buNone/>
              <a:defRPr b="1" sz="2800">
                <a:latin typeface="Noto Sans JP"/>
                <a:ea typeface="Noto Sans JP"/>
                <a:cs typeface="Noto Sans JP"/>
                <a:sym typeface="Noto Sans JP"/>
              </a:defRPr>
            </a:lvl4pPr>
            <a:lvl5pPr lvl="4">
              <a:spcBef>
                <a:spcPts val="0"/>
              </a:spcBef>
              <a:spcAft>
                <a:spcPts val="0"/>
              </a:spcAft>
              <a:buSzPts val="2800"/>
              <a:buFont typeface="Noto Sans JP"/>
              <a:buNone/>
              <a:defRPr b="1" sz="2800">
                <a:latin typeface="Noto Sans JP"/>
                <a:ea typeface="Noto Sans JP"/>
                <a:cs typeface="Noto Sans JP"/>
                <a:sym typeface="Noto Sans JP"/>
              </a:defRPr>
            </a:lvl5pPr>
            <a:lvl6pPr lvl="5">
              <a:spcBef>
                <a:spcPts val="0"/>
              </a:spcBef>
              <a:spcAft>
                <a:spcPts val="0"/>
              </a:spcAft>
              <a:buSzPts val="2800"/>
              <a:buFont typeface="Noto Sans JP"/>
              <a:buNone/>
              <a:defRPr b="1" sz="2800">
                <a:latin typeface="Noto Sans JP"/>
                <a:ea typeface="Noto Sans JP"/>
                <a:cs typeface="Noto Sans JP"/>
                <a:sym typeface="Noto Sans JP"/>
              </a:defRPr>
            </a:lvl6pPr>
            <a:lvl7pPr lvl="6">
              <a:spcBef>
                <a:spcPts val="0"/>
              </a:spcBef>
              <a:spcAft>
                <a:spcPts val="0"/>
              </a:spcAft>
              <a:buSzPts val="2800"/>
              <a:buFont typeface="Noto Sans JP"/>
              <a:buNone/>
              <a:defRPr b="1" sz="2800">
                <a:latin typeface="Noto Sans JP"/>
                <a:ea typeface="Noto Sans JP"/>
                <a:cs typeface="Noto Sans JP"/>
                <a:sym typeface="Noto Sans JP"/>
              </a:defRPr>
            </a:lvl7pPr>
            <a:lvl8pPr lvl="7">
              <a:spcBef>
                <a:spcPts val="0"/>
              </a:spcBef>
              <a:spcAft>
                <a:spcPts val="0"/>
              </a:spcAft>
              <a:buSzPts val="2800"/>
              <a:buFont typeface="Noto Sans JP"/>
              <a:buNone/>
              <a:defRPr b="1" sz="2800">
                <a:latin typeface="Noto Sans JP"/>
                <a:ea typeface="Noto Sans JP"/>
                <a:cs typeface="Noto Sans JP"/>
                <a:sym typeface="Noto Sans JP"/>
              </a:defRPr>
            </a:lvl8pPr>
            <a:lvl9pPr lvl="8">
              <a:spcBef>
                <a:spcPts val="0"/>
              </a:spcBef>
              <a:spcAft>
                <a:spcPts val="0"/>
              </a:spcAft>
              <a:buSzPts val="2800"/>
              <a:buFont typeface="Noto Sans JP"/>
              <a:buNone/>
              <a:defRPr b="1" sz="2800">
                <a:latin typeface="Noto Sans JP"/>
                <a:ea typeface="Noto Sans JP"/>
                <a:cs typeface="Noto Sans JP"/>
                <a:sym typeface="Noto Sans JP"/>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CUSTOM_8">
    <p:spTree>
      <p:nvGrpSpPr>
        <p:cNvPr id="186" name="Shape 186"/>
        <p:cNvGrpSpPr/>
        <p:nvPr/>
      </p:nvGrpSpPr>
      <p:grpSpPr>
        <a:xfrm>
          <a:off x="0" y="0"/>
          <a:ext cx="0" cy="0"/>
          <a:chOff x="0" y="0"/>
          <a:chExt cx="0" cy="0"/>
        </a:xfrm>
      </p:grpSpPr>
      <p:sp>
        <p:nvSpPr>
          <p:cNvPr id="187" name="Google Shape;187;p35"/>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88" name="Google Shape;188;p35"/>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189" name="Google Shape;189;p35"/>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
        <p:nvSpPr>
          <p:cNvPr id="190" name="Google Shape;190;p35"/>
          <p:cNvSpPr txBox="1"/>
          <p:nvPr>
            <p:ph idx="1" type="subTitle"/>
          </p:nvPr>
        </p:nvSpPr>
        <p:spPr>
          <a:xfrm>
            <a:off x="1591900" y="1332650"/>
            <a:ext cx="7334400" cy="3936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91" name="Google Shape;191;p35"/>
          <p:cNvSpPr txBox="1"/>
          <p:nvPr>
            <p:ph idx="2" type="subTitle"/>
          </p:nvPr>
        </p:nvSpPr>
        <p:spPr>
          <a:xfrm>
            <a:off x="1591900" y="20008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92" name="Google Shape;192;p35"/>
          <p:cNvSpPr txBox="1"/>
          <p:nvPr>
            <p:ph idx="3" type="subTitle"/>
          </p:nvPr>
        </p:nvSpPr>
        <p:spPr>
          <a:xfrm>
            <a:off x="1591900" y="27492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
        <p:nvSpPr>
          <p:cNvPr id="193" name="Google Shape;193;p35"/>
          <p:cNvSpPr txBox="1"/>
          <p:nvPr>
            <p:ph idx="4" type="subTitle"/>
          </p:nvPr>
        </p:nvSpPr>
        <p:spPr>
          <a:xfrm>
            <a:off x="1591900" y="3497600"/>
            <a:ext cx="73344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200"/>
              <a:buFont typeface="Noto Sans JP"/>
              <a:buNone/>
              <a:defRPr b="1" sz="2200">
                <a:latin typeface="Noto Sans JP"/>
                <a:ea typeface="Noto Sans JP"/>
                <a:cs typeface="Noto Sans JP"/>
                <a:sym typeface="Noto Sans JP"/>
              </a:defRPr>
            </a:lvl1pPr>
            <a:lvl2pPr lvl="1">
              <a:spcBef>
                <a:spcPts val="0"/>
              </a:spcBef>
              <a:spcAft>
                <a:spcPts val="0"/>
              </a:spcAft>
              <a:buSzPts val="2200"/>
              <a:buFont typeface="Noto Sans JP"/>
              <a:buNone/>
              <a:defRPr b="1" sz="2200">
                <a:latin typeface="Noto Sans JP"/>
                <a:ea typeface="Noto Sans JP"/>
                <a:cs typeface="Noto Sans JP"/>
                <a:sym typeface="Noto Sans JP"/>
              </a:defRPr>
            </a:lvl2pPr>
            <a:lvl3pPr lvl="2">
              <a:spcBef>
                <a:spcPts val="0"/>
              </a:spcBef>
              <a:spcAft>
                <a:spcPts val="0"/>
              </a:spcAft>
              <a:buSzPts val="2200"/>
              <a:buFont typeface="Noto Sans JP"/>
              <a:buNone/>
              <a:defRPr b="1" sz="2200">
                <a:latin typeface="Noto Sans JP"/>
                <a:ea typeface="Noto Sans JP"/>
                <a:cs typeface="Noto Sans JP"/>
                <a:sym typeface="Noto Sans JP"/>
              </a:defRPr>
            </a:lvl3pPr>
            <a:lvl4pPr lvl="3">
              <a:spcBef>
                <a:spcPts val="0"/>
              </a:spcBef>
              <a:spcAft>
                <a:spcPts val="0"/>
              </a:spcAft>
              <a:buSzPts val="2200"/>
              <a:buFont typeface="Noto Sans JP"/>
              <a:buNone/>
              <a:defRPr b="1" sz="2200">
                <a:latin typeface="Noto Sans JP"/>
                <a:ea typeface="Noto Sans JP"/>
                <a:cs typeface="Noto Sans JP"/>
                <a:sym typeface="Noto Sans JP"/>
              </a:defRPr>
            </a:lvl4pPr>
            <a:lvl5pPr lvl="4">
              <a:spcBef>
                <a:spcPts val="0"/>
              </a:spcBef>
              <a:spcAft>
                <a:spcPts val="0"/>
              </a:spcAft>
              <a:buSzPts val="2200"/>
              <a:buFont typeface="Noto Sans JP"/>
              <a:buNone/>
              <a:defRPr b="1" sz="2200">
                <a:latin typeface="Noto Sans JP"/>
                <a:ea typeface="Noto Sans JP"/>
                <a:cs typeface="Noto Sans JP"/>
                <a:sym typeface="Noto Sans JP"/>
              </a:defRPr>
            </a:lvl5pPr>
            <a:lvl6pPr lvl="5">
              <a:spcBef>
                <a:spcPts val="0"/>
              </a:spcBef>
              <a:spcAft>
                <a:spcPts val="0"/>
              </a:spcAft>
              <a:buSzPts val="2200"/>
              <a:buFont typeface="Noto Sans JP"/>
              <a:buNone/>
              <a:defRPr b="1" sz="2200">
                <a:latin typeface="Noto Sans JP"/>
                <a:ea typeface="Noto Sans JP"/>
                <a:cs typeface="Noto Sans JP"/>
                <a:sym typeface="Noto Sans JP"/>
              </a:defRPr>
            </a:lvl6pPr>
            <a:lvl7pPr lvl="6">
              <a:spcBef>
                <a:spcPts val="0"/>
              </a:spcBef>
              <a:spcAft>
                <a:spcPts val="0"/>
              </a:spcAft>
              <a:buSzPts val="2200"/>
              <a:buFont typeface="Noto Sans JP"/>
              <a:buNone/>
              <a:defRPr b="1" sz="2200">
                <a:latin typeface="Noto Sans JP"/>
                <a:ea typeface="Noto Sans JP"/>
                <a:cs typeface="Noto Sans JP"/>
                <a:sym typeface="Noto Sans JP"/>
              </a:defRPr>
            </a:lvl7pPr>
            <a:lvl8pPr lvl="7">
              <a:spcBef>
                <a:spcPts val="0"/>
              </a:spcBef>
              <a:spcAft>
                <a:spcPts val="0"/>
              </a:spcAft>
              <a:buSzPts val="2200"/>
              <a:buFont typeface="Noto Sans JP"/>
              <a:buNone/>
              <a:defRPr b="1" sz="2200">
                <a:latin typeface="Noto Sans JP"/>
                <a:ea typeface="Noto Sans JP"/>
                <a:cs typeface="Noto Sans JP"/>
                <a:sym typeface="Noto Sans JP"/>
              </a:defRPr>
            </a:lvl8pPr>
            <a:lvl9pPr lvl="8">
              <a:spcBef>
                <a:spcPts val="0"/>
              </a:spcBef>
              <a:spcAft>
                <a:spcPts val="0"/>
              </a:spcAft>
              <a:buSzPts val="2200"/>
              <a:buFont typeface="Noto Sans JP"/>
              <a:buNone/>
              <a:defRPr b="1" sz="2200">
                <a:latin typeface="Noto Sans JP"/>
                <a:ea typeface="Noto Sans JP"/>
                <a:cs typeface="Noto Sans JP"/>
                <a:sym typeface="Noto Sans JP"/>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扉">
  <p:cSld name="CUSTOM_1">
    <p:bg>
      <p:bgPr>
        <a:solidFill>
          <a:schemeClr val="accent1"/>
        </a:solidFill>
      </p:bgPr>
    </p:bg>
    <p:spTree>
      <p:nvGrpSpPr>
        <p:cNvPr id="194" name="Shape 194"/>
        <p:cNvGrpSpPr/>
        <p:nvPr/>
      </p:nvGrpSpPr>
      <p:grpSpPr>
        <a:xfrm>
          <a:off x="0" y="0"/>
          <a:ext cx="0" cy="0"/>
          <a:chOff x="0" y="0"/>
          <a:chExt cx="0" cy="0"/>
        </a:xfrm>
      </p:grpSpPr>
      <p:sp>
        <p:nvSpPr>
          <p:cNvPr id="195" name="Google Shape;195;p36"/>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96" name="Google Shape;196;p36"/>
          <p:cNvSpPr txBox="1"/>
          <p:nvPr/>
        </p:nvSpPr>
        <p:spPr>
          <a:xfrm>
            <a:off x="661800" y="1799250"/>
            <a:ext cx="7820400" cy="15450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sz="3600">
                <a:solidFill>
                  <a:srgbClr val="212121"/>
                </a:solidFill>
                <a:latin typeface="Noto Sans JP"/>
                <a:ea typeface="Noto Sans JP"/>
                <a:cs typeface="Noto Sans JP"/>
                <a:sym typeface="Noto Sans JP"/>
              </a:rPr>
              <a:t>中扉</a:t>
            </a:r>
            <a:endParaRPr b="1" sz="3600">
              <a:solidFill>
                <a:srgbClr val="212121"/>
              </a:solidFill>
              <a:latin typeface="Noto Sans JP"/>
              <a:ea typeface="Noto Sans JP"/>
              <a:cs typeface="Noto Sans JP"/>
              <a:sym typeface="Noto Sans J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コンテンツ">
  <p:cSld name="CUSTOM_3">
    <p:spTree>
      <p:nvGrpSpPr>
        <p:cNvPr id="197" name="Shape 197"/>
        <p:cNvGrpSpPr/>
        <p:nvPr/>
      </p:nvGrpSpPr>
      <p:grpSpPr>
        <a:xfrm>
          <a:off x="0" y="0"/>
          <a:ext cx="0" cy="0"/>
          <a:chOff x="0" y="0"/>
          <a:chExt cx="0" cy="0"/>
        </a:xfrm>
      </p:grpSpPr>
      <p:sp>
        <p:nvSpPr>
          <p:cNvPr id="198" name="Google Shape;198;p37"/>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
        <p:nvSpPr>
          <p:cNvPr id="199" name="Google Shape;199;p37"/>
          <p:cNvSpPr/>
          <p:nvPr/>
        </p:nvSpPr>
        <p:spPr>
          <a:xfrm>
            <a:off x="-4600" y="-7545"/>
            <a:ext cx="9156000" cy="504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ja"/>
              <a:t> </a:t>
            </a:r>
            <a:endParaRPr/>
          </a:p>
        </p:txBody>
      </p:sp>
      <p:sp>
        <p:nvSpPr>
          <p:cNvPr id="200" name="Google Shape;200;p37"/>
          <p:cNvSpPr txBox="1"/>
          <p:nvPr>
            <p:ph idx="1" type="subTitle"/>
          </p:nvPr>
        </p:nvSpPr>
        <p:spPr>
          <a:xfrm>
            <a:off x="338400" y="55075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Font typeface="Noto Sans JP"/>
              <a:buNone/>
              <a:defRPr sz="1200">
                <a:latin typeface="Noto Sans JP"/>
                <a:ea typeface="Noto Sans JP"/>
                <a:cs typeface="Noto Sans JP"/>
                <a:sym typeface="Noto Sans JP"/>
              </a:defRPr>
            </a:lvl1pPr>
            <a:lvl2pPr lvl="1">
              <a:spcBef>
                <a:spcPts val="0"/>
              </a:spcBef>
              <a:spcAft>
                <a:spcPts val="0"/>
              </a:spcAft>
              <a:buSzPts val="1200"/>
              <a:buFont typeface="Noto Sans JP"/>
              <a:buNone/>
              <a:defRPr sz="1200">
                <a:latin typeface="Noto Sans JP"/>
                <a:ea typeface="Noto Sans JP"/>
                <a:cs typeface="Noto Sans JP"/>
                <a:sym typeface="Noto Sans JP"/>
              </a:defRPr>
            </a:lvl2pPr>
            <a:lvl3pPr lvl="2">
              <a:spcBef>
                <a:spcPts val="0"/>
              </a:spcBef>
              <a:spcAft>
                <a:spcPts val="0"/>
              </a:spcAft>
              <a:buSzPts val="1200"/>
              <a:buFont typeface="Noto Sans JP"/>
              <a:buNone/>
              <a:defRPr sz="1200">
                <a:latin typeface="Noto Sans JP"/>
                <a:ea typeface="Noto Sans JP"/>
                <a:cs typeface="Noto Sans JP"/>
                <a:sym typeface="Noto Sans JP"/>
              </a:defRPr>
            </a:lvl3pPr>
            <a:lvl4pPr lvl="3">
              <a:spcBef>
                <a:spcPts val="0"/>
              </a:spcBef>
              <a:spcAft>
                <a:spcPts val="0"/>
              </a:spcAft>
              <a:buSzPts val="1200"/>
              <a:buFont typeface="Noto Sans JP"/>
              <a:buNone/>
              <a:defRPr sz="1200">
                <a:latin typeface="Noto Sans JP"/>
                <a:ea typeface="Noto Sans JP"/>
                <a:cs typeface="Noto Sans JP"/>
                <a:sym typeface="Noto Sans JP"/>
              </a:defRPr>
            </a:lvl4pPr>
            <a:lvl5pPr lvl="4">
              <a:spcBef>
                <a:spcPts val="0"/>
              </a:spcBef>
              <a:spcAft>
                <a:spcPts val="0"/>
              </a:spcAft>
              <a:buSzPts val="1200"/>
              <a:buFont typeface="Noto Sans JP"/>
              <a:buNone/>
              <a:defRPr sz="1200">
                <a:latin typeface="Noto Sans JP"/>
                <a:ea typeface="Noto Sans JP"/>
                <a:cs typeface="Noto Sans JP"/>
                <a:sym typeface="Noto Sans JP"/>
              </a:defRPr>
            </a:lvl5pPr>
            <a:lvl6pPr lvl="5">
              <a:spcBef>
                <a:spcPts val="0"/>
              </a:spcBef>
              <a:spcAft>
                <a:spcPts val="0"/>
              </a:spcAft>
              <a:buSzPts val="1200"/>
              <a:buFont typeface="Noto Sans JP"/>
              <a:buNone/>
              <a:defRPr sz="1200">
                <a:latin typeface="Noto Sans JP"/>
                <a:ea typeface="Noto Sans JP"/>
                <a:cs typeface="Noto Sans JP"/>
                <a:sym typeface="Noto Sans JP"/>
              </a:defRPr>
            </a:lvl6pPr>
            <a:lvl7pPr lvl="6">
              <a:spcBef>
                <a:spcPts val="0"/>
              </a:spcBef>
              <a:spcAft>
                <a:spcPts val="0"/>
              </a:spcAft>
              <a:buSzPts val="1200"/>
              <a:buFont typeface="Noto Sans JP"/>
              <a:buNone/>
              <a:defRPr sz="1200">
                <a:latin typeface="Noto Sans JP"/>
                <a:ea typeface="Noto Sans JP"/>
                <a:cs typeface="Noto Sans JP"/>
                <a:sym typeface="Noto Sans JP"/>
              </a:defRPr>
            </a:lvl7pPr>
            <a:lvl8pPr lvl="7">
              <a:spcBef>
                <a:spcPts val="0"/>
              </a:spcBef>
              <a:spcAft>
                <a:spcPts val="0"/>
              </a:spcAft>
              <a:buSzPts val="1200"/>
              <a:buFont typeface="Noto Sans JP"/>
              <a:buNone/>
              <a:defRPr sz="1200">
                <a:latin typeface="Noto Sans JP"/>
                <a:ea typeface="Noto Sans JP"/>
                <a:cs typeface="Noto Sans JP"/>
                <a:sym typeface="Noto Sans JP"/>
              </a:defRPr>
            </a:lvl8pPr>
            <a:lvl9pPr lvl="8">
              <a:spcBef>
                <a:spcPts val="0"/>
              </a:spcBef>
              <a:spcAft>
                <a:spcPts val="0"/>
              </a:spcAft>
              <a:buSzPts val="1200"/>
              <a:buFont typeface="Noto Sans JP"/>
              <a:buNone/>
              <a:defRPr sz="1200">
                <a:latin typeface="Noto Sans JP"/>
                <a:ea typeface="Noto Sans JP"/>
                <a:cs typeface="Noto Sans JP"/>
                <a:sym typeface="Noto Sans JP"/>
              </a:defRPr>
            </a:lvl9pPr>
          </a:lstStyle>
          <a:p/>
        </p:txBody>
      </p:sp>
      <p:sp>
        <p:nvSpPr>
          <p:cNvPr id="201" name="Google Shape;201;p37"/>
          <p:cNvSpPr txBox="1"/>
          <p:nvPr>
            <p:ph type="title"/>
          </p:nvPr>
        </p:nvSpPr>
        <p:spPr>
          <a:xfrm>
            <a:off x="187525" y="48100"/>
            <a:ext cx="84672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Noto Sans JP"/>
              <a:buNone/>
              <a:defRPr b="1">
                <a:latin typeface="Noto Sans JP"/>
                <a:ea typeface="Noto Sans JP"/>
                <a:cs typeface="Noto Sans JP"/>
                <a:sym typeface="Noto Sans JP"/>
              </a:defRPr>
            </a:lvl1pPr>
            <a:lvl2pPr lvl="1">
              <a:spcBef>
                <a:spcPts val="0"/>
              </a:spcBef>
              <a:spcAft>
                <a:spcPts val="0"/>
              </a:spcAft>
              <a:buSzPts val="1400"/>
              <a:buFont typeface="Noto Sans JP"/>
              <a:buNone/>
              <a:defRPr b="1">
                <a:latin typeface="Noto Sans JP"/>
                <a:ea typeface="Noto Sans JP"/>
                <a:cs typeface="Noto Sans JP"/>
                <a:sym typeface="Noto Sans JP"/>
              </a:defRPr>
            </a:lvl2pPr>
            <a:lvl3pPr lvl="2">
              <a:spcBef>
                <a:spcPts val="0"/>
              </a:spcBef>
              <a:spcAft>
                <a:spcPts val="0"/>
              </a:spcAft>
              <a:buSzPts val="1400"/>
              <a:buFont typeface="Noto Sans JP"/>
              <a:buNone/>
              <a:defRPr b="1">
                <a:latin typeface="Noto Sans JP"/>
                <a:ea typeface="Noto Sans JP"/>
                <a:cs typeface="Noto Sans JP"/>
                <a:sym typeface="Noto Sans JP"/>
              </a:defRPr>
            </a:lvl3pPr>
            <a:lvl4pPr lvl="3">
              <a:spcBef>
                <a:spcPts val="0"/>
              </a:spcBef>
              <a:spcAft>
                <a:spcPts val="0"/>
              </a:spcAft>
              <a:buSzPts val="1400"/>
              <a:buFont typeface="Noto Sans JP"/>
              <a:buNone/>
              <a:defRPr b="1">
                <a:latin typeface="Noto Sans JP"/>
                <a:ea typeface="Noto Sans JP"/>
                <a:cs typeface="Noto Sans JP"/>
                <a:sym typeface="Noto Sans JP"/>
              </a:defRPr>
            </a:lvl4pPr>
            <a:lvl5pPr lvl="4">
              <a:spcBef>
                <a:spcPts val="0"/>
              </a:spcBef>
              <a:spcAft>
                <a:spcPts val="0"/>
              </a:spcAft>
              <a:buSzPts val="1400"/>
              <a:buFont typeface="Noto Sans JP"/>
              <a:buNone/>
              <a:defRPr b="1">
                <a:latin typeface="Noto Sans JP"/>
                <a:ea typeface="Noto Sans JP"/>
                <a:cs typeface="Noto Sans JP"/>
                <a:sym typeface="Noto Sans JP"/>
              </a:defRPr>
            </a:lvl5pPr>
            <a:lvl6pPr lvl="5">
              <a:spcBef>
                <a:spcPts val="0"/>
              </a:spcBef>
              <a:spcAft>
                <a:spcPts val="0"/>
              </a:spcAft>
              <a:buSzPts val="1400"/>
              <a:buFont typeface="Noto Sans JP"/>
              <a:buNone/>
              <a:defRPr b="1">
                <a:latin typeface="Noto Sans JP"/>
                <a:ea typeface="Noto Sans JP"/>
                <a:cs typeface="Noto Sans JP"/>
                <a:sym typeface="Noto Sans JP"/>
              </a:defRPr>
            </a:lvl6pPr>
            <a:lvl7pPr lvl="6">
              <a:spcBef>
                <a:spcPts val="0"/>
              </a:spcBef>
              <a:spcAft>
                <a:spcPts val="0"/>
              </a:spcAft>
              <a:buSzPts val="1400"/>
              <a:buFont typeface="Noto Sans JP"/>
              <a:buNone/>
              <a:defRPr b="1">
                <a:latin typeface="Noto Sans JP"/>
                <a:ea typeface="Noto Sans JP"/>
                <a:cs typeface="Noto Sans JP"/>
                <a:sym typeface="Noto Sans JP"/>
              </a:defRPr>
            </a:lvl7pPr>
            <a:lvl8pPr lvl="7">
              <a:spcBef>
                <a:spcPts val="0"/>
              </a:spcBef>
              <a:spcAft>
                <a:spcPts val="0"/>
              </a:spcAft>
              <a:buSzPts val="1400"/>
              <a:buFont typeface="Noto Sans JP"/>
              <a:buNone/>
              <a:defRPr b="1">
                <a:latin typeface="Noto Sans JP"/>
                <a:ea typeface="Noto Sans JP"/>
                <a:cs typeface="Noto Sans JP"/>
                <a:sym typeface="Noto Sans JP"/>
              </a:defRPr>
            </a:lvl8pPr>
            <a:lvl9pPr lvl="8">
              <a:spcBef>
                <a:spcPts val="0"/>
              </a:spcBef>
              <a:spcAft>
                <a:spcPts val="0"/>
              </a:spcAft>
              <a:buSzPts val="1400"/>
              <a:buFont typeface="Noto Sans JP"/>
              <a:buNone/>
              <a:defRPr b="1">
                <a:latin typeface="Noto Sans JP"/>
                <a:ea typeface="Noto Sans JP"/>
                <a:cs typeface="Noto Sans JP"/>
                <a:sym typeface="Noto Sans JP"/>
              </a:defRPr>
            </a:lvl9pPr>
          </a:lstStyle>
          <a:p/>
        </p:txBody>
      </p:sp>
      <p:sp>
        <p:nvSpPr>
          <p:cNvPr id="202" name="Google Shape;202;p37"/>
          <p:cNvSpPr txBox="1"/>
          <p:nvPr/>
        </p:nvSpPr>
        <p:spPr>
          <a:xfrm>
            <a:off x="338400" y="1282575"/>
            <a:ext cx="434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Noto Sans JP"/>
              <a:ea typeface="Noto Sans JP"/>
              <a:cs typeface="Noto Sans JP"/>
              <a:sym typeface="Noto Sans J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裏表紙">
  <p:cSld name="CUSTOM_7">
    <p:bg>
      <p:bgPr>
        <a:solidFill>
          <a:schemeClr val="accent1"/>
        </a:solidFill>
      </p:bgPr>
    </p:bg>
    <p:spTree>
      <p:nvGrpSpPr>
        <p:cNvPr id="203" name="Shape 203"/>
        <p:cNvGrpSpPr/>
        <p:nvPr/>
      </p:nvGrpSpPr>
      <p:grpSpPr>
        <a:xfrm>
          <a:off x="0" y="0"/>
          <a:ext cx="0" cy="0"/>
          <a:chOff x="0" y="0"/>
          <a:chExt cx="0" cy="0"/>
        </a:xfrm>
      </p:grpSpPr>
      <p:sp>
        <p:nvSpPr>
          <p:cNvPr id="204" name="Google Shape;204;p38"/>
          <p:cNvSpPr txBox="1"/>
          <p:nvPr>
            <p:ph idx="12" type="sldNum"/>
          </p:nvPr>
        </p:nvSpPr>
        <p:spPr>
          <a:xfrm>
            <a:off x="8558684" y="47394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pic>
        <p:nvPicPr>
          <p:cNvPr id="205" name="Google Shape;205;p38"/>
          <p:cNvPicPr preferRelativeResize="0"/>
          <p:nvPr/>
        </p:nvPicPr>
        <p:blipFill>
          <a:blip r:embed="rId2">
            <a:alphaModFix/>
          </a:blip>
          <a:stretch>
            <a:fillRect/>
          </a:stretch>
        </p:blipFill>
        <p:spPr>
          <a:xfrm>
            <a:off x="3429175" y="2049437"/>
            <a:ext cx="2285650" cy="1044625"/>
          </a:xfrm>
          <a:prstGeom prst="rect">
            <a:avLst/>
          </a:prstGeom>
          <a:noFill/>
          <a:ln>
            <a:noFill/>
          </a:ln>
        </p:spPr>
      </p:pic>
      <p:sp>
        <p:nvSpPr>
          <p:cNvPr id="206" name="Google Shape;206;p38"/>
          <p:cNvSpPr/>
          <p:nvPr/>
        </p:nvSpPr>
        <p:spPr>
          <a:xfrm>
            <a:off x="83000" y="4330575"/>
            <a:ext cx="724200" cy="72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38"/>
          <p:cNvSpPr/>
          <p:nvPr/>
        </p:nvSpPr>
        <p:spPr>
          <a:xfrm>
            <a:off x="8383175" y="4330575"/>
            <a:ext cx="724200" cy="724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6" Type="http://schemas.openxmlformats.org/officeDocument/2006/relationships/theme" Target="../theme/theme4.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theme" Target="../theme/theme3.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600">
                <a:solidFill>
                  <a:schemeClr val="lt1"/>
                </a:solidFill>
                <a:latin typeface="Noto Sans JP"/>
                <a:ea typeface="Noto Sans JP"/>
                <a:cs typeface="Noto Sans JP"/>
                <a:sym typeface="Noto Sans JP"/>
              </a:defRPr>
            </a:lvl1pPr>
            <a:lvl2pPr lvl="1" algn="r">
              <a:buNone/>
              <a:defRPr sz="600">
                <a:solidFill>
                  <a:schemeClr val="lt1"/>
                </a:solidFill>
                <a:latin typeface="Noto Sans JP"/>
                <a:ea typeface="Noto Sans JP"/>
                <a:cs typeface="Noto Sans JP"/>
                <a:sym typeface="Noto Sans JP"/>
              </a:defRPr>
            </a:lvl2pPr>
            <a:lvl3pPr lvl="2" algn="r">
              <a:buNone/>
              <a:defRPr sz="600">
                <a:solidFill>
                  <a:schemeClr val="lt1"/>
                </a:solidFill>
                <a:latin typeface="Noto Sans JP"/>
                <a:ea typeface="Noto Sans JP"/>
                <a:cs typeface="Noto Sans JP"/>
                <a:sym typeface="Noto Sans JP"/>
              </a:defRPr>
            </a:lvl3pPr>
            <a:lvl4pPr lvl="3" algn="r">
              <a:buNone/>
              <a:defRPr sz="600">
                <a:solidFill>
                  <a:schemeClr val="lt1"/>
                </a:solidFill>
                <a:latin typeface="Noto Sans JP"/>
                <a:ea typeface="Noto Sans JP"/>
                <a:cs typeface="Noto Sans JP"/>
                <a:sym typeface="Noto Sans JP"/>
              </a:defRPr>
            </a:lvl4pPr>
            <a:lvl5pPr lvl="4" algn="r">
              <a:buNone/>
              <a:defRPr sz="600">
                <a:solidFill>
                  <a:schemeClr val="lt1"/>
                </a:solidFill>
                <a:latin typeface="Noto Sans JP"/>
                <a:ea typeface="Noto Sans JP"/>
                <a:cs typeface="Noto Sans JP"/>
                <a:sym typeface="Noto Sans JP"/>
              </a:defRPr>
            </a:lvl5pPr>
            <a:lvl6pPr lvl="5" algn="r">
              <a:buNone/>
              <a:defRPr sz="600">
                <a:solidFill>
                  <a:schemeClr val="lt1"/>
                </a:solidFill>
                <a:latin typeface="Noto Sans JP"/>
                <a:ea typeface="Noto Sans JP"/>
                <a:cs typeface="Noto Sans JP"/>
                <a:sym typeface="Noto Sans JP"/>
              </a:defRPr>
            </a:lvl6pPr>
            <a:lvl7pPr lvl="6" algn="r">
              <a:buNone/>
              <a:defRPr sz="600">
                <a:solidFill>
                  <a:schemeClr val="lt1"/>
                </a:solidFill>
                <a:latin typeface="Noto Sans JP"/>
                <a:ea typeface="Noto Sans JP"/>
                <a:cs typeface="Noto Sans JP"/>
                <a:sym typeface="Noto Sans JP"/>
              </a:defRPr>
            </a:lvl7pPr>
            <a:lvl8pPr lvl="7" algn="r">
              <a:buNone/>
              <a:defRPr sz="600">
                <a:solidFill>
                  <a:schemeClr val="lt1"/>
                </a:solidFill>
                <a:latin typeface="Noto Sans JP"/>
                <a:ea typeface="Noto Sans JP"/>
                <a:cs typeface="Noto Sans JP"/>
                <a:sym typeface="Noto Sans JP"/>
              </a:defRPr>
            </a:lvl8pPr>
            <a:lvl9pPr lvl="8" algn="r">
              <a:buNone/>
              <a:defRPr sz="600">
                <a:solidFill>
                  <a:schemeClr val="lt1"/>
                </a:solidFill>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
        <p:nvSpPr>
          <p:cNvPr id="69" name="Google Shape;69;p15"/>
          <p:cNvSpPr/>
          <p:nvPr/>
        </p:nvSpPr>
        <p:spPr>
          <a:xfrm>
            <a:off x="7425750" y="5004025"/>
            <a:ext cx="1581300" cy="85800"/>
          </a:xfrm>
          <a:prstGeom prst="rect">
            <a:avLst/>
          </a:prstGeom>
          <a:noFill/>
          <a:ln>
            <a:noFill/>
          </a:ln>
        </p:spPr>
        <p:txBody>
          <a:bodyPr anchorCtr="0" anchor="t" bIns="0" lIns="0" spcFirstLastPara="1" rIns="0" wrap="square" tIns="0">
            <a:noAutofit/>
          </a:bodyPr>
          <a:lstStyle/>
          <a:p>
            <a:pPr indent="0" lvl="0" marL="0" marR="0" rtl="0" algn="r">
              <a:lnSpc>
                <a:spcPct val="85037"/>
              </a:lnSpc>
              <a:spcBef>
                <a:spcPts val="0"/>
              </a:spcBef>
              <a:spcAft>
                <a:spcPts val="0"/>
              </a:spcAft>
              <a:buClr>
                <a:srgbClr val="808080"/>
              </a:buClr>
              <a:buSzPts val="700"/>
              <a:buFont typeface="Noto Sans JP"/>
              <a:buNone/>
            </a:pPr>
            <a:r>
              <a:rPr b="0" i="0" lang="ja" sz="600" u="none" cap="none" strike="noStrike">
                <a:solidFill>
                  <a:schemeClr val="accent2"/>
                </a:solidFill>
                <a:latin typeface="Noto Sans JP"/>
                <a:ea typeface="Noto Sans JP"/>
                <a:cs typeface="Noto Sans JP"/>
                <a:sym typeface="Noto Sans JP"/>
              </a:rPr>
              <a:t>Copyright © Timee All Rights Reserved</a:t>
            </a:r>
            <a:endParaRPr b="0" i="0" sz="600" u="none" cap="none" strike="noStrike">
              <a:solidFill>
                <a:schemeClr val="accent2"/>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pic>
        <p:nvPicPr>
          <p:cNvPr id="164" name="Google Shape;164;p31"/>
          <p:cNvPicPr preferRelativeResize="0"/>
          <p:nvPr/>
        </p:nvPicPr>
        <p:blipFill>
          <a:blip r:embed="rId1">
            <a:alphaModFix/>
          </a:blip>
          <a:stretch>
            <a:fillRect/>
          </a:stretch>
        </p:blipFill>
        <p:spPr>
          <a:xfrm>
            <a:off x="159300" y="4843475"/>
            <a:ext cx="548700" cy="144029"/>
          </a:xfrm>
          <a:prstGeom prst="rect">
            <a:avLst/>
          </a:prstGeom>
          <a:noFill/>
          <a:ln>
            <a:noFill/>
          </a:ln>
        </p:spPr>
      </p:pic>
      <p:sp>
        <p:nvSpPr>
          <p:cNvPr id="165" name="Google Shape;165;p31"/>
          <p:cNvSpPr txBox="1"/>
          <p:nvPr>
            <p:ph idx="12" type="sldNum"/>
          </p:nvPr>
        </p:nvSpPr>
        <p:spPr>
          <a:xfrm>
            <a:off x="8558684" y="4739417"/>
            <a:ext cx="548700" cy="393600"/>
          </a:xfrm>
          <a:prstGeom prst="rect">
            <a:avLst/>
          </a:prstGeom>
          <a:noFill/>
          <a:ln>
            <a:noFill/>
          </a:ln>
        </p:spPr>
        <p:txBody>
          <a:bodyPr anchorCtr="0" anchor="ctr" bIns="91425" lIns="91425" spcFirstLastPara="1" rIns="91425" wrap="square" tIns="91425">
            <a:noAutofit/>
          </a:bodyPr>
          <a:lstStyle>
            <a:lvl1pPr lvl="0" algn="r">
              <a:buNone/>
              <a:defRPr sz="800">
                <a:latin typeface="Noto Sans JP"/>
                <a:ea typeface="Noto Sans JP"/>
                <a:cs typeface="Noto Sans JP"/>
                <a:sym typeface="Noto Sans JP"/>
              </a:defRPr>
            </a:lvl1pPr>
            <a:lvl2pPr lvl="1" algn="r">
              <a:buNone/>
              <a:defRPr sz="800">
                <a:latin typeface="Noto Sans JP"/>
                <a:ea typeface="Noto Sans JP"/>
                <a:cs typeface="Noto Sans JP"/>
                <a:sym typeface="Noto Sans JP"/>
              </a:defRPr>
            </a:lvl2pPr>
            <a:lvl3pPr lvl="2" algn="r">
              <a:buNone/>
              <a:defRPr sz="800">
                <a:latin typeface="Noto Sans JP"/>
                <a:ea typeface="Noto Sans JP"/>
                <a:cs typeface="Noto Sans JP"/>
                <a:sym typeface="Noto Sans JP"/>
              </a:defRPr>
            </a:lvl3pPr>
            <a:lvl4pPr lvl="3" algn="r">
              <a:buNone/>
              <a:defRPr sz="800">
                <a:latin typeface="Noto Sans JP"/>
                <a:ea typeface="Noto Sans JP"/>
                <a:cs typeface="Noto Sans JP"/>
                <a:sym typeface="Noto Sans JP"/>
              </a:defRPr>
            </a:lvl4pPr>
            <a:lvl5pPr lvl="4" algn="r">
              <a:buNone/>
              <a:defRPr sz="800">
                <a:latin typeface="Noto Sans JP"/>
                <a:ea typeface="Noto Sans JP"/>
                <a:cs typeface="Noto Sans JP"/>
                <a:sym typeface="Noto Sans JP"/>
              </a:defRPr>
            </a:lvl5pPr>
            <a:lvl6pPr lvl="5" algn="r">
              <a:buNone/>
              <a:defRPr sz="800">
                <a:latin typeface="Noto Sans JP"/>
                <a:ea typeface="Noto Sans JP"/>
                <a:cs typeface="Noto Sans JP"/>
                <a:sym typeface="Noto Sans JP"/>
              </a:defRPr>
            </a:lvl6pPr>
            <a:lvl7pPr lvl="6" algn="r">
              <a:buNone/>
              <a:defRPr sz="800">
                <a:latin typeface="Noto Sans JP"/>
                <a:ea typeface="Noto Sans JP"/>
                <a:cs typeface="Noto Sans JP"/>
                <a:sym typeface="Noto Sans JP"/>
              </a:defRPr>
            </a:lvl7pPr>
            <a:lvl8pPr lvl="7" algn="r">
              <a:buNone/>
              <a:defRPr sz="800">
                <a:latin typeface="Noto Sans JP"/>
                <a:ea typeface="Noto Sans JP"/>
                <a:cs typeface="Noto Sans JP"/>
                <a:sym typeface="Noto Sans JP"/>
              </a:defRPr>
            </a:lvl8pPr>
            <a:lvl9pPr lvl="8" algn="r">
              <a:buNone/>
              <a:defRPr sz="800">
                <a:latin typeface="Noto Sans JP"/>
                <a:ea typeface="Noto Sans JP"/>
                <a:cs typeface="Noto Sans JP"/>
                <a:sym typeface="Noto Sans JP"/>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76" r:id="rId2"/>
    <p:sldLayoutId id="2147483677" r:id="rId3"/>
    <p:sldLayoutId id="2147483678" r:id="rId4"/>
    <p:sldLayoutId id="2147483679" r:id="rId5"/>
    <p:sldLayoutId id="2147483680" r:id="rId6"/>
    <p:sldLayoutId id="2147483681" r:id="rId7"/>
    <p:sldLayoutId id="2147483682"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hyperlink" Target="https://docs.google.com/presentation/d/1RuI073kpSmKQzpn-jxMMRgc-g87hpjpts5YywVQNGJk/edit?slide=id.g2e2dd58f6b2_0_228#slide=id.g2e2dd58f6b2_0_228" TargetMode="External"/><Relationship Id="rId4" Type="http://schemas.openxmlformats.org/officeDocument/2006/relationships/hyperlink" Target="https://docs.google.com/presentation/d/1I1ZgmjIDJ--KD7U8SKC64-vq2Xo4clJODOAFZNowth4/edit?slide=id.g2e2dd58f6b2_0_228#slide=id.g2e2dd58f6b2_0_22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hyperlink" Target="https://docs.google.com/presentation/d/1RuI073kpSmKQzpn-jxMMRgc-g87hpjpts5YywVQNGJk/edit?slide=id.g369d9e75d49_0_1#slide=id.g369d9e75d49_0_1" TargetMode="External"/><Relationship Id="rId4" Type="http://schemas.openxmlformats.org/officeDocument/2006/relationships/hyperlink" Target="https://docs.google.com/presentation/d/1I1ZgmjIDJ--KD7U8SKC64-vq2Xo4clJODOAFZNowth4/edit?slide=id.g369d9e75d49_0_1#slide=id.g369d9e75d49_0_1" TargetMode="External"/><Relationship Id="rId5" Type="http://schemas.openxmlformats.org/officeDocument/2006/relationships/image" Target="../media/image49.png"/><Relationship Id="rId6" Type="http://schemas.openxmlformats.org/officeDocument/2006/relationships/image" Target="../media/image35.png"/></Relationships>
</file>

<file path=ppt/slides/_rels/slide5.xml.rels><?xml version="1.0" encoding="UTF-8" standalone="yes"?><Relationships xmlns="http://schemas.openxmlformats.org/package/2006/relationships"><Relationship Id="rId10" Type="http://schemas.openxmlformats.org/officeDocument/2006/relationships/image" Target="../media/image10.png"/><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12.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8.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hyperlink" Target="https://docs.google.com/spreadsheets/d/1VlYTSFJRUFDtw1kHuFzHLWfSJakMuAQH8yrISJJvOXk/edit?pli=1&amp;gid=1982118576#gid=1982118576&amp;range=A61" TargetMode="External"/><Relationship Id="rId4" Type="http://schemas.openxmlformats.org/officeDocument/2006/relationships/image" Target="../media/image13.png"/><Relationship Id="rId5"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slide" Target="/ppt/slides/slide37.xml"/><Relationship Id="rId4" Type="http://schemas.openxmlformats.org/officeDocument/2006/relationships/slide" Target="/ppt/slides/slide38.xml"/><Relationship Id="rId5" Type="http://schemas.openxmlformats.org/officeDocument/2006/relationships/hyperlink" Target="https://docs.google.com/spreadsheets/d/1VlYTSFJRUFDtw1kHuFzHLWfSJakMuAQH8yrISJJvOXk/edit?pli=1&amp;gid=1982118576#gid=1982118576&amp;range=A61" TargetMode="External"/><Relationship Id="rId6" Type="http://schemas.openxmlformats.org/officeDocument/2006/relationships/image" Target="../media/image29.png"/><Relationship Id="rId7"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hyperlink" Target="https://docs.google.com/spreadsheets/d/1VlYTSFJRUFDtw1kHuFzHLWfSJakMuAQH8yrISJJvOXk/edit?pli=1&amp;gid=1982118576#gid=1982118576&amp;range=A61" TargetMode="External"/><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hyperlink" Target="https://docs.google.com/spreadsheets/d/1VlYTSFJRUFDtw1kHuFzHLWfSJakMuAQH8yrISJJvOXk/edit?pli=1&amp;gid=1982118576#gid=1982118576&amp;range=A77" TargetMode="External"/><Relationship Id="rId5"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hyperlink" Target="https://docs.google.com/spreadsheets/d/1VlYTSFJRUFDtw1kHuFzHLWfSJakMuAQH8yrISJJvOXk/edit?pli=1&amp;gid=1982118576#gid=1982118576&amp;range=B61" TargetMode="External"/><Relationship Id="rId5" Type="http://schemas.openxmlformats.org/officeDocument/2006/relationships/image" Target="../media/image28.png"/><Relationship Id="rId6" Type="http://schemas.openxmlformats.org/officeDocument/2006/relationships/slide" Target="/ppt/slides/slide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0" Type="http://schemas.openxmlformats.org/officeDocument/2006/relationships/image" Target="../media/image10.png"/><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12.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8.png"/><Relationship Id="rId8"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hyperlink" Target="https://docs.google.com/spreadsheets/d/1VlYTSFJRUFDtw1kHuFzHLWfSJakMuAQH8yrISJJvOXk/edit?pli=1&amp;gid=1982118576#gid=1982118576&amp;range=A94" TargetMode="External"/><Relationship Id="rId4" Type="http://schemas.openxmlformats.org/officeDocument/2006/relationships/image" Target="../media/image21.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 Id="rId3" Type="http://schemas.openxmlformats.org/officeDocument/2006/relationships/hyperlink" Target="https://docs.google.com/spreadsheets/d/1VlYTSFJRUFDtw1kHuFzHLWfSJakMuAQH8yrISJJvOXk/edit?pli=1&amp;gid=1982118576#gid=1982118576&amp;range=A94" TargetMode="External"/><Relationship Id="rId4" Type="http://schemas.openxmlformats.org/officeDocument/2006/relationships/image" Target="../media/image38.png"/><Relationship Id="rId5" Type="http://schemas.openxmlformats.org/officeDocument/2006/relationships/slide" Target="/ppt/slides/slide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comments" Target="../comments/comment1.xml"/><Relationship Id="rId4" Type="http://schemas.openxmlformats.org/officeDocument/2006/relationships/hyperlink" Target="https://docs.google.com/spreadsheets/d/1VlYTSFJRUFDtw1kHuFzHLWfSJakMuAQH8yrISJJvOXk/edit?pli=1&amp;gid=1982118576#gid=1982118576&amp;range=A166" TargetMode="External"/><Relationship Id="rId5" Type="http://schemas.openxmlformats.org/officeDocument/2006/relationships/image" Target="../media/image22.png"/><Relationship Id="rId6"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hyperlink" Target="https://docs.google.com/spreadsheets/d/1VlYTSFJRUFDtw1kHuFzHLWfSJakMuAQH8yrISJJvOXk/edit?pli=1&amp;gid=1982118576#gid=1982118576&amp;range=A234" TargetMode="External"/><Relationship Id="rId4" Type="http://schemas.openxmlformats.org/officeDocument/2006/relationships/image" Target="../media/image23.png"/><Relationship Id="rId5"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hyperlink" Target="https://docs.google.com/spreadsheets/d/1VlYTSFJRUFDtw1kHuFzHLWfSJakMuAQH8yrISJJvOXk/edit?pli=1&amp;gid=1982118576#gid=1982118576&amp;range=A211" TargetMode="External"/><Relationship Id="rId4" Type="http://schemas.openxmlformats.org/officeDocument/2006/relationships/image" Target="../media/image25.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9.png"/><Relationship Id="rId9" Type="http://schemas.openxmlformats.org/officeDocument/2006/relationships/image" Target="../media/image10.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8.png"/><Relationship Id="rId8"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 Id="rId3" Type="http://schemas.openxmlformats.org/officeDocument/2006/relationships/image" Target="../media/image47.png"/><Relationship Id="rId4" Type="http://schemas.openxmlformats.org/officeDocument/2006/relationships/hyperlink" Target="https://docs.google.com/spreadsheets/d/1VlYTSFJRUFDtw1kHuFzHLWfSJakMuAQH8yrISJJvOXk/edit?pli=1&amp;gid=1982118576#gid=1982118576&amp;range=A42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 Id="rId3" Type="http://schemas.openxmlformats.org/officeDocument/2006/relationships/hyperlink" Target="https://docs.google.com/spreadsheets/d/1VlYTSFJRUFDtw1kHuFzHLWfSJakMuAQH8yrISJJvOXk/edit?pli=1&amp;gid=1083350449#gid=1083350449&amp;range=A51" TargetMode="Externa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hyperlink" Target="https://docs.google.com/spreadsheets/d/1VlYTSFJRUFDtw1kHuFzHLWfSJakMuAQH8yrISJJvOXk/edit?pli=1&amp;gid=1083350449#gid=1083350449&amp;range=B2" TargetMode="Externa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 Id="rId3" Type="http://schemas.openxmlformats.org/officeDocument/2006/relationships/hyperlink" Target="https://docs.google.com/spreadsheets/d/1VlYTSFJRUFDtw1kHuFzHLWfSJakMuAQH8yrISJJvOXk/edit?pli=1&amp;gid=1083350449#gid=1083350449&amp;range=J2" TargetMode="Externa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hyperlink" Target="https://docs.google.com/spreadsheets/d/1mE7kDB4zxw8CnBTSdPp7ojDPh8iWCLUXX-iZWkumfjs/edit?gid=1947948813#gid=1947948813&amp;range=A174" TargetMode="Externa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hyperlink" Target="https://docs.google.com/spreadsheets/d/1VlYTSFJRUFDtw1kHuFzHLWfSJakMuAQH8yrISJJvOXk/edit?pli=1&amp;gid=1083350449#gid=1083350449&amp;range=P2" TargetMode="External"/><Relationship Id="rId4" Type="http://schemas.openxmlformats.org/officeDocument/2006/relationships/image" Target="../media/image48.png"/><Relationship Id="rId5"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 Id="rId3" Type="http://schemas.openxmlformats.org/officeDocument/2006/relationships/hyperlink" Target="https://docs.google.com/spreadsheets/d/1VlYTSFJRUFDtw1kHuFzHLWfSJakMuAQH8yrISJJvOXk/edit?pli=1&amp;gid=1083350449#gid=1083350449&amp;range=P2" TargetMode="External"/><Relationship Id="rId4" Type="http://schemas.openxmlformats.org/officeDocument/2006/relationships/image" Target="../media/image44.png"/><Relationship Id="rId5"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7.xml"/><Relationship Id="rId3" Type="http://schemas.openxmlformats.org/officeDocument/2006/relationships/slide" Target="/ppt/slid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 Id="rId3" Type="http://schemas.openxmlformats.org/officeDocument/2006/relationships/slide" Target="/ppt/slides/slide10.xml"/><Relationship Id="rId4" Type="http://schemas.openxmlformats.org/officeDocument/2006/relationships/hyperlink" Target="https://docs.google.com/spreadsheets/d/1mE7kDB4zxw8CnBTSdPp7ojDPh8iWCLUXX-iZWkumfjs/edit?gid=200386187#gid=200386187&amp;range=A302" TargetMode="External"/><Relationship Id="rId5" Type="http://schemas.openxmlformats.org/officeDocument/2006/relationships/image" Target="../media/image46.png"/><Relationship Id="rId6"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 Id="rId3" Type="http://schemas.openxmlformats.org/officeDocument/2006/relationships/slide" Target="/ppt/slides/slide18.xml"/><Relationship Id="rId4" Type="http://schemas.openxmlformats.org/officeDocument/2006/relationships/image" Target="../media/image40.png"/><Relationship Id="rId5" Type="http://schemas.openxmlformats.org/officeDocument/2006/relationships/hyperlink" Target="https://docs.google.com/spreadsheets/d/1VlYTSFJRUFDtw1kHuFzHLWfSJakMuAQH8yrISJJvOXk/edit?pli=1&amp;gid=1982118576#gid=1982118576&amp;range=A94"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nvSpPr>
        <p:spPr>
          <a:xfrm>
            <a:off x="628650" y="2903163"/>
            <a:ext cx="5918400" cy="1125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Noto Sans JP"/>
                <a:ea typeface="Noto Sans JP"/>
                <a:cs typeface="Noto Sans JP"/>
                <a:sym typeface="Noto Sans JP"/>
              </a:rPr>
              <a:t>@Kana.Hakutani</a:t>
            </a:r>
            <a:endParaRPr>
              <a:solidFill>
                <a:srgbClr val="1F1F1F"/>
              </a:solidFill>
              <a:latin typeface="Noto Sans JP"/>
              <a:ea typeface="Noto Sans JP"/>
              <a:cs typeface="Noto Sans JP"/>
              <a:sym typeface="Noto Sans JP"/>
            </a:endParaRPr>
          </a:p>
        </p:txBody>
      </p:sp>
      <p:sp>
        <p:nvSpPr>
          <p:cNvPr id="213" name="Google Shape;213;p39"/>
          <p:cNvSpPr txBox="1"/>
          <p:nvPr/>
        </p:nvSpPr>
        <p:spPr>
          <a:xfrm>
            <a:off x="607050" y="2063838"/>
            <a:ext cx="7929900" cy="6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800">
                <a:latin typeface="Noto Sans JP"/>
                <a:ea typeface="Noto Sans JP"/>
                <a:cs typeface="Noto Sans JP"/>
                <a:sym typeface="Noto Sans JP"/>
              </a:rPr>
              <a:t>翌月継続率の探索分析</a:t>
            </a:r>
            <a:endParaRPr b="1" sz="2800">
              <a:latin typeface="Noto Sans JP"/>
              <a:ea typeface="Noto Sans JP"/>
              <a:cs typeface="Noto Sans JP"/>
              <a:sym typeface="Noto Sans JP"/>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p:nvPr/>
        </p:nvSpPr>
        <p:spPr>
          <a:xfrm>
            <a:off x="-80550" y="98515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4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20" name="Google Shape;220;p4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221" name="Google Shape;221;p40"/>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222" name="Google Shape;222;p40"/>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223" name="Google Shape;223;p40"/>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224" name="Google Shape;224;p40"/>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225" name="Google Shape;225;p40"/>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226" name="Google Shape;226;p40"/>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227" name="Google Shape;227;p40"/>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228" name="Google Shape;228;p40"/>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229" name="Google Shape;229;p40"/>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230" name="Google Shape;230;p40"/>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231" name="Google Shape;231;p40"/>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232" name="Google Shape;232;p40"/>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38" name="Google Shape;238;p4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分析概要</a:t>
            </a:r>
            <a:endParaRPr/>
          </a:p>
        </p:txBody>
      </p:sp>
      <p:sp>
        <p:nvSpPr>
          <p:cNvPr id="239" name="Google Shape;239;p41"/>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当分析はFY26のGrowthSquadが取り組む「LowTouch事業所の翌月継続率の向上」に向けた実験企画の方針を定めるために実施する。</a:t>
            </a:r>
            <a:endParaRPr sz="1200">
              <a:latin typeface="Noto Sans JP"/>
              <a:ea typeface="Noto Sans JP"/>
              <a:cs typeface="Noto Sans JP"/>
              <a:sym typeface="Noto Sans JP"/>
            </a:endParaRPr>
          </a:p>
        </p:txBody>
      </p:sp>
      <p:sp>
        <p:nvSpPr>
          <p:cNvPr id="240" name="Google Shape;240;p41"/>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rgbClr val="808080"/>
                </a:solidFill>
                <a:latin typeface="Noto Sans SemiBold"/>
                <a:ea typeface="Noto Sans SemiBold"/>
                <a:cs typeface="Noto Sans SemiBold"/>
                <a:sym typeface="Noto Sans SemiBold"/>
              </a:rPr>
              <a:t>翌月継続率の探索分析: 分析概要</a:t>
            </a:r>
            <a:endParaRPr sz="1000">
              <a:solidFill>
                <a:srgbClr val="808080"/>
              </a:solidFill>
              <a:latin typeface="Noto Sans SemiBold"/>
              <a:ea typeface="Noto Sans SemiBold"/>
              <a:cs typeface="Noto Sans SemiBold"/>
              <a:sym typeface="Noto Sans SemiBold"/>
            </a:endParaRPr>
          </a:p>
        </p:txBody>
      </p:sp>
      <p:sp>
        <p:nvSpPr>
          <p:cNvPr id="241" name="Google Shape;241;p41"/>
          <p:cNvSpPr/>
          <p:nvPr/>
        </p:nvSpPr>
        <p:spPr>
          <a:xfrm>
            <a:off x="187525" y="15894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分析の目的</a:t>
            </a:r>
            <a:endParaRPr sz="800">
              <a:latin typeface="Noto Sans JP"/>
              <a:ea typeface="Noto Sans JP"/>
              <a:cs typeface="Noto Sans JP"/>
              <a:sym typeface="Noto Sans JP"/>
            </a:endParaRPr>
          </a:p>
        </p:txBody>
      </p:sp>
      <p:sp>
        <p:nvSpPr>
          <p:cNvPr id="242" name="Google Shape;242;p41"/>
          <p:cNvSpPr/>
          <p:nvPr/>
        </p:nvSpPr>
        <p:spPr>
          <a:xfrm>
            <a:off x="187525" y="23927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分析のゴール</a:t>
            </a:r>
            <a:endParaRPr sz="800">
              <a:latin typeface="Noto Sans JP"/>
              <a:ea typeface="Noto Sans JP"/>
              <a:cs typeface="Noto Sans JP"/>
              <a:sym typeface="Noto Sans JP"/>
            </a:endParaRPr>
          </a:p>
        </p:txBody>
      </p:sp>
      <p:sp>
        <p:nvSpPr>
          <p:cNvPr id="243" name="Google Shape;243;p41"/>
          <p:cNvSpPr/>
          <p:nvPr/>
        </p:nvSpPr>
        <p:spPr>
          <a:xfrm>
            <a:off x="187525" y="31960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対象店舗</a:t>
            </a:r>
            <a:endParaRPr sz="800">
              <a:latin typeface="Noto Sans JP"/>
              <a:ea typeface="Noto Sans JP"/>
              <a:cs typeface="Noto Sans JP"/>
              <a:sym typeface="Noto Sans JP"/>
            </a:endParaRPr>
          </a:p>
        </p:txBody>
      </p:sp>
      <p:sp>
        <p:nvSpPr>
          <p:cNvPr id="244" name="Google Shape;244;p41"/>
          <p:cNvSpPr/>
          <p:nvPr/>
        </p:nvSpPr>
        <p:spPr>
          <a:xfrm>
            <a:off x="187525" y="3999399"/>
            <a:ext cx="1472100" cy="67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参考: 過去分析</a:t>
            </a:r>
            <a:endParaRPr sz="800">
              <a:latin typeface="Noto Sans JP"/>
              <a:ea typeface="Noto Sans JP"/>
              <a:cs typeface="Noto Sans JP"/>
              <a:sym typeface="Noto Sans JP"/>
            </a:endParaRPr>
          </a:p>
        </p:txBody>
      </p:sp>
      <p:cxnSp>
        <p:nvCxnSpPr>
          <p:cNvPr id="245" name="Google Shape;245;p41"/>
          <p:cNvCxnSpPr/>
          <p:nvPr/>
        </p:nvCxnSpPr>
        <p:spPr>
          <a:xfrm>
            <a:off x="1696225" y="2328049"/>
            <a:ext cx="7159800" cy="0"/>
          </a:xfrm>
          <a:prstGeom prst="straightConnector1">
            <a:avLst/>
          </a:prstGeom>
          <a:noFill/>
          <a:ln cap="flat" cmpd="sng" w="9525">
            <a:solidFill>
              <a:srgbClr val="808080"/>
            </a:solidFill>
            <a:prstDash val="dash"/>
            <a:round/>
            <a:headEnd len="med" w="med" type="none"/>
            <a:tailEnd len="med" w="med" type="none"/>
          </a:ln>
        </p:spPr>
      </p:cxnSp>
      <p:cxnSp>
        <p:nvCxnSpPr>
          <p:cNvPr id="246" name="Google Shape;246;p41"/>
          <p:cNvCxnSpPr/>
          <p:nvPr/>
        </p:nvCxnSpPr>
        <p:spPr>
          <a:xfrm>
            <a:off x="1696225" y="3131349"/>
            <a:ext cx="7159800" cy="0"/>
          </a:xfrm>
          <a:prstGeom prst="straightConnector1">
            <a:avLst/>
          </a:prstGeom>
          <a:noFill/>
          <a:ln cap="flat" cmpd="sng" w="9525">
            <a:solidFill>
              <a:srgbClr val="808080"/>
            </a:solidFill>
            <a:prstDash val="dash"/>
            <a:round/>
            <a:headEnd len="med" w="med" type="none"/>
            <a:tailEnd len="med" w="med" type="none"/>
          </a:ln>
        </p:spPr>
      </p:cxnSp>
      <p:cxnSp>
        <p:nvCxnSpPr>
          <p:cNvPr id="247" name="Google Shape;247;p41"/>
          <p:cNvCxnSpPr/>
          <p:nvPr/>
        </p:nvCxnSpPr>
        <p:spPr>
          <a:xfrm>
            <a:off x="1696225" y="3934649"/>
            <a:ext cx="7159800" cy="0"/>
          </a:xfrm>
          <a:prstGeom prst="straightConnector1">
            <a:avLst/>
          </a:prstGeom>
          <a:noFill/>
          <a:ln cap="flat" cmpd="sng" w="9525">
            <a:solidFill>
              <a:srgbClr val="808080"/>
            </a:solidFill>
            <a:prstDash val="dash"/>
            <a:round/>
            <a:headEnd len="med" w="med" type="none"/>
            <a:tailEnd len="med" w="med" type="none"/>
          </a:ln>
        </p:spPr>
      </p:cxnSp>
      <p:sp>
        <p:nvSpPr>
          <p:cNvPr id="248" name="Google Shape;248;p41"/>
          <p:cNvSpPr txBox="1"/>
          <p:nvPr/>
        </p:nvSpPr>
        <p:spPr>
          <a:xfrm>
            <a:off x="1696225" y="16647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・LowTouch店舗の翌月継続率を上げるための指針（どのタイミングのどの指標をいつまでに上げ</a:t>
            </a:r>
            <a:r>
              <a:rPr lang="ja" sz="1000">
                <a:latin typeface="Noto Sans JP"/>
                <a:ea typeface="Noto Sans JP"/>
                <a:cs typeface="Noto Sans JP"/>
                <a:sym typeface="Noto Sans JP"/>
              </a:rPr>
              <a:t>る</a:t>
            </a:r>
            <a:r>
              <a:rPr lang="ja" sz="1000">
                <a:latin typeface="Noto Sans JP"/>
                <a:ea typeface="Noto Sans JP"/>
                <a:cs typeface="Noto Sans JP"/>
                <a:sym typeface="Noto Sans JP"/>
              </a:rPr>
              <a:t>べきか）を作成し、</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　</a:t>
            </a:r>
            <a:r>
              <a:rPr lang="ja" sz="1000">
                <a:latin typeface="Noto Sans JP"/>
                <a:ea typeface="Noto Sans JP"/>
                <a:cs typeface="Noto Sans JP"/>
                <a:sym typeface="Noto Sans JP"/>
              </a:rPr>
              <a:t>実験企画時に参照する</a:t>
            </a:r>
            <a:endParaRPr sz="1000">
              <a:latin typeface="Noto Sans JP"/>
              <a:ea typeface="Noto Sans JP"/>
              <a:cs typeface="Noto Sans JP"/>
              <a:sym typeface="Noto Sans JP"/>
            </a:endParaRPr>
          </a:p>
        </p:txBody>
      </p:sp>
      <p:sp>
        <p:nvSpPr>
          <p:cNvPr id="249" name="Google Shape;249;p41"/>
          <p:cNvSpPr txBox="1"/>
          <p:nvPr/>
        </p:nvSpPr>
        <p:spPr>
          <a:xfrm>
            <a:off x="1696225" y="24680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a:t>
            </a:r>
            <a:r>
              <a:rPr lang="ja" sz="1000">
                <a:latin typeface="Noto Sans JP"/>
                <a:ea typeface="Noto Sans JP"/>
                <a:cs typeface="Noto Sans JP"/>
                <a:sym typeface="Noto Sans JP"/>
              </a:rPr>
              <a:t>に関連する店舗の初回作成〜利用初月までの期間における取り組みの重要方針が明らかになっている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a:t>
            </a:r>
            <a:r>
              <a:rPr lang="ja" sz="1000">
                <a:latin typeface="Noto Sans JP"/>
                <a:ea typeface="Noto Sans JP"/>
                <a:cs typeface="Noto Sans JP"/>
                <a:sym typeface="Noto Sans JP"/>
              </a:rPr>
              <a:t>作成した方針を元に</a:t>
            </a:r>
            <a:r>
              <a:rPr lang="ja" sz="1000">
                <a:latin typeface="Noto Sans JP"/>
                <a:ea typeface="Noto Sans JP"/>
                <a:cs typeface="Noto Sans JP"/>
                <a:sym typeface="Noto Sans JP"/>
              </a:rPr>
              <a:t>「今月はここの領域に注力しよう」のような議論や整理ができる状態</a:t>
            </a:r>
            <a:r>
              <a:rPr lang="ja" sz="1000">
                <a:latin typeface="Noto Sans JP"/>
                <a:ea typeface="Noto Sans JP"/>
                <a:cs typeface="Noto Sans JP"/>
                <a:sym typeface="Noto Sans JP"/>
              </a:rPr>
              <a:t>になっている</a:t>
            </a:r>
            <a:endParaRPr sz="1000">
              <a:latin typeface="Noto Sans JP"/>
              <a:ea typeface="Noto Sans JP"/>
              <a:cs typeface="Noto Sans JP"/>
              <a:sym typeface="Noto Sans JP"/>
            </a:endParaRPr>
          </a:p>
        </p:txBody>
      </p:sp>
      <p:sp>
        <p:nvSpPr>
          <p:cNvPr id="250" name="Google Shape;250;p41"/>
          <p:cNvSpPr txBox="1"/>
          <p:nvPr/>
        </p:nvSpPr>
        <p:spPr>
          <a:xfrm>
            <a:off x="1696225" y="32713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・2025-01 ~ 2025-09 の期間に初回掲載した店舗を対象に集計</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・見ていくのは主にLowTouch</a:t>
            </a:r>
            <a:r>
              <a:rPr lang="ja" sz="1000">
                <a:latin typeface="Noto Sans JP"/>
                <a:ea typeface="Noto Sans JP"/>
                <a:cs typeface="Noto Sans JP"/>
                <a:sym typeface="Noto Sans JP"/>
              </a:rPr>
              <a:t>（sf_client_user_name が ◯◯ユーザ）</a:t>
            </a:r>
            <a:r>
              <a:rPr lang="ja" sz="1000">
                <a:latin typeface="Noto Sans JP"/>
                <a:ea typeface="Noto Sans JP"/>
                <a:cs typeface="Noto Sans JP"/>
                <a:sym typeface="Noto Sans JP"/>
              </a:rPr>
              <a:t>の店舗だが、比較用にHighTouchの店舗も出力</a:t>
            </a:r>
            <a:endParaRPr sz="1000">
              <a:latin typeface="Noto Sans JP"/>
              <a:ea typeface="Noto Sans JP"/>
              <a:cs typeface="Noto Sans JP"/>
              <a:sym typeface="Noto Sans JP"/>
            </a:endParaRPr>
          </a:p>
        </p:txBody>
      </p:sp>
      <p:sp>
        <p:nvSpPr>
          <p:cNvPr id="251" name="Google Shape;251;p41"/>
          <p:cNvSpPr txBox="1"/>
          <p:nvPr/>
        </p:nvSpPr>
        <p:spPr>
          <a:xfrm>
            <a:off x="1696225" y="4074699"/>
            <a:ext cx="7159800" cy="523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a:t>
            </a:r>
            <a:r>
              <a:rPr lang="ja" sz="1000" u="sng">
                <a:solidFill>
                  <a:srgbClr val="007AFF"/>
                </a:solidFill>
                <a:latin typeface="Noto Sans JP"/>
                <a:ea typeface="Noto Sans JP"/>
                <a:cs typeface="Noto Sans JP"/>
                <a:sym typeface="Noto Sans JP"/>
                <a:hlinkClick r:id="rId3">
                  <a:extLst>
                    <a:ext uri="{A12FA001-AC4F-418D-AE19-62706E023703}">
                      <ahyp:hlinkClr val="tx"/>
                    </a:ext>
                  </a:extLst>
                </a:hlinkClick>
              </a:rPr>
              <a:t>翌月継続率の構造化分析</a:t>
            </a:r>
            <a:endParaRPr sz="1000">
              <a:solidFill>
                <a:srgbClr val="007AFF"/>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a:t>
            </a:r>
            <a:r>
              <a:rPr lang="ja" sz="1000" u="sng">
                <a:solidFill>
                  <a:srgbClr val="007AFF"/>
                </a:solidFill>
                <a:latin typeface="Noto Sans JP"/>
                <a:ea typeface="Noto Sans JP"/>
                <a:cs typeface="Noto Sans JP"/>
                <a:sym typeface="Noto Sans JP"/>
                <a:hlinkClick r:id="rId4">
                  <a:extLst>
                    <a:ext uri="{A12FA001-AC4F-418D-AE19-62706E023703}">
                      <ahyp:hlinkClr val="tx"/>
                    </a:ext>
                  </a:extLst>
                </a:hlinkClick>
              </a:rPr>
              <a:t>翌月継続率の構造化分析_Part2</a:t>
            </a:r>
            <a:endParaRPr sz="1000">
              <a:solidFill>
                <a:srgbClr val="007AFF"/>
              </a:solidFill>
              <a:latin typeface="Noto Sans JP"/>
              <a:ea typeface="Noto Sans JP"/>
              <a:cs typeface="Noto Sans JP"/>
              <a:sym typeface="Noto Sans J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57" name="Google Shape;257;p4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過去のDA分析による主な分析結果</a:t>
            </a:r>
            <a:endParaRPr/>
          </a:p>
        </p:txBody>
      </p:sp>
      <p:sp>
        <p:nvSpPr>
          <p:cNvPr id="258" name="Google Shape;258;p42"/>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DA部では過去2回に渡って翌月継続率の構造化分析が行われている。当分析ではこれらの結果を踏まえつつ、よりアクションに活かしやすいように過去の取り組みをシンプルに再解釈することが狙い。</a:t>
            </a:r>
            <a:endParaRPr sz="1200">
              <a:latin typeface="Noto Sans JP"/>
              <a:ea typeface="Noto Sans JP"/>
              <a:cs typeface="Noto Sans JP"/>
              <a:sym typeface="Noto Sans JP"/>
            </a:endParaRPr>
          </a:p>
        </p:txBody>
      </p:sp>
      <p:sp>
        <p:nvSpPr>
          <p:cNvPr id="259" name="Google Shape;259;p42"/>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翌月継続率の分析</a:t>
            </a:r>
            <a:r>
              <a:rPr lang="ja" sz="600">
                <a:solidFill>
                  <a:schemeClr val="accent2"/>
                </a:solidFill>
                <a:latin typeface="Noto Sans JP"/>
                <a:ea typeface="Noto Sans JP"/>
                <a:cs typeface="Noto Sans JP"/>
                <a:sym typeface="Noto Sans JP"/>
              </a:rPr>
              <a:t>（p4）</a:t>
            </a:r>
            <a:r>
              <a:rPr lang="ja" sz="600">
                <a:solidFill>
                  <a:schemeClr val="accent2"/>
                </a:solidFill>
                <a:latin typeface="Noto Sans JP"/>
                <a:ea typeface="Noto Sans JP"/>
                <a:cs typeface="Noto Sans JP"/>
                <a:sym typeface="Noto Sans JP"/>
              </a:rPr>
              <a:t> ,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翌月継続率の分析_Part2</a:t>
            </a:r>
            <a:r>
              <a:rPr lang="ja" sz="600">
                <a:solidFill>
                  <a:schemeClr val="accent2"/>
                </a:solidFill>
                <a:latin typeface="Noto Sans JP"/>
                <a:ea typeface="Noto Sans JP"/>
                <a:cs typeface="Noto Sans JP"/>
                <a:sym typeface="Noto Sans JP"/>
              </a:rPr>
              <a:t>（p4）</a:t>
            </a:r>
            <a:endParaRPr sz="600">
              <a:solidFill>
                <a:schemeClr val="accent2"/>
              </a:solidFill>
              <a:latin typeface="Noto Sans JP"/>
              <a:ea typeface="Noto Sans JP"/>
              <a:cs typeface="Noto Sans JP"/>
              <a:sym typeface="Noto Sans JP"/>
            </a:endParaRPr>
          </a:p>
        </p:txBody>
      </p:sp>
      <p:pic>
        <p:nvPicPr>
          <p:cNvPr id="260" name="Google Shape;260;p42" title="スクリーンショット 2025-12-16 16.13.52.png"/>
          <p:cNvPicPr preferRelativeResize="0"/>
          <p:nvPr/>
        </p:nvPicPr>
        <p:blipFill>
          <a:blip r:embed="rId5">
            <a:alphaModFix/>
          </a:blip>
          <a:stretch>
            <a:fillRect/>
          </a:stretch>
        </p:blipFill>
        <p:spPr>
          <a:xfrm>
            <a:off x="631475" y="1589500"/>
            <a:ext cx="3489302" cy="1957387"/>
          </a:xfrm>
          <a:prstGeom prst="rect">
            <a:avLst/>
          </a:prstGeom>
          <a:noFill/>
          <a:ln>
            <a:noFill/>
          </a:ln>
          <a:effectLst>
            <a:outerShdw blurRad="57150" rotWithShape="0" algn="bl" dir="5400000" dist="19050">
              <a:srgbClr val="000000">
                <a:alpha val="50000"/>
              </a:srgbClr>
            </a:outerShdw>
          </a:effectLst>
        </p:spPr>
      </p:pic>
      <p:pic>
        <p:nvPicPr>
          <p:cNvPr id="261" name="Google Shape;261;p42" title="スクリーンショット 2025-12-16 16.14.52.png"/>
          <p:cNvPicPr preferRelativeResize="0"/>
          <p:nvPr/>
        </p:nvPicPr>
        <p:blipFill>
          <a:blip r:embed="rId6">
            <a:alphaModFix/>
          </a:blip>
          <a:stretch>
            <a:fillRect/>
          </a:stretch>
        </p:blipFill>
        <p:spPr>
          <a:xfrm>
            <a:off x="5023473" y="1589500"/>
            <a:ext cx="3489300" cy="1957232"/>
          </a:xfrm>
          <a:prstGeom prst="rect">
            <a:avLst/>
          </a:prstGeom>
          <a:noFill/>
          <a:ln>
            <a:noFill/>
          </a:ln>
          <a:effectLst>
            <a:outerShdw blurRad="57150" rotWithShape="0" algn="bl" dir="5400000" dist="19050">
              <a:srgbClr val="000000">
                <a:alpha val="50000"/>
              </a:srgbClr>
            </a:outerShdw>
          </a:effectLst>
        </p:spPr>
      </p:pic>
      <p:sp>
        <p:nvSpPr>
          <p:cNvPr id="262" name="Google Shape;262;p42"/>
          <p:cNvSpPr txBox="1"/>
          <p:nvPr/>
        </p:nvSpPr>
        <p:spPr>
          <a:xfrm>
            <a:off x="201300" y="1141750"/>
            <a:ext cx="4349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翌月継続率の構造化分析</a:t>
            </a:r>
            <a:endParaRPr sz="1000">
              <a:latin typeface="Noto Sans JP"/>
              <a:ea typeface="Noto Sans JP"/>
              <a:cs typeface="Noto Sans JP"/>
              <a:sym typeface="Noto Sans JP"/>
            </a:endParaRPr>
          </a:p>
        </p:txBody>
      </p:sp>
      <p:cxnSp>
        <p:nvCxnSpPr>
          <p:cNvPr id="263" name="Google Shape;263;p42"/>
          <p:cNvCxnSpPr/>
          <p:nvPr/>
        </p:nvCxnSpPr>
        <p:spPr>
          <a:xfrm>
            <a:off x="321572" y="1478399"/>
            <a:ext cx="4109100" cy="0"/>
          </a:xfrm>
          <a:prstGeom prst="straightConnector1">
            <a:avLst/>
          </a:prstGeom>
          <a:noFill/>
          <a:ln cap="flat" cmpd="sng" w="9525">
            <a:solidFill>
              <a:srgbClr val="808080"/>
            </a:solidFill>
            <a:prstDash val="solid"/>
            <a:round/>
            <a:headEnd len="med" w="med" type="none"/>
            <a:tailEnd len="med" w="med" type="none"/>
          </a:ln>
        </p:spPr>
      </p:cxnSp>
      <p:sp>
        <p:nvSpPr>
          <p:cNvPr id="264" name="Google Shape;264;p42"/>
          <p:cNvSpPr txBox="1"/>
          <p:nvPr/>
        </p:nvSpPr>
        <p:spPr>
          <a:xfrm>
            <a:off x="4593300" y="1141750"/>
            <a:ext cx="4349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翌月継続率の構造化分析_Part2</a:t>
            </a:r>
            <a:endParaRPr sz="1000">
              <a:latin typeface="Noto Sans JP"/>
              <a:ea typeface="Noto Sans JP"/>
              <a:cs typeface="Noto Sans JP"/>
              <a:sym typeface="Noto Sans JP"/>
            </a:endParaRPr>
          </a:p>
        </p:txBody>
      </p:sp>
      <p:cxnSp>
        <p:nvCxnSpPr>
          <p:cNvPr id="265" name="Google Shape;265;p42"/>
          <p:cNvCxnSpPr/>
          <p:nvPr/>
        </p:nvCxnSpPr>
        <p:spPr>
          <a:xfrm>
            <a:off x="4713572" y="1478399"/>
            <a:ext cx="4109100" cy="0"/>
          </a:xfrm>
          <a:prstGeom prst="straightConnector1">
            <a:avLst/>
          </a:prstGeom>
          <a:noFill/>
          <a:ln cap="flat" cmpd="sng" w="9525">
            <a:solidFill>
              <a:srgbClr val="808080"/>
            </a:solidFill>
            <a:prstDash val="solid"/>
            <a:round/>
            <a:headEnd len="med" w="med" type="none"/>
            <a:tailEnd len="med" w="med" type="none"/>
          </a:ln>
        </p:spPr>
      </p:cxnSp>
      <p:sp>
        <p:nvSpPr>
          <p:cNvPr id="266" name="Google Shape;266;p42"/>
          <p:cNvSpPr txBox="1"/>
          <p:nvPr/>
        </p:nvSpPr>
        <p:spPr>
          <a:xfrm>
            <a:off x="321575" y="3546875"/>
            <a:ext cx="4109100" cy="1194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 翌月継続率を直接向上させる3つの主要レバー</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翌週継続率 (係数 0.277) , リピーター率 (係数 0.217) , 稼働率 (係数 0.139)</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機能利用の位置づけ:</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「利用ひな形数」や「レビュー」などの機能利用変数は、3つのレバーを介して</a:t>
            </a:r>
            <a:br>
              <a:rPr lang="ja" sz="800">
                <a:latin typeface="Noto Sans JP"/>
                <a:ea typeface="Noto Sans JP"/>
                <a:cs typeface="Noto Sans JP"/>
                <a:sym typeface="Noto Sans JP"/>
              </a:rPr>
            </a:br>
            <a:r>
              <a:rPr lang="ja" sz="800">
                <a:latin typeface="Noto Sans JP"/>
                <a:ea typeface="Noto Sans JP"/>
                <a:cs typeface="Noto Sans JP"/>
                <a:sym typeface="Noto Sans JP"/>
              </a:rPr>
              <a:t>　　間接的に影響するか、もしくは影響度が低い（係数が小さい）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「機能を使わせる」こと自体を目的にせず、「稼働・リピート・翌週利用」を生む</a:t>
            </a:r>
            <a:br>
              <a:rPr lang="ja" sz="800">
                <a:latin typeface="Noto Sans JP"/>
                <a:ea typeface="Noto Sans JP"/>
                <a:cs typeface="Noto Sans JP"/>
                <a:sym typeface="Noto Sans JP"/>
              </a:rPr>
            </a:br>
            <a:r>
              <a:rPr lang="ja" sz="800">
                <a:latin typeface="Noto Sans JP"/>
                <a:ea typeface="Noto Sans JP"/>
                <a:cs typeface="Noto Sans JP"/>
                <a:sym typeface="Noto Sans JP"/>
              </a:rPr>
              <a:t>　　ために機能を使</a:t>
            </a:r>
            <a:r>
              <a:rPr lang="ja" sz="800">
                <a:latin typeface="Noto Sans JP"/>
                <a:ea typeface="Noto Sans JP"/>
                <a:cs typeface="Noto Sans JP"/>
                <a:sym typeface="Noto Sans JP"/>
              </a:rPr>
              <a:t>ってもらう</a:t>
            </a:r>
            <a:r>
              <a:rPr lang="ja" sz="800">
                <a:latin typeface="Noto Sans JP"/>
                <a:ea typeface="Noto Sans JP"/>
                <a:cs typeface="Noto Sans JP"/>
                <a:sym typeface="Noto Sans JP"/>
              </a:rPr>
              <a:t>という構造が正しい解釈</a:t>
            </a:r>
            <a:endParaRPr sz="800">
              <a:latin typeface="Noto Sans JP"/>
              <a:ea typeface="Noto Sans JP"/>
              <a:cs typeface="Noto Sans JP"/>
              <a:sym typeface="Noto Sans JP"/>
            </a:endParaRPr>
          </a:p>
        </p:txBody>
      </p:sp>
      <p:sp>
        <p:nvSpPr>
          <p:cNvPr id="267" name="Google Shape;267;p42"/>
          <p:cNvSpPr txBox="1"/>
          <p:nvPr/>
        </p:nvSpPr>
        <p:spPr>
          <a:xfrm>
            <a:off x="4713574" y="3546875"/>
            <a:ext cx="4109100" cy="1342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 </a:t>
            </a:r>
            <a:r>
              <a:rPr b="1" lang="ja" sz="800">
                <a:latin typeface="Noto Sans JP"/>
                <a:ea typeface="Noto Sans JP"/>
                <a:cs typeface="Noto Sans JP"/>
                <a:sym typeface="Noto Sans JP"/>
              </a:rPr>
              <a:t>LowTouchの課題は「翌週継続」の低さ</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HighTouchに比べて翌週継続率が12%低く、これが翌月継続率の低さに直結</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a:t>
            </a:r>
            <a:r>
              <a:rPr b="1" lang="ja" sz="800">
                <a:latin typeface="Noto Sans JP"/>
                <a:ea typeface="Noto Sans JP"/>
                <a:cs typeface="Noto Sans JP"/>
                <a:sym typeface="Noto Sans JP"/>
              </a:rPr>
              <a:t>解決の鍵は「掲載パターン」</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初週に翌週稼働分の募集も一緒に出している店舗は、翌週翌月継続率がともに高い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逆に、直前の募集（初週分のみ）で終わると、体験期間が短く離脱しやすい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a:t>
            </a:r>
            <a:r>
              <a:rPr b="1" lang="ja" sz="800">
                <a:latin typeface="Noto Sans JP"/>
                <a:ea typeface="Noto Sans JP"/>
                <a:cs typeface="Noto Sans JP"/>
                <a:sym typeface="Noto Sans JP"/>
              </a:rPr>
              <a:t>業界差分はなし</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LowTouch領域内での業界（飲食、小売、物流等）による継続率の差分は</a:t>
            </a:r>
            <a:r>
              <a:rPr lang="ja" sz="800">
                <a:latin typeface="Noto Sans JP"/>
                <a:ea typeface="Noto Sans JP"/>
                <a:cs typeface="Noto Sans JP"/>
                <a:sym typeface="Noto Sans JP"/>
              </a:rPr>
              <a:t>小さい</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 全業界共通で「掲載パターン（先々のシフト</a:t>
            </a:r>
            <a:r>
              <a:rPr lang="ja" sz="800">
                <a:latin typeface="Noto Sans JP"/>
                <a:ea typeface="Noto Sans JP"/>
                <a:cs typeface="Noto Sans JP"/>
                <a:sym typeface="Noto Sans JP"/>
              </a:rPr>
              <a:t>追加</a:t>
            </a:r>
            <a:r>
              <a:rPr lang="ja" sz="800">
                <a:latin typeface="Noto Sans JP"/>
                <a:ea typeface="Noto Sans JP"/>
                <a:cs typeface="Noto Sans JP"/>
                <a:sym typeface="Noto Sans JP"/>
              </a:rPr>
              <a:t>）」の行動変容を促す施策が有効</a:t>
            </a:r>
            <a:endParaRPr sz="800">
              <a:latin typeface="Noto Sans JP"/>
              <a:ea typeface="Noto Sans JP"/>
              <a:cs typeface="Noto Sans JP"/>
              <a:sym typeface="Noto Sans J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p:nvPr/>
        </p:nvSpPr>
        <p:spPr>
          <a:xfrm>
            <a:off x="4645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73" name="Google Shape;273;p43"/>
          <p:cNvSpPr/>
          <p:nvPr/>
        </p:nvSpPr>
        <p:spPr>
          <a:xfrm>
            <a:off x="253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74" name="Google Shape;274;p43"/>
          <p:cNvSpPr/>
          <p:nvPr/>
        </p:nvSpPr>
        <p:spPr>
          <a:xfrm>
            <a:off x="1990138" y="2038725"/>
            <a:ext cx="1565400" cy="24105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75" name="Google Shape;275;p4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76" name="Google Shape;276;p4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分析設計: 翌月継続率の分析のスコープ</a:t>
            </a:r>
            <a:endParaRPr/>
          </a:p>
        </p:txBody>
      </p:sp>
      <p:sp>
        <p:nvSpPr>
          <p:cNvPr id="277" name="Google Shape;277;p43"/>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当分析では、初回掲載〜翌月継続に至るまでを2フェーズに分けて分析。初回利用体験が追加掲載にどう影響するか？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利用初月の習慣掲載と稼働パフォーマンスが翌月継続にどう影響するか？の2つの観点から分析を行う。</a:t>
            </a:r>
            <a:endParaRPr sz="1200">
              <a:latin typeface="Noto Sans JP"/>
              <a:ea typeface="Noto Sans JP"/>
              <a:cs typeface="Noto Sans JP"/>
              <a:sym typeface="Noto Sans JP"/>
            </a:endParaRPr>
          </a:p>
        </p:txBody>
      </p:sp>
      <p:sp>
        <p:nvSpPr>
          <p:cNvPr id="278" name="Google Shape;278;p43"/>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翌月継続率の探索分析: 分析のスコープ</a:t>
            </a:r>
            <a:endParaRPr sz="1000">
              <a:solidFill>
                <a:srgbClr val="808080"/>
              </a:solidFill>
              <a:latin typeface="Noto Sans SemiBold"/>
              <a:ea typeface="Noto Sans SemiBold"/>
              <a:cs typeface="Noto Sans SemiBold"/>
              <a:sym typeface="Noto Sans SemiBold"/>
            </a:endParaRPr>
          </a:p>
        </p:txBody>
      </p:sp>
      <p:sp>
        <p:nvSpPr>
          <p:cNvPr id="279" name="Google Shape;279;p43"/>
          <p:cNvSpPr/>
          <p:nvPr/>
        </p:nvSpPr>
        <p:spPr>
          <a:xfrm>
            <a:off x="448375" y="3042557"/>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0" name="Google Shape;280;p43"/>
          <p:cNvSpPr/>
          <p:nvPr/>
        </p:nvSpPr>
        <p:spPr>
          <a:xfrm>
            <a:off x="2247550" y="2428883"/>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マッチング</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1" name="Google Shape;281;p43"/>
          <p:cNvSpPr/>
          <p:nvPr/>
        </p:nvSpPr>
        <p:spPr>
          <a:xfrm>
            <a:off x="2247538" y="3042554"/>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ワーカー稼働</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2" name="Google Shape;282;p43"/>
          <p:cNvSpPr/>
          <p:nvPr/>
        </p:nvSpPr>
        <p:spPr>
          <a:xfrm>
            <a:off x="2247550" y="3656235"/>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a:t>
            </a:r>
            <a:r>
              <a:rPr b="1" lang="ja" sz="1000">
                <a:latin typeface="Noto Sans JP"/>
                <a:ea typeface="Noto Sans JP"/>
                <a:cs typeface="Noto Sans JP"/>
                <a:sym typeface="Noto Sans JP"/>
              </a:rPr>
              <a:t>評価</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3" name="Google Shape;283;p43"/>
          <p:cNvSpPr/>
          <p:nvPr/>
        </p:nvSpPr>
        <p:spPr>
          <a:xfrm>
            <a:off x="4046700" y="3042557"/>
            <a:ext cx="1050600" cy="555300"/>
          </a:xfrm>
          <a:prstGeom prst="roundRect">
            <a:avLst>
              <a:gd fmla="val 10118" name="adj"/>
            </a:avLst>
          </a:prstGeom>
          <a:solidFill>
            <a:srgbClr val="FFE080"/>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追加掲載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4" name="Google Shape;284;p43"/>
          <p:cNvSpPr/>
          <p:nvPr/>
        </p:nvSpPr>
        <p:spPr>
          <a:xfrm>
            <a:off x="5845863" y="2038716"/>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継続掲載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5" name="Google Shape;285;p43"/>
          <p:cNvSpPr/>
          <p:nvPr/>
        </p:nvSpPr>
        <p:spPr>
          <a:xfrm>
            <a:off x="7645025" y="3042557"/>
            <a:ext cx="1050600" cy="555300"/>
          </a:xfrm>
          <a:prstGeom prst="roundRect">
            <a:avLst>
              <a:gd fmla="val 10118" name="adj"/>
            </a:avLst>
          </a:prstGeom>
          <a:solidFill>
            <a:schemeClr val="dk2"/>
          </a:solidFill>
          <a:ln cap="flat" cmpd="sng" w="38100">
            <a:solidFill>
              <a:srgbClr val="FFE08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6" name="Google Shape;286;p43"/>
          <p:cNvSpPr/>
          <p:nvPr/>
        </p:nvSpPr>
        <p:spPr>
          <a:xfrm>
            <a:off x="5588450" y="2787529"/>
            <a:ext cx="1565400" cy="17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初月</a:t>
            </a:r>
            <a:r>
              <a:rPr b="1" lang="ja" sz="1000">
                <a:latin typeface="Noto Sans JP"/>
                <a:ea typeface="Noto Sans JP"/>
                <a:cs typeface="Noto Sans JP"/>
                <a:sym typeface="Noto Sans JP"/>
              </a:rPr>
              <a:t>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287" name="Google Shape;287;p43"/>
          <p:cNvSpPr/>
          <p:nvPr/>
        </p:nvSpPr>
        <p:spPr>
          <a:xfrm>
            <a:off x="5845850" y="3175362"/>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安定稼働</a:t>
            </a:r>
            <a:endParaRPr b="1" sz="800">
              <a:latin typeface="Noto Sans JP"/>
              <a:ea typeface="Noto Sans JP"/>
              <a:cs typeface="Noto Sans JP"/>
              <a:sym typeface="Noto Sans JP"/>
            </a:endParaRPr>
          </a:p>
        </p:txBody>
      </p:sp>
      <p:sp>
        <p:nvSpPr>
          <p:cNvPr id="288" name="Google Shape;288;p43"/>
          <p:cNvSpPr/>
          <p:nvPr/>
        </p:nvSpPr>
        <p:spPr>
          <a:xfrm>
            <a:off x="5845850" y="3797571"/>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リピーター</a:t>
            </a:r>
            <a:endParaRPr b="1" sz="800">
              <a:latin typeface="Noto Sans JP"/>
              <a:ea typeface="Noto Sans JP"/>
              <a:cs typeface="Noto Sans JP"/>
              <a:sym typeface="Noto Sans JP"/>
            </a:endParaRPr>
          </a:p>
        </p:txBody>
      </p:sp>
      <p:sp>
        <p:nvSpPr>
          <p:cNvPr id="289" name="Google Shape;289;p43"/>
          <p:cNvSpPr/>
          <p:nvPr/>
        </p:nvSpPr>
        <p:spPr>
          <a:xfrm>
            <a:off x="161331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43"/>
          <p:cNvSpPr/>
          <p:nvPr/>
        </p:nvSpPr>
        <p:spPr>
          <a:xfrm>
            <a:off x="366986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43"/>
          <p:cNvSpPr/>
          <p:nvPr/>
        </p:nvSpPr>
        <p:spPr>
          <a:xfrm rot="-1693986">
            <a:off x="5213768" y="2438374"/>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43"/>
          <p:cNvSpPr/>
          <p:nvPr/>
        </p:nvSpPr>
        <p:spPr>
          <a:xfrm flipH="1" rot="-9106014">
            <a:off x="5213768" y="3381521"/>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43"/>
          <p:cNvSpPr/>
          <p:nvPr/>
        </p:nvSpPr>
        <p:spPr>
          <a:xfrm flipH="1" rot="-9106014">
            <a:off x="7270468" y="2438409"/>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43"/>
          <p:cNvSpPr/>
          <p:nvPr/>
        </p:nvSpPr>
        <p:spPr>
          <a:xfrm>
            <a:off x="368700"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Phase1: 初回利用体験</a:t>
            </a:r>
            <a:endParaRPr b="1" sz="800">
              <a:solidFill>
                <a:schemeClr val="dk1"/>
              </a:solidFill>
              <a:latin typeface="Noto Sans JP"/>
              <a:ea typeface="Noto Sans JP"/>
              <a:cs typeface="Noto Sans JP"/>
              <a:sym typeface="Noto Sans JP"/>
            </a:endParaRPr>
          </a:p>
        </p:txBody>
      </p:sp>
      <p:sp>
        <p:nvSpPr>
          <p:cNvPr id="295" name="Google Shape;295;p43"/>
          <p:cNvSpPr/>
          <p:nvPr/>
        </p:nvSpPr>
        <p:spPr>
          <a:xfrm>
            <a:off x="4760688"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Phase2: </a:t>
            </a:r>
            <a:r>
              <a:rPr b="1" lang="ja" sz="800">
                <a:solidFill>
                  <a:schemeClr val="dk1"/>
                </a:solidFill>
                <a:latin typeface="Noto Sans JP"/>
                <a:ea typeface="Noto Sans JP"/>
                <a:cs typeface="Noto Sans JP"/>
                <a:sym typeface="Noto Sans JP"/>
              </a:rPr>
              <a:t>利用初月の習慣掲載</a:t>
            </a:r>
            <a:endParaRPr b="1" sz="800">
              <a:solidFill>
                <a:schemeClr val="dk1"/>
              </a:solidFill>
              <a:latin typeface="Noto Sans JP"/>
              <a:ea typeface="Noto Sans JP"/>
              <a:cs typeface="Noto Sans JP"/>
              <a:sym typeface="Noto Sans JP"/>
            </a:endParaRPr>
          </a:p>
        </p:txBody>
      </p:sp>
      <p:pic>
        <p:nvPicPr>
          <p:cNvPr id="296" name="Google Shape;296;p43" title="カレンダーのフリーアイコン2.png"/>
          <p:cNvPicPr preferRelativeResize="0"/>
          <p:nvPr/>
        </p:nvPicPr>
        <p:blipFill>
          <a:blip r:embed="rId3">
            <a:alphaModFix/>
          </a:blip>
          <a:stretch>
            <a:fillRect/>
          </a:stretch>
        </p:blipFill>
        <p:spPr>
          <a:xfrm>
            <a:off x="880150" y="3341075"/>
            <a:ext cx="187025" cy="187025"/>
          </a:xfrm>
          <a:prstGeom prst="rect">
            <a:avLst/>
          </a:prstGeom>
          <a:noFill/>
          <a:ln>
            <a:noFill/>
          </a:ln>
        </p:spPr>
      </p:pic>
      <p:pic>
        <p:nvPicPr>
          <p:cNvPr id="297" name="Google Shape;297;p43" title="握手のアイコン.png"/>
          <p:cNvPicPr preferRelativeResize="0"/>
          <p:nvPr/>
        </p:nvPicPr>
        <p:blipFill>
          <a:blip r:embed="rId4">
            <a:alphaModFix/>
          </a:blip>
          <a:stretch>
            <a:fillRect/>
          </a:stretch>
        </p:blipFill>
        <p:spPr>
          <a:xfrm>
            <a:off x="2679338" y="2711938"/>
            <a:ext cx="187025" cy="187025"/>
          </a:xfrm>
          <a:prstGeom prst="rect">
            <a:avLst/>
          </a:prstGeom>
          <a:noFill/>
          <a:ln>
            <a:noFill/>
          </a:ln>
        </p:spPr>
      </p:pic>
      <p:pic>
        <p:nvPicPr>
          <p:cNvPr id="298" name="Google Shape;298;p43" title="デスクワークの無料アイコン2.png"/>
          <p:cNvPicPr preferRelativeResize="0"/>
          <p:nvPr/>
        </p:nvPicPr>
        <p:blipFill>
          <a:blip r:embed="rId5">
            <a:alphaModFix/>
          </a:blip>
          <a:stretch>
            <a:fillRect/>
          </a:stretch>
        </p:blipFill>
        <p:spPr>
          <a:xfrm>
            <a:off x="2679338" y="3341075"/>
            <a:ext cx="187025" cy="187025"/>
          </a:xfrm>
          <a:prstGeom prst="rect">
            <a:avLst/>
          </a:prstGeom>
          <a:noFill/>
          <a:ln>
            <a:noFill/>
          </a:ln>
        </p:spPr>
      </p:pic>
      <p:pic>
        <p:nvPicPr>
          <p:cNvPr id="299" name="Google Shape;299;p43" title="イイネの手のフリーアイコン.png"/>
          <p:cNvPicPr preferRelativeResize="0"/>
          <p:nvPr/>
        </p:nvPicPr>
        <p:blipFill>
          <a:blip r:embed="rId6">
            <a:alphaModFix/>
          </a:blip>
          <a:stretch>
            <a:fillRect/>
          </a:stretch>
        </p:blipFill>
        <p:spPr>
          <a:xfrm>
            <a:off x="2679350" y="3970200"/>
            <a:ext cx="187025" cy="187025"/>
          </a:xfrm>
          <a:prstGeom prst="rect">
            <a:avLst/>
          </a:prstGeom>
          <a:noFill/>
          <a:ln>
            <a:noFill/>
          </a:ln>
        </p:spPr>
      </p:pic>
      <p:pic>
        <p:nvPicPr>
          <p:cNvPr id="300" name="Google Shape;300;p43" title="カレンダーアイコン8.png"/>
          <p:cNvPicPr preferRelativeResize="0"/>
          <p:nvPr/>
        </p:nvPicPr>
        <p:blipFill>
          <a:blip r:embed="rId7">
            <a:alphaModFix/>
          </a:blip>
          <a:stretch>
            <a:fillRect/>
          </a:stretch>
        </p:blipFill>
        <p:spPr>
          <a:xfrm>
            <a:off x="4482263" y="3341063"/>
            <a:ext cx="187025" cy="187025"/>
          </a:xfrm>
          <a:prstGeom prst="rect">
            <a:avLst/>
          </a:prstGeom>
          <a:noFill/>
          <a:ln>
            <a:noFill/>
          </a:ln>
        </p:spPr>
      </p:pic>
      <p:pic>
        <p:nvPicPr>
          <p:cNvPr id="301" name="Google Shape;301;p43" title="リピートボタンアイコン3.png"/>
          <p:cNvPicPr preferRelativeResize="0"/>
          <p:nvPr/>
        </p:nvPicPr>
        <p:blipFill>
          <a:blip r:embed="rId8">
            <a:alphaModFix/>
          </a:blip>
          <a:stretch>
            <a:fillRect/>
          </a:stretch>
        </p:blipFill>
        <p:spPr>
          <a:xfrm>
            <a:off x="6277650" y="2313050"/>
            <a:ext cx="187025" cy="187025"/>
          </a:xfrm>
          <a:prstGeom prst="rect">
            <a:avLst/>
          </a:prstGeom>
          <a:solidFill>
            <a:schemeClr val="accent6"/>
          </a:solidFill>
          <a:ln>
            <a:noFill/>
          </a:ln>
        </p:spPr>
      </p:pic>
      <p:pic>
        <p:nvPicPr>
          <p:cNvPr id="302" name="Google Shape;302;p43" title="緩やかな右肩上がりのグラフアイコン.png"/>
          <p:cNvPicPr preferRelativeResize="0"/>
          <p:nvPr/>
        </p:nvPicPr>
        <p:blipFill>
          <a:blip r:embed="rId9">
            <a:alphaModFix/>
          </a:blip>
          <a:stretch>
            <a:fillRect/>
          </a:stretch>
        </p:blipFill>
        <p:spPr>
          <a:xfrm>
            <a:off x="8084400" y="3341075"/>
            <a:ext cx="187025" cy="187025"/>
          </a:xfrm>
          <a:prstGeom prst="rect">
            <a:avLst/>
          </a:prstGeom>
          <a:noFill/>
          <a:ln>
            <a:noFill/>
          </a:ln>
        </p:spPr>
      </p:pic>
      <p:cxnSp>
        <p:nvCxnSpPr>
          <p:cNvPr id="303" name="Google Shape;303;p43"/>
          <p:cNvCxnSpPr>
            <a:stCxn id="281" idx="3"/>
            <a:endCxn id="283" idx="2"/>
          </p:cNvCxnSpPr>
          <p:nvPr/>
        </p:nvCxnSpPr>
        <p:spPr>
          <a:xfrm>
            <a:off x="3298138" y="3320204"/>
            <a:ext cx="1273800" cy="277800"/>
          </a:xfrm>
          <a:prstGeom prst="bentConnector4">
            <a:avLst>
              <a:gd fmla="val 15753" name="adj1"/>
              <a:gd fmla="val 248370" name="adj2"/>
            </a:avLst>
          </a:prstGeom>
          <a:noFill/>
          <a:ln cap="flat" cmpd="sng" w="19050">
            <a:solidFill>
              <a:schemeClr val="dk2"/>
            </a:solidFill>
            <a:prstDash val="dot"/>
            <a:round/>
            <a:headEnd len="med" w="med" type="none"/>
            <a:tailEnd len="med" w="med" type="triangle"/>
          </a:ln>
        </p:spPr>
      </p:cxnSp>
      <p:cxnSp>
        <p:nvCxnSpPr>
          <p:cNvPr id="304" name="Google Shape;304;p43"/>
          <p:cNvCxnSpPr>
            <a:stCxn id="287" idx="3"/>
            <a:endCxn id="285" idx="2"/>
          </p:cNvCxnSpPr>
          <p:nvPr/>
        </p:nvCxnSpPr>
        <p:spPr>
          <a:xfrm>
            <a:off x="6896450" y="3453012"/>
            <a:ext cx="1273800" cy="144900"/>
          </a:xfrm>
          <a:prstGeom prst="bentConnector4">
            <a:avLst>
              <a:gd fmla="val 29384" name="adj1"/>
              <a:gd fmla="val 264300" name="adj2"/>
            </a:avLst>
          </a:prstGeom>
          <a:noFill/>
          <a:ln cap="flat" cmpd="sng" w="19050">
            <a:solidFill>
              <a:schemeClr val="dk2"/>
            </a:solidFill>
            <a:prstDash val="dot"/>
            <a:round/>
            <a:headEnd len="med" w="med" type="none"/>
            <a:tailEnd len="med" w="med" type="triangle"/>
          </a:ln>
        </p:spPr>
      </p:cxnSp>
      <p:sp>
        <p:nvSpPr>
          <p:cNvPr id="305" name="Google Shape;305;p43"/>
          <p:cNvSpPr txBox="1"/>
          <p:nvPr/>
        </p:nvSpPr>
        <p:spPr>
          <a:xfrm>
            <a:off x="3340733" y="4163721"/>
            <a:ext cx="1452300" cy="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初回利用体験が追加掲載に</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どう影響するか？</a:t>
            </a:r>
            <a:endParaRPr b="1" sz="800">
              <a:latin typeface="Noto Sans JP"/>
              <a:ea typeface="Noto Sans JP"/>
              <a:cs typeface="Noto Sans JP"/>
              <a:sym typeface="Noto Sans JP"/>
            </a:endParaRPr>
          </a:p>
        </p:txBody>
      </p:sp>
      <p:pic>
        <p:nvPicPr>
          <p:cNvPr id="306" name="Google Shape;306;p43" title="虫眼鏡の無料アイコン10.png"/>
          <p:cNvPicPr preferRelativeResize="0"/>
          <p:nvPr/>
        </p:nvPicPr>
        <p:blipFill>
          <a:blip r:embed="rId10">
            <a:alphaModFix/>
          </a:blip>
          <a:stretch>
            <a:fillRect/>
          </a:stretch>
        </p:blipFill>
        <p:spPr>
          <a:xfrm>
            <a:off x="3973370" y="3934359"/>
            <a:ext cx="187025" cy="187025"/>
          </a:xfrm>
          <a:prstGeom prst="rect">
            <a:avLst/>
          </a:prstGeom>
          <a:noFill/>
          <a:ln>
            <a:noFill/>
          </a:ln>
        </p:spPr>
      </p:pic>
      <p:sp>
        <p:nvSpPr>
          <p:cNvPr id="307" name="Google Shape;307;p43"/>
          <p:cNvSpPr txBox="1"/>
          <p:nvPr/>
        </p:nvSpPr>
        <p:spPr>
          <a:xfrm>
            <a:off x="6941383" y="4089921"/>
            <a:ext cx="1452300" cy="603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利用初月の習慣掲載と稼働パフォーマンスが翌月継続にどう影響するか？</a:t>
            </a:r>
            <a:endParaRPr b="1" sz="800">
              <a:latin typeface="Noto Sans JP"/>
              <a:ea typeface="Noto Sans JP"/>
              <a:cs typeface="Noto Sans JP"/>
              <a:sym typeface="Noto Sans JP"/>
            </a:endParaRPr>
          </a:p>
        </p:txBody>
      </p:sp>
      <p:pic>
        <p:nvPicPr>
          <p:cNvPr id="308" name="Google Shape;308;p43" title="虫眼鏡の無料アイコン10.png"/>
          <p:cNvPicPr preferRelativeResize="0"/>
          <p:nvPr/>
        </p:nvPicPr>
        <p:blipFill>
          <a:blip r:embed="rId10">
            <a:alphaModFix/>
          </a:blip>
          <a:stretch>
            <a:fillRect/>
          </a:stretch>
        </p:blipFill>
        <p:spPr>
          <a:xfrm>
            <a:off x="7574008" y="3934359"/>
            <a:ext cx="187025" cy="187025"/>
          </a:xfrm>
          <a:prstGeom prst="rect">
            <a:avLst/>
          </a:prstGeom>
          <a:noFill/>
          <a:ln>
            <a:noFill/>
          </a:ln>
        </p:spPr>
      </p:pic>
      <p:sp>
        <p:nvSpPr>
          <p:cNvPr id="309" name="Google Shape;309;p43"/>
          <p:cNvSpPr/>
          <p:nvPr/>
        </p:nvSpPr>
        <p:spPr>
          <a:xfrm rot="-1693986">
            <a:off x="7270468" y="3381486"/>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p:nvPr/>
        </p:nvSpPr>
        <p:spPr>
          <a:xfrm>
            <a:off x="1898175" y="1907800"/>
            <a:ext cx="58335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44"/>
          <p:cNvSpPr txBox="1"/>
          <p:nvPr/>
        </p:nvSpPr>
        <p:spPr>
          <a:xfrm>
            <a:off x="610538" y="1693854"/>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初回利用では、企業キャンセル発生・ワーカーへのGood評価なしだと追加掲載率が低く、ワーカーの質が期待値通りでないことがマイナスの体験として追加掲載の判断に影響すると考えられる。</a:t>
            </a:r>
            <a:endParaRPr b="1">
              <a:latin typeface="Noto Sans JP"/>
              <a:ea typeface="Noto Sans JP"/>
              <a:cs typeface="Noto Sans JP"/>
              <a:sym typeface="Noto Sans JP"/>
            </a:endParaRPr>
          </a:p>
        </p:txBody>
      </p:sp>
      <p:sp>
        <p:nvSpPr>
          <p:cNvPr id="316" name="Google Shape;316;p44"/>
          <p:cNvSpPr/>
          <p:nvPr/>
        </p:nvSpPr>
        <p:spPr>
          <a:xfrm>
            <a:off x="1585575" y="2706838"/>
            <a:ext cx="4826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44"/>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18" name="Google Shape;318;p44"/>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主なファインディングス</a:t>
            </a:r>
            <a:endParaRPr/>
          </a:p>
        </p:txBody>
      </p:sp>
      <p:sp>
        <p:nvSpPr>
          <p:cNvPr id="319" name="Google Shape;319;p44"/>
          <p:cNvSpPr/>
          <p:nvPr/>
        </p:nvSpPr>
        <p:spPr>
          <a:xfrm>
            <a:off x="3243125" y="1141750"/>
            <a:ext cx="4826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0" name="Google Shape;320;p44"/>
          <p:cNvPicPr preferRelativeResize="0"/>
          <p:nvPr/>
        </p:nvPicPr>
        <p:blipFill>
          <a:blip r:embed="rId3">
            <a:alphaModFix/>
          </a:blip>
          <a:stretch>
            <a:fillRect/>
          </a:stretch>
        </p:blipFill>
        <p:spPr>
          <a:xfrm flipH="1">
            <a:off x="302250" y="3995876"/>
            <a:ext cx="1066674" cy="1487099"/>
          </a:xfrm>
          <a:prstGeom prst="rect">
            <a:avLst/>
          </a:prstGeom>
          <a:noFill/>
          <a:ln>
            <a:noFill/>
          </a:ln>
        </p:spPr>
      </p:pic>
      <p:sp>
        <p:nvSpPr>
          <p:cNvPr id="321" name="Google Shape;321;p44"/>
          <p:cNvSpPr txBox="1"/>
          <p:nvPr/>
        </p:nvSpPr>
        <p:spPr>
          <a:xfrm>
            <a:off x="287350" y="890493"/>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2" name="Google Shape;322;p44"/>
          <p:cNvSpPr txBox="1"/>
          <p:nvPr/>
        </p:nvSpPr>
        <p:spPr>
          <a:xfrm>
            <a:off x="287363" y="1666648"/>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3" name="Google Shape;323;p44"/>
          <p:cNvSpPr txBox="1"/>
          <p:nvPr/>
        </p:nvSpPr>
        <p:spPr>
          <a:xfrm>
            <a:off x="610525" y="2470008"/>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利用初月に月4日（≒ 週1日程度）の募集掲載があると翌月継続率が50%を超える。</a:t>
            </a:r>
            <a:endParaRPr b="1">
              <a:latin typeface="Noto Sans JP"/>
              <a:ea typeface="Noto Sans JP"/>
              <a:cs typeface="Noto Sans JP"/>
              <a:sym typeface="Noto Sans JP"/>
            </a:endParaRPr>
          </a:p>
          <a:p>
            <a:pPr indent="0" lvl="0" marL="0" rtl="0" algn="l">
              <a:lnSpc>
                <a:spcPct val="120000"/>
              </a:lnSpc>
              <a:spcBef>
                <a:spcPts val="0"/>
              </a:spcBef>
              <a:spcAft>
                <a:spcPts val="0"/>
              </a:spcAft>
              <a:buNone/>
            </a:pPr>
            <a:r>
              <a:rPr b="1" lang="ja">
                <a:latin typeface="Noto Sans JP"/>
                <a:ea typeface="Noto Sans JP"/>
                <a:cs typeface="Noto Sans JP"/>
                <a:sym typeface="Noto Sans JP"/>
              </a:rPr>
              <a:t>利用初月の稼働率も継続率に影響はするが、「掲載習慣が作れているか否か」はより重要性が高い。</a:t>
            </a:r>
            <a:endParaRPr b="1">
              <a:latin typeface="Noto Sans JP"/>
              <a:ea typeface="Noto Sans JP"/>
              <a:cs typeface="Noto Sans JP"/>
              <a:sym typeface="Noto Sans JP"/>
            </a:endParaRPr>
          </a:p>
        </p:txBody>
      </p:sp>
      <p:sp>
        <p:nvSpPr>
          <p:cNvPr id="324" name="Google Shape;324;p44"/>
          <p:cNvSpPr txBox="1"/>
          <p:nvPr/>
        </p:nvSpPr>
        <p:spPr>
          <a:xfrm>
            <a:off x="287350" y="2442802"/>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5" name="Google Shape;325;p44"/>
          <p:cNvSpPr txBox="1"/>
          <p:nvPr/>
        </p:nvSpPr>
        <p:spPr>
          <a:xfrm>
            <a:off x="287363" y="3218956"/>
            <a:ext cx="362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800">
                <a:solidFill>
                  <a:srgbClr val="FFD700"/>
                </a:solidFill>
                <a:latin typeface="Noto Sans JP"/>
                <a:ea typeface="Noto Sans JP"/>
                <a:cs typeface="Noto Sans JP"/>
                <a:sym typeface="Noto Sans JP"/>
              </a:rPr>
              <a:t>✓</a:t>
            </a:r>
            <a:endParaRPr b="1" sz="1800">
              <a:solidFill>
                <a:srgbClr val="FFD700"/>
              </a:solidFill>
              <a:latin typeface="Noto Sans JP"/>
              <a:ea typeface="Noto Sans JP"/>
              <a:cs typeface="Noto Sans JP"/>
              <a:sym typeface="Noto Sans JP"/>
            </a:endParaRPr>
          </a:p>
        </p:txBody>
      </p:sp>
      <p:sp>
        <p:nvSpPr>
          <p:cNvPr id="326" name="Google Shape;326;p44"/>
          <p:cNvSpPr/>
          <p:nvPr/>
        </p:nvSpPr>
        <p:spPr>
          <a:xfrm>
            <a:off x="677225" y="1417800"/>
            <a:ext cx="22362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44"/>
          <p:cNvSpPr txBox="1"/>
          <p:nvPr/>
        </p:nvSpPr>
        <p:spPr>
          <a:xfrm>
            <a:off x="610525" y="917700"/>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LowTouch店舗の初回掲載では「1日分だけ余裕を持って掲載」するお試し・テスト的な掲載が多く</a:t>
            </a:r>
            <a:endParaRPr b="1">
              <a:latin typeface="Noto Sans JP"/>
              <a:ea typeface="Noto Sans JP"/>
              <a:cs typeface="Noto Sans JP"/>
              <a:sym typeface="Noto Sans JP"/>
            </a:endParaRPr>
          </a:p>
          <a:p>
            <a:pPr indent="0" lvl="0" marL="0" rtl="0" algn="l">
              <a:lnSpc>
                <a:spcPct val="120000"/>
              </a:lnSpc>
              <a:spcBef>
                <a:spcPts val="0"/>
              </a:spcBef>
              <a:spcAft>
                <a:spcPts val="0"/>
              </a:spcAft>
              <a:buNone/>
            </a:pPr>
            <a:r>
              <a:rPr b="1" lang="ja">
                <a:latin typeface="Noto Sans JP"/>
                <a:ea typeface="Noto Sans JP"/>
                <a:cs typeface="Noto Sans JP"/>
                <a:sym typeface="Noto Sans JP"/>
              </a:rPr>
              <a:t>この層の翌月継続率が低い。（45.8%の店舗が該当し翌月継続率は36.8%で全体対比-3.8pt）</a:t>
            </a:r>
            <a:endParaRPr b="1">
              <a:latin typeface="Noto Sans JP"/>
              <a:ea typeface="Noto Sans JP"/>
              <a:cs typeface="Noto Sans JP"/>
              <a:sym typeface="Noto Sans JP"/>
            </a:endParaRPr>
          </a:p>
        </p:txBody>
      </p:sp>
      <p:sp>
        <p:nvSpPr>
          <p:cNvPr id="328" name="Google Shape;328;p44"/>
          <p:cNvSpPr/>
          <p:nvPr/>
        </p:nvSpPr>
        <p:spPr>
          <a:xfrm>
            <a:off x="677225" y="3469800"/>
            <a:ext cx="39588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44"/>
          <p:cNvSpPr txBox="1"/>
          <p:nvPr/>
        </p:nvSpPr>
        <p:spPr>
          <a:xfrm>
            <a:off x="610538" y="3246163"/>
            <a:ext cx="82461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a:latin typeface="Noto Sans JP"/>
                <a:ea typeface="Noto Sans JP"/>
                <a:cs typeface="Noto Sans JP"/>
                <a:sym typeface="Noto Sans JP"/>
              </a:rPr>
              <a:t>店舗は初回掲載と同じ曜日で掲載することが多いため、募集の掲載を店舗の定常業務サイクルに載せてもらうための体験設計が重要と考えられる。</a:t>
            </a:r>
            <a:endParaRPr b="1">
              <a:latin typeface="Noto Sans JP"/>
              <a:ea typeface="Noto Sans JP"/>
              <a:cs typeface="Noto Sans JP"/>
              <a:sym typeface="Noto Sans JP"/>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35" name="Google Shape;335;p4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翌月継続率の探索分析 - サマリー</a:t>
            </a:r>
            <a:endParaRPr/>
          </a:p>
        </p:txBody>
      </p:sp>
      <p:sp>
        <p:nvSpPr>
          <p:cNvPr id="336" name="Google Shape;336;p45"/>
          <p:cNvSpPr/>
          <p:nvPr/>
        </p:nvSpPr>
        <p:spPr>
          <a:xfrm>
            <a:off x="1764425" y="2397000"/>
            <a:ext cx="4862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45"/>
          <p:cNvSpPr/>
          <p:nvPr/>
        </p:nvSpPr>
        <p:spPr>
          <a:xfrm>
            <a:off x="2938975" y="2224425"/>
            <a:ext cx="5289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45"/>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翌月継続率の</a:t>
            </a:r>
            <a:r>
              <a:rPr b="1" lang="ja" sz="1000">
                <a:latin typeface="Noto Sans JP"/>
                <a:ea typeface="Noto Sans JP"/>
                <a:cs typeface="Noto Sans JP"/>
                <a:sym typeface="Noto Sans JP"/>
              </a:rPr>
              <a:t>課題の</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所在は？</a:t>
            </a:r>
            <a:endParaRPr b="1" sz="1000">
              <a:latin typeface="Noto Sans JP"/>
              <a:ea typeface="Noto Sans JP"/>
              <a:cs typeface="Noto Sans JP"/>
              <a:sym typeface="Noto Sans JP"/>
            </a:endParaRPr>
          </a:p>
        </p:txBody>
      </p:sp>
      <p:sp>
        <p:nvSpPr>
          <p:cNvPr id="339" name="Google Shape;339;p45"/>
          <p:cNvSpPr/>
          <p:nvPr/>
        </p:nvSpPr>
        <p:spPr>
          <a:xfrm>
            <a:off x="3973700" y="822150"/>
            <a:ext cx="3447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45"/>
          <p:cNvSpPr/>
          <p:nvPr/>
        </p:nvSpPr>
        <p:spPr>
          <a:xfrm>
            <a:off x="1764425" y="1001475"/>
            <a:ext cx="1821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45"/>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Phase1:</a:t>
            </a:r>
            <a:br>
              <a:rPr b="1" lang="ja" sz="1000">
                <a:latin typeface="Noto Sans JP"/>
                <a:ea typeface="Noto Sans JP"/>
                <a:cs typeface="Noto Sans JP"/>
                <a:sym typeface="Noto Sans JP"/>
              </a:rPr>
            </a:br>
            <a:r>
              <a:rPr b="1" lang="ja" sz="1000">
                <a:latin typeface="Noto Sans JP"/>
                <a:ea typeface="Noto Sans JP"/>
                <a:cs typeface="Noto Sans JP"/>
                <a:sym typeface="Noto Sans JP"/>
              </a:rPr>
              <a:t>初回利用体験</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追加掲載にどう影響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sp>
        <p:nvSpPr>
          <p:cNvPr id="342" name="Google Shape;342;p45"/>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Phase2:</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利用初月の掲載習慣</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cxnSp>
        <p:nvCxnSpPr>
          <p:cNvPr id="343" name="Google Shape;343;p45"/>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344" name="Google Shape;344;p45"/>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45"/>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6" name="Google Shape;346;p45"/>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347" name="Google Shape;347;p45"/>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初回募集でワーカーが稼働 ^ Good評価 の条件が揃えば60%の店舗が追加掲載に至る。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・初回募集でワーカーが稼働しなかった店舗は稼働ありと比較して追加掲載率が10ptほど低い。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・初回募集におけるワーカー稼働なしのうち、最も追加掲載率が低いのは「企業キャンセル」の39.0%</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・初回募集で稼働したワーカーにGood評価をつけなかった店舗はGoodありと比較して追加掲載率が20ptほど低い。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・企業キャンセル、Good評価無しのワーカーの特徴に初回掲載店舗ならではの傾向は確認できない。</a:t>
            </a:r>
            <a:endParaRPr sz="1000">
              <a:latin typeface="Noto Sans JP"/>
              <a:ea typeface="Noto Sans JP"/>
              <a:cs typeface="Noto Sans JP"/>
              <a:sym typeface="Noto Sans JP"/>
            </a:endParaRPr>
          </a:p>
        </p:txBody>
      </p:sp>
      <p:sp>
        <p:nvSpPr>
          <p:cNvPr id="348" name="Google Shape;348;p45"/>
          <p:cNvSpPr/>
          <p:nvPr/>
        </p:nvSpPr>
        <p:spPr>
          <a:xfrm>
            <a:off x="1764425" y="3610475"/>
            <a:ext cx="4418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45"/>
          <p:cNvSpPr/>
          <p:nvPr/>
        </p:nvSpPr>
        <p:spPr>
          <a:xfrm>
            <a:off x="4991750" y="3769600"/>
            <a:ext cx="33306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45"/>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a:t>
            </a:r>
            <a:r>
              <a:rPr b="1" lang="ja" sz="1000">
                <a:latin typeface="Noto Sans JP"/>
                <a:ea typeface="Noto Sans JP"/>
                <a:cs typeface="Noto Sans JP"/>
                <a:sym typeface="Noto Sans JP"/>
              </a:rPr>
              <a:t>に</a:t>
            </a:r>
            <a:r>
              <a:rPr b="1" lang="ja" sz="1000">
                <a:latin typeface="Noto Sans JP"/>
                <a:ea typeface="Noto Sans JP"/>
                <a:cs typeface="Noto Sans JP"/>
                <a:sym typeface="Noto Sans JP"/>
              </a:rPr>
              <a:t>月4</a:t>
            </a:r>
            <a:r>
              <a:rPr b="1" lang="ja" sz="1000">
                <a:latin typeface="Noto Sans JP"/>
                <a:ea typeface="Noto Sans JP"/>
                <a:cs typeface="Noto Sans JP"/>
                <a:sym typeface="Noto Sans JP"/>
              </a:rPr>
              <a:t>日</a:t>
            </a:r>
            <a:r>
              <a:rPr b="1" lang="ja" sz="1000">
                <a:latin typeface="Noto Sans JP"/>
                <a:ea typeface="Noto Sans JP"/>
                <a:cs typeface="Noto Sans JP"/>
                <a:sym typeface="Noto Sans JP"/>
              </a:rPr>
              <a:t>（≒ 週1回程度）の掲載習慣を作れるかが翌月継続の分水嶺であると考えられる。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・利用初月の掲載日数が多い店舗ほど翌月継続率が高く、初月4日以上の掲載があると翌月継続率が50%を超える。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・初回掲載日からの日数が7の倍数（同じ曜日）の日に募集を掲載する店舗が多い。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・初月稼働率が高いほど翌月継続率は高いが、掲載日数が1~3日の段階では稼働率が80%を超えても44.4%にとどまる。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latin typeface="Noto Sans JP"/>
              <a:ea typeface="Noto Sans JP"/>
              <a:cs typeface="Noto Sans JP"/>
              <a:sym typeface="Noto Sans JP"/>
            </a:endParaRPr>
          </a:p>
        </p:txBody>
      </p:sp>
      <p:sp>
        <p:nvSpPr>
          <p:cNvPr id="351" name="Google Shape;351;p45"/>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LowTouchではHighTouchと比較してタイミーをお試し・テスト的に恐る恐る使う層が多いと想定される。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・HighTouch店舗の翌月継続率は56.0%、LowTouch店舗の翌月継続率は40.7%と15ptの差が存在する。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・LowTouch店舗の45.8%が初回「C_計画*単発型」の掲載であり、この群の翌月継続率は36.8%と最低水準。</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・LowTouch店舗の初回「C_計画*単発型」うち約半数の50.1%が利用初月に2回目の掲載に至っていない。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・LowTouch店舗の初回「C_計画*単発型」うち追加掲載がある店舗は翌月継続率が55.7%とHighTouchの全体同等の水準。</a:t>
            </a:r>
            <a:endParaRPr sz="1000">
              <a:latin typeface="Noto Sans JP"/>
              <a:ea typeface="Noto Sans JP"/>
              <a:cs typeface="Noto Sans JP"/>
              <a:sym typeface="Noto Sans J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57" name="Google Shape;357;p4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358" name="Google Shape;358;p46"/>
          <p:cNvSpPr/>
          <p:nvPr/>
        </p:nvSpPr>
        <p:spPr>
          <a:xfrm>
            <a:off x="-80550" y="16553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46"/>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360" name="Google Shape;360;p46"/>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361" name="Google Shape;361;p46"/>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362" name="Google Shape;362;p46"/>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363" name="Google Shape;363;p46"/>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364" name="Google Shape;364;p46"/>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365" name="Google Shape;365;p46"/>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366" name="Google Shape;366;p46"/>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367" name="Google Shape;367;p46"/>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368" name="Google Shape;368;p46"/>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74" name="Google Shape;374;p4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LowTouch店舗の翌月継続率はHighTouchの店舗と比較して15pt低い</a:t>
            </a:r>
            <a:endParaRPr/>
          </a:p>
        </p:txBody>
      </p:sp>
      <p:sp>
        <p:nvSpPr>
          <p:cNvPr id="375" name="Google Shape;375;p47"/>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a:t>
            </a:r>
            <a:r>
              <a:rPr lang="ja" sz="600">
                <a:solidFill>
                  <a:srgbClr val="808080"/>
                </a:solidFill>
                <a:latin typeface="Noto Sans JP"/>
                <a:ea typeface="Noto Sans JP"/>
                <a:cs typeface="Noto Sans JP"/>
                <a:sym typeface="Noto Sans JP"/>
              </a:rPr>
              <a:t>：2025-01 ~ 2025-09 </a:t>
            </a:r>
            <a:r>
              <a:rPr lang="ja" sz="600">
                <a:solidFill>
                  <a:srgbClr val="808080"/>
                </a:solidFill>
                <a:latin typeface="Noto Sans JP"/>
                <a:ea typeface="Noto Sans JP"/>
                <a:cs typeface="Noto Sans JP"/>
                <a:sym typeface="Noto Sans JP"/>
              </a:rPr>
              <a:t>に初回掲載した事業所</a:t>
            </a:r>
            <a:endParaRPr sz="600">
              <a:solidFill>
                <a:srgbClr val="808080"/>
              </a:solidFill>
              <a:latin typeface="Noto Sans JP"/>
              <a:ea typeface="Noto Sans JP"/>
              <a:cs typeface="Noto Sans JP"/>
              <a:sym typeface="Noto Sans JP"/>
            </a:endParaRPr>
          </a:p>
        </p:txBody>
      </p:sp>
      <p:sp>
        <p:nvSpPr>
          <p:cNvPr id="376" name="Google Shape;376;p47"/>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集計期間全体におけるLowTouch店舗の翌月継続率は40.9%と、HighTouch店舗の56.0%と比較すると15ptの差がある。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TechTouchでどのような改善を図ることで、LowTouch店舗の翌月継続率を向上させられるか？を以降の分析から考察する。</a:t>
            </a:r>
            <a:endParaRPr sz="1200">
              <a:latin typeface="Noto Sans JP"/>
              <a:ea typeface="Noto Sans JP"/>
              <a:cs typeface="Noto Sans JP"/>
              <a:sym typeface="Noto Sans JP"/>
            </a:endParaRPr>
          </a:p>
        </p:txBody>
      </p:sp>
      <p:sp>
        <p:nvSpPr>
          <p:cNvPr id="377" name="Google Shape;377;p47"/>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High/Low</a:t>
            </a:r>
            <a:r>
              <a:rPr lang="ja" sz="1000">
                <a:solidFill>
                  <a:srgbClr val="808080"/>
                </a:solidFill>
                <a:latin typeface="Noto Sans SemiBold"/>
                <a:ea typeface="Noto Sans SemiBold"/>
                <a:cs typeface="Noto Sans SemiBold"/>
                <a:sym typeface="Noto Sans SemiBold"/>
              </a:rPr>
              <a:t>区分別 翌月継続率</a:t>
            </a:r>
            <a:endParaRPr sz="1000">
              <a:solidFill>
                <a:srgbClr val="808080"/>
              </a:solidFill>
              <a:latin typeface="Noto Sans SemiBold"/>
              <a:ea typeface="Noto Sans SemiBold"/>
              <a:cs typeface="Noto Sans SemiBold"/>
              <a:sym typeface="Noto Sans SemiBold"/>
            </a:endParaRPr>
          </a:p>
        </p:txBody>
      </p:sp>
      <p:sp>
        <p:nvSpPr>
          <p:cNvPr id="378" name="Google Shape;378;p47"/>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https://docs.google.com/spreadsheets/d/1VlYTSFJRUFDtw1kHuFzHLWfSJakMuAQH8yrISJJvOXk/edit?pli=1&amp;gid=1982118576#gid=1982118576&amp;range=A61</a:t>
            </a:r>
            <a:endParaRPr sz="600">
              <a:solidFill>
                <a:schemeClr val="accent2"/>
              </a:solidFill>
              <a:latin typeface="Noto Sans JP"/>
              <a:ea typeface="Noto Sans JP"/>
              <a:cs typeface="Noto Sans JP"/>
              <a:sym typeface="Noto Sans JP"/>
            </a:endParaRPr>
          </a:p>
        </p:txBody>
      </p:sp>
      <p:pic>
        <p:nvPicPr>
          <p:cNvPr id="379" name="Google Shape;379;p47" title="グラフ"/>
          <p:cNvPicPr preferRelativeResize="0"/>
          <p:nvPr/>
        </p:nvPicPr>
        <p:blipFill>
          <a:blip r:embed="rId4">
            <a:alphaModFix/>
          </a:blip>
          <a:stretch>
            <a:fillRect/>
          </a:stretch>
        </p:blipFill>
        <p:spPr>
          <a:xfrm>
            <a:off x="953838" y="1726450"/>
            <a:ext cx="2844324" cy="2599124"/>
          </a:xfrm>
          <a:prstGeom prst="rect">
            <a:avLst/>
          </a:prstGeom>
          <a:noFill/>
          <a:ln>
            <a:noFill/>
          </a:ln>
        </p:spPr>
      </p:pic>
      <p:pic>
        <p:nvPicPr>
          <p:cNvPr id="380" name="Google Shape;380;p47" title="グラフ"/>
          <p:cNvPicPr preferRelativeResize="0"/>
          <p:nvPr/>
        </p:nvPicPr>
        <p:blipFill>
          <a:blip r:embed="rId5">
            <a:alphaModFix/>
          </a:blip>
          <a:stretch>
            <a:fillRect/>
          </a:stretch>
        </p:blipFill>
        <p:spPr>
          <a:xfrm>
            <a:off x="5345837" y="1726450"/>
            <a:ext cx="2844324" cy="2599124"/>
          </a:xfrm>
          <a:prstGeom prst="rect">
            <a:avLst/>
          </a:prstGeom>
          <a:noFill/>
          <a:ln>
            <a:noFill/>
          </a:ln>
        </p:spPr>
      </p:pic>
      <p:sp>
        <p:nvSpPr>
          <p:cNvPr id="381" name="Google Shape;381;p47"/>
          <p:cNvSpPr txBox="1"/>
          <p:nvPr/>
        </p:nvSpPr>
        <p:spPr>
          <a:xfrm>
            <a:off x="1836002" y="2764400"/>
            <a:ext cx="10800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LowTouch</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店舗数: 21,157</a:t>
            </a:r>
            <a:endParaRPr b="1" sz="1000">
              <a:latin typeface="Noto Sans JP"/>
              <a:ea typeface="Noto Sans JP"/>
              <a:cs typeface="Noto Sans JP"/>
              <a:sym typeface="Noto Sans JP"/>
            </a:endParaRPr>
          </a:p>
        </p:txBody>
      </p:sp>
      <p:sp>
        <p:nvSpPr>
          <p:cNvPr id="382" name="Google Shape;382;p47"/>
          <p:cNvSpPr txBox="1"/>
          <p:nvPr/>
        </p:nvSpPr>
        <p:spPr>
          <a:xfrm>
            <a:off x="6228002" y="2764413"/>
            <a:ext cx="10800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High</a:t>
            </a:r>
            <a:r>
              <a:rPr b="1" lang="ja" sz="1000">
                <a:latin typeface="Noto Sans JP"/>
                <a:ea typeface="Noto Sans JP"/>
                <a:cs typeface="Noto Sans JP"/>
                <a:sym typeface="Noto Sans JP"/>
              </a:rPr>
              <a:t>Touch</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店舗数: 27,858</a:t>
            </a:r>
            <a:endParaRPr b="1" sz="1000">
              <a:latin typeface="Noto Sans JP"/>
              <a:ea typeface="Noto Sans JP"/>
              <a:cs typeface="Noto Sans JP"/>
              <a:sym typeface="Noto Sans JP"/>
            </a:endParaRPr>
          </a:p>
        </p:txBody>
      </p:sp>
      <p:sp>
        <p:nvSpPr>
          <p:cNvPr id="383" name="Google Shape;383;p47"/>
          <p:cNvSpPr txBox="1"/>
          <p:nvPr/>
        </p:nvSpPr>
        <p:spPr>
          <a:xfrm>
            <a:off x="3340800" y="1956150"/>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solidFill>
                  <a:schemeClr val="accent1"/>
                </a:solidFill>
                <a:latin typeface="Noto Sans JP"/>
                <a:ea typeface="Noto Sans JP"/>
                <a:cs typeface="Noto Sans JP"/>
                <a:sym typeface="Noto Sans JP"/>
              </a:rPr>
              <a:t>40.4%</a:t>
            </a:r>
            <a:endParaRPr b="1" sz="1600">
              <a:solidFill>
                <a:schemeClr val="accent1"/>
              </a:solidFill>
              <a:latin typeface="Noto Sans JP"/>
              <a:ea typeface="Noto Sans JP"/>
              <a:cs typeface="Noto Sans JP"/>
              <a:sym typeface="Noto Sans JP"/>
            </a:endParaRPr>
          </a:p>
        </p:txBody>
      </p:sp>
      <p:cxnSp>
        <p:nvCxnSpPr>
          <p:cNvPr id="384" name="Google Shape;384;p47"/>
          <p:cNvCxnSpPr/>
          <p:nvPr/>
        </p:nvCxnSpPr>
        <p:spPr>
          <a:xfrm>
            <a:off x="3048000" y="2571750"/>
            <a:ext cx="1204500" cy="0"/>
          </a:xfrm>
          <a:prstGeom prst="straightConnector1">
            <a:avLst/>
          </a:prstGeom>
          <a:noFill/>
          <a:ln cap="flat" cmpd="sng" w="19050">
            <a:solidFill>
              <a:srgbClr val="808080"/>
            </a:solidFill>
            <a:prstDash val="solid"/>
            <a:round/>
            <a:headEnd len="med" w="med" type="oval"/>
            <a:tailEnd len="med" w="med" type="none"/>
          </a:ln>
        </p:spPr>
      </p:cxnSp>
      <p:sp>
        <p:nvSpPr>
          <p:cNvPr id="385" name="Google Shape;385;p47"/>
          <p:cNvSpPr txBox="1"/>
          <p:nvPr/>
        </p:nvSpPr>
        <p:spPr>
          <a:xfrm>
            <a:off x="7695925" y="1956150"/>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latin typeface="Noto Sans JP"/>
                <a:ea typeface="Noto Sans JP"/>
                <a:cs typeface="Noto Sans JP"/>
                <a:sym typeface="Noto Sans JP"/>
              </a:rPr>
              <a:t>56</a:t>
            </a:r>
            <a:r>
              <a:rPr b="1" lang="ja" sz="1600">
                <a:latin typeface="Noto Sans JP"/>
                <a:ea typeface="Noto Sans JP"/>
                <a:cs typeface="Noto Sans JP"/>
                <a:sym typeface="Noto Sans JP"/>
              </a:rPr>
              <a:t>.0%</a:t>
            </a:r>
            <a:endParaRPr b="1" sz="1600">
              <a:latin typeface="Noto Sans JP"/>
              <a:ea typeface="Noto Sans JP"/>
              <a:cs typeface="Noto Sans JP"/>
              <a:sym typeface="Noto Sans JP"/>
            </a:endParaRPr>
          </a:p>
        </p:txBody>
      </p:sp>
      <p:cxnSp>
        <p:nvCxnSpPr>
          <p:cNvPr id="386" name="Google Shape;386;p47"/>
          <p:cNvCxnSpPr/>
          <p:nvPr/>
        </p:nvCxnSpPr>
        <p:spPr>
          <a:xfrm>
            <a:off x="7403125" y="2571750"/>
            <a:ext cx="1204500" cy="0"/>
          </a:xfrm>
          <a:prstGeom prst="straightConnector1">
            <a:avLst/>
          </a:prstGeom>
          <a:noFill/>
          <a:ln cap="flat" cmpd="sng" w="19050">
            <a:solidFill>
              <a:srgbClr val="808080"/>
            </a:solidFill>
            <a:prstDash val="solid"/>
            <a:round/>
            <a:headEnd len="med" w="med" type="oval"/>
            <a:tailEnd len="med" w="med" type="none"/>
          </a:ln>
        </p:spPr>
      </p:cxnSp>
      <p:sp>
        <p:nvSpPr>
          <p:cNvPr id="387" name="Google Shape;387;p47"/>
          <p:cNvSpPr txBox="1"/>
          <p:nvPr/>
        </p:nvSpPr>
        <p:spPr>
          <a:xfrm>
            <a:off x="489941" y="3336525"/>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solidFill>
                  <a:srgbClr val="808080"/>
                </a:solidFill>
                <a:latin typeface="Noto Sans JP"/>
                <a:ea typeface="Noto Sans JP"/>
                <a:cs typeface="Noto Sans JP"/>
                <a:sym typeface="Noto Sans JP"/>
              </a:rPr>
              <a:t>翌月</a:t>
            </a:r>
            <a:r>
              <a:rPr b="1" lang="ja" sz="1000">
                <a:solidFill>
                  <a:srgbClr val="808080"/>
                </a:solidFill>
                <a:latin typeface="Noto Sans JP"/>
                <a:ea typeface="Noto Sans JP"/>
                <a:cs typeface="Noto Sans JP"/>
                <a:sym typeface="Noto Sans JP"/>
              </a:rPr>
              <a:t>離反</a:t>
            </a:r>
            <a:endParaRPr b="1" sz="1000">
              <a:solidFill>
                <a:srgbClr val="808080"/>
              </a:solidFill>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solidFill>
                  <a:srgbClr val="808080"/>
                </a:solidFill>
                <a:latin typeface="Noto Sans JP"/>
                <a:ea typeface="Noto Sans JP"/>
                <a:cs typeface="Noto Sans JP"/>
                <a:sym typeface="Noto Sans JP"/>
              </a:rPr>
              <a:t>59</a:t>
            </a:r>
            <a:r>
              <a:rPr b="1" lang="ja" sz="1600">
                <a:solidFill>
                  <a:srgbClr val="808080"/>
                </a:solidFill>
                <a:latin typeface="Noto Sans JP"/>
                <a:ea typeface="Noto Sans JP"/>
                <a:cs typeface="Noto Sans JP"/>
                <a:sym typeface="Noto Sans JP"/>
              </a:rPr>
              <a:t>.3%</a:t>
            </a:r>
            <a:endParaRPr b="1" sz="1600">
              <a:solidFill>
                <a:srgbClr val="808080"/>
              </a:solidFill>
              <a:latin typeface="Noto Sans JP"/>
              <a:ea typeface="Noto Sans JP"/>
              <a:cs typeface="Noto Sans JP"/>
              <a:sym typeface="Noto Sans JP"/>
            </a:endParaRPr>
          </a:p>
        </p:txBody>
      </p:sp>
      <p:cxnSp>
        <p:nvCxnSpPr>
          <p:cNvPr id="388" name="Google Shape;388;p47"/>
          <p:cNvCxnSpPr/>
          <p:nvPr/>
        </p:nvCxnSpPr>
        <p:spPr>
          <a:xfrm rot="10800000">
            <a:off x="489941" y="3952125"/>
            <a:ext cx="1204500" cy="0"/>
          </a:xfrm>
          <a:prstGeom prst="straightConnector1">
            <a:avLst/>
          </a:prstGeom>
          <a:noFill/>
          <a:ln cap="flat" cmpd="sng" w="19050">
            <a:solidFill>
              <a:srgbClr val="808080"/>
            </a:solidFill>
            <a:prstDash val="solid"/>
            <a:round/>
            <a:headEnd len="med" w="med" type="oval"/>
            <a:tailEnd len="med" w="med" type="none"/>
          </a:ln>
        </p:spPr>
      </p:cxnSp>
      <p:sp>
        <p:nvSpPr>
          <p:cNvPr id="389" name="Google Shape;389;p47"/>
          <p:cNvSpPr txBox="1"/>
          <p:nvPr/>
        </p:nvSpPr>
        <p:spPr>
          <a:xfrm>
            <a:off x="4941816" y="3336525"/>
            <a:ext cx="911700" cy="615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solidFill>
                  <a:srgbClr val="808080"/>
                </a:solidFill>
                <a:latin typeface="Noto Sans JP"/>
                <a:ea typeface="Noto Sans JP"/>
                <a:cs typeface="Noto Sans JP"/>
                <a:sym typeface="Noto Sans JP"/>
              </a:rPr>
              <a:t>翌月離反</a:t>
            </a:r>
            <a:endParaRPr b="1" sz="1000">
              <a:solidFill>
                <a:srgbClr val="808080"/>
              </a:solidFill>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600">
                <a:solidFill>
                  <a:srgbClr val="808080"/>
                </a:solidFill>
                <a:latin typeface="Noto Sans JP"/>
                <a:ea typeface="Noto Sans JP"/>
                <a:cs typeface="Noto Sans JP"/>
                <a:sym typeface="Noto Sans JP"/>
              </a:rPr>
              <a:t>44</a:t>
            </a:r>
            <a:r>
              <a:rPr b="1" lang="ja" sz="1600">
                <a:solidFill>
                  <a:srgbClr val="808080"/>
                </a:solidFill>
                <a:latin typeface="Noto Sans JP"/>
                <a:ea typeface="Noto Sans JP"/>
                <a:cs typeface="Noto Sans JP"/>
                <a:sym typeface="Noto Sans JP"/>
              </a:rPr>
              <a:t>.0%</a:t>
            </a:r>
            <a:endParaRPr b="1" sz="1600">
              <a:solidFill>
                <a:srgbClr val="808080"/>
              </a:solidFill>
              <a:latin typeface="Noto Sans JP"/>
              <a:ea typeface="Noto Sans JP"/>
              <a:cs typeface="Noto Sans JP"/>
              <a:sym typeface="Noto Sans JP"/>
            </a:endParaRPr>
          </a:p>
        </p:txBody>
      </p:sp>
      <p:cxnSp>
        <p:nvCxnSpPr>
          <p:cNvPr id="390" name="Google Shape;390;p47"/>
          <p:cNvCxnSpPr/>
          <p:nvPr/>
        </p:nvCxnSpPr>
        <p:spPr>
          <a:xfrm rot="10800000">
            <a:off x="4941816" y="3952125"/>
            <a:ext cx="1204500" cy="0"/>
          </a:xfrm>
          <a:prstGeom prst="straightConnector1">
            <a:avLst/>
          </a:prstGeom>
          <a:noFill/>
          <a:ln cap="flat" cmpd="sng" w="19050">
            <a:solidFill>
              <a:srgbClr val="808080"/>
            </a:solidFill>
            <a:prstDash val="solid"/>
            <a:round/>
            <a:headEnd len="med" w="med" type="oval"/>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96" name="Google Shape;396;p4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初回掲載パターン（≒事業所のサービス利用意図）によって翌月継続率は異なる</a:t>
            </a:r>
            <a:endParaRPr/>
          </a:p>
        </p:txBody>
      </p:sp>
      <p:sp>
        <p:nvSpPr>
          <p:cNvPr id="397" name="Google Shape;397;p4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初回掲載日の掲載パターン（掲載日数 * 業務開始までの日数の最小値）で店舗を4つのセグメントに分解。</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LowTouchではテスト利用が想定される「C_計画*単発型」の店舗数ボリュームが大きく、かつ翌月継続率が相対的に低い。</a:t>
            </a:r>
            <a:endParaRPr sz="1200">
              <a:latin typeface="Noto Sans JP"/>
              <a:ea typeface="Noto Sans JP"/>
              <a:cs typeface="Noto Sans JP"/>
              <a:sym typeface="Noto Sans JP"/>
            </a:endParaRPr>
          </a:p>
        </p:txBody>
      </p:sp>
      <p:sp>
        <p:nvSpPr>
          <p:cNvPr id="398" name="Google Shape;398;p48"/>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初回掲載パターンごとの翌月継続率</a:t>
            </a:r>
            <a:endParaRPr sz="1000">
              <a:solidFill>
                <a:srgbClr val="808080"/>
              </a:solidFill>
              <a:latin typeface="Noto Sans SemiBold"/>
              <a:ea typeface="Noto Sans SemiBold"/>
              <a:cs typeface="Noto Sans SemiBold"/>
              <a:sym typeface="Noto Sans SemiBold"/>
            </a:endParaRPr>
          </a:p>
        </p:txBody>
      </p:sp>
      <p:sp>
        <p:nvSpPr>
          <p:cNvPr id="399" name="Google Shape;399;p4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a:t>
            </a:r>
            <a:r>
              <a:rPr lang="ja" sz="600">
                <a:solidFill>
                  <a:schemeClr val="accent2"/>
                </a:solidFill>
                <a:latin typeface="Noto Sans JP"/>
                <a:ea typeface="Noto Sans JP"/>
                <a:cs typeface="Noto Sans JP"/>
                <a:sym typeface="Noto Sans JP"/>
              </a:rPr>
              <a:t>初回掲載パターンによる事業所のサービス利用意図の推測（</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p.37</a:t>
            </a:r>
            <a:r>
              <a:rPr lang="ja" sz="600">
                <a:solidFill>
                  <a:schemeClr val="accent2"/>
                </a:solidFill>
                <a:latin typeface="Noto Sans JP"/>
                <a:ea typeface="Noto Sans JP"/>
                <a:cs typeface="Noto Sans JP"/>
                <a:sym typeface="Noto Sans JP"/>
              </a:rPr>
              <a:t>）, 初回掲載パターンごとの翌週継続率（</a:t>
            </a:r>
            <a:r>
              <a:rPr lang="ja" sz="600" u="sng">
                <a:solidFill>
                  <a:schemeClr val="accent2"/>
                </a:solidFill>
                <a:latin typeface="Noto Sans JP"/>
                <a:ea typeface="Noto Sans JP"/>
                <a:cs typeface="Noto Sans JP"/>
                <a:sym typeface="Noto Sans JP"/>
                <a:hlinkClick action="ppaction://hlinksldjump" r:id="rId4">
                  <a:extLst>
                    <a:ext uri="{A12FA001-AC4F-418D-AE19-62706E023703}">
                      <ahyp:hlinkClr val="tx"/>
                    </a:ext>
                  </a:extLst>
                </a:hlinkClick>
              </a:rPr>
              <a:t>p.38</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400" name="Google Shape;400;p4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5">
                  <a:extLst>
                    <a:ext uri="{A12FA001-AC4F-418D-AE19-62706E023703}">
                      <ahyp:hlinkClr val="tx"/>
                    </a:ext>
                  </a:extLst>
                </a:hlinkClick>
              </a:rPr>
              <a:t>https://docs.google.com/spreadsheets/d/1VlYTSFJRUFDtw1kHuFzHLWfSJakMuAQH8yrISJJvOXk/edit?pli=1&amp;gid=1982118576#gid=1982118576&amp;range=A61</a:t>
            </a:r>
            <a:endParaRPr sz="600">
              <a:solidFill>
                <a:schemeClr val="accent2"/>
              </a:solidFill>
              <a:latin typeface="Noto Sans JP"/>
              <a:ea typeface="Noto Sans JP"/>
              <a:cs typeface="Noto Sans JP"/>
              <a:sym typeface="Noto Sans JP"/>
            </a:endParaRPr>
          </a:p>
        </p:txBody>
      </p:sp>
      <p:pic>
        <p:nvPicPr>
          <p:cNvPr id="401" name="Google Shape;401;p48" title="グラフ"/>
          <p:cNvPicPr preferRelativeResize="0"/>
          <p:nvPr/>
        </p:nvPicPr>
        <p:blipFill>
          <a:blip r:embed="rId6">
            <a:alphaModFix/>
          </a:blip>
          <a:stretch>
            <a:fillRect/>
          </a:stretch>
        </p:blipFill>
        <p:spPr>
          <a:xfrm>
            <a:off x="240750" y="1688388"/>
            <a:ext cx="4270501" cy="2675238"/>
          </a:xfrm>
          <a:prstGeom prst="rect">
            <a:avLst/>
          </a:prstGeom>
          <a:noFill/>
          <a:ln>
            <a:noFill/>
          </a:ln>
        </p:spPr>
      </p:pic>
      <p:pic>
        <p:nvPicPr>
          <p:cNvPr id="402" name="Google Shape;402;p48" title="グラフ"/>
          <p:cNvPicPr preferRelativeResize="0"/>
          <p:nvPr/>
        </p:nvPicPr>
        <p:blipFill>
          <a:blip r:embed="rId7">
            <a:alphaModFix/>
          </a:blip>
          <a:stretch>
            <a:fillRect/>
          </a:stretch>
        </p:blipFill>
        <p:spPr>
          <a:xfrm>
            <a:off x="4632750" y="1688388"/>
            <a:ext cx="4270501" cy="2675238"/>
          </a:xfrm>
          <a:prstGeom prst="rect">
            <a:avLst/>
          </a:prstGeom>
          <a:noFill/>
          <a:ln>
            <a:noFill/>
          </a:ln>
        </p:spPr>
      </p:pic>
      <p:sp>
        <p:nvSpPr>
          <p:cNvPr id="403" name="Google Shape;403;p4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cxnSp>
        <p:nvCxnSpPr>
          <p:cNvPr id="404" name="Google Shape;404;p48"/>
          <p:cNvCxnSpPr/>
          <p:nvPr/>
        </p:nvCxnSpPr>
        <p:spPr>
          <a:xfrm rot="10800000">
            <a:off x="693950" y="3368312"/>
            <a:ext cx="3378300" cy="0"/>
          </a:xfrm>
          <a:prstGeom prst="straightConnector1">
            <a:avLst/>
          </a:prstGeom>
          <a:noFill/>
          <a:ln cap="flat" cmpd="sng" w="9525">
            <a:solidFill>
              <a:schemeClr val="dk2"/>
            </a:solidFill>
            <a:prstDash val="dash"/>
            <a:round/>
            <a:headEnd len="med" w="med" type="none"/>
            <a:tailEnd len="med" w="med" type="none"/>
          </a:ln>
        </p:spPr>
      </p:cxnSp>
      <p:sp>
        <p:nvSpPr>
          <p:cNvPr id="405" name="Google Shape;405;p48"/>
          <p:cNvSpPr txBox="1"/>
          <p:nvPr/>
        </p:nvSpPr>
        <p:spPr>
          <a:xfrm>
            <a:off x="3450050" y="3368300"/>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40.6%</a:t>
            </a:r>
            <a:endParaRPr b="1" sz="600">
              <a:solidFill>
                <a:srgbClr val="1F1F1F"/>
              </a:solidFill>
              <a:latin typeface="Noto Sans JP"/>
              <a:ea typeface="Noto Sans JP"/>
              <a:cs typeface="Noto Sans JP"/>
              <a:sym typeface="Noto Sans JP"/>
            </a:endParaRPr>
          </a:p>
        </p:txBody>
      </p:sp>
      <p:cxnSp>
        <p:nvCxnSpPr>
          <p:cNvPr id="406" name="Google Shape;406;p48"/>
          <p:cNvCxnSpPr/>
          <p:nvPr/>
        </p:nvCxnSpPr>
        <p:spPr>
          <a:xfrm rot="10800000">
            <a:off x="5051350" y="3058382"/>
            <a:ext cx="3390300" cy="0"/>
          </a:xfrm>
          <a:prstGeom prst="straightConnector1">
            <a:avLst/>
          </a:prstGeom>
          <a:noFill/>
          <a:ln cap="flat" cmpd="sng" w="9525">
            <a:solidFill>
              <a:schemeClr val="dk2"/>
            </a:solidFill>
            <a:prstDash val="dash"/>
            <a:round/>
            <a:headEnd len="med" w="med" type="none"/>
            <a:tailEnd len="med" w="med" type="none"/>
          </a:ln>
        </p:spPr>
      </p:cxnSp>
      <p:sp>
        <p:nvSpPr>
          <p:cNvPr id="407" name="Google Shape;407;p48"/>
          <p:cNvSpPr txBox="1"/>
          <p:nvPr/>
        </p:nvSpPr>
        <p:spPr>
          <a:xfrm>
            <a:off x="7819460" y="3058376"/>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56.0%</a:t>
            </a:r>
            <a:endParaRPr b="1" sz="600">
              <a:solidFill>
                <a:srgbClr val="1F1F1F"/>
              </a:solidFill>
              <a:latin typeface="Noto Sans JP"/>
              <a:ea typeface="Noto Sans JP"/>
              <a:cs typeface="Noto Sans JP"/>
              <a:sym typeface="Noto Sans JP"/>
            </a:endParaRPr>
          </a:p>
        </p:txBody>
      </p:sp>
      <p:sp>
        <p:nvSpPr>
          <p:cNvPr id="408" name="Google Shape;408;p48"/>
          <p:cNvSpPr/>
          <p:nvPr/>
        </p:nvSpPr>
        <p:spPr>
          <a:xfrm>
            <a:off x="23895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48"/>
          <p:cNvSpPr/>
          <p:nvPr/>
        </p:nvSpPr>
        <p:spPr>
          <a:xfrm>
            <a:off x="67680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48"/>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11" name="Google Shape;411;p48"/>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12" name="Google Shape;412;p48"/>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413" name="Google Shape;413;p48"/>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19" name="Google Shape;419;p49"/>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LowTouch店舗では「C_計画*単発型」が全体の45.8%を構成している</a:t>
            </a:r>
            <a:endParaRPr/>
          </a:p>
        </p:txBody>
      </p:sp>
      <p:sp>
        <p:nvSpPr>
          <p:cNvPr id="420" name="Google Shape;420;p49"/>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HighTouchでは「D_計画*一括型」が半数。CSMを通した一括掲載促進が行き届いているか、事業規模的にシフト不足が読みやすいことが理由と想定。LowTouchでは「C_計画*単発型」が約半数を構成しており、テスト的な利用が多いと想定される。</a:t>
            </a:r>
            <a:endParaRPr sz="1200">
              <a:latin typeface="Noto Sans JP"/>
              <a:ea typeface="Noto Sans JP"/>
              <a:cs typeface="Noto Sans JP"/>
              <a:sym typeface="Noto Sans JP"/>
            </a:endParaRPr>
          </a:p>
        </p:txBody>
      </p:sp>
      <p:sp>
        <p:nvSpPr>
          <p:cNvPr id="421" name="Google Shape;421;p49"/>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High/Low</a:t>
            </a:r>
            <a:r>
              <a:rPr lang="ja" sz="1000">
                <a:solidFill>
                  <a:srgbClr val="808080"/>
                </a:solidFill>
                <a:latin typeface="Noto Sans SemiBold"/>
                <a:ea typeface="Noto Sans SemiBold"/>
                <a:cs typeface="Noto Sans SemiBold"/>
                <a:sym typeface="Noto Sans SemiBold"/>
              </a:rPr>
              <a:t>区分別 初回掲載パターンの店舗構成比</a:t>
            </a:r>
            <a:endParaRPr sz="1000">
              <a:solidFill>
                <a:srgbClr val="808080"/>
              </a:solidFill>
              <a:latin typeface="Noto Sans SemiBold"/>
              <a:ea typeface="Noto Sans SemiBold"/>
              <a:cs typeface="Noto Sans SemiBold"/>
              <a:sym typeface="Noto Sans SemiBold"/>
            </a:endParaRPr>
          </a:p>
        </p:txBody>
      </p:sp>
      <p:sp>
        <p:nvSpPr>
          <p:cNvPr id="422" name="Google Shape;422;p49"/>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https://docs.google.com/spreadsheets/d/1VlYTSFJRUFDtw1kHuFzHLWfSJakMuAQH8yrISJJvOXk/edit?pli=1&amp;gid=1982118576#gid=1982118576&amp;range=A61</a:t>
            </a:r>
            <a:endParaRPr sz="600">
              <a:solidFill>
                <a:schemeClr val="accent2"/>
              </a:solidFill>
              <a:latin typeface="Noto Sans JP"/>
              <a:ea typeface="Noto Sans JP"/>
              <a:cs typeface="Noto Sans JP"/>
              <a:sym typeface="Noto Sans JP"/>
            </a:endParaRPr>
          </a:p>
        </p:txBody>
      </p:sp>
      <p:pic>
        <p:nvPicPr>
          <p:cNvPr id="423" name="Google Shape;423;p49" title="グラフ"/>
          <p:cNvPicPr preferRelativeResize="0"/>
          <p:nvPr/>
        </p:nvPicPr>
        <p:blipFill>
          <a:blip r:embed="rId4">
            <a:alphaModFix/>
          </a:blip>
          <a:stretch>
            <a:fillRect/>
          </a:stretch>
        </p:blipFill>
        <p:spPr>
          <a:xfrm>
            <a:off x="859021" y="1698550"/>
            <a:ext cx="7425952" cy="3040876"/>
          </a:xfrm>
          <a:prstGeom prst="rect">
            <a:avLst/>
          </a:prstGeom>
          <a:noFill/>
          <a:ln>
            <a:noFill/>
          </a:ln>
        </p:spPr>
      </p:pic>
      <p:cxnSp>
        <p:nvCxnSpPr>
          <p:cNvPr id="424" name="Google Shape;424;p49"/>
          <p:cNvCxnSpPr>
            <a:endCxn id="425" idx="1"/>
          </p:cNvCxnSpPr>
          <p:nvPr/>
        </p:nvCxnSpPr>
        <p:spPr>
          <a:xfrm flipH="1" rot="10800000">
            <a:off x="5671525" y="2144425"/>
            <a:ext cx="848700" cy="533400"/>
          </a:xfrm>
          <a:prstGeom prst="straightConnector1">
            <a:avLst/>
          </a:prstGeom>
          <a:noFill/>
          <a:ln cap="flat" cmpd="sng" w="19050">
            <a:solidFill>
              <a:srgbClr val="808080"/>
            </a:solidFill>
            <a:prstDash val="solid"/>
            <a:round/>
            <a:headEnd len="med" w="med" type="oval"/>
            <a:tailEnd len="med" w="med" type="none"/>
          </a:ln>
        </p:spPr>
      </p:cxnSp>
      <p:sp>
        <p:nvSpPr>
          <p:cNvPr id="425" name="Google Shape;425;p49"/>
          <p:cNvSpPr txBox="1"/>
          <p:nvPr/>
        </p:nvSpPr>
        <p:spPr>
          <a:xfrm>
            <a:off x="6520225" y="1842775"/>
            <a:ext cx="2361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LowTouchでは C: 計画*単発型 が最多</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「とりあえず1回来週あたりで試してみよう」で掲載する事業所が多い？</a:t>
            </a:r>
            <a:endParaRPr>
              <a:solidFill>
                <a:schemeClr val="lt1"/>
              </a:solidFill>
              <a:latin typeface="Noto Sans JP"/>
              <a:ea typeface="Noto Sans JP"/>
              <a:cs typeface="Noto Sans JP"/>
              <a:sym typeface="Noto Sans JP"/>
            </a:endParaRPr>
          </a:p>
        </p:txBody>
      </p:sp>
      <p:sp>
        <p:nvSpPr>
          <p:cNvPr id="426" name="Google Shape;426;p49"/>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50" title="グラフ"/>
          <p:cNvPicPr preferRelativeResize="0"/>
          <p:nvPr/>
        </p:nvPicPr>
        <p:blipFill>
          <a:blip r:embed="rId3">
            <a:alphaModFix/>
          </a:blip>
          <a:stretch>
            <a:fillRect/>
          </a:stretch>
        </p:blipFill>
        <p:spPr>
          <a:xfrm>
            <a:off x="4650406" y="1710500"/>
            <a:ext cx="4235182" cy="2653125"/>
          </a:xfrm>
          <a:prstGeom prst="rect">
            <a:avLst/>
          </a:prstGeom>
          <a:noFill/>
          <a:ln>
            <a:noFill/>
          </a:ln>
        </p:spPr>
      </p:pic>
      <p:sp>
        <p:nvSpPr>
          <p:cNvPr id="432" name="Google Shape;432;p5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33" name="Google Shape;433;p5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「C_計画*単発型」</a:t>
            </a:r>
            <a:r>
              <a:rPr lang="ja"/>
              <a:t>「D_計画*一括型」は追加掲載率が低い</a:t>
            </a:r>
            <a:endParaRPr/>
          </a:p>
        </p:txBody>
      </p:sp>
      <p:sp>
        <p:nvSpPr>
          <p:cNvPr id="434" name="Google Shape;434;p50"/>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計画型（初回掲載時の仕事開始までのリードタイムが最短2日以上）では、追加掲載率が低い。イベント日や繁忙日など</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「この日に掲載したい」があらかじめ店舗側で決まっている場合、追加掲載する動機が生じにくいと考えられる。</a:t>
            </a:r>
            <a:endParaRPr sz="1200">
              <a:latin typeface="Noto Sans JP"/>
              <a:ea typeface="Noto Sans JP"/>
              <a:cs typeface="Noto Sans JP"/>
              <a:sym typeface="Noto Sans JP"/>
            </a:endParaRPr>
          </a:p>
        </p:txBody>
      </p:sp>
      <p:sp>
        <p:nvSpPr>
          <p:cNvPr id="435" name="Google Shape;435;p50"/>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初回掲載パターンごとの追加掲載率</a:t>
            </a:r>
            <a:endParaRPr sz="1000">
              <a:solidFill>
                <a:srgbClr val="808080"/>
              </a:solidFill>
              <a:latin typeface="Noto Sans SemiBold"/>
              <a:ea typeface="Noto Sans SemiBold"/>
              <a:cs typeface="Noto Sans SemiBold"/>
              <a:sym typeface="Noto Sans SemiBold"/>
            </a:endParaRPr>
          </a:p>
        </p:txBody>
      </p:sp>
      <p:sp>
        <p:nvSpPr>
          <p:cNvPr id="436" name="Google Shape;436;p50"/>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https://docs.google.com/spreadsheets/d/1VlYTSFJRUFDtw1kHuFzHLWfSJakMuAQH8yrISJJvOXk/edit?pli=1&amp;gid=1982118576#gid=1982118576&amp;range=A77</a:t>
            </a:r>
            <a:endParaRPr sz="600">
              <a:solidFill>
                <a:schemeClr val="accent2"/>
              </a:solidFill>
              <a:latin typeface="Noto Sans JP"/>
              <a:ea typeface="Noto Sans JP"/>
              <a:cs typeface="Noto Sans JP"/>
              <a:sym typeface="Noto Sans JP"/>
            </a:endParaRPr>
          </a:p>
        </p:txBody>
      </p:sp>
      <p:sp>
        <p:nvSpPr>
          <p:cNvPr id="437" name="Google Shape;437;p50"/>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
        <p:nvSpPr>
          <p:cNvPr id="438" name="Google Shape;438;p50"/>
          <p:cNvSpPr txBox="1"/>
          <p:nvPr/>
        </p:nvSpPr>
        <p:spPr>
          <a:xfrm>
            <a:off x="7812710" y="2952917"/>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62.4%</a:t>
            </a:r>
            <a:endParaRPr b="1" sz="600">
              <a:solidFill>
                <a:srgbClr val="1F1F1F"/>
              </a:solidFill>
              <a:latin typeface="Noto Sans JP"/>
              <a:ea typeface="Noto Sans JP"/>
              <a:cs typeface="Noto Sans JP"/>
              <a:sym typeface="Noto Sans JP"/>
            </a:endParaRPr>
          </a:p>
        </p:txBody>
      </p:sp>
      <p:pic>
        <p:nvPicPr>
          <p:cNvPr id="439" name="Google Shape;439;p50" title="グラフ"/>
          <p:cNvPicPr preferRelativeResize="0"/>
          <p:nvPr/>
        </p:nvPicPr>
        <p:blipFill>
          <a:blip r:embed="rId5">
            <a:alphaModFix/>
          </a:blip>
          <a:stretch>
            <a:fillRect/>
          </a:stretch>
        </p:blipFill>
        <p:spPr>
          <a:xfrm>
            <a:off x="240751" y="1698550"/>
            <a:ext cx="4270501" cy="2675255"/>
          </a:xfrm>
          <a:prstGeom prst="rect">
            <a:avLst/>
          </a:prstGeom>
          <a:noFill/>
          <a:ln>
            <a:noFill/>
          </a:ln>
        </p:spPr>
      </p:pic>
      <p:cxnSp>
        <p:nvCxnSpPr>
          <p:cNvPr id="440" name="Google Shape;440;p50"/>
          <p:cNvCxnSpPr/>
          <p:nvPr/>
        </p:nvCxnSpPr>
        <p:spPr>
          <a:xfrm rot="10800000">
            <a:off x="678350" y="3084175"/>
            <a:ext cx="3407400" cy="0"/>
          </a:xfrm>
          <a:prstGeom prst="straightConnector1">
            <a:avLst/>
          </a:prstGeom>
          <a:noFill/>
          <a:ln cap="flat" cmpd="sng" w="9525">
            <a:solidFill>
              <a:schemeClr val="dk2"/>
            </a:solidFill>
            <a:prstDash val="dash"/>
            <a:round/>
            <a:headEnd len="med" w="med" type="none"/>
            <a:tailEnd len="med" w="med" type="none"/>
          </a:ln>
        </p:spPr>
      </p:cxnSp>
      <p:sp>
        <p:nvSpPr>
          <p:cNvPr id="441" name="Google Shape;441;p50"/>
          <p:cNvSpPr txBox="1"/>
          <p:nvPr/>
        </p:nvSpPr>
        <p:spPr>
          <a:xfrm>
            <a:off x="3463550" y="3084179"/>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54.8%</a:t>
            </a:r>
            <a:endParaRPr b="1" sz="600">
              <a:solidFill>
                <a:srgbClr val="1F1F1F"/>
              </a:solidFill>
              <a:latin typeface="Noto Sans JP"/>
              <a:ea typeface="Noto Sans JP"/>
              <a:cs typeface="Noto Sans JP"/>
              <a:sym typeface="Noto Sans JP"/>
            </a:endParaRPr>
          </a:p>
        </p:txBody>
      </p:sp>
      <p:sp>
        <p:nvSpPr>
          <p:cNvPr id="442" name="Google Shape;442;p50"/>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追加掲載率</a:t>
            </a:r>
            <a:r>
              <a:rPr lang="ja" sz="600">
                <a:solidFill>
                  <a:schemeClr val="accent2"/>
                </a:solidFill>
                <a:latin typeface="Noto Sans JP"/>
                <a:ea typeface="Noto Sans JP"/>
                <a:cs typeface="Noto Sans JP"/>
                <a:sym typeface="Noto Sans JP"/>
              </a:rPr>
              <a:t>：</a:t>
            </a:r>
            <a:r>
              <a:rPr lang="ja" sz="600">
                <a:solidFill>
                  <a:schemeClr val="accent2"/>
                </a:solidFill>
                <a:latin typeface="Noto Sans JP"/>
                <a:ea typeface="Noto Sans JP"/>
                <a:cs typeface="Noto Sans JP"/>
                <a:sym typeface="Noto Sans JP"/>
              </a:rPr>
              <a:t>初回掲載日以降~利用初月（30日）に、</a:t>
            </a:r>
            <a:r>
              <a:rPr lang="ja" sz="600">
                <a:solidFill>
                  <a:schemeClr val="accent2"/>
                </a:solidFill>
                <a:latin typeface="Noto Sans JP"/>
                <a:ea typeface="Noto Sans JP"/>
                <a:cs typeface="Noto Sans JP"/>
                <a:sym typeface="Noto Sans JP"/>
              </a:rPr>
              <a:t>初回掲載日以降~利用初月（30日）に仕事が開始する募集を</a:t>
            </a:r>
            <a:r>
              <a:rPr lang="ja" sz="600">
                <a:solidFill>
                  <a:schemeClr val="accent2"/>
                </a:solidFill>
                <a:latin typeface="Noto Sans JP"/>
                <a:ea typeface="Noto Sans JP"/>
                <a:cs typeface="Noto Sans JP"/>
                <a:sym typeface="Noto Sans JP"/>
              </a:rPr>
              <a:t>1つでも公開した事業所の割合</a:t>
            </a:r>
            <a:endParaRPr sz="600">
              <a:solidFill>
                <a:schemeClr val="accent2"/>
              </a:solidFill>
              <a:latin typeface="Noto Sans JP"/>
              <a:ea typeface="Noto Sans JP"/>
              <a:cs typeface="Noto Sans JP"/>
              <a:sym typeface="Noto Sans JP"/>
            </a:endParaRPr>
          </a:p>
        </p:txBody>
      </p:sp>
      <p:sp>
        <p:nvSpPr>
          <p:cNvPr id="443" name="Google Shape;443;p50"/>
          <p:cNvSpPr/>
          <p:nvPr/>
        </p:nvSpPr>
        <p:spPr>
          <a:xfrm>
            <a:off x="23895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4" name="Google Shape;444;p50"/>
          <p:cNvSpPr/>
          <p:nvPr/>
        </p:nvSpPr>
        <p:spPr>
          <a:xfrm>
            <a:off x="67680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50"/>
          <p:cNvSpPr/>
          <p:nvPr/>
        </p:nvSpPr>
        <p:spPr>
          <a:xfrm>
            <a:off x="7555428"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50"/>
          <p:cNvSpPr/>
          <p:nvPr/>
        </p:nvSpPr>
        <p:spPr>
          <a:xfrm>
            <a:off x="3170178"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50"/>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48" name="Google Shape;448;p50"/>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449" name="Google Shape;449;p50"/>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450" name="Google Shape;450;p50"/>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cxnSp>
        <p:nvCxnSpPr>
          <p:cNvPr id="451" name="Google Shape;451;p50"/>
          <p:cNvCxnSpPr/>
          <p:nvPr/>
        </p:nvCxnSpPr>
        <p:spPr>
          <a:xfrm rot="10800000">
            <a:off x="5071300" y="2952925"/>
            <a:ext cx="3363600" cy="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51" title="グラフ"/>
          <p:cNvPicPr preferRelativeResize="0"/>
          <p:nvPr/>
        </p:nvPicPr>
        <p:blipFill>
          <a:blip r:embed="rId3">
            <a:alphaModFix/>
          </a:blip>
          <a:stretch>
            <a:fillRect/>
          </a:stretch>
        </p:blipFill>
        <p:spPr>
          <a:xfrm>
            <a:off x="4632750" y="1656475"/>
            <a:ext cx="4270501" cy="2675240"/>
          </a:xfrm>
          <a:prstGeom prst="rect">
            <a:avLst/>
          </a:prstGeom>
          <a:noFill/>
          <a:ln>
            <a:noFill/>
          </a:ln>
        </p:spPr>
      </p:pic>
      <p:sp>
        <p:nvSpPr>
          <p:cNvPr id="457" name="Google Shape;457;p5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58" name="Google Shape;458;p5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利用初月の追加掲載が無いと約8割の事業所が翌月離反する</a:t>
            </a:r>
            <a:endParaRPr/>
          </a:p>
        </p:txBody>
      </p:sp>
      <p:sp>
        <p:nvSpPr>
          <p:cNvPr id="459" name="Google Shape;459;p51"/>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利用初月（初回掲載後~30日）に追加の募集掲載がないと、LowTouchでは約8割の事業所が翌月継続せず離反する。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単発の必要人員を補うニーズが翌月も発生した場合は継続することもあるが、まずは＋1回の募集掲載に繋げることが重要。</a:t>
            </a:r>
            <a:endParaRPr sz="1200">
              <a:latin typeface="Noto Sans JP"/>
              <a:ea typeface="Noto Sans JP"/>
              <a:cs typeface="Noto Sans JP"/>
              <a:sym typeface="Noto Sans JP"/>
            </a:endParaRPr>
          </a:p>
        </p:txBody>
      </p:sp>
      <p:sp>
        <p:nvSpPr>
          <p:cNvPr id="460" name="Google Shape;460;p51"/>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追加掲載有無別翌月継続率</a:t>
            </a:r>
            <a:endParaRPr sz="1000">
              <a:solidFill>
                <a:srgbClr val="808080"/>
              </a:solidFill>
              <a:latin typeface="Noto Sans SemiBold"/>
              <a:ea typeface="Noto Sans SemiBold"/>
              <a:cs typeface="Noto Sans SemiBold"/>
              <a:sym typeface="Noto Sans SemiBold"/>
            </a:endParaRPr>
          </a:p>
        </p:txBody>
      </p:sp>
      <p:sp>
        <p:nvSpPr>
          <p:cNvPr id="461" name="Google Shape;461;p51"/>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https://docs.google.com/spreadsheets/d/1VlYTSFJRUFDtw1kHuFzHLWfSJakMuAQH8yrISJJvOXk/edit?pli=1&amp;gid=1982118576#gid=1982118576&amp;range=B61</a:t>
            </a:r>
            <a:endParaRPr sz="600">
              <a:solidFill>
                <a:schemeClr val="accent2"/>
              </a:solidFill>
              <a:latin typeface="Noto Sans JP"/>
              <a:ea typeface="Noto Sans JP"/>
              <a:cs typeface="Noto Sans JP"/>
              <a:sym typeface="Noto Sans JP"/>
            </a:endParaRPr>
          </a:p>
        </p:txBody>
      </p:sp>
      <p:sp>
        <p:nvSpPr>
          <p:cNvPr id="462" name="Google Shape;462;p51"/>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pic>
        <p:nvPicPr>
          <p:cNvPr id="463" name="Google Shape;463;p51" title="グラフ"/>
          <p:cNvPicPr preferRelativeResize="0"/>
          <p:nvPr/>
        </p:nvPicPr>
        <p:blipFill>
          <a:blip r:embed="rId5">
            <a:alphaModFix/>
          </a:blip>
          <a:stretch>
            <a:fillRect/>
          </a:stretch>
        </p:blipFill>
        <p:spPr>
          <a:xfrm>
            <a:off x="240751" y="1656475"/>
            <a:ext cx="4270501" cy="2675255"/>
          </a:xfrm>
          <a:prstGeom prst="rect">
            <a:avLst/>
          </a:prstGeom>
          <a:noFill/>
          <a:ln>
            <a:noFill/>
          </a:ln>
        </p:spPr>
      </p:pic>
      <p:cxnSp>
        <p:nvCxnSpPr>
          <p:cNvPr id="464" name="Google Shape;464;p51"/>
          <p:cNvCxnSpPr/>
          <p:nvPr/>
        </p:nvCxnSpPr>
        <p:spPr>
          <a:xfrm rot="10800000">
            <a:off x="704450" y="3279100"/>
            <a:ext cx="3671700" cy="0"/>
          </a:xfrm>
          <a:prstGeom prst="straightConnector1">
            <a:avLst/>
          </a:prstGeom>
          <a:noFill/>
          <a:ln cap="flat" cmpd="sng" w="9525">
            <a:solidFill>
              <a:schemeClr val="dk2"/>
            </a:solidFill>
            <a:prstDash val="dash"/>
            <a:round/>
            <a:headEnd len="med" w="med" type="none"/>
            <a:tailEnd len="med" w="med" type="none"/>
          </a:ln>
        </p:spPr>
      </p:cxnSp>
      <p:cxnSp>
        <p:nvCxnSpPr>
          <p:cNvPr id="465" name="Google Shape;465;p51"/>
          <p:cNvCxnSpPr/>
          <p:nvPr/>
        </p:nvCxnSpPr>
        <p:spPr>
          <a:xfrm rot="10800000">
            <a:off x="5085400" y="2994100"/>
            <a:ext cx="3666900" cy="0"/>
          </a:xfrm>
          <a:prstGeom prst="straightConnector1">
            <a:avLst/>
          </a:prstGeom>
          <a:noFill/>
          <a:ln cap="flat" cmpd="sng" w="9525">
            <a:solidFill>
              <a:schemeClr val="dk2"/>
            </a:solidFill>
            <a:prstDash val="dash"/>
            <a:round/>
            <a:headEnd len="med" w="med" type="none"/>
            <a:tailEnd len="med" w="med" type="none"/>
          </a:ln>
        </p:spPr>
      </p:cxnSp>
      <p:sp>
        <p:nvSpPr>
          <p:cNvPr id="466" name="Google Shape;466;p51"/>
          <p:cNvSpPr txBox="1"/>
          <p:nvPr/>
        </p:nvSpPr>
        <p:spPr>
          <a:xfrm>
            <a:off x="5125053" y="2994092"/>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56.0%</a:t>
            </a:r>
            <a:endParaRPr b="1" sz="600">
              <a:solidFill>
                <a:srgbClr val="1F1F1F"/>
              </a:solidFill>
              <a:latin typeface="Noto Sans JP"/>
              <a:ea typeface="Noto Sans JP"/>
              <a:cs typeface="Noto Sans JP"/>
              <a:sym typeface="Noto Sans JP"/>
            </a:endParaRPr>
          </a:p>
        </p:txBody>
      </p:sp>
      <p:sp>
        <p:nvSpPr>
          <p:cNvPr id="467" name="Google Shape;467;p51"/>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参考：初回掲載パターン</a:t>
            </a:r>
            <a:r>
              <a:rPr lang="ja" sz="600">
                <a:solidFill>
                  <a:schemeClr val="accent2"/>
                </a:solidFill>
                <a:latin typeface="Noto Sans JP"/>
                <a:ea typeface="Noto Sans JP"/>
                <a:cs typeface="Noto Sans JP"/>
                <a:sym typeface="Noto Sans JP"/>
              </a:rPr>
              <a:t>別の解釈</a:t>
            </a:r>
            <a:r>
              <a:rPr lang="ja" sz="600">
                <a:solidFill>
                  <a:schemeClr val="accent2"/>
                </a:solidFill>
                <a:latin typeface="Noto Sans JP"/>
                <a:ea typeface="Noto Sans JP"/>
                <a:cs typeface="Noto Sans JP"/>
                <a:sym typeface="Noto Sans JP"/>
              </a:rPr>
              <a:t>（</a:t>
            </a:r>
            <a:r>
              <a:rPr lang="ja" sz="600" u="sng">
                <a:solidFill>
                  <a:schemeClr val="accent2"/>
                </a:solidFill>
                <a:latin typeface="Noto Sans JP"/>
                <a:ea typeface="Noto Sans JP"/>
                <a:cs typeface="Noto Sans JP"/>
                <a:sym typeface="Noto Sans JP"/>
                <a:hlinkClick action="ppaction://hlinksldjump" r:id="rId6">
                  <a:extLst>
                    <a:ext uri="{A12FA001-AC4F-418D-AE19-62706E023703}">
                      <ahyp:hlinkClr val="tx"/>
                    </a:ext>
                  </a:extLst>
                </a:hlinkClick>
              </a:rPr>
              <a:t>p.39</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468" name="Google Shape;468;p51"/>
          <p:cNvSpPr txBox="1"/>
          <p:nvPr/>
        </p:nvSpPr>
        <p:spPr>
          <a:xfrm rot="-5400000">
            <a:off x="36325" y="2994228"/>
            <a:ext cx="579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469" name="Google Shape;469;p51"/>
          <p:cNvSpPr txBox="1"/>
          <p:nvPr/>
        </p:nvSpPr>
        <p:spPr>
          <a:xfrm>
            <a:off x="704443" y="3279100"/>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40.6%</a:t>
            </a:r>
            <a:endParaRPr b="1" sz="600">
              <a:solidFill>
                <a:srgbClr val="1F1F1F"/>
              </a:solidFill>
              <a:latin typeface="Noto Sans JP"/>
              <a:ea typeface="Noto Sans JP"/>
              <a:cs typeface="Noto Sans JP"/>
              <a:sym typeface="Noto Sans JP"/>
            </a:endParaRPr>
          </a:p>
        </p:txBody>
      </p:sp>
      <p:sp>
        <p:nvSpPr>
          <p:cNvPr id="470" name="Google Shape;470;p51"/>
          <p:cNvSpPr txBox="1"/>
          <p:nvPr/>
        </p:nvSpPr>
        <p:spPr>
          <a:xfrm rot="-5400000">
            <a:off x="4481550" y="2994228"/>
            <a:ext cx="579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2"/>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a:t>
            </a:r>
            <a:r>
              <a:rPr b="1" lang="ja" sz="1000">
                <a:solidFill>
                  <a:schemeClr val="accent2"/>
                </a:solidFill>
                <a:latin typeface="Noto Sans JP"/>
                <a:ea typeface="Noto Sans JP"/>
                <a:cs typeface="Noto Sans JP"/>
                <a:sym typeface="Noto Sans JP"/>
              </a:rPr>
              <a:t>に</a:t>
            </a:r>
            <a:r>
              <a:rPr b="1" lang="ja" sz="1000">
                <a:solidFill>
                  <a:schemeClr val="accent2"/>
                </a:solidFill>
                <a:latin typeface="Noto Sans JP"/>
                <a:ea typeface="Noto Sans JP"/>
                <a:cs typeface="Noto Sans JP"/>
                <a:sym typeface="Noto Sans JP"/>
              </a:rPr>
              <a:t>月4</a:t>
            </a:r>
            <a:r>
              <a:rPr b="1" lang="ja" sz="1000">
                <a:solidFill>
                  <a:schemeClr val="accent2"/>
                </a:solidFill>
                <a:latin typeface="Noto Sans JP"/>
                <a:ea typeface="Noto Sans JP"/>
                <a:cs typeface="Noto Sans JP"/>
                <a:sym typeface="Noto Sans JP"/>
              </a:rPr>
              <a:t>日</a:t>
            </a:r>
            <a:r>
              <a:rPr b="1" lang="ja" sz="1000">
                <a:solidFill>
                  <a:schemeClr val="accent2"/>
                </a:solidFill>
                <a:latin typeface="Noto Sans JP"/>
                <a:ea typeface="Noto Sans JP"/>
                <a:cs typeface="Noto Sans JP"/>
                <a:sym typeface="Noto Sans JP"/>
              </a:rPr>
              <a:t>（≒ 週1回程度）の掲載習慣を作れるかが翌月継続の分水嶺であると考えられる。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・利用初月の掲載日数が多い店舗ほど翌月継続率が高く、初月4日以上の掲載があると翌月継続率が50%を超える。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・初回掲載日からの日数が7の倍数（同じ曜日）の日に募集を掲載する店舗が多い。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・初月稼働率が高いほど翌月継続率は高いが、掲載日数が1~3日の段階では稼働率が80%を超えても44.4%にとどまる。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solidFill>
                <a:schemeClr val="accent2"/>
              </a:solidFill>
              <a:latin typeface="Noto Sans JP"/>
              <a:ea typeface="Noto Sans JP"/>
              <a:cs typeface="Noto Sans JP"/>
              <a:sym typeface="Noto Sans JP"/>
            </a:endParaRPr>
          </a:p>
        </p:txBody>
      </p:sp>
      <p:sp>
        <p:nvSpPr>
          <p:cNvPr id="476" name="Google Shape;476;p52"/>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初回募集でワーカーが稼働 ^ Good評価 の条件が揃えば60%の店舗が追加掲載に至る。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・初回募集でワーカーが稼働しなかった店舗は稼働ありと比較して追加掲載率が10ptほど低い。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・初回募集におけるワーカー稼働なしのうち、最も追加掲載率が低いのは「企業キャンセル」の39.0%</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・初回募集で稼働したワーカーにGood評価をつけなかった店舗はGoodありと比較して追加掲載率が20ptほど低い。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・企業キャンセル、Good評価無しのワーカーの特徴に初回掲載店舗ならではの傾向は確認できない。</a:t>
            </a:r>
            <a:endParaRPr sz="1000">
              <a:solidFill>
                <a:schemeClr val="accent2"/>
              </a:solidFill>
              <a:latin typeface="Noto Sans JP"/>
              <a:ea typeface="Noto Sans JP"/>
              <a:cs typeface="Noto Sans JP"/>
              <a:sym typeface="Noto Sans JP"/>
            </a:endParaRPr>
          </a:p>
        </p:txBody>
      </p:sp>
      <p:sp>
        <p:nvSpPr>
          <p:cNvPr id="477" name="Google Shape;477;p5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78" name="Google Shape;478;p5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[中間サマリ] LowTouch店舗の翌月継続率の課題の所在</a:t>
            </a:r>
            <a:endParaRPr/>
          </a:p>
        </p:txBody>
      </p:sp>
      <p:sp>
        <p:nvSpPr>
          <p:cNvPr id="479" name="Google Shape;479;p52"/>
          <p:cNvSpPr/>
          <p:nvPr/>
        </p:nvSpPr>
        <p:spPr>
          <a:xfrm>
            <a:off x="188175" y="651400"/>
            <a:ext cx="1481400" cy="1303800"/>
          </a:xfrm>
          <a:prstGeom prst="rect">
            <a:avLst/>
          </a:prstGeom>
          <a:solidFill>
            <a:srgbClr val="EEEEEE"/>
          </a:solidFill>
          <a:ln cap="flat" cmpd="sng" w="2857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翌月継続率の</a:t>
            </a:r>
            <a:r>
              <a:rPr b="1" lang="ja" sz="1000">
                <a:latin typeface="Noto Sans JP"/>
                <a:ea typeface="Noto Sans JP"/>
                <a:cs typeface="Noto Sans JP"/>
                <a:sym typeface="Noto Sans JP"/>
              </a:rPr>
              <a:t>課題の</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所在は？</a:t>
            </a:r>
            <a:endParaRPr b="1" sz="1000">
              <a:latin typeface="Noto Sans JP"/>
              <a:ea typeface="Noto Sans JP"/>
              <a:cs typeface="Noto Sans JP"/>
              <a:sym typeface="Noto Sans JP"/>
            </a:endParaRPr>
          </a:p>
        </p:txBody>
      </p:sp>
      <p:sp>
        <p:nvSpPr>
          <p:cNvPr id="480" name="Google Shape;480;p52"/>
          <p:cNvSpPr/>
          <p:nvPr/>
        </p:nvSpPr>
        <p:spPr>
          <a:xfrm>
            <a:off x="3973700" y="822150"/>
            <a:ext cx="3447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52"/>
          <p:cNvSpPr/>
          <p:nvPr/>
        </p:nvSpPr>
        <p:spPr>
          <a:xfrm>
            <a:off x="1764425" y="1001475"/>
            <a:ext cx="1821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2" name="Google Shape;482;p52"/>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Phase1:</a:t>
            </a:r>
            <a:br>
              <a:rPr b="1" lang="ja" sz="1000">
                <a:solidFill>
                  <a:schemeClr val="accent2"/>
                </a:solidFill>
                <a:latin typeface="Noto Sans JP"/>
                <a:ea typeface="Noto Sans JP"/>
                <a:cs typeface="Noto Sans JP"/>
                <a:sym typeface="Noto Sans JP"/>
              </a:rPr>
            </a:br>
            <a:r>
              <a:rPr b="1" lang="ja" sz="1000">
                <a:solidFill>
                  <a:schemeClr val="accent2"/>
                </a:solidFill>
                <a:latin typeface="Noto Sans JP"/>
                <a:ea typeface="Noto Sans JP"/>
                <a:cs typeface="Noto Sans JP"/>
                <a:sym typeface="Noto Sans JP"/>
              </a:rPr>
              <a:t>初回利用体験</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追加掲載にどう影響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sp>
        <p:nvSpPr>
          <p:cNvPr id="483" name="Google Shape;483;p52"/>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Phase2:</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利用初月の掲載習慣</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cxnSp>
        <p:nvCxnSpPr>
          <p:cNvPr id="484" name="Google Shape;484;p52"/>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485" name="Google Shape;485;p52"/>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52"/>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LowTouchではHighTouchと比較してタイミーをお試し・テスト的に恐る恐る使う層が多いと想定される。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・HighTouch店舗の翌月継続率は56.0%、LowTouch店舗の翌月継続率は40.7%と15ptの差が存在する。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・LowTouch店舗の45.8%が初回「C_計画*単発型」の掲載であり、この群の翌月継続率は36.8%と最低水準。</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・LowTouch店舗の初回「C_計画*単発型」うち約半数の50.1%が利用初月に2回目の掲載に至っていない。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・LowTouch店舗の初回「C_計画*単発型」うち追加掲載がある店舗は翌月継続率が55.7%とHighTouchの全体同等の水準。</a:t>
            </a:r>
            <a:endParaRPr sz="1000">
              <a:latin typeface="Noto Sans JP"/>
              <a:ea typeface="Noto Sans JP"/>
              <a:cs typeface="Noto Sans JP"/>
              <a:sym typeface="Noto Sans JP"/>
            </a:endParaRPr>
          </a:p>
        </p:txBody>
      </p:sp>
      <p:sp>
        <p:nvSpPr>
          <p:cNvPr id="487" name="Google Shape;487;p52"/>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8" name="Google Shape;488;p52"/>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94" name="Google Shape;494;p5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495" name="Google Shape;495;p53"/>
          <p:cNvSpPr/>
          <p:nvPr/>
        </p:nvSpPr>
        <p:spPr>
          <a:xfrm>
            <a:off x="-80550" y="22998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53"/>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497" name="Google Shape;497;p53"/>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498" name="Google Shape;498;p53"/>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499" name="Google Shape;499;p53"/>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500" name="Google Shape;500;p53"/>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501" name="Google Shape;501;p53"/>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502" name="Google Shape;502;p53"/>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503" name="Google Shape;503;p53"/>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504" name="Google Shape;504;p53"/>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505" name="Google Shape;505;p53"/>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4"/>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11" name="Google Shape;511;p54"/>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Phase1: 初回利用体験の分析 の探索範囲</a:t>
            </a:r>
            <a:endParaRPr/>
          </a:p>
        </p:txBody>
      </p:sp>
      <p:sp>
        <p:nvSpPr>
          <p:cNvPr id="512" name="Google Shape;512;p54"/>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まずは初回利用体験に着目し、初回掲載パターンごとに初回稼働（店舗単位で募集の仕事が最初の募集）のパフォーマンスにより追加掲載率にどのような違いが生じているのかを明らかにする。</a:t>
            </a:r>
            <a:endParaRPr sz="1200">
              <a:latin typeface="Noto Sans JP"/>
              <a:ea typeface="Noto Sans JP"/>
              <a:cs typeface="Noto Sans JP"/>
              <a:sym typeface="Noto Sans JP"/>
            </a:endParaRPr>
          </a:p>
        </p:txBody>
      </p:sp>
      <p:sp>
        <p:nvSpPr>
          <p:cNvPr id="513" name="Google Shape;513;p54"/>
          <p:cNvSpPr/>
          <p:nvPr/>
        </p:nvSpPr>
        <p:spPr>
          <a:xfrm>
            <a:off x="4645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4" name="Google Shape;514;p54"/>
          <p:cNvSpPr/>
          <p:nvPr/>
        </p:nvSpPr>
        <p:spPr>
          <a:xfrm>
            <a:off x="253500" y="1781975"/>
            <a:ext cx="4245000" cy="2957400"/>
          </a:xfrm>
          <a:prstGeom prst="roundRect">
            <a:avLst>
              <a:gd fmla="val 0" name="adj"/>
            </a:avLst>
          </a:prstGeom>
          <a:solidFill>
            <a:schemeClr val="accent6"/>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5" name="Google Shape;515;p54"/>
          <p:cNvSpPr/>
          <p:nvPr/>
        </p:nvSpPr>
        <p:spPr>
          <a:xfrm>
            <a:off x="1990138" y="2038725"/>
            <a:ext cx="1565400" cy="24105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6" name="Google Shape;516;p54"/>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翌月継続率の探索分析: 分析のスコープ</a:t>
            </a:r>
            <a:endParaRPr sz="1000">
              <a:solidFill>
                <a:srgbClr val="808080"/>
              </a:solidFill>
              <a:latin typeface="Noto Sans SemiBold"/>
              <a:ea typeface="Noto Sans SemiBold"/>
              <a:cs typeface="Noto Sans SemiBold"/>
              <a:sym typeface="Noto Sans SemiBold"/>
            </a:endParaRPr>
          </a:p>
        </p:txBody>
      </p:sp>
      <p:sp>
        <p:nvSpPr>
          <p:cNvPr id="517" name="Google Shape;517;p54"/>
          <p:cNvSpPr/>
          <p:nvPr/>
        </p:nvSpPr>
        <p:spPr>
          <a:xfrm>
            <a:off x="448375" y="3042557"/>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8" name="Google Shape;518;p54"/>
          <p:cNvSpPr/>
          <p:nvPr/>
        </p:nvSpPr>
        <p:spPr>
          <a:xfrm>
            <a:off x="2247550" y="2428883"/>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マッチング</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19" name="Google Shape;519;p54"/>
          <p:cNvSpPr/>
          <p:nvPr/>
        </p:nvSpPr>
        <p:spPr>
          <a:xfrm>
            <a:off x="2247538" y="3042554"/>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ワーカー稼働</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0" name="Google Shape;520;p54"/>
          <p:cNvSpPr/>
          <p:nvPr/>
        </p:nvSpPr>
        <p:spPr>
          <a:xfrm>
            <a:off x="2247550" y="3656235"/>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ワーカー評価</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1" name="Google Shape;521;p54"/>
          <p:cNvSpPr/>
          <p:nvPr/>
        </p:nvSpPr>
        <p:spPr>
          <a:xfrm>
            <a:off x="4046700" y="3042557"/>
            <a:ext cx="1050600" cy="555300"/>
          </a:xfrm>
          <a:prstGeom prst="roundRect">
            <a:avLst>
              <a:gd fmla="val 10118" name="adj"/>
            </a:avLst>
          </a:prstGeom>
          <a:solidFill>
            <a:srgbClr val="FFE080"/>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追加掲載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2" name="Google Shape;522;p54"/>
          <p:cNvSpPr/>
          <p:nvPr/>
        </p:nvSpPr>
        <p:spPr>
          <a:xfrm>
            <a:off x="5845863" y="2038716"/>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継続掲載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3" name="Google Shape;523;p54"/>
          <p:cNvSpPr/>
          <p:nvPr/>
        </p:nvSpPr>
        <p:spPr>
          <a:xfrm>
            <a:off x="7645025" y="3042557"/>
            <a:ext cx="1050600" cy="555300"/>
          </a:xfrm>
          <a:prstGeom prst="roundRect">
            <a:avLst>
              <a:gd fmla="val 10118" name="adj"/>
            </a:avLst>
          </a:prstGeom>
          <a:solidFill>
            <a:schemeClr val="dk2"/>
          </a:solidFill>
          <a:ln cap="flat" cmpd="sng" w="38100">
            <a:solidFill>
              <a:srgbClr val="FFE08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4" name="Google Shape;524;p54"/>
          <p:cNvSpPr/>
          <p:nvPr/>
        </p:nvSpPr>
        <p:spPr>
          <a:xfrm>
            <a:off x="5588450" y="2787529"/>
            <a:ext cx="1565400" cy="17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初月パフォーマンス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525" name="Google Shape;525;p54"/>
          <p:cNvSpPr/>
          <p:nvPr/>
        </p:nvSpPr>
        <p:spPr>
          <a:xfrm>
            <a:off x="5845850" y="3175362"/>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安定稼働</a:t>
            </a:r>
            <a:endParaRPr b="1" sz="800">
              <a:latin typeface="Noto Sans JP"/>
              <a:ea typeface="Noto Sans JP"/>
              <a:cs typeface="Noto Sans JP"/>
              <a:sym typeface="Noto Sans JP"/>
            </a:endParaRPr>
          </a:p>
        </p:txBody>
      </p:sp>
      <p:sp>
        <p:nvSpPr>
          <p:cNvPr id="526" name="Google Shape;526;p54"/>
          <p:cNvSpPr/>
          <p:nvPr/>
        </p:nvSpPr>
        <p:spPr>
          <a:xfrm>
            <a:off x="5845850" y="3797571"/>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リピーター</a:t>
            </a:r>
            <a:endParaRPr b="1" sz="800">
              <a:latin typeface="Noto Sans JP"/>
              <a:ea typeface="Noto Sans JP"/>
              <a:cs typeface="Noto Sans JP"/>
              <a:sym typeface="Noto Sans JP"/>
            </a:endParaRPr>
          </a:p>
        </p:txBody>
      </p:sp>
      <p:sp>
        <p:nvSpPr>
          <p:cNvPr id="527" name="Google Shape;527;p54"/>
          <p:cNvSpPr/>
          <p:nvPr/>
        </p:nvSpPr>
        <p:spPr>
          <a:xfrm>
            <a:off x="161331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4"/>
          <p:cNvSpPr/>
          <p:nvPr/>
        </p:nvSpPr>
        <p:spPr>
          <a:xfrm>
            <a:off x="366986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54"/>
          <p:cNvSpPr/>
          <p:nvPr/>
        </p:nvSpPr>
        <p:spPr>
          <a:xfrm rot="-1693986">
            <a:off x="5213768" y="2438374"/>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54"/>
          <p:cNvSpPr/>
          <p:nvPr/>
        </p:nvSpPr>
        <p:spPr>
          <a:xfrm flipH="1" rot="-9106014">
            <a:off x="5213768" y="3381521"/>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54"/>
          <p:cNvSpPr/>
          <p:nvPr/>
        </p:nvSpPr>
        <p:spPr>
          <a:xfrm flipH="1" rot="-9106014">
            <a:off x="7270468" y="2438409"/>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54"/>
          <p:cNvSpPr/>
          <p:nvPr/>
        </p:nvSpPr>
        <p:spPr>
          <a:xfrm>
            <a:off x="368700" y="1615975"/>
            <a:ext cx="4014600" cy="338700"/>
          </a:xfrm>
          <a:prstGeom prst="rightArrow">
            <a:avLst>
              <a:gd fmla="val 50000" name="adj1"/>
              <a:gd fmla="val 23219"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Phase1: 初回利用体験</a:t>
            </a:r>
            <a:endParaRPr b="1" sz="800">
              <a:solidFill>
                <a:schemeClr val="dk1"/>
              </a:solidFill>
              <a:latin typeface="Noto Sans JP"/>
              <a:ea typeface="Noto Sans JP"/>
              <a:cs typeface="Noto Sans JP"/>
              <a:sym typeface="Noto Sans JP"/>
            </a:endParaRPr>
          </a:p>
        </p:txBody>
      </p:sp>
      <p:sp>
        <p:nvSpPr>
          <p:cNvPr id="533" name="Google Shape;533;p54"/>
          <p:cNvSpPr/>
          <p:nvPr/>
        </p:nvSpPr>
        <p:spPr>
          <a:xfrm>
            <a:off x="4760688"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Phase2: 利用初月の習慣掲載</a:t>
            </a:r>
            <a:endParaRPr b="1" sz="800">
              <a:solidFill>
                <a:schemeClr val="dk1"/>
              </a:solidFill>
              <a:latin typeface="Noto Sans JP"/>
              <a:ea typeface="Noto Sans JP"/>
              <a:cs typeface="Noto Sans JP"/>
              <a:sym typeface="Noto Sans JP"/>
            </a:endParaRPr>
          </a:p>
        </p:txBody>
      </p:sp>
      <p:pic>
        <p:nvPicPr>
          <p:cNvPr id="534" name="Google Shape;534;p54" title="カレンダーのフリーアイコン2.png"/>
          <p:cNvPicPr preferRelativeResize="0"/>
          <p:nvPr/>
        </p:nvPicPr>
        <p:blipFill>
          <a:blip r:embed="rId3">
            <a:alphaModFix/>
          </a:blip>
          <a:stretch>
            <a:fillRect/>
          </a:stretch>
        </p:blipFill>
        <p:spPr>
          <a:xfrm>
            <a:off x="880150" y="3341075"/>
            <a:ext cx="187025" cy="187025"/>
          </a:xfrm>
          <a:prstGeom prst="rect">
            <a:avLst/>
          </a:prstGeom>
          <a:noFill/>
          <a:ln>
            <a:noFill/>
          </a:ln>
        </p:spPr>
      </p:pic>
      <p:pic>
        <p:nvPicPr>
          <p:cNvPr id="535" name="Google Shape;535;p54" title="握手のアイコン.png"/>
          <p:cNvPicPr preferRelativeResize="0"/>
          <p:nvPr/>
        </p:nvPicPr>
        <p:blipFill>
          <a:blip r:embed="rId4">
            <a:alphaModFix/>
          </a:blip>
          <a:stretch>
            <a:fillRect/>
          </a:stretch>
        </p:blipFill>
        <p:spPr>
          <a:xfrm>
            <a:off x="2679338" y="2711938"/>
            <a:ext cx="187025" cy="187025"/>
          </a:xfrm>
          <a:prstGeom prst="rect">
            <a:avLst/>
          </a:prstGeom>
          <a:noFill/>
          <a:ln>
            <a:noFill/>
          </a:ln>
        </p:spPr>
      </p:pic>
      <p:pic>
        <p:nvPicPr>
          <p:cNvPr id="536" name="Google Shape;536;p54" title="デスクワークの無料アイコン2.png"/>
          <p:cNvPicPr preferRelativeResize="0"/>
          <p:nvPr/>
        </p:nvPicPr>
        <p:blipFill>
          <a:blip r:embed="rId5">
            <a:alphaModFix/>
          </a:blip>
          <a:stretch>
            <a:fillRect/>
          </a:stretch>
        </p:blipFill>
        <p:spPr>
          <a:xfrm>
            <a:off x="2679338" y="3341075"/>
            <a:ext cx="187025" cy="187025"/>
          </a:xfrm>
          <a:prstGeom prst="rect">
            <a:avLst/>
          </a:prstGeom>
          <a:noFill/>
          <a:ln>
            <a:noFill/>
          </a:ln>
        </p:spPr>
      </p:pic>
      <p:pic>
        <p:nvPicPr>
          <p:cNvPr id="537" name="Google Shape;537;p54" title="イイネの手のフリーアイコン.png"/>
          <p:cNvPicPr preferRelativeResize="0"/>
          <p:nvPr/>
        </p:nvPicPr>
        <p:blipFill>
          <a:blip r:embed="rId6">
            <a:alphaModFix/>
          </a:blip>
          <a:stretch>
            <a:fillRect/>
          </a:stretch>
        </p:blipFill>
        <p:spPr>
          <a:xfrm>
            <a:off x="2679350" y="3970200"/>
            <a:ext cx="187025" cy="187025"/>
          </a:xfrm>
          <a:prstGeom prst="rect">
            <a:avLst/>
          </a:prstGeom>
          <a:noFill/>
          <a:ln>
            <a:noFill/>
          </a:ln>
        </p:spPr>
      </p:pic>
      <p:pic>
        <p:nvPicPr>
          <p:cNvPr id="538" name="Google Shape;538;p54" title="カレンダーアイコン8.png"/>
          <p:cNvPicPr preferRelativeResize="0"/>
          <p:nvPr/>
        </p:nvPicPr>
        <p:blipFill>
          <a:blip r:embed="rId7">
            <a:alphaModFix/>
          </a:blip>
          <a:stretch>
            <a:fillRect/>
          </a:stretch>
        </p:blipFill>
        <p:spPr>
          <a:xfrm>
            <a:off x="4482263" y="3341063"/>
            <a:ext cx="187025" cy="187025"/>
          </a:xfrm>
          <a:prstGeom prst="rect">
            <a:avLst/>
          </a:prstGeom>
          <a:noFill/>
          <a:ln>
            <a:noFill/>
          </a:ln>
        </p:spPr>
      </p:pic>
      <p:pic>
        <p:nvPicPr>
          <p:cNvPr id="539" name="Google Shape;539;p54" title="リピートボタンアイコン3.png"/>
          <p:cNvPicPr preferRelativeResize="0"/>
          <p:nvPr/>
        </p:nvPicPr>
        <p:blipFill>
          <a:blip r:embed="rId8">
            <a:alphaModFix/>
          </a:blip>
          <a:stretch>
            <a:fillRect/>
          </a:stretch>
        </p:blipFill>
        <p:spPr>
          <a:xfrm>
            <a:off x="6277650" y="2313050"/>
            <a:ext cx="187025" cy="187025"/>
          </a:xfrm>
          <a:prstGeom prst="rect">
            <a:avLst/>
          </a:prstGeom>
          <a:solidFill>
            <a:schemeClr val="accent6"/>
          </a:solidFill>
          <a:ln>
            <a:noFill/>
          </a:ln>
        </p:spPr>
      </p:pic>
      <p:pic>
        <p:nvPicPr>
          <p:cNvPr id="540" name="Google Shape;540;p54" title="緩やかな右肩上がりのグラフアイコン.png"/>
          <p:cNvPicPr preferRelativeResize="0"/>
          <p:nvPr/>
        </p:nvPicPr>
        <p:blipFill>
          <a:blip r:embed="rId9">
            <a:alphaModFix/>
          </a:blip>
          <a:stretch>
            <a:fillRect/>
          </a:stretch>
        </p:blipFill>
        <p:spPr>
          <a:xfrm>
            <a:off x="8084400" y="3341075"/>
            <a:ext cx="187025" cy="187025"/>
          </a:xfrm>
          <a:prstGeom prst="rect">
            <a:avLst/>
          </a:prstGeom>
          <a:noFill/>
          <a:ln>
            <a:noFill/>
          </a:ln>
        </p:spPr>
      </p:pic>
      <p:cxnSp>
        <p:nvCxnSpPr>
          <p:cNvPr id="541" name="Google Shape;541;p54"/>
          <p:cNvCxnSpPr>
            <a:stCxn id="519" idx="3"/>
            <a:endCxn id="521" idx="2"/>
          </p:cNvCxnSpPr>
          <p:nvPr/>
        </p:nvCxnSpPr>
        <p:spPr>
          <a:xfrm>
            <a:off x="3298138" y="3320204"/>
            <a:ext cx="1273800" cy="277800"/>
          </a:xfrm>
          <a:prstGeom prst="bentConnector4">
            <a:avLst>
              <a:gd fmla="val 29383" name="adj1"/>
              <a:gd fmla="val 185665" name="adj2"/>
            </a:avLst>
          </a:prstGeom>
          <a:noFill/>
          <a:ln cap="flat" cmpd="sng" w="19050">
            <a:solidFill>
              <a:schemeClr val="dk2"/>
            </a:solidFill>
            <a:prstDash val="dot"/>
            <a:round/>
            <a:headEnd len="med" w="med" type="none"/>
            <a:tailEnd len="med" w="med" type="triangle"/>
          </a:ln>
        </p:spPr>
      </p:cxnSp>
      <p:cxnSp>
        <p:nvCxnSpPr>
          <p:cNvPr id="542" name="Google Shape;542;p54"/>
          <p:cNvCxnSpPr>
            <a:stCxn id="525" idx="3"/>
            <a:endCxn id="523" idx="2"/>
          </p:cNvCxnSpPr>
          <p:nvPr/>
        </p:nvCxnSpPr>
        <p:spPr>
          <a:xfrm>
            <a:off x="6896450" y="3453012"/>
            <a:ext cx="1273800" cy="144900"/>
          </a:xfrm>
          <a:prstGeom prst="bentConnector4">
            <a:avLst>
              <a:gd fmla="val 29384" name="adj1"/>
              <a:gd fmla="val 264300" name="adj2"/>
            </a:avLst>
          </a:prstGeom>
          <a:noFill/>
          <a:ln cap="flat" cmpd="sng" w="19050">
            <a:solidFill>
              <a:schemeClr val="dk2"/>
            </a:solidFill>
            <a:prstDash val="dot"/>
            <a:round/>
            <a:headEnd len="med" w="med" type="none"/>
            <a:tailEnd len="med" w="med" type="triangle"/>
          </a:ln>
        </p:spPr>
      </p:cxnSp>
      <p:sp>
        <p:nvSpPr>
          <p:cNvPr id="543" name="Google Shape;543;p54"/>
          <p:cNvSpPr txBox="1"/>
          <p:nvPr/>
        </p:nvSpPr>
        <p:spPr>
          <a:xfrm>
            <a:off x="3340733" y="4163721"/>
            <a:ext cx="1452300" cy="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初回利用体験が追加掲載に</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どう影響するか？</a:t>
            </a:r>
            <a:endParaRPr b="1" sz="800">
              <a:latin typeface="Noto Sans JP"/>
              <a:ea typeface="Noto Sans JP"/>
              <a:cs typeface="Noto Sans JP"/>
              <a:sym typeface="Noto Sans JP"/>
            </a:endParaRPr>
          </a:p>
        </p:txBody>
      </p:sp>
      <p:pic>
        <p:nvPicPr>
          <p:cNvPr id="544" name="Google Shape;544;p54" title="虫眼鏡の無料アイコン10.png"/>
          <p:cNvPicPr preferRelativeResize="0"/>
          <p:nvPr/>
        </p:nvPicPr>
        <p:blipFill>
          <a:blip r:embed="rId10">
            <a:alphaModFix/>
          </a:blip>
          <a:stretch>
            <a:fillRect/>
          </a:stretch>
        </p:blipFill>
        <p:spPr>
          <a:xfrm>
            <a:off x="3973370" y="3934359"/>
            <a:ext cx="187025" cy="187025"/>
          </a:xfrm>
          <a:prstGeom prst="rect">
            <a:avLst/>
          </a:prstGeom>
          <a:noFill/>
          <a:ln>
            <a:noFill/>
          </a:ln>
        </p:spPr>
      </p:pic>
      <p:sp>
        <p:nvSpPr>
          <p:cNvPr id="545" name="Google Shape;545;p54"/>
          <p:cNvSpPr txBox="1"/>
          <p:nvPr/>
        </p:nvSpPr>
        <p:spPr>
          <a:xfrm>
            <a:off x="6941383" y="4089921"/>
            <a:ext cx="1452300" cy="603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利用初月の習慣掲載と稼働パフォーマンスが翌月継続にどう影響するか？</a:t>
            </a:r>
            <a:endParaRPr b="1" sz="800">
              <a:latin typeface="Noto Sans JP"/>
              <a:ea typeface="Noto Sans JP"/>
              <a:cs typeface="Noto Sans JP"/>
              <a:sym typeface="Noto Sans JP"/>
            </a:endParaRPr>
          </a:p>
        </p:txBody>
      </p:sp>
      <p:pic>
        <p:nvPicPr>
          <p:cNvPr id="546" name="Google Shape;546;p54" title="虫眼鏡の無料アイコン10.png"/>
          <p:cNvPicPr preferRelativeResize="0"/>
          <p:nvPr/>
        </p:nvPicPr>
        <p:blipFill>
          <a:blip r:embed="rId10">
            <a:alphaModFix/>
          </a:blip>
          <a:stretch>
            <a:fillRect/>
          </a:stretch>
        </p:blipFill>
        <p:spPr>
          <a:xfrm>
            <a:off x="7574008" y="3934359"/>
            <a:ext cx="187025" cy="187025"/>
          </a:xfrm>
          <a:prstGeom prst="rect">
            <a:avLst/>
          </a:prstGeom>
          <a:noFill/>
          <a:ln>
            <a:noFill/>
          </a:ln>
        </p:spPr>
      </p:pic>
      <p:sp>
        <p:nvSpPr>
          <p:cNvPr id="547" name="Google Shape;547;p54"/>
          <p:cNvSpPr/>
          <p:nvPr/>
        </p:nvSpPr>
        <p:spPr>
          <a:xfrm rot="-1693986">
            <a:off x="7270468" y="3381486"/>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53" name="Google Shape;553;p5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単発掲載の店舗では初回募集でワーカーが稼働しなかった場合に追加掲載率が低下する</a:t>
            </a:r>
            <a:endParaRPr/>
          </a:p>
        </p:txBody>
      </p:sp>
      <p:sp>
        <p:nvSpPr>
          <p:cNvPr id="554" name="Google Shape;554;p55"/>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初回募集でワーカーが稼働しなかった店舗では追加掲載率が低く、初回掲載パターンによって感度に差がある。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特に「A_緊急*単発型」の店舗では、初回1回の稼働有無がその後の継続判断に大きく影響すると考えられる。</a:t>
            </a:r>
            <a:endParaRPr sz="1200">
              <a:latin typeface="Noto Sans JP"/>
              <a:ea typeface="Noto Sans JP"/>
              <a:cs typeface="Noto Sans JP"/>
              <a:sym typeface="Noto Sans JP"/>
            </a:endParaRPr>
          </a:p>
        </p:txBody>
      </p:sp>
      <p:sp>
        <p:nvSpPr>
          <p:cNvPr id="555" name="Google Shape;555;p55"/>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rgbClr val="808080"/>
                </a:solidFill>
                <a:latin typeface="Noto Sans SemiBold"/>
                <a:ea typeface="Noto Sans SemiBold"/>
                <a:cs typeface="Noto Sans SemiBold"/>
                <a:sym typeface="Noto Sans SemiBold"/>
              </a:rPr>
              <a:t>LowTouch店舗の初回稼働有無別追加掲載率</a:t>
            </a:r>
            <a:endParaRPr sz="1000">
              <a:solidFill>
                <a:srgbClr val="808080"/>
              </a:solidFill>
              <a:latin typeface="Noto Sans SemiBold"/>
              <a:ea typeface="Noto Sans SemiBold"/>
              <a:cs typeface="Noto Sans SemiBold"/>
              <a:sym typeface="Noto Sans SemiBold"/>
            </a:endParaRPr>
          </a:p>
        </p:txBody>
      </p:sp>
      <p:sp>
        <p:nvSpPr>
          <p:cNvPr id="556" name="Google Shape;556;p55"/>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https://docs.google.com/spreadsheets/d/1VlYTSFJRUFDtw1kHuFzHLWfSJakMuAQH8yrISJJvOXk/edit?pli=1&amp;gid=1982118576#gid=1982118576&amp;range=A94</a:t>
            </a:r>
            <a:endParaRPr sz="600">
              <a:solidFill>
                <a:schemeClr val="accent2"/>
              </a:solidFill>
              <a:latin typeface="Noto Sans JP"/>
              <a:ea typeface="Noto Sans JP"/>
              <a:cs typeface="Noto Sans JP"/>
              <a:sym typeface="Noto Sans JP"/>
            </a:endParaRPr>
          </a:p>
        </p:txBody>
      </p:sp>
      <p:pic>
        <p:nvPicPr>
          <p:cNvPr id="557" name="Google Shape;557;p55" title="グラフ"/>
          <p:cNvPicPr preferRelativeResize="0"/>
          <p:nvPr/>
        </p:nvPicPr>
        <p:blipFill>
          <a:blip r:embed="rId4">
            <a:alphaModFix/>
          </a:blip>
          <a:stretch>
            <a:fillRect/>
          </a:stretch>
        </p:blipFill>
        <p:spPr>
          <a:xfrm>
            <a:off x="248878" y="1698550"/>
            <a:ext cx="4254248" cy="2665075"/>
          </a:xfrm>
          <a:prstGeom prst="rect">
            <a:avLst/>
          </a:prstGeom>
          <a:noFill/>
          <a:ln>
            <a:noFill/>
          </a:ln>
        </p:spPr>
      </p:pic>
      <p:pic>
        <p:nvPicPr>
          <p:cNvPr id="558" name="Google Shape;558;p55" title="グラフ"/>
          <p:cNvPicPr preferRelativeResize="0"/>
          <p:nvPr/>
        </p:nvPicPr>
        <p:blipFill>
          <a:blip r:embed="rId5">
            <a:alphaModFix/>
          </a:blip>
          <a:stretch>
            <a:fillRect/>
          </a:stretch>
        </p:blipFill>
        <p:spPr>
          <a:xfrm>
            <a:off x="4640861" y="1711000"/>
            <a:ext cx="4254275" cy="2665075"/>
          </a:xfrm>
          <a:prstGeom prst="rect">
            <a:avLst/>
          </a:prstGeom>
          <a:noFill/>
          <a:ln>
            <a:noFill/>
          </a:ln>
        </p:spPr>
      </p:pic>
      <p:sp>
        <p:nvSpPr>
          <p:cNvPr id="559" name="Google Shape;559;p55"/>
          <p:cNvSpPr txBox="1"/>
          <p:nvPr/>
        </p:nvSpPr>
        <p:spPr>
          <a:xfrm>
            <a:off x="187525" y="4462525"/>
            <a:ext cx="43845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初回稼働有無</a:t>
            </a:r>
            <a:r>
              <a:rPr lang="ja" sz="600">
                <a:solidFill>
                  <a:schemeClr val="accent2"/>
                </a:solidFill>
                <a:latin typeface="Noto Sans JP"/>
                <a:ea typeface="Noto Sans JP"/>
                <a:cs typeface="Noto Sans JP"/>
                <a:sym typeface="Noto Sans JP"/>
              </a:rPr>
              <a:t>：</a:t>
            </a:r>
            <a:r>
              <a:rPr lang="ja" sz="600">
                <a:solidFill>
                  <a:schemeClr val="accent2"/>
                </a:solidFill>
                <a:latin typeface="Noto Sans JP"/>
                <a:ea typeface="Noto Sans JP"/>
                <a:cs typeface="Noto Sans JP"/>
                <a:sym typeface="Noto Sans JP"/>
              </a:rPr>
              <a:t>店舗の初回募集の仕事開始日の募集で1ワーカーでも稼働があった場合「稼働あり」と判定</a:t>
            </a:r>
            <a:endParaRPr sz="600">
              <a:solidFill>
                <a:schemeClr val="accent2"/>
              </a:solidFill>
              <a:latin typeface="Noto Sans JP"/>
              <a:ea typeface="Noto Sans JP"/>
              <a:cs typeface="Noto Sans JP"/>
              <a:sym typeface="Noto Sans JP"/>
            </a:endParaRPr>
          </a:p>
        </p:txBody>
      </p:sp>
      <p:sp>
        <p:nvSpPr>
          <p:cNvPr id="560" name="Google Shape;560;p55"/>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
        <p:nvSpPr>
          <p:cNvPr id="561" name="Google Shape;561;p55"/>
          <p:cNvSpPr/>
          <p:nvPr/>
        </p:nvSpPr>
        <p:spPr>
          <a:xfrm>
            <a:off x="5291917" y="4275875"/>
            <a:ext cx="622200" cy="175500"/>
          </a:xfrm>
          <a:prstGeom prst="rect">
            <a:avLst/>
          </a:prstGeom>
          <a:solidFill>
            <a:srgbClr val="FFE080">
              <a:alpha val="6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16.9pt</a:t>
            </a:r>
            <a:endParaRPr b="1" sz="600">
              <a:latin typeface="Noto Sans JP"/>
              <a:ea typeface="Noto Sans JP"/>
              <a:cs typeface="Noto Sans JP"/>
              <a:sym typeface="Noto Sans JP"/>
            </a:endParaRPr>
          </a:p>
        </p:txBody>
      </p:sp>
      <p:sp>
        <p:nvSpPr>
          <p:cNvPr id="562" name="Google Shape;562;p55"/>
          <p:cNvSpPr/>
          <p:nvPr/>
        </p:nvSpPr>
        <p:spPr>
          <a:xfrm>
            <a:off x="6069631"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11.9pt</a:t>
            </a:r>
            <a:endParaRPr b="1" sz="600">
              <a:latin typeface="Noto Sans JP"/>
              <a:ea typeface="Noto Sans JP"/>
              <a:cs typeface="Noto Sans JP"/>
              <a:sym typeface="Noto Sans JP"/>
            </a:endParaRPr>
          </a:p>
        </p:txBody>
      </p:sp>
      <p:sp>
        <p:nvSpPr>
          <p:cNvPr id="563" name="Google Shape;563;p55"/>
          <p:cNvSpPr/>
          <p:nvPr/>
        </p:nvSpPr>
        <p:spPr>
          <a:xfrm>
            <a:off x="6847346"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11.2pt</a:t>
            </a:r>
            <a:endParaRPr b="1" sz="600">
              <a:latin typeface="Noto Sans JP"/>
              <a:ea typeface="Noto Sans JP"/>
              <a:cs typeface="Noto Sans JP"/>
              <a:sym typeface="Noto Sans JP"/>
            </a:endParaRPr>
          </a:p>
        </p:txBody>
      </p:sp>
      <p:sp>
        <p:nvSpPr>
          <p:cNvPr id="564" name="Google Shape;564;p55"/>
          <p:cNvSpPr/>
          <p:nvPr/>
        </p:nvSpPr>
        <p:spPr>
          <a:xfrm>
            <a:off x="7625060"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11.5pt</a:t>
            </a:r>
            <a:endParaRPr b="1" sz="600">
              <a:latin typeface="Noto Sans JP"/>
              <a:ea typeface="Noto Sans JP"/>
              <a:cs typeface="Noto Sans JP"/>
              <a:sym typeface="Noto Sans JP"/>
            </a:endParaRPr>
          </a:p>
        </p:txBody>
      </p:sp>
      <p:sp>
        <p:nvSpPr>
          <p:cNvPr id="565" name="Google Shape;565;p55"/>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566" name="Google Shape;566;p55"/>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567" name="Google Shape;567;p55"/>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
        <p:nvSpPr>
          <p:cNvPr id="568" name="Google Shape;568;p55"/>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74" name="Google Shape;574;p5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初回利用体験にマイナスの影響を及ぼすのは企業によるワーカーキャンセル</a:t>
            </a:r>
            <a:endParaRPr/>
          </a:p>
        </p:txBody>
      </p:sp>
      <p:sp>
        <p:nvSpPr>
          <p:cNvPr id="575" name="Google Shape;575;p56"/>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「初回稼働なし」の中でも企業キャンセル後ワーカーが再充足しなかった場合は追加掲載率が稼働ありと比較して18pt低い。</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初回にマッチングしたワーカーの情報に不安が残る場合、タイミーのワーカー品質への不信や懸念に直結する可能性がある。</a:t>
            </a:r>
            <a:endParaRPr sz="1200">
              <a:latin typeface="Noto Sans JP"/>
              <a:ea typeface="Noto Sans JP"/>
              <a:cs typeface="Noto Sans JP"/>
              <a:sym typeface="Noto Sans JP"/>
            </a:endParaRPr>
          </a:p>
        </p:txBody>
      </p:sp>
      <p:sp>
        <p:nvSpPr>
          <p:cNvPr id="576" name="Google Shape;576;p56"/>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LowTouch店舗の初回稼働有無別追加掲載率 稼働なし詳細</a:t>
            </a:r>
            <a:endParaRPr sz="1000">
              <a:solidFill>
                <a:srgbClr val="808080"/>
              </a:solidFill>
              <a:latin typeface="Noto Sans SemiBold"/>
              <a:ea typeface="Noto Sans SemiBold"/>
              <a:cs typeface="Noto Sans SemiBold"/>
              <a:sym typeface="Noto Sans SemiBold"/>
            </a:endParaRPr>
          </a:p>
        </p:txBody>
      </p:sp>
      <p:sp>
        <p:nvSpPr>
          <p:cNvPr id="577" name="Google Shape;577;p56"/>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https://docs.google.com/spreadsheets/d/1VlYTSFJRUFDtw1kHuFzHLWfSJakMuAQH8yrISJJvOXk/edit?pli=1&amp;gid=1982118576#gid=1982118576&amp;range=A94</a:t>
            </a:r>
            <a:endParaRPr sz="600">
              <a:solidFill>
                <a:schemeClr val="accent2"/>
              </a:solidFill>
              <a:latin typeface="Noto Sans JP"/>
              <a:ea typeface="Noto Sans JP"/>
              <a:cs typeface="Noto Sans JP"/>
              <a:sym typeface="Noto Sans JP"/>
            </a:endParaRPr>
          </a:p>
        </p:txBody>
      </p:sp>
      <p:pic>
        <p:nvPicPr>
          <p:cNvPr id="578" name="Google Shape;578;p56" title="グラフ"/>
          <p:cNvPicPr preferRelativeResize="0"/>
          <p:nvPr/>
        </p:nvPicPr>
        <p:blipFill>
          <a:blip r:embed="rId4">
            <a:alphaModFix/>
          </a:blip>
          <a:stretch>
            <a:fillRect/>
          </a:stretch>
        </p:blipFill>
        <p:spPr>
          <a:xfrm>
            <a:off x="912375" y="1698550"/>
            <a:ext cx="7319248" cy="2997175"/>
          </a:xfrm>
          <a:prstGeom prst="rect">
            <a:avLst/>
          </a:prstGeom>
          <a:noFill/>
          <a:ln>
            <a:noFill/>
          </a:ln>
        </p:spPr>
      </p:pic>
      <p:sp>
        <p:nvSpPr>
          <p:cNvPr id="579" name="Google Shape;579;p56"/>
          <p:cNvSpPr/>
          <p:nvPr/>
        </p:nvSpPr>
        <p:spPr>
          <a:xfrm rot="711289">
            <a:off x="4069507" y="2514323"/>
            <a:ext cx="2066373" cy="577489"/>
          </a:xfrm>
          <a:prstGeom prst="ellipse">
            <a:avLst/>
          </a:prstGeom>
          <a:no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56"/>
          <p:cNvSpPr txBox="1"/>
          <p:nvPr/>
        </p:nvSpPr>
        <p:spPr>
          <a:xfrm>
            <a:off x="3922075" y="3188475"/>
            <a:ext cx="2759400" cy="4557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未マッチ時と比較してキャンセル時の追加掲載率が低い</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タイミーのワーカー品質への不信や懸念による離反か？</a:t>
            </a:r>
            <a:endParaRPr>
              <a:solidFill>
                <a:schemeClr val="lt1"/>
              </a:solidFill>
              <a:latin typeface="Noto Sans JP"/>
              <a:ea typeface="Noto Sans JP"/>
              <a:cs typeface="Noto Sans JP"/>
              <a:sym typeface="Noto Sans JP"/>
            </a:endParaRPr>
          </a:p>
        </p:txBody>
      </p:sp>
      <p:sp>
        <p:nvSpPr>
          <p:cNvPr id="581" name="Google Shape;581;p56"/>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初回掲載した事業所</a:t>
            </a:r>
            <a:endParaRPr sz="600">
              <a:solidFill>
                <a:srgbClr val="808080"/>
              </a:solidFill>
              <a:latin typeface="Noto Sans JP"/>
              <a:ea typeface="Noto Sans JP"/>
              <a:cs typeface="Noto Sans JP"/>
              <a:sym typeface="Noto Sans JP"/>
            </a:endParaRPr>
          </a:p>
        </p:txBody>
      </p:sp>
      <p:sp>
        <p:nvSpPr>
          <p:cNvPr id="582" name="Google Shape;582;p56"/>
          <p:cNvSpPr txBox="1"/>
          <p:nvPr/>
        </p:nvSpPr>
        <p:spPr>
          <a:xfrm rot="-5400000">
            <a:off x="543075" y="29286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583" name="Google Shape;583;p56"/>
          <p:cNvSpPr txBox="1"/>
          <p:nvPr/>
        </p:nvSpPr>
        <p:spPr>
          <a:xfrm rot="5400000">
            <a:off x="8044725" y="29286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追加掲載率</a:t>
            </a:r>
            <a:endParaRPr sz="600">
              <a:solidFill>
                <a:srgbClr val="808080"/>
              </a:solidFill>
              <a:latin typeface="Noto Sans JP"/>
              <a:ea typeface="Noto Sans JP"/>
              <a:cs typeface="Noto Sans JP"/>
              <a:sym typeface="Noto Sans JP"/>
            </a:endParaRPr>
          </a:p>
        </p:txBody>
      </p:sp>
      <p:sp>
        <p:nvSpPr>
          <p:cNvPr id="584" name="Google Shape;584;p56"/>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参考：High/Low区分別 店舗の初回稼働有無別追加掲載率 稼働なし詳細</a:t>
            </a:r>
            <a:r>
              <a:rPr lang="ja" sz="600">
                <a:solidFill>
                  <a:schemeClr val="accent2"/>
                </a:solidFill>
                <a:latin typeface="Noto Sans JP"/>
                <a:ea typeface="Noto Sans JP"/>
                <a:cs typeface="Noto Sans JP"/>
                <a:sym typeface="Noto Sans JP"/>
              </a:rPr>
              <a:t>（</a:t>
            </a:r>
            <a:r>
              <a:rPr lang="ja" sz="600" u="sng">
                <a:solidFill>
                  <a:schemeClr val="accent2"/>
                </a:solidFill>
                <a:latin typeface="Noto Sans JP"/>
                <a:ea typeface="Noto Sans JP"/>
                <a:cs typeface="Noto Sans JP"/>
                <a:sym typeface="Noto Sans JP"/>
                <a:hlinkClick action="ppaction://hlinksldjump" r:id="rId5">
                  <a:extLst>
                    <a:ext uri="{A12FA001-AC4F-418D-AE19-62706E023703}">
                      <ahyp:hlinkClr val="tx"/>
                    </a:ext>
                  </a:extLst>
                </a:hlinkClick>
              </a:rPr>
              <a:t>p.40</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90" name="Google Shape;590;p5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a:t>
            </a:r>
            <a:r>
              <a:rPr lang="ja"/>
              <a:t>⇔継続店舗で企業からキャンセルしているワーカーのGood率,キャンセル率に差は確認できない</a:t>
            </a:r>
            <a:endParaRPr/>
          </a:p>
        </p:txBody>
      </p:sp>
      <p:sp>
        <p:nvSpPr>
          <p:cNvPr id="591" name="Google Shape;591;p57"/>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継続店舗ほど初回ワーカーをキャンセルしている傾向はあるものの「初回ではキャンセル率n%以下のワーカーをよりキャンセルしている」といった傾向は見られず。企業キャンセルは店舗やワーカーのケースによって様々であることが想定される。</a:t>
            </a:r>
            <a:endParaRPr sz="1200">
              <a:latin typeface="Noto Sans JP"/>
              <a:ea typeface="Noto Sans JP"/>
              <a:cs typeface="Noto Sans JP"/>
              <a:sym typeface="Noto Sans JP"/>
            </a:endParaRPr>
          </a:p>
        </p:txBody>
      </p:sp>
      <p:sp>
        <p:nvSpPr>
          <p:cNvPr id="592" name="Google Shape;592;p57"/>
          <p:cNvSpPr txBox="1"/>
          <p:nvPr/>
        </p:nvSpPr>
        <p:spPr>
          <a:xfrm>
            <a:off x="187525" y="1250800"/>
            <a:ext cx="438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LowTouch</a:t>
            </a:r>
            <a:r>
              <a:rPr lang="ja" sz="1000">
                <a:solidFill>
                  <a:srgbClr val="808080"/>
                </a:solidFill>
                <a:latin typeface="Noto Sans SemiBold"/>
                <a:ea typeface="Noto Sans SemiBold"/>
                <a:cs typeface="Noto Sans SemiBold"/>
                <a:sym typeface="Noto Sans SemiBold"/>
              </a:rPr>
              <a:t>店舗の掲載回数ごとの企業キャンセルワーカーの特徴</a:t>
            </a:r>
            <a:endParaRPr sz="1000">
              <a:solidFill>
                <a:srgbClr val="808080"/>
              </a:solidFill>
              <a:latin typeface="Noto Sans SemiBold"/>
              <a:ea typeface="Noto Sans SemiBold"/>
              <a:cs typeface="Noto Sans SemiBold"/>
              <a:sym typeface="Noto Sans SemiBold"/>
            </a:endParaRPr>
          </a:p>
        </p:txBody>
      </p:sp>
      <p:sp>
        <p:nvSpPr>
          <p:cNvPr id="593" name="Google Shape;593;p57"/>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https://docs.google.com/spreadsheets/d/1VlYTSFJRUFDtw1kHuFzHLWfSJakMuAQH8yrISJJvOXk/edit?pli=1&amp;gid=1982118576#gid=1982118576&amp;range=A166</a:t>
            </a:r>
            <a:endParaRPr sz="600">
              <a:solidFill>
                <a:schemeClr val="accent2"/>
              </a:solidFill>
              <a:latin typeface="Noto Sans JP"/>
              <a:ea typeface="Noto Sans JP"/>
              <a:cs typeface="Noto Sans JP"/>
              <a:sym typeface="Noto Sans JP"/>
            </a:endParaRPr>
          </a:p>
        </p:txBody>
      </p:sp>
      <p:pic>
        <p:nvPicPr>
          <p:cNvPr id="594" name="Google Shape;594;p57" title="グラフ"/>
          <p:cNvPicPr preferRelativeResize="0"/>
          <p:nvPr/>
        </p:nvPicPr>
        <p:blipFill>
          <a:blip r:embed="rId5">
            <a:alphaModFix/>
          </a:blip>
          <a:stretch>
            <a:fillRect/>
          </a:stretch>
        </p:blipFill>
        <p:spPr>
          <a:xfrm>
            <a:off x="252625" y="1698550"/>
            <a:ext cx="4254287" cy="2665075"/>
          </a:xfrm>
          <a:prstGeom prst="rect">
            <a:avLst/>
          </a:prstGeom>
          <a:noFill/>
          <a:ln>
            <a:noFill/>
          </a:ln>
        </p:spPr>
      </p:pic>
      <p:pic>
        <p:nvPicPr>
          <p:cNvPr id="595" name="Google Shape;595;p57" title="グラフ"/>
          <p:cNvPicPr preferRelativeResize="0"/>
          <p:nvPr/>
        </p:nvPicPr>
        <p:blipFill>
          <a:blip r:embed="rId6">
            <a:alphaModFix/>
          </a:blip>
          <a:stretch>
            <a:fillRect/>
          </a:stretch>
        </p:blipFill>
        <p:spPr>
          <a:xfrm>
            <a:off x="4640850" y="1698550"/>
            <a:ext cx="4254300" cy="2665090"/>
          </a:xfrm>
          <a:prstGeom prst="rect">
            <a:avLst/>
          </a:prstGeom>
          <a:noFill/>
          <a:ln>
            <a:noFill/>
          </a:ln>
        </p:spPr>
      </p:pic>
      <p:sp>
        <p:nvSpPr>
          <p:cNvPr id="596" name="Google Shape;596;p57"/>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a:t>
            </a:r>
            <a:r>
              <a:rPr lang="ja" sz="600">
                <a:solidFill>
                  <a:srgbClr val="808080"/>
                </a:solidFill>
                <a:latin typeface="Noto Sans JP"/>
                <a:ea typeface="Noto Sans JP"/>
                <a:cs typeface="Noto Sans JP"/>
                <a:sym typeface="Noto Sans JP"/>
              </a:rPr>
              <a:t>に</a:t>
            </a:r>
            <a:r>
              <a:rPr lang="ja" sz="600">
                <a:solidFill>
                  <a:srgbClr val="808080"/>
                </a:solidFill>
                <a:latin typeface="Noto Sans JP"/>
                <a:ea typeface="Noto Sans JP"/>
                <a:cs typeface="Noto Sans JP"/>
                <a:sym typeface="Noto Sans JP"/>
              </a:rPr>
              <a:t>掲載した事業所</a:t>
            </a:r>
            <a:endParaRPr sz="600">
              <a:solidFill>
                <a:srgbClr val="808080"/>
              </a:solidFill>
              <a:latin typeface="Noto Sans JP"/>
              <a:ea typeface="Noto Sans JP"/>
              <a:cs typeface="Noto Sans JP"/>
              <a:sym typeface="Noto Sans JP"/>
            </a:endParaRPr>
          </a:p>
        </p:txBody>
      </p:sp>
      <p:sp>
        <p:nvSpPr>
          <p:cNvPr id="597" name="Google Shape;597;p57"/>
          <p:cNvSpPr txBox="1"/>
          <p:nvPr/>
        </p:nvSpPr>
        <p:spPr>
          <a:xfrm>
            <a:off x="187525" y="4462525"/>
            <a:ext cx="43845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Good率・キャンセル率</a:t>
            </a:r>
            <a:r>
              <a:rPr lang="ja" sz="600">
                <a:solidFill>
                  <a:schemeClr val="accent2"/>
                </a:solidFill>
                <a:latin typeface="Noto Sans JP"/>
                <a:ea typeface="Noto Sans JP"/>
                <a:cs typeface="Noto Sans JP"/>
                <a:sym typeface="Noto Sans JP"/>
              </a:rPr>
              <a:t>：</a:t>
            </a:r>
            <a:r>
              <a:rPr lang="ja" sz="600">
                <a:solidFill>
                  <a:schemeClr val="accent2"/>
                </a:solidFill>
                <a:latin typeface="Noto Sans JP"/>
                <a:ea typeface="Noto Sans JP"/>
                <a:cs typeface="Noto Sans JP"/>
                <a:sym typeface="Noto Sans JP"/>
              </a:rPr>
              <a:t>マッチング成立時点のワーカーのGood率・キャンセル率を参照</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03" name="Google Shape;603;p5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単発掲載の店舗では初回募集でワーカー</a:t>
            </a:r>
            <a:r>
              <a:rPr lang="ja"/>
              <a:t>へのGood評価がない</a:t>
            </a:r>
            <a:r>
              <a:rPr lang="ja"/>
              <a:t>場合に追加掲載率が大幅に低下する</a:t>
            </a:r>
            <a:endParaRPr/>
          </a:p>
          <a:p>
            <a:pPr indent="0" lvl="0" marL="0" rtl="0" algn="l">
              <a:spcBef>
                <a:spcPts val="0"/>
              </a:spcBef>
              <a:spcAft>
                <a:spcPts val="0"/>
              </a:spcAft>
              <a:buNone/>
            </a:pPr>
            <a:r>
              <a:t/>
            </a:r>
            <a:endParaRPr/>
          </a:p>
        </p:txBody>
      </p:sp>
      <p:sp>
        <p:nvSpPr>
          <p:cNvPr id="604" name="Google Shape;604;p5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初回募集で</a:t>
            </a:r>
            <a:r>
              <a:rPr lang="ja" sz="1200">
                <a:latin typeface="Noto Sans JP"/>
                <a:ea typeface="Noto Sans JP"/>
                <a:cs typeface="Noto Sans JP"/>
                <a:sym typeface="Noto Sans JP"/>
              </a:rPr>
              <a:t>ワーカーに対するGood評価が無かった</a:t>
            </a:r>
            <a:r>
              <a:rPr lang="ja" sz="1200">
                <a:latin typeface="Noto Sans JP"/>
                <a:ea typeface="Noto Sans JP"/>
                <a:cs typeface="Noto Sans JP"/>
                <a:sym typeface="Noto Sans JP"/>
              </a:rPr>
              <a:t>店舗では追加掲載率が低く、初回掲載パターンによって感度に差がある。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単発の掲載しかしなかった店舗では、初回1回</a:t>
            </a:r>
            <a:r>
              <a:rPr lang="ja" sz="1200">
                <a:latin typeface="Noto Sans JP"/>
                <a:ea typeface="Noto Sans JP"/>
                <a:cs typeface="Noto Sans JP"/>
                <a:sym typeface="Noto Sans JP"/>
              </a:rPr>
              <a:t>のワーカーの働きぶり</a:t>
            </a:r>
            <a:r>
              <a:rPr lang="ja" sz="1200">
                <a:latin typeface="Noto Sans JP"/>
                <a:ea typeface="Noto Sans JP"/>
                <a:cs typeface="Noto Sans JP"/>
                <a:sym typeface="Noto Sans JP"/>
              </a:rPr>
              <a:t>がその後の継続判断に影響すると考えられる。</a:t>
            </a:r>
            <a:endParaRPr sz="1200">
              <a:latin typeface="Noto Sans JP"/>
              <a:ea typeface="Noto Sans JP"/>
              <a:cs typeface="Noto Sans JP"/>
              <a:sym typeface="Noto Sans JP"/>
            </a:endParaRPr>
          </a:p>
        </p:txBody>
      </p:sp>
      <p:sp>
        <p:nvSpPr>
          <p:cNvPr id="605" name="Google Shape;605;p58"/>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LowTouch店舗の初回Good評価有無別追加掲載率</a:t>
            </a:r>
            <a:endParaRPr sz="1000">
              <a:solidFill>
                <a:srgbClr val="808080"/>
              </a:solidFill>
              <a:latin typeface="Noto Sans SemiBold"/>
              <a:ea typeface="Noto Sans SemiBold"/>
              <a:cs typeface="Noto Sans SemiBold"/>
              <a:sym typeface="Noto Sans SemiBold"/>
            </a:endParaRPr>
          </a:p>
        </p:txBody>
      </p:sp>
      <p:sp>
        <p:nvSpPr>
          <p:cNvPr id="606" name="Google Shape;606;p5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https://docs.google.com/spreadsheets/d/1VlYTSFJRUFDtw1kHuFzHLWfSJakMuAQH8yrISJJvOXk/edit?pli=1&amp;gid=1982118576#gid=1982118576&amp;range=A234</a:t>
            </a:r>
            <a:endParaRPr sz="600">
              <a:solidFill>
                <a:schemeClr val="accent2"/>
              </a:solidFill>
              <a:latin typeface="Noto Sans JP"/>
              <a:ea typeface="Noto Sans JP"/>
              <a:cs typeface="Noto Sans JP"/>
              <a:sym typeface="Noto Sans JP"/>
            </a:endParaRPr>
          </a:p>
        </p:txBody>
      </p:sp>
      <p:pic>
        <p:nvPicPr>
          <p:cNvPr id="607" name="Google Shape;607;p58" title="グラフ"/>
          <p:cNvPicPr preferRelativeResize="0"/>
          <p:nvPr/>
        </p:nvPicPr>
        <p:blipFill>
          <a:blip r:embed="rId4">
            <a:alphaModFix/>
          </a:blip>
          <a:stretch>
            <a:fillRect/>
          </a:stretch>
        </p:blipFill>
        <p:spPr>
          <a:xfrm>
            <a:off x="248861" y="1698550"/>
            <a:ext cx="4254275" cy="2665075"/>
          </a:xfrm>
          <a:prstGeom prst="rect">
            <a:avLst/>
          </a:prstGeom>
          <a:noFill/>
          <a:ln>
            <a:noFill/>
          </a:ln>
        </p:spPr>
      </p:pic>
      <p:pic>
        <p:nvPicPr>
          <p:cNvPr id="608" name="Google Shape;608;p58" title="グラフ"/>
          <p:cNvPicPr preferRelativeResize="0"/>
          <p:nvPr/>
        </p:nvPicPr>
        <p:blipFill>
          <a:blip r:embed="rId5">
            <a:alphaModFix/>
          </a:blip>
          <a:stretch>
            <a:fillRect/>
          </a:stretch>
        </p:blipFill>
        <p:spPr>
          <a:xfrm>
            <a:off x="4640863" y="1698550"/>
            <a:ext cx="4254275" cy="2665075"/>
          </a:xfrm>
          <a:prstGeom prst="rect">
            <a:avLst/>
          </a:prstGeom>
          <a:noFill/>
          <a:ln>
            <a:noFill/>
          </a:ln>
        </p:spPr>
      </p:pic>
      <p:sp>
        <p:nvSpPr>
          <p:cNvPr id="609" name="Google Shape;609;p5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初回</a:t>
            </a:r>
            <a:r>
              <a:rPr lang="ja" sz="600">
                <a:solidFill>
                  <a:schemeClr val="accent2"/>
                </a:solidFill>
                <a:latin typeface="Noto Sans JP"/>
                <a:ea typeface="Noto Sans JP"/>
                <a:cs typeface="Noto Sans JP"/>
                <a:sym typeface="Noto Sans JP"/>
              </a:rPr>
              <a:t>Good評価</a:t>
            </a:r>
            <a:r>
              <a:rPr lang="ja" sz="600">
                <a:solidFill>
                  <a:schemeClr val="accent2"/>
                </a:solidFill>
                <a:latin typeface="Noto Sans JP"/>
                <a:ea typeface="Noto Sans JP"/>
                <a:cs typeface="Noto Sans JP"/>
                <a:sym typeface="Noto Sans JP"/>
              </a:rPr>
              <a:t>有無：店舗の初回募集の仕事開始日の募集で</a:t>
            </a:r>
            <a:r>
              <a:rPr lang="ja" sz="600">
                <a:solidFill>
                  <a:schemeClr val="accent2"/>
                </a:solidFill>
                <a:latin typeface="Noto Sans JP"/>
                <a:ea typeface="Noto Sans JP"/>
                <a:cs typeface="Noto Sans JP"/>
                <a:sym typeface="Noto Sans JP"/>
              </a:rPr>
              <a:t>稼働があり、かつGood評価がついた</a:t>
            </a:r>
            <a:r>
              <a:rPr lang="ja" sz="600">
                <a:solidFill>
                  <a:schemeClr val="accent2"/>
                </a:solidFill>
                <a:latin typeface="Noto Sans JP"/>
                <a:ea typeface="Noto Sans JP"/>
                <a:cs typeface="Noto Sans JP"/>
                <a:sym typeface="Noto Sans JP"/>
              </a:rPr>
              <a:t>場合「</a:t>
            </a:r>
            <a:r>
              <a:rPr lang="ja" sz="600">
                <a:solidFill>
                  <a:schemeClr val="accent2"/>
                </a:solidFill>
                <a:latin typeface="Noto Sans JP"/>
                <a:ea typeface="Noto Sans JP"/>
                <a:cs typeface="Noto Sans JP"/>
                <a:sym typeface="Noto Sans JP"/>
              </a:rPr>
              <a:t>Good評価</a:t>
            </a:r>
            <a:r>
              <a:rPr lang="ja" sz="600">
                <a:solidFill>
                  <a:schemeClr val="accent2"/>
                </a:solidFill>
                <a:latin typeface="Noto Sans JP"/>
                <a:ea typeface="Noto Sans JP"/>
                <a:cs typeface="Noto Sans JP"/>
                <a:sym typeface="Noto Sans JP"/>
              </a:rPr>
              <a:t>あり」と判定</a:t>
            </a:r>
            <a:r>
              <a:rPr lang="ja" sz="600">
                <a:solidFill>
                  <a:schemeClr val="accent2"/>
                </a:solidFill>
                <a:latin typeface="Noto Sans JP"/>
                <a:ea typeface="Noto Sans JP"/>
                <a:cs typeface="Noto Sans JP"/>
                <a:sym typeface="Noto Sans JP"/>
              </a:rPr>
              <a:t>（なしには未評価も含む）</a:t>
            </a:r>
            <a:endParaRPr sz="600">
              <a:solidFill>
                <a:schemeClr val="accent2"/>
              </a:solidFill>
              <a:latin typeface="Noto Sans JP"/>
              <a:ea typeface="Noto Sans JP"/>
              <a:cs typeface="Noto Sans JP"/>
              <a:sym typeface="Noto Sans JP"/>
            </a:endParaRPr>
          </a:p>
        </p:txBody>
      </p:sp>
      <p:sp>
        <p:nvSpPr>
          <p:cNvPr id="610" name="Google Shape;610;p5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sp>
        <p:nvSpPr>
          <p:cNvPr id="611" name="Google Shape;611;p58"/>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612" name="Google Shape;612;p58"/>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613" name="Google Shape;613;p58"/>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追加掲載率</a:t>
            </a:r>
            <a:endParaRPr sz="600">
              <a:solidFill>
                <a:srgbClr val="808080"/>
              </a:solidFill>
              <a:latin typeface="Noto Sans JP"/>
              <a:ea typeface="Noto Sans JP"/>
              <a:cs typeface="Noto Sans JP"/>
              <a:sym typeface="Noto Sans JP"/>
            </a:endParaRPr>
          </a:p>
        </p:txBody>
      </p:sp>
      <p:sp>
        <p:nvSpPr>
          <p:cNvPr id="614" name="Google Shape;614;p58"/>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追加掲載率</a:t>
            </a:r>
            <a:endParaRPr sz="600">
              <a:solidFill>
                <a:srgbClr val="808080"/>
              </a:solidFill>
              <a:latin typeface="Noto Sans JP"/>
              <a:ea typeface="Noto Sans JP"/>
              <a:cs typeface="Noto Sans JP"/>
              <a:sym typeface="Noto Sans JP"/>
            </a:endParaRPr>
          </a:p>
        </p:txBody>
      </p:sp>
      <p:sp>
        <p:nvSpPr>
          <p:cNvPr id="615" name="Google Shape;615;p58"/>
          <p:cNvSpPr/>
          <p:nvPr/>
        </p:nvSpPr>
        <p:spPr>
          <a:xfrm>
            <a:off x="5291917" y="4275875"/>
            <a:ext cx="622200" cy="175500"/>
          </a:xfrm>
          <a:prstGeom prst="rect">
            <a:avLst/>
          </a:prstGeom>
          <a:solidFill>
            <a:srgbClr val="FFE080">
              <a:alpha val="6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24.7pt</a:t>
            </a:r>
            <a:endParaRPr b="1" sz="600">
              <a:latin typeface="Noto Sans JP"/>
              <a:ea typeface="Noto Sans JP"/>
              <a:cs typeface="Noto Sans JP"/>
              <a:sym typeface="Noto Sans JP"/>
            </a:endParaRPr>
          </a:p>
        </p:txBody>
      </p:sp>
      <p:sp>
        <p:nvSpPr>
          <p:cNvPr id="616" name="Google Shape;616;p58"/>
          <p:cNvSpPr/>
          <p:nvPr/>
        </p:nvSpPr>
        <p:spPr>
          <a:xfrm>
            <a:off x="6069631"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20.4pt</a:t>
            </a:r>
            <a:endParaRPr b="1" sz="600">
              <a:latin typeface="Noto Sans JP"/>
              <a:ea typeface="Noto Sans JP"/>
              <a:cs typeface="Noto Sans JP"/>
              <a:sym typeface="Noto Sans JP"/>
            </a:endParaRPr>
          </a:p>
        </p:txBody>
      </p:sp>
      <p:sp>
        <p:nvSpPr>
          <p:cNvPr id="617" name="Google Shape;617;p58"/>
          <p:cNvSpPr/>
          <p:nvPr/>
        </p:nvSpPr>
        <p:spPr>
          <a:xfrm>
            <a:off x="6847346" y="4275875"/>
            <a:ext cx="622200" cy="175500"/>
          </a:xfrm>
          <a:prstGeom prst="rect">
            <a:avLst/>
          </a:prstGeom>
          <a:solidFill>
            <a:srgbClr val="FFE080">
              <a:alpha val="6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27.8pt</a:t>
            </a:r>
            <a:endParaRPr b="1" sz="600">
              <a:latin typeface="Noto Sans JP"/>
              <a:ea typeface="Noto Sans JP"/>
              <a:cs typeface="Noto Sans JP"/>
              <a:sym typeface="Noto Sans JP"/>
            </a:endParaRPr>
          </a:p>
        </p:txBody>
      </p:sp>
      <p:sp>
        <p:nvSpPr>
          <p:cNvPr id="618" name="Google Shape;618;p58"/>
          <p:cNvSpPr/>
          <p:nvPr/>
        </p:nvSpPr>
        <p:spPr>
          <a:xfrm>
            <a:off x="7625060" y="4275875"/>
            <a:ext cx="622200" cy="175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600">
                <a:latin typeface="Noto Sans JP"/>
                <a:ea typeface="Noto Sans JP"/>
                <a:cs typeface="Noto Sans JP"/>
                <a:sym typeface="Noto Sans JP"/>
              </a:rPr>
              <a:t>差: 21.5pt</a:t>
            </a:r>
            <a:endParaRPr b="1" sz="600">
              <a:latin typeface="Noto Sans JP"/>
              <a:ea typeface="Noto Sans JP"/>
              <a:cs typeface="Noto Sans JP"/>
              <a:sym typeface="Noto Sans JP"/>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24" name="Google Shape;624;p59"/>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初回⇔継続店舗で</a:t>
            </a:r>
            <a:r>
              <a:rPr lang="ja"/>
              <a:t>Badまたは未評価の</a:t>
            </a:r>
            <a:r>
              <a:rPr lang="ja"/>
              <a:t>ワーカーのGood率,キャンセル率に差は確認できない</a:t>
            </a:r>
            <a:endParaRPr/>
          </a:p>
        </p:txBody>
      </p:sp>
      <p:sp>
        <p:nvSpPr>
          <p:cNvPr id="625" name="Google Shape;625;p59"/>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初回⇔継続店舗で</a:t>
            </a:r>
            <a:r>
              <a:rPr lang="ja" sz="1200">
                <a:latin typeface="Noto Sans JP"/>
                <a:ea typeface="Noto Sans JP"/>
                <a:cs typeface="Noto Sans JP"/>
                <a:sym typeface="Noto Sans JP"/>
              </a:rPr>
              <a:t>Bad評価または未評価に</a:t>
            </a:r>
            <a:r>
              <a:rPr lang="ja" sz="1200">
                <a:latin typeface="Noto Sans JP"/>
                <a:ea typeface="Noto Sans JP"/>
                <a:cs typeface="Noto Sans JP"/>
                <a:sym typeface="Noto Sans JP"/>
              </a:rPr>
              <a:t>したワーカーのGood率,キャンセル率を比較。継続店舗ほど初回ワーカー</a:t>
            </a:r>
            <a:r>
              <a:rPr lang="ja" sz="1200">
                <a:latin typeface="Noto Sans JP"/>
                <a:ea typeface="Noto Sans JP"/>
                <a:cs typeface="Noto Sans JP"/>
                <a:sym typeface="Noto Sans JP"/>
              </a:rPr>
              <a:t>を評価しない</a:t>
            </a:r>
            <a:r>
              <a:rPr lang="ja" sz="1200">
                <a:latin typeface="Noto Sans JP"/>
                <a:ea typeface="Noto Sans JP"/>
                <a:cs typeface="Noto Sans JP"/>
                <a:sym typeface="Noto Sans JP"/>
              </a:rPr>
              <a:t>傾向はあるものの、「初回ではキャンセル率n%以下のワーカーを</a:t>
            </a:r>
            <a:r>
              <a:rPr lang="ja" sz="1200">
                <a:latin typeface="Noto Sans JP"/>
                <a:ea typeface="Noto Sans JP"/>
                <a:cs typeface="Noto Sans JP"/>
                <a:sym typeface="Noto Sans JP"/>
              </a:rPr>
              <a:t>より未評価にしている</a:t>
            </a:r>
            <a:r>
              <a:rPr lang="ja" sz="1200">
                <a:latin typeface="Noto Sans JP"/>
                <a:ea typeface="Noto Sans JP"/>
                <a:cs typeface="Noto Sans JP"/>
                <a:sym typeface="Noto Sans JP"/>
              </a:rPr>
              <a:t>」といった傾向は見られず。</a:t>
            </a:r>
            <a:endParaRPr sz="1200">
              <a:latin typeface="Noto Sans JP"/>
              <a:ea typeface="Noto Sans JP"/>
              <a:cs typeface="Noto Sans JP"/>
              <a:sym typeface="Noto Sans JP"/>
            </a:endParaRPr>
          </a:p>
        </p:txBody>
      </p:sp>
      <p:sp>
        <p:nvSpPr>
          <p:cNvPr id="626" name="Google Shape;626;p59"/>
          <p:cNvSpPr txBox="1"/>
          <p:nvPr/>
        </p:nvSpPr>
        <p:spPr>
          <a:xfrm>
            <a:off x="187525" y="1250800"/>
            <a:ext cx="4818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LowTouch店舗の掲載回数ごとのGood評価なしワーカーの特徴</a:t>
            </a:r>
            <a:endParaRPr sz="1000">
              <a:solidFill>
                <a:srgbClr val="808080"/>
              </a:solidFill>
              <a:latin typeface="Noto Sans SemiBold"/>
              <a:ea typeface="Noto Sans SemiBold"/>
              <a:cs typeface="Noto Sans SemiBold"/>
              <a:sym typeface="Noto Sans SemiBold"/>
            </a:endParaRPr>
          </a:p>
        </p:txBody>
      </p:sp>
      <p:sp>
        <p:nvSpPr>
          <p:cNvPr id="627" name="Google Shape;627;p59"/>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https://docs.google.com/spreadsheets/d/1VlYTSFJRUFDtw1kHuFzHLWfSJakMuAQH8yrISJJvOXk/edit?pli=1&amp;gid=1982118576#gid=1982118576&amp;range=A211</a:t>
            </a:r>
            <a:endParaRPr sz="600">
              <a:solidFill>
                <a:schemeClr val="accent2"/>
              </a:solidFill>
              <a:latin typeface="Noto Sans JP"/>
              <a:ea typeface="Noto Sans JP"/>
              <a:cs typeface="Noto Sans JP"/>
              <a:sym typeface="Noto Sans JP"/>
            </a:endParaRPr>
          </a:p>
        </p:txBody>
      </p:sp>
      <p:pic>
        <p:nvPicPr>
          <p:cNvPr id="628" name="Google Shape;628;p59" title="グラフ"/>
          <p:cNvPicPr preferRelativeResize="0"/>
          <p:nvPr/>
        </p:nvPicPr>
        <p:blipFill>
          <a:blip r:embed="rId4">
            <a:alphaModFix/>
          </a:blip>
          <a:stretch>
            <a:fillRect/>
          </a:stretch>
        </p:blipFill>
        <p:spPr>
          <a:xfrm>
            <a:off x="244513" y="1698550"/>
            <a:ext cx="4262975" cy="2670525"/>
          </a:xfrm>
          <a:prstGeom prst="rect">
            <a:avLst/>
          </a:prstGeom>
          <a:noFill/>
          <a:ln>
            <a:noFill/>
          </a:ln>
        </p:spPr>
      </p:pic>
      <p:pic>
        <p:nvPicPr>
          <p:cNvPr id="629" name="Google Shape;629;p59" title="グラフ"/>
          <p:cNvPicPr preferRelativeResize="0"/>
          <p:nvPr/>
        </p:nvPicPr>
        <p:blipFill>
          <a:blip r:embed="rId5">
            <a:alphaModFix/>
          </a:blip>
          <a:stretch>
            <a:fillRect/>
          </a:stretch>
        </p:blipFill>
        <p:spPr>
          <a:xfrm>
            <a:off x="4636513" y="1698550"/>
            <a:ext cx="4262975" cy="2670525"/>
          </a:xfrm>
          <a:prstGeom prst="rect">
            <a:avLst/>
          </a:prstGeom>
          <a:noFill/>
          <a:ln>
            <a:noFill/>
          </a:ln>
        </p:spPr>
      </p:pic>
      <p:sp>
        <p:nvSpPr>
          <p:cNvPr id="630" name="Google Shape;630;p59"/>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に掲載した事業所</a:t>
            </a:r>
            <a:endParaRPr sz="600">
              <a:solidFill>
                <a:srgbClr val="808080"/>
              </a:solidFill>
              <a:latin typeface="Noto Sans JP"/>
              <a:ea typeface="Noto Sans JP"/>
              <a:cs typeface="Noto Sans JP"/>
              <a:sym typeface="Noto Sans JP"/>
            </a:endParaRPr>
          </a:p>
        </p:txBody>
      </p:sp>
      <p:sp>
        <p:nvSpPr>
          <p:cNvPr id="631" name="Google Shape;631;p59"/>
          <p:cNvSpPr txBox="1"/>
          <p:nvPr/>
        </p:nvSpPr>
        <p:spPr>
          <a:xfrm>
            <a:off x="187525" y="4462525"/>
            <a:ext cx="43845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Good率・キャンセル率：</a:t>
            </a:r>
            <a:r>
              <a:rPr lang="ja" sz="600">
                <a:solidFill>
                  <a:schemeClr val="accent2"/>
                </a:solidFill>
                <a:latin typeface="Noto Sans JP"/>
                <a:ea typeface="Noto Sans JP"/>
                <a:cs typeface="Noto Sans JP"/>
                <a:sym typeface="Noto Sans JP"/>
              </a:rPr>
              <a:t>稼働</a:t>
            </a:r>
            <a:r>
              <a:rPr lang="ja" sz="600">
                <a:solidFill>
                  <a:schemeClr val="accent2"/>
                </a:solidFill>
                <a:latin typeface="Noto Sans JP"/>
                <a:ea typeface="Noto Sans JP"/>
                <a:cs typeface="Noto Sans JP"/>
                <a:sym typeface="Noto Sans JP"/>
              </a:rPr>
              <a:t>時点のワーカーのGood率・キャンセル率を参照</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0"/>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a:t>
            </a:r>
            <a:r>
              <a:rPr b="1" lang="ja" sz="1000">
                <a:solidFill>
                  <a:schemeClr val="accent2"/>
                </a:solidFill>
                <a:latin typeface="Noto Sans JP"/>
                <a:ea typeface="Noto Sans JP"/>
                <a:cs typeface="Noto Sans JP"/>
                <a:sym typeface="Noto Sans JP"/>
              </a:rPr>
              <a:t>に</a:t>
            </a:r>
            <a:r>
              <a:rPr b="1" lang="ja" sz="1000">
                <a:solidFill>
                  <a:schemeClr val="accent2"/>
                </a:solidFill>
                <a:latin typeface="Noto Sans JP"/>
                <a:ea typeface="Noto Sans JP"/>
                <a:cs typeface="Noto Sans JP"/>
                <a:sym typeface="Noto Sans JP"/>
              </a:rPr>
              <a:t>月4</a:t>
            </a:r>
            <a:r>
              <a:rPr b="1" lang="ja" sz="1000">
                <a:solidFill>
                  <a:schemeClr val="accent2"/>
                </a:solidFill>
                <a:latin typeface="Noto Sans JP"/>
                <a:ea typeface="Noto Sans JP"/>
                <a:cs typeface="Noto Sans JP"/>
                <a:sym typeface="Noto Sans JP"/>
              </a:rPr>
              <a:t>日</a:t>
            </a:r>
            <a:r>
              <a:rPr b="1" lang="ja" sz="1000">
                <a:solidFill>
                  <a:schemeClr val="accent2"/>
                </a:solidFill>
                <a:latin typeface="Noto Sans JP"/>
                <a:ea typeface="Noto Sans JP"/>
                <a:cs typeface="Noto Sans JP"/>
                <a:sym typeface="Noto Sans JP"/>
              </a:rPr>
              <a:t>（≒ 週1回程度）の掲載習慣を作れるかが翌月継続の分水嶺であると考えられる。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・利用初月の掲載日数が多い店舗ほど翌月継続率が高く、初月4日以上の掲載があると翌月継続率が50%を超える。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・初回掲載日からの日数が7の倍数（同じ曜日）の日に募集を掲載する店舗が多い。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・初月稼働率が高いほど翌月継続率は高いが、掲載日数が1~3日の段階では稼働率が80%を超えても44.4%にとどまる。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solidFill>
                <a:schemeClr val="accent2"/>
              </a:solidFill>
              <a:latin typeface="Noto Sans JP"/>
              <a:ea typeface="Noto Sans JP"/>
              <a:cs typeface="Noto Sans JP"/>
              <a:sym typeface="Noto Sans JP"/>
            </a:endParaRPr>
          </a:p>
        </p:txBody>
      </p:sp>
      <p:sp>
        <p:nvSpPr>
          <p:cNvPr id="637" name="Google Shape;637;p60"/>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LowTouchではHighTouchと比較してタイミーをお試し・テスト的に恐る恐る使う層が多いと想定される。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・HighTouch店舗の翌月継続率は56.0%、LowTouch店舗の翌月継続率は40.7%と15ptの差が存在する。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・LowTouch店舗の45.8%が初回「C_計画*単発型」の掲載であり、この群の翌月継続率は36.8%と最低水準。</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・LowTouch店舗の初回「C_計画*単発型」うち約半数の50.1%が利用初月に2回目の掲載に至っていない。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・LowTouch店舗の初回「C_計画*単発型」うち追加掲載がある店舗は翌月継続率が55.7%とHighTouchの全体同等の水準。</a:t>
            </a:r>
            <a:endParaRPr sz="1000">
              <a:solidFill>
                <a:schemeClr val="accent2"/>
              </a:solidFill>
              <a:latin typeface="Noto Sans JP"/>
              <a:ea typeface="Noto Sans JP"/>
              <a:cs typeface="Noto Sans JP"/>
              <a:sym typeface="Noto Sans JP"/>
            </a:endParaRPr>
          </a:p>
        </p:txBody>
      </p:sp>
      <p:sp>
        <p:nvSpPr>
          <p:cNvPr id="638" name="Google Shape;638;p6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39" name="Google Shape;639;p6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a:t>
            </a:r>
            <a:r>
              <a:rPr lang="ja"/>
              <a:t>中間サマリ] Phase1: 初回利用体験と追加掲載率の関係性</a:t>
            </a:r>
            <a:endParaRPr/>
          </a:p>
        </p:txBody>
      </p:sp>
      <p:sp>
        <p:nvSpPr>
          <p:cNvPr id="640" name="Google Shape;640;p60"/>
          <p:cNvSpPr/>
          <p:nvPr/>
        </p:nvSpPr>
        <p:spPr>
          <a:xfrm>
            <a:off x="1764425" y="2397000"/>
            <a:ext cx="4862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60"/>
          <p:cNvSpPr/>
          <p:nvPr/>
        </p:nvSpPr>
        <p:spPr>
          <a:xfrm>
            <a:off x="2938975" y="2224425"/>
            <a:ext cx="5289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60"/>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翌月継続率の</a:t>
            </a:r>
            <a:r>
              <a:rPr b="1" lang="ja" sz="1000">
                <a:solidFill>
                  <a:schemeClr val="accent2"/>
                </a:solidFill>
                <a:latin typeface="Noto Sans JP"/>
                <a:ea typeface="Noto Sans JP"/>
                <a:cs typeface="Noto Sans JP"/>
                <a:sym typeface="Noto Sans JP"/>
              </a:rPr>
              <a:t>課題の</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所在は？</a:t>
            </a:r>
            <a:endParaRPr b="1" sz="1000">
              <a:solidFill>
                <a:schemeClr val="accent2"/>
              </a:solidFill>
              <a:latin typeface="Noto Sans JP"/>
              <a:ea typeface="Noto Sans JP"/>
              <a:cs typeface="Noto Sans JP"/>
              <a:sym typeface="Noto Sans JP"/>
            </a:endParaRPr>
          </a:p>
        </p:txBody>
      </p:sp>
      <p:sp>
        <p:nvSpPr>
          <p:cNvPr id="643" name="Google Shape;643;p60"/>
          <p:cNvSpPr/>
          <p:nvPr/>
        </p:nvSpPr>
        <p:spPr>
          <a:xfrm>
            <a:off x="188175" y="2044600"/>
            <a:ext cx="1481400" cy="1303800"/>
          </a:xfrm>
          <a:prstGeom prst="rect">
            <a:avLst/>
          </a:prstGeom>
          <a:solidFill>
            <a:srgbClr val="EEEEEE"/>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Phase1:</a:t>
            </a:r>
            <a:br>
              <a:rPr b="1" lang="ja" sz="1000">
                <a:latin typeface="Noto Sans JP"/>
                <a:ea typeface="Noto Sans JP"/>
                <a:cs typeface="Noto Sans JP"/>
                <a:sym typeface="Noto Sans JP"/>
              </a:rPr>
            </a:br>
            <a:r>
              <a:rPr b="1" lang="ja" sz="1000">
                <a:latin typeface="Noto Sans JP"/>
                <a:ea typeface="Noto Sans JP"/>
                <a:cs typeface="Noto Sans JP"/>
                <a:sym typeface="Noto Sans JP"/>
              </a:rPr>
              <a:t>初回利用体験</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追加掲載にどう影響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sp>
        <p:nvSpPr>
          <p:cNvPr id="644" name="Google Shape;644;p60"/>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Phase2:</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利用初月の掲載習慣</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cxnSp>
        <p:nvCxnSpPr>
          <p:cNvPr id="645" name="Google Shape;645;p60"/>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646" name="Google Shape;646;p60"/>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7" name="Google Shape;647;p60"/>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8" name="Google Shape;648;p60"/>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649" name="Google Shape;649;p60"/>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初回募集でワーカーが稼働 ^ Good評価 の条件が揃えば60%の店舗が追加掲載に至る。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・初回募集でワーカーが稼働しなかった店舗は稼働ありと比較して追加掲載率が10ptほど低い。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・初回募集におけるワーカー稼働なしのうち、最も追加掲載率が低いのは「企業キャンセル」の39.0%</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・初回募集で稼働したワーカーにGood評価をつけなかった店舗はGoodありと比較して追加掲載率が20ptほど低い。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・企業キャンセル、Good評価無しのワーカーの特徴に初回掲載店舗ならではの傾向は確認できない。</a:t>
            </a:r>
            <a:endParaRPr sz="1000">
              <a:latin typeface="Noto Sans JP"/>
              <a:ea typeface="Noto Sans JP"/>
              <a:cs typeface="Noto Sans JP"/>
              <a:sym typeface="Noto Sans JP"/>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55" name="Google Shape;655;p6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656" name="Google Shape;656;p61"/>
          <p:cNvSpPr/>
          <p:nvPr/>
        </p:nvSpPr>
        <p:spPr>
          <a:xfrm>
            <a:off x="-80550" y="29443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61"/>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658" name="Google Shape;658;p61"/>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659" name="Google Shape;659;p61"/>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660" name="Google Shape;660;p61"/>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661" name="Google Shape;661;p61"/>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662" name="Google Shape;662;p61"/>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663" name="Google Shape;663;p61"/>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664" name="Google Shape;664;p61"/>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665" name="Google Shape;665;p61"/>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666" name="Google Shape;666;p61"/>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72" name="Google Shape;672;p6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Phase2: </a:t>
            </a:r>
            <a:r>
              <a:rPr lang="ja"/>
              <a:t>利用初月の習慣的な掲載の分析 の探索範囲</a:t>
            </a:r>
            <a:endParaRPr/>
          </a:p>
        </p:txBody>
      </p:sp>
      <p:sp>
        <p:nvSpPr>
          <p:cNvPr id="673" name="Google Shape;673;p62"/>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次に、追加掲載のあった店舗に着目し、利用初月（追加掲載日〜30日）の継続掲載や掲載した募集の稼働</a:t>
            </a:r>
            <a:r>
              <a:rPr lang="ja" sz="1200">
                <a:latin typeface="Noto Sans JP"/>
                <a:ea typeface="Noto Sans JP"/>
                <a:cs typeface="Noto Sans JP"/>
                <a:sym typeface="Noto Sans JP"/>
              </a:rPr>
              <a:t>パフォーマンスに</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より翌月継続率にどのような違いが生じているのかを明らかにする。</a:t>
            </a:r>
            <a:endParaRPr sz="1200">
              <a:latin typeface="Noto Sans JP"/>
              <a:ea typeface="Noto Sans JP"/>
              <a:cs typeface="Noto Sans JP"/>
              <a:sym typeface="Noto Sans JP"/>
            </a:endParaRPr>
          </a:p>
        </p:txBody>
      </p:sp>
      <p:sp>
        <p:nvSpPr>
          <p:cNvPr id="674" name="Google Shape;674;p62"/>
          <p:cNvSpPr/>
          <p:nvPr/>
        </p:nvSpPr>
        <p:spPr>
          <a:xfrm>
            <a:off x="4645500" y="1781975"/>
            <a:ext cx="4245000" cy="2957400"/>
          </a:xfrm>
          <a:prstGeom prst="roundRect">
            <a:avLst>
              <a:gd fmla="val 0" name="adj"/>
            </a:avLst>
          </a:prstGeom>
          <a:solidFill>
            <a:schemeClr val="accent6"/>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5" name="Google Shape;675;p62"/>
          <p:cNvSpPr/>
          <p:nvPr/>
        </p:nvSpPr>
        <p:spPr>
          <a:xfrm>
            <a:off x="253500" y="1781975"/>
            <a:ext cx="4245000" cy="2957400"/>
          </a:xfrm>
          <a:prstGeom prst="roundRect">
            <a:avLst>
              <a:gd fmla="val 0"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6" name="Google Shape;676;p62"/>
          <p:cNvSpPr/>
          <p:nvPr/>
        </p:nvSpPr>
        <p:spPr>
          <a:xfrm>
            <a:off x="1990138" y="2038725"/>
            <a:ext cx="1565400" cy="24105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7" name="Google Shape;677;p62"/>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翌月継続率の探索分析: 分析のスコープ</a:t>
            </a:r>
            <a:endParaRPr sz="1000">
              <a:solidFill>
                <a:srgbClr val="808080"/>
              </a:solidFill>
              <a:latin typeface="Noto Sans SemiBold"/>
              <a:ea typeface="Noto Sans SemiBold"/>
              <a:cs typeface="Noto Sans SemiBold"/>
              <a:sym typeface="Noto Sans SemiBold"/>
            </a:endParaRPr>
          </a:p>
        </p:txBody>
      </p:sp>
      <p:sp>
        <p:nvSpPr>
          <p:cNvPr id="678" name="Google Shape;678;p62"/>
          <p:cNvSpPr/>
          <p:nvPr/>
        </p:nvSpPr>
        <p:spPr>
          <a:xfrm>
            <a:off x="448375" y="3042557"/>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初回掲載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79" name="Google Shape;679;p62"/>
          <p:cNvSpPr/>
          <p:nvPr/>
        </p:nvSpPr>
        <p:spPr>
          <a:xfrm>
            <a:off x="2247550" y="2428883"/>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マッチング</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0" name="Google Shape;680;p62"/>
          <p:cNvSpPr/>
          <p:nvPr/>
        </p:nvSpPr>
        <p:spPr>
          <a:xfrm>
            <a:off x="2247538" y="3042554"/>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ワーカー稼働</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1" name="Google Shape;681;p62"/>
          <p:cNvSpPr/>
          <p:nvPr/>
        </p:nvSpPr>
        <p:spPr>
          <a:xfrm>
            <a:off x="2247550" y="3656235"/>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ワーカー評価</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2" name="Google Shape;682;p62"/>
          <p:cNvSpPr/>
          <p:nvPr/>
        </p:nvSpPr>
        <p:spPr>
          <a:xfrm>
            <a:off x="4046700" y="3042557"/>
            <a:ext cx="1050600" cy="555300"/>
          </a:xfrm>
          <a:prstGeom prst="roundRect">
            <a:avLst>
              <a:gd fmla="val 10118" name="adj"/>
            </a:avLst>
          </a:prstGeom>
          <a:solidFill>
            <a:srgbClr val="FFE080"/>
          </a:solidFill>
          <a:ln cap="flat" cmpd="sng" w="38100">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追加掲載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3" name="Google Shape;683;p62"/>
          <p:cNvSpPr/>
          <p:nvPr/>
        </p:nvSpPr>
        <p:spPr>
          <a:xfrm>
            <a:off x="5845863" y="2038716"/>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継続掲載</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4" name="Google Shape;684;p62"/>
          <p:cNvSpPr/>
          <p:nvPr/>
        </p:nvSpPr>
        <p:spPr>
          <a:xfrm>
            <a:off x="5588450" y="2787529"/>
            <a:ext cx="1565400" cy="17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初月パフォーマンス</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b="1" sz="1000">
              <a:latin typeface="Noto Sans JP"/>
              <a:ea typeface="Noto Sans JP"/>
              <a:cs typeface="Noto Sans JP"/>
              <a:sym typeface="Noto Sans JP"/>
            </a:endParaRPr>
          </a:p>
        </p:txBody>
      </p:sp>
      <p:sp>
        <p:nvSpPr>
          <p:cNvPr id="685" name="Google Shape;685;p62"/>
          <p:cNvSpPr/>
          <p:nvPr/>
        </p:nvSpPr>
        <p:spPr>
          <a:xfrm>
            <a:off x="5845850" y="3175362"/>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安定稼働</a:t>
            </a:r>
            <a:endParaRPr b="1" sz="800">
              <a:latin typeface="Noto Sans JP"/>
              <a:ea typeface="Noto Sans JP"/>
              <a:cs typeface="Noto Sans JP"/>
              <a:sym typeface="Noto Sans JP"/>
            </a:endParaRPr>
          </a:p>
        </p:txBody>
      </p:sp>
      <p:sp>
        <p:nvSpPr>
          <p:cNvPr id="686" name="Google Shape;686;p62"/>
          <p:cNvSpPr/>
          <p:nvPr/>
        </p:nvSpPr>
        <p:spPr>
          <a:xfrm>
            <a:off x="5845850" y="3797571"/>
            <a:ext cx="1050600" cy="555300"/>
          </a:xfrm>
          <a:prstGeom prst="roundRect">
            <a:avLst>
              <a:gd fmla="val 10118" name="adj"/>
            </a:avLst>
          </a:prstGeom>
          <a:solidFill>
            <a:schemeClr val="accent6"/>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リピーター</a:t>
            </a:r>
            <a:endParaRPr b="1" sz="800">
              <a:latin typeface="Noto Sans JP"/>
              <a:ea typeface="Noto Sans JP"/>
              <a:cs typeface="Noto Sans JP"/>
              <a:sym typeface="Noto Sans JP"/>
            </a:endParaRPr>
          </a:p>
        </p:txBody>
      </p:sp>
      <p:sp>
        <p:nvSpPr>
          <p:cNvPr id="687" name="Google Shape;687;p62"/>
          <p:cNvSpPr/>
          <p:nvPr/>
        </p:nvSpPr>
        <p:spPr>
          <a:xfrm>
            <a:off x="161331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62"/>
          <p:cNvSpPr/>
          <p:nvPr/>
        </p:nvSpPr>
        <p:spPr>
          <a:xfrm>
            <a:off x="3669863" y="2981744"/>
            <a:ext cx="262500" cy="677100"/>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62"/>
          <p:cNvSpPr/>
          <p:nvPr/>
        </p:nvSpPr>
        <p:spPr>
          <a:xfrm rot="-1693986">
            <a:off x="5213768" y="2438374"/>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0" name="Google Shape;690;p62"/>
          <p:cNvSpPr/>
          <p:nvPr/>
        </p:nvSpPr>
        <p:spPr>
          <a:xfrm flipH="1" rot="-9106014">
            <a:off x="5213768" y="3381521"/>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1" name="Google Shape;691;p62"/>
          <p:cNvSpPr/>
          <p:nvPr/>
        </p:nvSpPr>
        <p:spPr>
          <a:xfrm flipH="1" rot="-9106014">
            <a:off x="7270468" y="2438409"/>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2" name="Google Shape;692;p62"/>
          <p:cNvSpPr/>
          <p:nvPr/>
        </p:nvSpPr>
        <p:spPr>
          <a:xfrm>
            <a:off x="368700" y="1615975"/>
            <a:ext cx="4014600" cy="338700"/>
          </a:xfrm>
          <a:prstGeom prst="rightArrow">
            <a:avLst>
              <a:gd fmla="val 50000" name="adj1"/>
              <a:gd fmla="val 2321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Phase1: 初回利用体験</a:t>
            </a:r>
            <a:endParaRPr b="1" sz="800">
              <a:solidFill>
                <a:schemeClr val="dk1"/>
              </a:solidFill>
              <a:latin typeface="Noto Sans JP"/>
              <a:ea typeface="Noto Sans JP"/>
              <a:cs typeface="Noto Sans JP"/>
              <a:sym typeface="Noto Sans JP"/>
            </a:endParaRPr>
          </a:p>
        </p:txBody>
      </p:sp>
      <p:sp>
        <p:nvSpPr>
          <p:cNvPr id="693" name="Google Shape;693;p62"/>
          <p:cNvSpPr/>
          <p:nvPr/>
        </p:nvSpPr>
        <p:spPr>
          <a:xfrm>
            <a:off x="4760688" y="1615975"/>
            <a:ext cx="4014600" cy="338700"/>
          </a:xfrm>
          <a:prstGeom prst="rightArrow">
            <a:avLst>
              <a:gd fmla="val 50000" name="adj1"/>
              <a:gd fmla="val 23219"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1"/>
                </a:solidFill>
                <a:latin typeface="Noto Sans JP"/>
                <a:ea typeface="Noto Sans JP"/>
                <a:cs typeface="Noto Sans JP"/>
                <a:sym typeface="Noto Sans JP"/>
              </a:rPr>
              <a:t>Phase2: 利用初月の習慣掲載</a:t>
            </a:r>
            <a:endParaRPr b="1" sz="800">
              <a:solidFill>
                <a:schemeClr val="dk1"/>
              </a:solidFill>
              <a:latin typeface="Noto Sans JP"/>
              <a:ea typeface="Noto Sans JP"/>
              <a:cs typeface="Noto Sans JP"/>
              <a:sym typeface="Noto Sans JP"/>
            </a:endParaRPr>
          </a:p>
        </p:txBody>
      </p:sp>
      <p:pic>
        <p:nvPicPr>
          <p:cNvPr id="694" name="Google Shape;694;p62" title="カレンダーのフリーアイコン2.png"/>
          <p:cNvPicPr preferRelativeResize="0"/>
          <p:nvPr/>
        </p:nvPicPr>
        <p:blipFill>
          <a:blip r:embed="rId3">
            <a:alphaModFix/>
          </a:blip>
          <a:stretch>
            <a:fillRect/>
          </a:stretch>
        </p:blipFill>
        <p:spPr>
          <a:xfrm>
            <a:off x="880150" y="3341075"/>
            <a:ext cx="187025" cy="187025"/>
          </a:xfrm>
          <a:prstGeom prst="rect">
            <a:avLst/>
          </a:prstGeom>
          <a:noFill/>
          <a:ln>
            <a:noFill/>
          </a:ln>
        </p:spPr>
      </p:pic>
      <p:pic>
        <p:nvPicPr>
          <p:cNvPr id="695" name="Google Shape;695;p62" title="握手のアイコン.png"/>
          <p:cNvPicPr preferRelativeResize="0"/>
          <p:nvPr/>
        </p:nvPicPr>
        <p:blipFill>
          <a:blip r:embed="rId4">
            <a:alphaModFix/>
          </a:blip>
          <a:stretch>
            <a:fillRect/>
          </a:stretch>
        </p:blipFill>
        <p:spPr>
          <a:xfrm>
            <a:off x="2679338" y="2711938"/>
            <a:ext cx="187025" cy="187025"/>
          </a:xfrm>
          <a:prstGeom prst="rect">
            <a:avLst/>
          </a:prstGeom>
          <a:noFill/>
          <a:ln>
            <a:noFill/>
          </a:ln>
        </p:spPr>
      </p:pic>
      <p:pic>
        <p:nvPicPr>
          <p:cNvPr id="696" name="Google Shape;696;p62" title="デスクワークの無料アイコン2.png"/>
          <p:cNvPicPr preferRelativeResize="0"/>
          <p:nvPr/>
        </p:nvPicPr>
        <p:blipFill>
          <a:blip r:embed="rId5">
            <a:alphaModFix/>
          </a:blip>
          <a:stretch>
            <a:fillRect/>
          </a:stretch>
        </p:blipFill>
        <p:spPr>
          <a:xfrm>
            <a:off x="2679338" y="3341075"/>
            <a:ext cx="187025" cy="187025"/>
          </a:xfrm>
          <a:prstGeom prst="rect">
            <a:avLst/>
          </a:prstGeom>
          <a:noFill/>
          <a:ln>
            <a:noFill/>
          </a:ln>
        </p:spPr>
      </p:pic>
      <p:pic>
        <p:nvPicPr>
          <p:cNvPr id="697" name="Google Shape;697;p62" title="イイネの手のフリーアイコン.png"/>
          <p:cNvPicPr preferRelativeResize="0"/>
          <p:nvPr/>
        </p:nvPicPr>
        <p:blipFill>
          <a:blip r:embed="rId6">
            <a:alphaModFix/>
          </a:blip>
          <a:stretch>
            <a:fillRect/>
          </a:stretch>
        </p:blipFill>
        <p:spPr>
          <a:xfrm>
            <a:off x="2679350" y="3970200"/>
            <a:ext cx="187025" cy="187025"/>
          </a:xfrm>
          <a:prstGeom prst="rect">
            <a:avLst/>
          </a:prstGeom>
          <a:noFill/>
          <a:ln>
            <a:noFill/>
          </a:ln>
        </p:spPr>
      </p:pic>
      <p:pic>
        <p:nvPicPr>
          <p:cNvPr id="698" name="Google Shape;698;p62" title="カレンダーアイコン8.png"/>
          <p:cNvPicPr preferRelativeResize="0"/>
          <p:nvPr/>
        </p:nvPicPr>
        <p:blipFill>
          <a:blip r:embed="rId7">
            <a:alphaModFix/>
          </a:blip>
          <a:stretch>
            <a:fillRect/>
          </a:stretch>
        </p:blipFill>
        <p:spPr>
          <a:xfrm>
            <a:off x="4482263" y="3341063"/>
            <a:ext cx="187025" cy="187025"/>
          </a:xfrm>
          <a:prstGeom prst="rect">
            <a:avLst/>
          </a:prstGeom>
          <a:noFill/>
          <a:ln>
            <a:noFill/>
          </a:ln>
        </p:spPr>
      </p:pic>
      <p:pic>
        <p:nvPicPr>
          <p:cNvPr id="699" name="Google Shape;699;p62" title="リピートボタンアイコン3.png"/>
          <p:cNvPicPr preferRelativeResize="0"/>
          <p:nvPr/>
        </p:nvPicPr>
        <p:blipFill>
          <a:blip r:embed="rId8">
            <a:alphaModFix/>
          </a:blip>
          <a:stretch>
            <a:fillRect/>
          </a:stretch>
        </p:blipFill>
        <p:spPr>
          <a:xfrm>
            <a:off x="6277650" y="2313050"/>
            <a:ext cx="187025" cy="187025"/>
          </a:xfrm>
          <a:prstGeom prst="rect">
            <a:avLst/>
          </a:prstGeom>
          <a:solidFill>
            <a:schemeClr val="accent6"/>
          </a:solidFill>
          <a:ln>
            <a:noFill/>
          </a:ln>
        </p:spPr>
      </p:pic>
      <p:cxnSp>
        <p:nvCxnSpPr>
          <p:cNvPr id="700" name="Google Shape;700;p62"/>
          <p:cNvCxnSpPr>
            <a:stCxn id="680" idx="3"/>
            <a:endCxn id="682" idx="2"/>
          </p:cNvCxnSpPr>
          <p:nvPr/>
        </p:nvCxnSpPr>
        <p:spPr>
          <a:xfrm>
            <a:off x="3298138" y="3320204"/>
            <a:ext cx="1273800" cy="277800"/>
          </a:xfrm>
          <a:prstGeom prst="bentConnector4">
            <a:avLst>
              <a:gd fmla="val 29383" name="adj1"/>
              <a:gd fmla="val 185665" name="adj2"/>
            </a:avLst>
          </a:prstGeom>
          <a:noFill/>
          <a:ln cap="flat" cmpd="sng" w="19050">
            <a:solidFill>
              <a:schemeClr val="dk2"/>
            </a:solidFill>
            <a:prstDash val="dot"/>
            <a:round/>
            <a:headEnd len="med" w="med" type="none"/>
            <a:tailEnd len="med" w="med" type="triangle"/>
          </a:ln>
        </p:spPr>
      </p:cxnSp>
      <p:cxnSp>
        <p:nvCxnSpPr>
          <p:cNvPr id="701" name="Google Shape;701;p62"/>
          <p:cNvCxnSpPr>
            <a:stCxn id="685" idx="3"/>
            <a:endCxn id="702" idx="2"/>
          </p:cNvCxnSpPr>
          <p:nvPr/>
        </p:nvCxnSpPr>
        <p:spPr>
          <a:xfrm>
            <a:off x="6896450" y="3453012"/>
            <a:ext cx="1273800" cy="144900"/>
          </a:xfrm>
          <a:prstGeom prst="bentConnector4">
            <a:avLst>
              <a:gd fmla="val 29384" name="adj1"/>
              <a:gd fmla="val 264300" name="adj2"/>
            </a:avLst>
          </a:prstGeom>
          <a:noFill/>
          <a:ln cap="flat" cmpd="sng" w="19050">
            <a:solidFill>
              <a:schemeClr val="dk2"/>
            </a:solidFill>
            <a:prstDash val="dot"/>
            <a:round/>
            <a:headEnd len="med" w="med" type="none"/>
            <a:tailEnd len="med" w="med" type="triangle"/>
          </a:ln>
        </p:spPr>
      </p:cxnSp>
      <p:sp>
        <p:nvSpPr>
          <p:cNvPr id="703" name="Google Shape;703;p62"/>
          <p:cNvSpPr txBox="1"/>
          <p:nvPr/>
        </p:nvSpPr>
        <p:spPr>
          <a:xfrm>
            <a:off x="3340733" y="4163721"/>
            <a:ext cx="1452300" cy="455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初回利用体験が追加掲載に</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どう影響するか？</a:t>
            </a:r>
            <a:endParaRPr b="1" sz="800">
              <a:latin typeface="Noto Sans JP"/>
              <a:ea typeface="Noto Sans JP"/>
              <a:cs typeface="Noto Sans JP"/>
              <a:sym typeface="Noto Sans JP"/>
            </a:endParaRPr>
          </a:p>
        </p:txBody>
      </p:sp>
      <p:pic>
        <p:nvPicPr>
          <p:cNvPr id="704" name="Google Shape;704;p62" title="虫眼鏡の無料アイコン10.png"/>
          <p:cNvPicPr preferRelativeResize="0"/>
          <p:nvPr/>
        </p:nvPicPr>
        <p:blipFill>
          <a:blip r:embed="rId9">
            <a:alphaModFix/>
          </a:blip>
          <a:stretch>
            <a:fillRect/>
          </a:stretch>
        </p:blipFill>
        <p:spPr>
          <a:xfrm>
            <a:off x="3973370" y="3934359"/>
            <a:ext cx="187025" cy="187025"/>
          </a:xfrm>
          <a:prstGeom prst="rect">
            <a:avLst/>
          </a:prstGeom>
          <a:noFill/>
          <a:ln>
            <a:noFill/>
          </a:ln>
        </p:spPr>
      </p:pic>
      <p:sp>
        <p:nvSpPr>
          <p:cNvPr id="705" name="Google Shape;705;p62"/>
          <p:cNvSpPr txBox="1"/>
          <p:nvPr/>
        </p:nvSpPr>
        <p:spPr>
          <a:xfrm>
            <a:off x="6941383" y="4089921"/>
            <a:ext cx="1452300" cy="6033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latin typeface="Noto Sans JP"/>
                <a:ea typeface="Noto Sans JP"/>
                <a:cs typeface="Noto Sans JP"/>
                <a:sym typeface="Noto Sans JP"/>
              </a:rPr>
              <a:t>利用初月の習慣掲載と稼働パフォーマンスが翌月継続にどう影響するか？</a:t>
            </a:r>
            <a:endParaRPr b="1" sz="800">
              <a:latin typeface="Noto Sans JP"/>
              <a:ea typeface="Noto Sans JP"/>
              <a:cs typeface="Noto Sans JP"/>
              <a:sym typeface="Noto Sans JP"/>
            </a:endParaRPr>
          </a:p>
        </p:txBody>
      </p:sp>
      <p:sp>
        <p:nvSpPr>
          <p:cNvPr id="706" name="Google Shape;706;p62"/>
          <p:cNvSpPr/>
          <p:nvPr/>
        </p:nvSpPr>
        <p:spPr>
          <a:xfrm rot="-1693986">
            <a:off x="7270468" y="3381486"/>
            <a:ext cx="258107" cy="689492"/>
          </a:xfrm>
          <a:prstGeom prst="rightArrow">
            <a:avLst>
              <a:gd fmla="val 50000" name="adj1"/>
              <a:gd fmla="val 2321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62"/>
          <p:cNvSpPr/>
          <p:nvPr/>
        </p:nvSpPr>
        <p:spPr>
          <a:xfrm>
            <a:off x="7645025" y="3042557"/>
            <a:ext cx="1050600" cy="555300"/>
          </a:xfrm>
          <a:prstGeom prst="roundRect">
            <a:avLst>
              <a:gd fmla="val 10118" name="adj"/>
            </a:avLst>
          </a:prstGeom>
          <a:solidFill>
            <a:schemeClr val="dk2"/>
          </a:solidFill>
          <a:ln cap="flat" cmpd="sng" w="38100">
            <a:solidFill>
              <a:srgbClr val="FFE08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翌月継続</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b="1" sz="1000">
              <a:latin typeface="Noto Sans JP"/>
              <a:ea typeface="Noto Sans JP"/>
              <a:cs typeface="Noto Sans JP"/>
              <a:sym typeface="Noto Sans JP"/>
            </a:endParaRPr>
          </a:p>
        </p:txBody>
      </p:sp>
      <p:pic>
        <p:nvPicPr>
          <p:cNvPr id="707" name="Google Shape;707;p62" title="虫眼鏡の無料アイコン10.png"/>
          <p:cNvPicPr preferRelativeResize="0"/>
          <p:nvPr/>
        </p:nvPicPr>
        <p:blipFill>
          <a:blip r:embed="rId9">
            <a:alphaModFix/>
          </a:blip>
          <a:stretch>
            <a:fillRect/>
          </a:stretch>
        </p:blipFill>
        <p:spPr>
          <a:xfrm>
            <a:off x="7574008" y="3934359"/>
            <a:ext cx="187025" cy="187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63"/>
          <p:cNvSpPr/>
          <p:nvPr/>
        </p:nvSpPr>
        <p:spPr>
          <a:xfrm rot="-2528654">
            <a:off x="2316697" y="4015008"/>
            <a:ext cx="366170" cy="143784"/>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13" name="Google Shape;713;p63" title="グラフ"/>
          <p:cNvPicPr preferRelativeResize="0"/>
          <p:nvPr/>
        </p:nvPicPr>
        <p:blipFill>
          <a:blip r:embed="rId3">
            <a:alphaModFix/>
          </a:blip>
          <a:stretch>
            <a:fillRect/>
          </a:stretch>
        </p:blipFill>
        <p:spPr>
          <a:xfrm>
            <a:off x="862807" y="1698550"/>
            <a:ext cx="7425943" cy="3040876"/>
          </a:xfrm>
          <a:prstGeom prst="rect">
            <a:avLst/>
          </a:prstGeom>
          <a:noFill/>
          <a:ln>
            <a:noFill/>
          </a:ln>
        </p:spPr>
      </p:pic>
      <p:sp>
        <p:nvSpPr>
          <p:cNvPr id="714" name="Google Shape;714;p6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15" name="Google Shape;715;p6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利用初月に3~4日分の募集掲載があると翌月継続率が安定する</a:t>
            </a:r>
            <a:endParaRPr/>
          </a:p>
        </p:txBody>
      </p:sp>
      <p:sp>
        <p:nvSpPr>
          <p:cNvPr id="716" name="Google Shape;716;p63"/>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利用初月の掲載募集日数と翌月継続率の関係を集計。利用初月の掲載募集日数が増えるほど翌月も継続して募集を掲載する。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利用初月に4日以上（週1日以上）の募集掲載があると、翌月継続率は50%を超える。</a:t>
            </a:r>
            <a:endParaRPr sz="1200">
              <a:latin typeface="Noto Sans JP"/>
              <a:ea typeface="Noto Sans JP"/>
              <a:cs typeface="Noto Sans JP"/>
              <a:sym typeface="Noto Sans JP"/>
            </a:endParaRPr>
          </a:p>
        </p:txBody>
      </p:sp>
      <p:sp>
        <p:nvSpPr>
          <p:cNvPr id="717" name="Google Shape;717;p63"/>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LowTouch</a:t>
            </a:r>
            <a:r>
              <a:rPr lang="ja" sz="1000">
                <a:solidFill>
                  <a:srgbClr val="808080"/>
                </a:solidFill>
                <a:latin typeface="Noto Sans SemiBold"/>
                <a:ea typeface="Noto Sans SemiBold"/>
                <a:cs typeface="Noto Sans SemiBold"/>
                <a:sym typeface="Noto Sans SemiBold"/>
              </a:rPr>
              <a:t>店舗の利用初月の掲載募集日数と翌月継続率</a:t>
            </a:r>
            <a:endParaRPr sz="1000">
              <a:solidFill>
                <a:srgbClr val="808080"/>
              </a:solidFill>
              <a:latin typeface="Noto Sans SemiBold"/>
              <a:ea typeface="Noto Sans SemiBold"/>
              <a:cs typeface="Noto Sans SemiBold"/>
              <a:sym typeface="Noto Sans SemiBold"/>
            </a:endParaRPr>
          </a:p>
        </p:txBody>
      </p:sp>
      <p:sp>
        <p:nvSpPr>
          <p:cNvPr id="718" name="Google Shape;718;p63"/>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https://docs.google.com/spreadsheets/d/1VlYTSFJRUFDtw1kHuFzHLWfSJakMuAQH8yrISJJvOXk/edit?pli=1&amp;gid=1982118576#gid=1982118576&amp;range=A424</a:t>
            </a:r>
            <a:endParaRPr sz="600">
              <a:solidFill>
                <a:schemeClr val="accent2"/>
              </a:solidFill>
              <a:latin typeface="Noto Sans JP"/>
              <a:ea typeface="Noto Sans JP"/>
              <a:cs typeface="Noto Sans JP"/>
              <a:sym typeface="Noto Sans JP"/>
            </a:endParaRPr>
          </a:p>
        </p:txBody>
      </p:sp>
      <p:sp>
        <p:nvSpPr>
          <p:cNvPr id="719" name="Google Shape;719;p63"/>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cxnSp>
        <p:nvCxnSpPr>
          <p:cNvPr id="720" name="Google Shape;720;p63"/>
          <p:cNvCxnSpPr/>
          <p:nvPr/>
        </p:nvCxnSpPr>
        <p:spPr>
          <a:xfrm flipH="1">
            <a:off x="2670325" y="2455863"/>
            <a:ext cx="1318200" cy="269400"/>
          </a:xfrm>
          <a:prstGeom prst="straightConnector1">
            <a:avLst/>
          </a:prstGeom>
          <a:noFill/>
          <a:ln cap="flat" cmpd="sng" w="19050">
            <a:solidFill>
              <a:srgbClr val="808080"/>
            </a:solidFill>
            <a:prstDash val="solid"/>
            <a:round/>
            <a:headEnd len="med" w="med" type="stealth"/>
            <a:tailEnd len="med" w="med" type="none"/>
          </a:ln>
        </p:spPr>
      </p:cxnSp>
      <p:cxnSp>
        <p:nvCxnSpPr>
          <p:cNvPr id="721" name="Google Shape;721;p63"/>
          <p:cNvCxnSpPr/>
          <p:nvPr/>
        </p:nvCxnSpPr>
        <p:spPr>
          <a:xfrm rot="10800000">
            <a:off x="1443400" y="3072913"/>
            <a:ext cx="6213600" cy="0"/>
          </a:xfrm>
          <a:prstGeom prst="straightConnector1">
            <a:avLst/>
          </a:prstGeom>
          <a:noFill/>
          <a:ln cap="flat" cmpd="sng" w="19050">
            <a:solidFill>
              <a:schemeClr val="dk2"/>
            </a:solidFill>
            <a:prstDash val="dot"/>
            <a:round/>
            <a:headEnd len="med" w="med" type="none"/>
            <a:tailEnd len="med" w="med" type="none"/>
          </a:ln>
        </p:spPr>
      </p:cxnSp>
      <p:sp>
        <p:nvSpPr>
          <p:cNvPr id="722" name="Google Shape;722;p63"/>
          <p:cNvSpPr txBox="1"/>
          <p:nvPr/>
        </p:nvSpPr>
        <p:spPr>
          <a:xfrm rot="-5400000">
            <a:off x="543050" y="29286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723" name="Google Shape;723;p63"/>
          <p:cNvSpPr txBox="1"/>
          <p:nvPr/>
        </p:nvSpPr>
        <p:spPr>
          <a:xfrm rot="5400000">
            <a:off x="7997050" y="29286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
        <p:nvSpPr>
          <p:cNvPr id="724" name="Google Shape;724;p63"/>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掲載</a:t>
            </a:r>
            <a:r>
              <a:rPr lang="ja" sz="600">
                <a:solidFill>
                  <a:schemeClr val="accent2"/>
                </a:solidFill>
                <a:latin typeface="Noto Sans JP"/>
                <a:ea typeface="Noto Sans JP"/>
                <a:cs typeface="Noto Sans JP"/>
                <a:sym typeface="Noto Sans JP"/>
              </a:rPr>
              <a:t>募集</a:t>
            </a:r>
            <a:r>
              <a:rPr lang="ja" sz="600">
                <a:solidFill>
                  <a:schemeClr val="accent2"/>
                </a:solidFill>
                <a:latin typeface="Noto Sans JP"/>
                <a:ea typeface="Noto Sans JP"/>
                <a:cs typeface="Noto Sans JP"/>
                <a:sym typeface="Noto Sans JP"/>
              </a:rPr>
              <a:t>日数: 募集の仕事開始日単位で利用初月に何日間の募集を掲載したか</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4"/>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30" name="Google Shape;730;p64"/>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店舗が追加掲載しやすいのは初回掲載日と同じ曜日</a:t>
            </a:r>
            <a:endParaRPr/>
          </a:p>
        </p:txBody>
      </p:sp>
      <p:sp>
        <p:nvSpPr>
          <p:cNvPr id="731" name="Google Shape;731;p64"/>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初回掲載日からの日数が7の倍数（同じ曜日）の日に募集を掲載する店舗が多い。継続して募集を掲載してもらうためには、店舗の週次サイクルが途切れる前（6日目,13日目）のタイミングで再掲載を促すことが効果的であると考えられる。</a:t>
            </a:r>
            <a:endParaRPr sz="1200">
              <a:latin typeface="Noto Sans JP"/>
              <a:ea typeface="Noto Sans JP"/>
              <a:cs typeface="Noto Sans JP"/>
              <a:sym typeface="Noto Sans JP"/>
            </a:endParaRPr>
          </a:p>
        </p:txBody>
      </p:sp>
      <p:sp>
        <p:nvSpPr>
          <p:cNvPr id="732" name="Google Shape;732;p64"/>
          <p:cNvSpPr txBox="1"/>
          <p:nvPr/>
        </p:nvSpPr>
        <p:spPr>
          <a:xfrm>
            <a:off x="187525" y="1250800"/>
            <a:ext cx="4384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LowTouch店舗の利用初月の募集掲載日（初回掲載日からの日数）</a:t>
            </a:r>
            <a:endParaRPr sz="1000">
              <a:solidFill>
                <a:srgbClr val="808080"/>
              </a:solidFill>
              <a:latin typeface="Noto Sans SemiBold"/>
              <a:ea typeface="Noto Sans SemiBold"/>
              <a:cs typeface="Noto Sans SemiBold"/>
              <a:sym typeface="Noto Sans SemiBold"/>
            </a:endParaRPr>
          </a:p>
        </p:txBody>
      </p:sp>
      <p:sp>
        <p:nvSpPr>
          <p:cNvPr id="733" name="Google Shape;733;p64"/>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https://docs.google.com/spreadsheets/d/1VlYTSFJRUFDtw1kHuFzHLWfSJakMuAQH8yrISJJvOXk/edit?pli=1&amp;gid=1083350449#gid=1083350449&amp;range=A51</a:t>
            </a:r>
            <a:endParaRPr sz="600">
              <a:solidFill>
                <a:schemeClr val="accent2"/>
              </a:solidFill>
              <a:latin typeface="Noto Sans JP"/>
              <a:ea typeface="Noto Sans JP"/>
              <a:cs typeface="Noto Sans JP"/>
              <a:sym typeface="Noto Sans JP"/>
            </a:endParaRPr>
          </a:p>
        </p:txBody>
      </p:sp>
      <p:sp>
        <p:nvSpPr>
          <p:cNvPr id="734" name="Google Shape;734;p64"/>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sp>
        <p:nvSpPr>
          <p:cNvPr id="735" name="Google Shape;735;p64"/>
          <p:cNvSpPr/>
          <p:nvPr/>
        </p:nvSpPr>
        <p:spPr>
          <a:xfrm rot="5654">
            <a:off x="2991725"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6" name="Google Shape;736;p64"/>
          <p:cNvSpPr/>
          <p:nvPr/>
        </p:nvSpPr>
        <p:spPr>
          <a:xfrm rot="5654">
            <a:off x="4484575"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64"/>
          <p:cNvSpPr/>
          <p:nvPr/>
        </p:nvSpPr>
        <p:spPr>
          <a:xfrm rot="5654">
            <a:off x="6075075"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8" name="Google Shape;738;p64"/>
          <p:cNvSpPr/>
          <p:nvPr/>
        </p:nvSpPr>
        <p:spPr>
          <a:xfrm rot="5654">
            <a:off x="7605150" y="2140950"/>
            <a:ext cx="182400" cy="22257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39" name="Google Shape;739;p64" title="グラフ"/>
          <p:cNvPicPr preferRelativeResize="0"/>
          <p:nvPr/>
        </p:nvPicPr>
        <p:blipFill>
          <a:blip r:embed="rId4">
            <a:alphaModFix/>
          </a:blip>
          <a:stretch>
            <a:fillRect/>
          </a:stretch>
        </p:blipFill>
        <p:spPr>
          <a:xfrm>
            <a:off x="937410" y="1698550"/>
            <a:ext cx="7269178" cy="30408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45" name="Google Shape;745;p6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利用初月の稼働率が高いほど翌月継続率は上がるものの、募集日数が少ないと継続しない</a:t>
            </a:r>
            <a:endParaRPr/>
          </a:p>
        </p:txBody>
      </p:sp>
      <p:sp>
        <p:nvSpPr>
          <p:cNvPr id="746" name="Google Shape;746;p65"/>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利用初月の稼働率が80%以上であっても、掲載日数が4日に満たない店舗では翌月継続率が44%程度。</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反対に、利用初月の稼働率が60%以下であっても掲載日数が7日を超えると翌月も継続して掲載する店舗が多い。</a:t>
            </a:r>
            <a:endParaRPr sz="1200">
              <a:latin typeface="Noto Sans JP"/>
              <a:ea typeface="Noto Sans JP"/>
              <a:cs typeface="Noto Sans JP"/>
              <a:sym typeface="Noto Sans JP"/>
            </a:endParaRPr>
          </a:p>
        </p:txBody>
      </p:sp>
      <p:sp>
        <p:nvSpPr>
          <p:cNvPr id="747" name="Google Shape;747;p65"/>
          <p:cNvSpPr txBox="1"/>
          <p:nvPr/>
        </p:nvSpPr>
        <p:spPr>
          <a:xfrm>
            <a:off x="187525" y="1250800"/>
            <a:ext cx="4959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LowTouch店舗の利用初月の稼働率と翌月継続率 掲載日数別 </a:t>
            </a:r>
            <a:endParaRPr sz="1000">
              <a:solidFill>
                <a:srgbClr val="808080"/>
              </a:solidFill>
              <a:latin typeface="Noto Sans SemiBold"/>
              <a:ea typeface="Noto Sans SemiBold"/>
              <a:cs typeface="Noto Sans SemiBold"/>
              <a:sym typeface="Noto Sans SemiBold"/>
            </a:endParaRPr>
          </a:p>
        </p:txBody>
      </p:sp>
      <p:sp>
        <p:nvSpPr>
          <p:cNvPr id="748" name="Google Shape;748;p65"/>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https://docs.google.com/spreadsheets/d/1VlYTSFJRUFDtw1kHuFzHLWfSJakMuAQH8yrISJJvOXk/edit?pli=1&amp;gid=1083350449#gid=1083350449&amp;range=B2</a:t>
            </a:r>
            <a:endParaRPr sz="600">
              <a:solidFill>
                <a:schemeClr val="accent2"/>
              </a:solidFill>
              <a:latin typeface="Noto Sans JP"/>
              <a:ea typeface="Noto Sans JP"/>
              <a:cs typeface="Noto Sans JP"/>
              <a:sym typeface="Noto Sans JP"/>
            </a:endParaRPr>
          </a:p>
        </p:txBody>
      </p:sp>
      <p:pic>
        <p:nvPicPr>
          <p:cNvPr id="749" name="Google Shape;749;p65" title="グラフ"/>
          <p:cNvPicPr preferRelativeResize="0"/>
          <p:nvPr/>
        </p:nvPicPr>
        <p:blipFill>
          <a:blip r:embed="rId4">
            <a:alphaModFix/>
          </a:blip>
          <a:stretch>
            <a:fillRect/>
          </a:stretch>
        </p:blipFill>
        <p:spPr>
          <a:xfrm>
            <a:off x="956225" y="1698550"/>
            <a:ext cx="7231552" cy="2961250"/>
          </a:xfrm>
          <a:prstGeom prst="rect">
            <a:avLst/>
          </a:prstGeom>
          <a:noFill/>
          <a:ln>
            <a:noFill/>
          </a:ln>
        </p:spPr>
      </p:pic>
      <p:sp>
        <p:nvSpPr>
          <p:cNvPr id="750" name="Google Shape;750;p65"/>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sp>
        <p:nvSpPr>
          <p:cNvPr id="751" name="Google Shape;751;p65"/>
          <p:cNvSpPr txBox="1"/>
          <p:nvPr/>
        </p:nvSpPr>
        <p:spPr>
          <a:xfrm rot="-5400000">
            <a:off x="502625" y="2932110"/>
            <a:ext cx="630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cxnSp>
        <p:nvCxnSpPr>
          <p:cNvPr id="752" name="Google Shape;752;p65"/>
          <p:cNvCxnSpPr/>
          <p:nvPr/>
        </p:nvCxnSpPr>
        <p:spPr>
          <a:xfrm flipH="1" rot="10800000">
            <a:off x="2491975" y="2708150"/>
            <a:ext cx="290400" cy="452400"/>
          </a:xfrm>
          <a:prstGeom prst="straightConnector1">
            <a:avLst/>
          </a:prstGeom>
          <a:noFill/>
          <a:ln cap="flat" cmpd="sng" w="19050">
            <a:solidFill>
              <a:srgbClr val="808080"/>
            </a:solidFill>
            <a:prstDash val="solid"/>
            <a:round/>
            <a:headEnd len="med" w="med" type="oval"/>
            <a:tailEnd len="med" w="med" type="none"/>
          </a:ln>
        </p:spPr>
      </p:cxnSp>
      <p:sp>
        <p:nvSpPr>
          <p:cNvPr id="753" name="Google Shape;753;p65"/>
          <p:cNvSpPr txBox="1"/>
          <p:nvPr/>
        </p:nvSpPr>
        <p:spPr>
          <a:xfrm>
            <a:off x="1486825" y="2288913"/>
            <a:ext cx="2361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稼働率80%~でも翌月継続率 44.4%</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掲載日数が少ないうちは稼働パフォーマンスが</a:t>
            </a:r>
            <a:endParaRPr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よくても継続率が低い</a:t>
            </a:r>
            <a:endParaRPr sz="800">
              <a:solidFill>
                <a:schemeClr val="lt1"/>
              </a:solidFill>
              <a:latin typeface="Noto Sans JP"/>
              <a:ea typeface="Noto Sans JP"/>
              <a:cs typeface="Noto Sans JP"/>
              <a:sym typeface="Noto Sans JP"/>
            </a:endParaRPr>
          </a:p>
        </p:txBody>
      </p:sp>
      <p:sp>
        <p:nvSpPr>
          <p:cNvPr id="754" name="Google Shape;754;p65"/>
          <p:cNvSpPr txBox="1"/>
          <p:nvPr/>
        </p:nvSpPr>
        <p:spPr>
          <a:xfrm>
            <a:off x="6467850" y="3485725"/>
            <a:ext cx="2496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稼働率40%</a:t>
            </a:r>
            <a:r>
              <a:rPr b="1" lang="ja" sz="800">
                <a:solidFill>
                  <a:schemeClr val="lt1"/>
                </a:solidFill>
                <a:latin typeface="Noto Sans JP"/>
                <a:ea typeface="Noto Sans JP"/>
                <a:cs typeface="Noto Sans JP"/>
                <a:sym typeface="Noto Sans JP"/>
              </a:rPr>
              <a:t>未満</a:t>
            </a:r>
            <a:r>
              <a:rPr b="1" lang="ja" sz="800">
                <a:solidFill>
                  <a:schemeClr val="lt1"/>
                </a:solidFill>
                <a:latin typeface="Noto Sans JP"/>
                <a:ea typeface="Noto Sans JP"/>
                <a:cs typeface="Noto Sans JP"/>
                <a:sym typeface="Noto Sans JP"/>
              </a:rPr>
              <a:t>でも翌月継続率 66.8%</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稼働パフォーマンスが高いほうが継続するものの</a:t>
            </a:r>
            <a:endParaRPr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ニーズが強いと継続して掲載は行う</a:t>
            </a:r>
            <a:endParaRPr sz="800">
              <a:solidFill>
                <a:schemeClr val="lt1"/>
              </a:solidFill>
              <a:latin typeface="Noto Sans JP"/>
              <a:ea typeface="Noto Sans JP"/>
              <a:cs typeface="Noto Sans JP"/>
              <a:sym typeface="Noto Sans JP"/>
            </a:endParaRPr>
          </a:p>
        </p:txBody>
      </p:sp>
      <p:cxnSp>
        <p:nvCxnSpPr>
          <p:cNvPr id="755" name="Google Shape;755;p65"/>
          <p:cNvCxnSpPr/>
          <p:nvPr/>
        </p:nvCxnSpPr>
        <p:spPr>
          <a:xfrm>
            <a:off x="7290675" y="3252175"/>
            <a:ext cx="185400" cy="246000"/>
          </a:xfrm>
          <a:prstGeom prst="straightConnector1">
            <a:avLst/>
          </a:prstGeom>
          <a:noFill/>
          <a:ln cap="flat" cmpd="sng" w="19050">
            <a:solidFill>
              <a:srgbClr val="808080"/>
            </a:solidFill>
            <a:prstDash val="solid"/>
            <a:round/>
            <a:headEnd len="med" w="med" type="oval"/>
            <a:tailEnd len="med" w="med" type="none"/>
          </a:ln>
        </p:spPr>
      </p:cxnSp>
      <p:sp>
        <p:nvSpPr>
          <p:cNvPr id="756" name="Google Shape;756;p65"/>
          <p:cNvSpPr txBox="1"/>
          <p:nvPr/>
        </p:nvSpPr>
        <p:spPr>
          <a:xfrm>
            <a:off x="3912900" y="44625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62" name="Google Shape;762;p6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初月</a:t>
            </a:r>
            <a:r>
              <a:rPr lang="ja"/>
              <a:t>のリピーター稼働による翌月継続率への影響は限定的</a:t>
            </a:r>
            <a:endParaRPr/>
          </a:p>
        </p:txBody>
      </p:sp>
      <p:sp>
        <p:nvSpPr>
          <p:cNvPr id="763" name="Google Shape;763;p66"/>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利用初月にリピーターが稼働したか否かによって翌月継続率が大きく変化するのは掲載日数が10日以上の店舗に限られる。</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掲載日数が多いタイミー依存度や活用意欲が高い店舗では、リピーターが明確な戦力として評価されやすいと考えられる。</a:t>
            </a:r>
            <a:endParaRPr sz="1200">
              <a:latin typeface="Noto Sans JP"/>
              <a:ea typeface="Noto Sans JP"/>
              <a:cs typeface="Noto Sans JP"/>
              <a:sym typeface="Noto Sans JP"/>
            </a:endParaRPr>
          </a:p>
        </p:txBody>
      </p:sp>
      <p:sp>
        <p:nvSpPr>
          <p:cNvPr id="764" name="Google Shape;764;p66"/>
          <p:cNvSpPr txBox="1"/>
          <p:nvPr/>
        </p:nvSpPr>
        <p:spPr>
          <a:xfrm>
            <a:off x="187525" y="1250800"/>
            <a:ext cx="4939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LowTouch店舗の利用初月のリピーター稼働有無と翌月継続率 掲載日数別</a:t>
            </a:r>
            <a:endParaRPr sz="1000">
              <a:solidFill>
                <a:srgbClr val="808080"/>
              </a:solidFill>
              <a:latin typeface="Noto Sans SemiBold"/>
              <a:ea typeface="Noto Sans SemiBold"/>
              <a:cs typeface="Noto Sans SemiBold"/>
              <a:sym typeface="Noto Sans SemiBold"/>
            </a:endParaRPr>
          </a:p>
        </p:txBody>
      </p:sp>
      <p:sp>
        <p:nvSpPr>
          <p:cNvPr id="765" name="Google Shape;765;p66"/>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https://docs.google.com/spreadsheets/d/1VlYTSFJRUFDtw1kHuFzHLWfSJakMuAQH8yrISJJvOXk/edit?pli=1&amp;gid=1083350449#gid=1083350449&amp;range=J2</a:t>
            </a:r>
            <a:endParaRPr sz="600">
              <a:solidFill>
                <a:schemeClr val="accent2"/>
              </a:solidFill>
              <a:latin typeface="Noto Sans JP"/>
              <a:ea typeface="Noto Sans JP"/>
              <a:cs typeface="Noto Sans JP"/>
              <a:sym typeface="Noto Sans JP"/>
            </a:endParaRPr>
          </a:p>
        </p:txBody>
      </p:sp>
      <p:sp>
        <p:nvSpPr>
          <p:cNvPr id="766" name="Google Shape;766;p66"/>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767" name="Google Shape;767;p66" title="グラフ"/>
          <p:cNvPicPr preferRelativeResize="0"/>
          <p:nvPr/>
        </p:nvPicPr>
        <p:blipFill>
          <a:blip r:embed="rId4">
            <a:alphaModFix/>
          </a:blip>
          <a:stretch>
            <a:fillRect/>
          </a:stretch>
        </p:blipFill>
        <p:spPr>
          <a:xfrm>
            <a:off x="961880" y="1698550"/>
            <a:ext cx="7220245" cy="2956662"/>
          </a:xfrm>
          <a:prstGeom prst="rect">
            <a:avLst/>
          </a:prstGeom>
          <a:noFill/>
          <a:ln>
            <a:noFill/>
          </a:ln>
        </p:spPr>
      </p:pic>
      <p:sp>
        <p:nvSpPr>
          <p:cNvPr id="768" name="Google Shape;768;p66"/>
          <p:cNvSpPr txBox="1"/>
          <p:nvPr/>
        </p:nvSpPr>
        <p:spPr>
          <a:xfrm rot="-5400000">
            <a:off x="502625" y="2932110"/>
            <a:ext cx="630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769" name="Google Shape;769;p66"/>
          <p:cNvSpPr txBox="1"/>
          <p:nvPr/>
        </p:nvSpPr>
        <p:spPr>
          <a:xfrm>
            <a:off x="6467850" y="3485725"/>
            <a:ext cx="2496300" cy="6033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800">
                <a:solidFill>
                  <a:schemeClr val="lt1"/>
                </a:solidFill>
                <a:latin typeface="Noto Sans JP"/>
                <a:ea typeface="Noto Sans JP"/>
                <a:cs typeface="Noto Sans JP"/>
                <a:sym typeface="Noto Sans JP"/>
              </a:rPr>
              <a:t>掲載日数10日以上では差が生じる</a:t>
            </a:r>
            <a:endParaRPr b="1"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リピーターが戦力として評価されやすい？</a:t>
            </a:r>
            <a:endParaRPr sz="800">
              <a:solidFill>
                <a:schemeClr val="lt1"/>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solidFill>
                  <a:schemeClr val="lt1"/>
                </a:solidFill>
                <a:latin typeface="Noto Sans JP"/>
                <a:ea typeface="Noto Sans JP"/>
                <a:cs typeface="Noto Sans JP"/>
                <a:sym typeface="Noto Sans JP"/>
              </a:rPr>
              <a:t>稼働率の高さと相関している可能性もあり</a:t>
            </a:r>
            <a:endParaRPr sz="800">
              <a:solidFill>
                <a:schemeClr val="lt1"/>
              </a:solidFill>
              <a:latin typeface="Noto Sans JP"/>
              <a:ea typeface="Noto Sans JP"/>
              <a:cs typeface="Noto Sans JP"/>
              <a:sym typeface="Noto Sans JP"/>
            </a:endParaRPr>
          </a:p>
        </p:txBody>
      </p:sp>
      <p:cxnSp>
        <p:nvCxnSpPr>
          <p:cNvPr id="770" name="Google Shape;770;p66"/>
          <p:cNvCxnSpPr/>
          <p:nvPr/>
        </p:nvCxnSpPr>
        <p:spPr>
          <a:xfrm>
            <a:off x="7259825" y="3120025"/>
            <a:ext cx="216300" cy="378300"/>
          </a:xfrm>
          <a:prstGeom prst="straightConnector1">
            <a:avLst/>
          </a:prstGeom>
          <a:noFill/>
          <a:ln cap="flat" cmpd="sng" w="19050">
            <a:solidFill>
              <a:srgbClr val="808080"/>
            </a:solidFill>
            <a:prstDash val="solid"/>
            <a:round/>
            <a:headEnd len="med" w="med" type="oval"/>
            <a:tailEnd len="med" w="med" type="none"/>
          </a:ln>
        </p:spPr>
      </p:cxnSp>
      <p:sp>
        <p:nvSpPr>
          <p:cNvPr id="771" name="Google Shape;771;p66"/>
          <p:cNvSpPr txBox="1"/>
          <p:nvPr/>
        </p:nvSpPr>
        <p:spPr>
          <a:xfrm>
            <a:off x="3912900" y="44625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77" name="Google Shape;777;p6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4回目の稼働で店舗の半分ではリピーターが発生する</a:t>
            </a:r>
            <a:endParaRPr/>
          </a:p>
        </p:txBody>
      </p:sp>
      <p:sp>
        <p:nvSpPr>
          <p:cNvPr id="778" name="Google Shape;778;p67"/>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募集規模や頻度によって変わるものの、平均的には4回目の稼働で店舗の半分でリピーター稼働が発生している。リピーターの戦力化というタイミーの価値を実感してもらう意味でも、利用初月に4回程度は募集を掲載してもらえている状態が理想。</a:t>
            </a:r>
            <a:endParaRPr sz="1200">
              <a:latin typeface="Noto Sans JP"/>
              <a:ea typeface="Noto Sans JP"/>
              <a:cs typeface="Noto Sans JP"/>
              <a:sym typeface="Noto Sans JP"/>
            </a:endParaRPr>
          </a:p>
        </p:txBody>
      </p:sp>
      <p:sp>
        <p:nvSpPr>
          <p:cNvPr id="779" name="Google Shape;779;p67"/>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LowTouch店舗の初回リピーター稼働割合</a:t>
            </a:r>
            <a:endParaRPr sz="1000">
              <a:solidFill>
                <a:srgbClr val="808080"/>
              </a:solidFill>
              <a:latin typeface="Noto Sans SemiBold"/>
              <a:ea typeface="Noto Sans SemiBold"/>
              <a:cs typeface="Noto Sans SemiBold"/>
              <a:sym typeface="Noto Sans SemiBold"/>
            </a:endParaRPr>
          </a:p>
        </p:txBody>
      </p:sp>
      <p:sp>
        <p:nvSpPr>
          <p:cNvPr id="780" name="Google Shape;780;p67"/>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https://docs.google.com/spreadsheets/d/1mE7kDB4zxw8CnBTSdPp7ojDPh8iWCLUXX-iZWkumfjs/edit?gid=1947948813#gid=1947948813&amp;range=A174</a:t>
            </a:r>
            <a:endParaRPr sz="600">
              <a:solidFill>
                <a:schemeClr val="accent2"/>
              </a:solidFill>
              <a:latin typeface="Noto Sans JP"/>
              <a:ea typeface="Noto Sans JP"/>
              <a:cs typeface="Noto Sans JP"/>
              <a:sym typeface="Noto Sans JP"/>
            </a:endParaRPr>
          </a:p>
        </p:txBody>
      </p:sp>
      <p:sp>
        <p:nvSpPr>
          <p:cNvPr id="781" name="Google Shape;781;p67"/>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782" name="Google Shape;782;p67" title="グラフ"/>
          <p:cNvPicPr preferRelativeResize="0"/>
          <p:nvPr/>
        </p:nvPicPr>
        <p:blipFill>
          <a:blip r:embed="rId4">
            <a:alphaModFix/>
          </a:blip>
          <a:stretch>
            <a:fillRect/>
          </a:stretch>
        </p:blipFill>
        <p:spPr>
          <a:xfrm>
            <a:off x="1047175" y="1698550"/>
            <a:ext cx="7057187" cy="2952175"/>
          </a:xfrm>
          <a:prstGeom prst="rect">
            <a:avLst/>
          </a:prstGeom>
          <a:noFill/>
          <a:ln>
            <a:noFill/>
          </a:ln>
        </p:spPr>
      </p:pic>
      <p:sp>
        <p:nvSpPr>
          <p:cNvPr id="783" name="Google Shape;783;p67"/>
          <p:cNvSpPr txBox="1"/>
          <p:nvPr/>
        </p:nvSpPr>
        <p:spPr>
          <a:xfrm>
            <a:off x="3912900" y="44625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稼働序数: 何回目の仕事開始か</a:t>
            </a:r>
            <a:endParaRPr sz="600">
              <a:solidFill>
                <a:srgbClr val="808080"/>
              </a:solidFill>
              <a:latin typeface="Noto Sans JP"/>
              <a:ea typeface="Noto Sans JP"/>
              <a:cs typeface="Noto Sans JP"/>
              <a:sym typeface="Noto Sans JP"/>
            </a:endParaRPr>
          </a:p>
        </p:txBody>
      </p:sp>
      <p:cxnSp>
        <p:nvCxnSpPr>
          <p:cNvPr id="784" name="Google Shape;784;p67"/>
          <p:cNvCxnSpPr/>
          <p:nvPr/>
        </p:nvCxnSpPr>
        <p:spPr>
          <a:xfrm rot="10800000">
            <a:off x="1558225" y="3235025"/>
            <a:ext cx="6410700" cy="0"/>
          </a:xfrm>
          <a:prstGeom prst="straightConnector1">
            <a:avLst/>
          </a:prstGeom>
          <a:noFill/>
          <a:ln cap="flat" cmpd="sng" w="19050">
            <a:solidFill>
              <a:schemeClr val="dk2"/>
            </a:solidFill>
            <a:prstDash val="dot"/>
            <a:round/>
            <a:headEnd len="med" w="med" type="none"/>
            <a:tailEnd len="med" w="med" type="none"/>
          </a:ln>
        </p:spPr>
      </p:cxnSp>
      <p:sp>
        <p:nvSpPr>
          <p:cNvPr id="785" name="Google Shape;785;p67"/>
          <p:cNvSpPr txBox="1"/>
          <p:nvPr/>
        </p:nvSpPr>
        <p:spPr>
          <a:xfrm rot="-5400000">
            <a:off x="502625" y="2932110"/>
            <a:ext cx="6303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店舗構成比</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6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91" name="Google Shape;791;p6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利用初月の掲載日数が多い店舗は1日に複数日の募集を掲載している</a:t>
            </a:r>
            <a:endParaRPr/>
          </a:p>
        </p:txBody>
      </p:sp>
      <p:sp>
        <p:nvSpPr>
          <p:cNvPr id="792" name="Google Shape;792;p6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掲載日数が多い店舗ほど、1日に複数日の募集を掲載している。一括掲載によって直接的に翌月継続率には影響するとは考えにくいものの、月4日以上の募集を掲載してもらううえではまとめて掲載してもらう必要があると考えられる。</a:t>
            </a:r>
            <a:endParaRPr sz="1200">
              <a:latin typeface="Noto Sans JP"/>
              <a:ea typeface="Noto Sans JP"/>
              <a:cs typeface="Noto Sans JP"/>
              <a:sym typeface="Noto Sans JP"/>
            </a:endParaRPr>
          </a:p>
        </p:txBody>
      </p:sp>
      <p:sp>
        <p:nvSpPr>
          <p:cNvPr id="793" name="Google Shape;793;p68"/>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LowTouch店舗の利用初月の一括掲載有無と翌月継続率</a:t>
            </a:r>
            <a:endParaRPr sz="1000">
              <a:solidFill>
                <a:srgbClr val="808080"/>
              </a:solidFill>
              <a:latin typeface="Noto Sans SemiBold"/>
              <a:ea typeface="Noto Sans SemiBold"/>
              <a:cs typeface="Noto Sans SemiBold"/>
              <a:sym typeface="Noto Sans SemiBold"/>
            </a:endParaRPr>
          </a:p>
        </p:txBody>
      </p:sp>
      <p:sp>
        <p:nvSpPr>
          <p:cNvPr id="794" name="Google Shape;794;p6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https://docs.google.com/spreadsheets/d/1VlYTSFJRUFDtw1kHuFzHLWfSJakMuAQH8yrISJJvOXk/edit?pli=1&amp;gid=1083350449#gid=1083350449&amp;range=P2</a:t>
            </a:r>
            <a:endParaRPr sz="600">
              <a:solidFill>
                <a:schemeClr val="accent2"/>
              </a:solidFill>
              <a:latin typeface="Noto Sans JP"/>
              <a:ea typeface="Noto Sans JP"/>
              <a:cs typeface="Noto Sans JP"/>
              <a:sym typeface="Noto Sans JP"/>
            </a:endParaRPr>
          </a:p>
        </p:txBody>
      </p:sp>
      <p:sp>
        <p:nvSpPr>
          <p:cNvPr id="795" name="Google Shape;795;p6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796" name="Google Shape;796;p68" title="グラフ"/>
          <p:cNvPicPr preferRelativeResize="0"/>
          <p:nvPr/>
        </p:nvPicPr>
        <p:blipFill>
          <a:blip r:embed="rId4">
            <a:alphaModFix/>
          </a:blip>
          <a:stretch>
            <a:fillRect/>
          </a:stretch>
        </p:blipFill>
        <p:spPr>
          <a:xfrm>
            <a:off x="244513" y="1688400"/>
            <a:ext cx="4262975" cy="2670525"/>
          </a:xfrm>
          <a:prstGeom prst="rect">
            <a:avLst/>
          </a:prstGeom>
          <a:noFill/>
          <a:ln>
            <a:noFill/>
          </a:ln>
        </p:spPr>
      </p:pic>
      <p:pic>
        <p:nvPicPr>
          <p:cNvPr id="797" name="Google Shape;797;p68" title="グラフ"/>
          <p:cNvPicPr preferRelativeResize="0"/>
          <p:nvPr/>
        </p:nvPicPr>
        <p:blipFill>
          <a:blip r:embed="rId5">
            <a:alphaModFix/>
          </a:blip>
          <a:stretch>
            <a:fillRect/>
          </a:stretch>
        </p:blipFill>
        <p:spPr>
          <a:xfrm>
            <a:off x="4636513" y="1698550"/>
            <a:ext cx="4262975" cy="2670525"/>
          </a:xfrm>
          <a:prstGeom prst="rect">
            <a:avLst/>
          </a:prstGeom>
          <a:noFill/>
          <a:ln>
            <a:noFill/>
          </a:ln>
        </p:spPr>
      </p:pic>
      <p:sp>
        <p:nvSpPr>
          <p:cNvPr id="798" name="Google Shape;798;p68"/>
          <p:cNvSpPr txBox="1"/>
          <p:nvPr/>
        </p:nvSpPr>
        <p:spPr>
          <a:xfrm>
            <a:off x="1716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
        <p:nvSpPr>
          <p:cNvPr id="799" name="Google Shape;799;p68"/>
          <p:cNvSpPr txBox="1"/>
          <p:nvPr/>
        </p:nvSpPr>
        <p:spPr>
          <a:xfrm>
            <a:off x="6108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
        <p:nvSpPr>
          <p:cNvPr id="800" name="Google Shape;800;p6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一括掲載あり: 利用初月に1日でも2日分の募集を掲載したか</a:t>
            </a:r>
            <a:endParaRPr sz="600">
              <a:solidFill>
                <a:schemeClr val="accent2"/>
              </a:solidFill>
              <a:latin typeface="Noto Sans JP"/>
              <a:ea typeface="Noto Sans JP"/>
              <a:cs typeface="Noto Sans JP"/>
              <a:sym typeface="Noto Sans JP"/>
            </a:endParaRPr>
          </a:p>
        </p:txBody>
      </p:sp>
      <p:sp>
        <p:nvSpPr>
          <p:cNvPr id="801" name="Google Shape;801;p68"/>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02" name="Google Shape;802;p68"/>
          <p:cNvSpPr txBox="1"/>
          <p:nvPr/>
        </p:nvSpPr>
        <p:spPr>
          <a:xfrm rot="-5400000">
            <a:off x="447960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03" name="Google Shape;803;p68"/>
          <p:cNvSpPr txBox="1"/>
          <p:nvPr/>
        </p:nvSpPr>
        <p:spPr>
          <a:xfrm rot="5400000">
            <a:off x="4017325" y="3026024"/>
            <a:ext cx="8076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一括掲載あり割合</a:t>
            </a:r>
            <a:endParaRPr sz="600">
              <a:solidFill>
                <a:srgbClr val="808080"/>
              </a:solidFill>
              <a:latin typeface="Noto Sans JP"/>
              <a:ea typeface="Noto Sans JP"/>
              <a:cs typeface="Noto Sans JP"/>
              <a:sym typeface="Noto Sans JP"/>
            </a:endParaRPr>
          </a:p>
        </p:txBody>
      </p:sp>
      <p:sp>
        <p:nvSpPr>
          <p:cNvPr id="804" name="Google Shape;804;p68"/>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a:t>
            </a:r>
            <a:r>
              <a:rPr lang="ja" sz="600">
                <a:solidFill>
                  <a:srgbClr val="808080"/>
                </a:solidFill>
                <a:latin typeface="Noto Sans JP"/>
                <a:ea typeface="Noto Sans JP"/>
                <a:cs typeface="Noto Sans JP"/>
                <a:sym typeface="Noto Sans JP"/>
              </a:rPr>
              <a:t>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69"/>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10" name="Google Shape;810;p69"/>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初月掲載日数が少ない店舗では募集開始までに余裕を持った掲載をしているほど翌月継続率が高い</a:t>
            </a:r>
            <a:endParaRPr/>
          </a:p>
        </p:txBody>
      </p:sp>
      <p:sp>
        <p:nvSpPr>
          <p:cNvPr id="811" name="Google Shape;811;p69"/>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初月の掲載日数が多い店舗ほど、募集の仕事開始までのリードタイムが長い募集を掲載するようになる。利用初月の掲載日数が10日に満たない店舗では、余裕を持った掲載をしているほど翌月継続率が高い。</a:t>
            </a:r>
            <a:endParaRPr sz="1200">
              <a:latin typeface="Noto Sans JP"/>
              <a:ea typeface="Noto Sans JP"/>
              <a:cs typeface="Noto Sans JP"/>
              <a:sym typeface="Noto Sans JP"/>
            </a:endParaRPr>
          </a:p>
        </p:txBody>
      </p:sp>
      <p:sp>
        <p:nvSpPr>
          <p:cNvPr id="812" name="Google Shape;812;p69"/>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LowTouch店舗の利用初月の</a:t>
            </a:r>
            <a:r>
              <a:rPr lang="ja" sz="1000">
                <a:solidFill>
                  <a:schemeClr val="accent2"/>
                </a:solidFill>
                <a:latin typeface="Noto Sans SemiBold"/>
                <a:ea typeface="Noto Sans SemiBold"/>
                <a:cs typeface="Noto Sans SemiBold"/>
                <a:sym typeface="Noto Sans SemiBold"/>
              </a:rPr>
              <a:t>計画</a:t>
            </a:r>
            <a:r>
              <a:rPr lang="ja" sz="1000">
                <a:solidFill>
                  <a:schemeClr val="accent2"/>
                </a:solidFill>
                <a:latin typeface="Noto Sans SemiBold"/>
                <a:ea typeface="Noto Sans SemiBold"/>
                <a:cs typeface="Noto Sans SemiBold"/>
                <a:sym typeface="Noto Sans SemiBold"/>
              </a:rPr>
              <a:t>掲載有無と翌月継続率</a:t>
            </a:r>
            <a:endParaRPr sz="1000">
              <a:solidFill>
                <a:srgbClr val="808080"/>
              </a:solidFill>
              <a:latin typeface="Noto Sans SemiBold"/>
              <a:ea typeface="Noto Sans SemiBold"/>
              <a:cs typeface="Noto Sans SemiBold"/>
              <a:sym typeface="Noto Sans SemiBold"/>
            </a:endParaRPr>
          </a:p>
        </p:txBody>
      </p:sp>
      <p:sp>
        <p:nvSpPr>
          <p:cNvPr id="813" name="Google Shape;813;p69"/>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3">
                  <a:extLst>
                    <a:ext uri="{A12FA001-AC4F-418D-AE19-62706E023703}">
                      <ahyp:hlinkClr val="tx"/>
                    </a:ext>
                  </a:extLst>
                </a:hlinkClick>
              </a:rPr>
              <a:t>https://docs.google.com/spreadsheets/d/1VlYTSFJRUFDtw1kHuFzHLWfSJakMuAQH8yrISJJvOXk/edit?pli=1&amp;gid=1083350449#gid=1083350449&amp;range=P2</a:t>
            </a:r>
            <a:endParaRPr sz="600">
              <a:solidFill>
                <a:schemeClr val="accent2"/>
              </a:solidFill>
              <a:latin typeface="Noto Sans JP"/>
              <a:ea typeface="Noto Sans JP"/>
              <a:cs typeface="Noto Sans JP"/>
              <a:sym typeface="Noto Sans JP"/>
            </a:endParaRPr>
          </a:p>
        </p:txBody>
      </p:sp>
      <p:sp>
        <p:nvSpPr>
          <p:cNvPr id="814" name="Google Shape;814;p69"/>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に初回掲載した事業所</a:t>
            </a:r>
            <a:endParaRPr sz="600">
              <a:solidFill>
                <a:srgbClr val="808080"/>
              </a:solidFill>
              <a:latin typeface="Noto Sans JP"/>
              <a:ea typeface="Noto Sans JP"/>
              <a:cs typeface="Noto Sans JP"/>
              <a:sym typeface="Noto Sans JP"/>
            </a:endParaRPr>
          </a:p>
        </p:txBody>
      </p:sp>
      <p:pic>
        <p:nvPicPr>
          <p:cNvPr id="815" name="Google Shape;815;p69" title="グラフ"/>
          <p:cNvPicPr preferRelativeResize="0"/>
          <p:nvPr/>
        </p:nvPicPr>
        <p:blipFill>
          <a:blip r:embed="rId4">
            <a:alphaModFix/>
          </a:blip>
          <a:stretch>
            <a:fillRect/>
          </a:stretch>
        </p:blipFill>
        <p:spPr>
          <a:xfrm>
            <a:off x="244513" y="1698550"/>
            <a:ext cx="4262975" cy="2670525"/>
          </a:xfrm>
          <a:prstGeom prst="rect">
            <a:avLst/>
          </a:prstGeom>
          <a:noFill/>
          <a:ln>
            <a:noFill/>
          </a:ln>
        </p:spPr>
      </p:pic>
      <p:pic>
        <p:nvPicPr>
          <p:cNvPr id="816" name="Google Shape;816;p69" title="グラフ"/>
          <p:cNvPicPr preferRelativeResize="0"/>
          <p:nvPr/>
        </p:nvPicPr>
        <p:blipFill>
          <a:blip r:embed="rId5">
            <a:alphaModFix/>
          </a:blip>
          <a:stretch>
            <a:fillRect/>
          </a:stretch>
        </p:blipFill>
        <p:spPr>
          <a:xfrm>
            <a:off x="4636513" y="1698550"/>
            <a:ext cx="4262975" cy="2670525"/>
          </a:xfrm>
          <a:prstGeom prst="rect">
            <a:avLst/>
          </a:prstGeom>
          <a:noFill/>
          <a:ln>
            <a:noFill/>
          </a:ln>
        </p:spPr>
      </p:pic>
      <p:sp>
        <p:nvSpPr>
          <p:cNvPr id="817" name="Google Shape;817;p69"/>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計画</a:t>
            </a:r>
            <a:r>
              <a:rPr lang="ja" sz="600">
                <a:solidFill>
                  <a:schemeClr val="accent2"/>
                </a:solidFill>
                <a:latin typeface="Noto Sans JP"/>
                <a:ea typeface="Noto Sans JP"/>
                <a:cs typeface="Noto Sans JP"/>
                <a:sym typeface="Noto Sans JP"/>
              </a:rPr>
              <a:t>掲載あり: 利用初月に1日でも</a:t>
            </a:r>
            <a:r>
              <a:rPr lang="ja" sz="600">
                <a:solidFill>
                  <a:schemeClr val="accent2"/>
                </a:solidFill>
                <a:latin typeface="Noto Sans JP"/>
                <a:ea typeface="Noto Sans JP"/>
                <a:cs typeface="Noto Sans JP"/>
                <a:sym typeface="Noto Sans JP"/>
              </a:rPr>
              <a:t>募集の仕事開始日までの日数が2日以上の募集を掲載したか</a:t>
            </a:r>
            <a:endParaRPr sz="600">
              <a:solidFill>
                <a:schemeClr val="accent2"/>
              </a:solidFill>
              <a:latin typeface="Noto Sans JP"/>
              <a:ea typeface="Noto Sans JP"/>
              <a:cs typeface="Noto Sans JP"/>
              <a:sym typeface="Noto Sans JP"/>
            </a:endParaRPr>
          </a:p>
        </p:txBody>
      </p:sp>
      <p:sp>
        <p:nvSpPr>
          <p:cNvPr id="818" name="Google Shape;818;p69"/>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19" name="Google Shape;819;p69"/>
          <p:cNvSpPr txBox="1"/>
          <p:nvPr/>
        </p:nvSpPr>
        <p:spPr>
          <a:xfrm rot="-5400000">
            <a:off x="447960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820" name="Google Shape;820;p69"/>
          <p:cNvSpPr txBox="1"/>
          <p:nvPr/>
        </p:nvSpPr>
        <p:spPr>
          <a:xfrm rot="5400000">
            <a:off x="3993625" y="3026025"/>
            <a:ext cx="8550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計画</a:t>
            </a:r>
            <a:r>
              <a:rPr lang="ja" sz="600">
                <a:solidFill>
                  <a:srgbClr val="808080"/>
                </a:solidFill>
                <a:latin typeface="Noto Sans JP"/>
                <a:ea typeface="Noto Sans JP"/>
                <a:cs typeface="Noto Sans JP"/>
                <a:sym typeface="Noto Sans JP"/>
              </a:rPr>
              <a:t>掲載あり割合</a:t>
            </a:r>
            <a:endParaRPr sz="600">
              <a:solidFill>
                <a:srgbClr val="808080"/>
              </a:solidFill>
              <a:latin typeface="Noto Sans JP"/>
              <a:ea typeface="Noto Sans JP"/>
              <a:cs typeface="Noto Sans JP"/>
              <a:sym typeface="Noto Sans JP"/>
            </a:endParaRPr>
          </a:p>
        </p:txBody>
      </p:sp>
      <p:sp>
        <p:nvSpPr>
          <p:cNvPr id="821" name="Google Shape;821;p69"/>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822" name="Google Shape;822;p69"/>
          <p:cNvSpPr txBox="1"/>
          <p:nvPr/>
        </p:nvSpPr>
        <p:spPr>
          <a:xfrm>
            <a:off x="1716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
        <p:nvSpPr>
          <p:cNvPr id="823" name="Google Shape;823;p69"/>
          <p:cNvSpPr txBox="1"/>
          <p:nvPr/>
        </p:nvSpPr>
        <p:spPr>
          <a:xfrm>
            <a:off x="6108900" y="4284625"/>
            <a:ext cx="13182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利用初月_掲載募集日数</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70"/>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初回募集でワーカーが稼働 ^ Good評価 の条件が揃えば60%の店舗が追加掲載に至る。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・初回募集でワーカーが稼働しなかった店舗は稼働ありと比較して追加掲載率が10ptほど低い。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・初回募集におけるワーカー稼働なしのうち、最も追加掲載率が低いのは「企業キャンセル」の39.0%</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・初回募集で稼働したワーカーにGood評価をつけなかった店舗はGoodありと比較して追加掲載率が20ptほど低い。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・企業キャンセル、Good評価無しのワーカーの特徴に初回掲載店舗ならではの傾向は確認できない。</a:t>
            </a:r>
            <a:endParaRPr sz="1000">
              <a:solidFill>
                <a:schemeClr val="accent2"/>
              </a:solidFill>
              <a:latin typeface="Noto Sans JP"/>
              <a:ea typeface="Noto Sans JP"/>
              <a:cs typeface="Noto Sans JP"/>
              <a:sym typeface="Noto Sans JP"/>
            </a:endParaRPr>
          </a:p>
        </p:txBody>
      </p:sp>
      <p:sp>
        <p:nvSpPr>
          <p:cNvPr id="829" name="Google Shape;829;p70"/>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LowTouchではHighTouchと比較してタイミーをお試し・テスト的に恐る恐る使う層が多いと想定される。</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・HighTouch店舗の翌月継続率は56.0%、LowTouch店舗の翌月継続率は40.7%と15ptの差が存在する。</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・LowTouch店舗の45.8%が初回「C_計画*単発型」の掲載であり、この群の翌月継続率は36.8%と最低水準。</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・LowTouch店舗の初回「C_計画*単発型」うち約半数の50.1%が利用初月に2回目の掲載に至っていない。</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・LowTouch店舗の初回「C_計画*単発型」うち追加掲載がある店舗は翌月継続率が55.7%とHighTouchの全体同等の水準。</a:t>
            </a:r>
            <a:endParaRPr sz="1000">
              <a:solidFill>
                <a:schemeClr val="accent2"/>
              </a:solidFill>
              <a:latin typeface="Noto Sans JP"/>
              <a:ea typeface="Noto Sans JP"/>
              <a:cs typeface="Noto Sans JP"/>
              <a:sym typeface="Noto Sans JP"/>
            </a:endParaRPr>
          </a:p>
        </p:txBody>
      </p:sp>
      <p:sp>
        <p:nvSpPr>
          <p:cNvPr id="830" name="Google Shape;830;p70"/>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31" name="Google Shape;831;p70"/>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[中間サマリ] Phase2: </a:t>
            </a:r>
            <a:r>
              <a:rPr lang="ja"/>
              <a:t>利用初月の習慣的な掲載の分析</a:t>
            </a:r>
            <a:endParaRPr/>
          </a:p>
        </p:txBody>
      </p:sp>
      <p:sp>
        <p:nvSpPr>
          <p:cNvPr id="832" name="Google Shape;832;p70"/>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LowTouch店舗の</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翌月継続率の</a:t>
            </a:r>
            <a:r>
              <a:rPr b="1" lang="ja" sz="1000">
                <a:solidFill>
                  <a:schemeClr val="accent2"/>
                </a:solidFill>
                <a:latin typeface="Noto Sans JP"/>
                <a:ea typeface="Noto Sans JP"/>
                <a:cs typeface="Noto Sans JP"/>
                <a:sym typeface="Noto Sans JP"/>
              </a:rPr>
              <a:t>課題の</a:t>
            </a:r>
            <a:endParaRPr b="1"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solidFill>
                  <a:schemeClr val="accent2"/>
                </a:solidFill>
                <a:latin typeface="Noto Sans JP"/>
                <a:ea typeface="Noto Sans JP"/>
                <a:cs typeface="Noto Sans JP"/>
                <a:sym typeface="Noto Sans JP"/>
              </a:rPr>
              <a:t>所在は？</a:t>
            </a:r>
            <a:endParaRPr b="1" sz="1000">
              <a:solidFill>
                <a:schemeClr val="accent2"/>
              </a:solidFill>
              <a:latin typeface="Noto Sans JP"/>
              <a:ea typeface="Noto Sans JP"/>
              <a:cs typeface="Noto Sans JP"/>
              <a:sym typeface="Noto Sans JP"/>
            </a:endParaRPr>
          </a:p>
        </p:txBody>
      </p:sp>
      <p:sp>
        <p:nvSpPr>
          <p:cNvPr id="833" name="Google Shape;833;p70"/>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Phase1:</a:t>
            </a:r>
            <a:br>
              <a:rPr b="1" lang="ja" sz="1000">
                <a:solidFill>
                  <a:schemeClr val="accent2"/>
                </a:solidFill>
                <a:latin typeface="Noto Sans JP"/>
                <a:ea typeface="Noto Sans JP"/>
                <a:cs typeface="Noto Sans JP"/>
                <a:sym typeface="Noto Sans JP"/>
              </a:rPr>
            </a:br>
            <a:r>
              <a:rPr b="1" lang="ja" sz="1000">
                <a:solidFill>
                  <a:schemeClr val="accent2"/>
                </a:solidFill>
                <a:latin typeface="Noto Sans JP"/>
                <a:ea typeface="Noto Sans JP"/>
                <a:cs typeface="Noto Sans JP"/>
                <a:sym typeface="Noto Sans JP"/>
              </a:rPr>
              <a:t>初回利用体験</a:t>
            </a:r>
            <a:r>
              <a:rPr lang="ja" sz="1000">
                <a:solidFill>
                  <a:schemeClr val="accent2"/>
                </a:solidFill>
                <a:latin typeface="Noto Sans JP"/>
                <a:ea typeface="Noto Sans JP"/>
                <a:cs typeface="Noto Sans JP"/>
                <a:sym typeface="Noto Sans JP"/>
              </a:rPr>
              <a:t>は</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追加掲載にどう影響</a:t>
            </a:r>
            <a:endParaRPr sz="1000">
              <a:solidFill>
                <a:schemeClr val="accent2"/>
              </a:solidFill>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solidFill>
                  <a:schemeClr val="accent2"/>
                </a:solidFill>
                <a:latin typeface="Noto Sans JP"/>
                <a:ea typeface="Noto Sans JP"/>
                <a:cs typeface="Noto Sans JP"/>
                <a:sym typeface="Noto Sans JP"/>
              </a:rPr>
              <a:t>するか？</a:t>
            </a:r>
            <a:endParaRPr sz="1000">
              <a:solidFill>
                <a:schemeClr val="accent2"/>
              </a:solidFill>
              <a:latin typeface="Noto Sans JP"/>
              <a:ea typeface="Noto Sans JP"/>
              <a:cs typeface="Noto Sans JP"/>
              <a:sym typeface="Noto Sans JP"/>
            </a:endParaRPr>
          </a:p>
        </p:txBody>
      </p:sp>
      <p:sp>
        <p:nvSpPr>
          <p:cNvPr id="834" name="Google Shape;834;p70"/>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Phase2:</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利用初月の掲載習慣</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cxnSp>
        <p:nvCxnSpPr>
          <p:cNvPr id="835" name="Google Shape;835;p70"/>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836" name="Google Shape;836;p70"/>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7" name="Google Shape;837;p70"/>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38" name="Google Shape;838;p70"/>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839" name="Google Shape;839;p70"/>
          <p:cNvSpPr/>
          <p:nvPr/>
        </p:nvSpPr>
        <p:spPr>
          <a:xfrm>
            <a:off x="1764425" y="3610475"/>
            <a:ext cx="4418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0" name="Google Shape;840;p70"/>
          <p:cNvSpPr/>
          <p:nvPr/>
        </p:nvSpPr>
        <p:spPr>
          <a:xfrm>
            <a:off x="4991750" y="3769600"/>
            <a:ext cx="33306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1" name="Google Shape;841;p70"/>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a:t>
            </a:r>
            <a:r>
              <a:rPr b="1" lang="ja" sz="1000">
                <a:latin typeface="Noto Sans JP"/>
                <a:ea typeface="Noto Sans JP"/>
                <a:cs typeface="Noto Sans JP"/>
                <a:sym typeface="Noto Sans JP"/>
              </a:rPr>
              <a:t>に</a:t>
            </a:r>
            <a:r>
              <a:rPr b="1" lang="ja" sz="1000">
                <a:latin typeface="Noto Sans JP"/>
                <a:ea typeface="Noto Sans JP"/>
                <a:cs typeface="Noto Sans JP"/>
                <a:sym typeface="Noto Sans JP"/>
              </a:rPr>
              <a:t>月4</a:t>
            </a:r>
            <a:r>
              <a:rPr b="1" lang="ja" sz="1000">
                <a:latin typeface="Noto Sans JP"/>
                <a:ea typeface="Noto Sans JP"/>
                <a:cs typeface="Noto Sans JP"/>
                <a:sym typeface="Noto Sans JP"/>
              </a:rPr>
              <a:t>日</a:t>
            </a:r>
            <a:r>
              <a:rPr b="1" lang="ja" sz="1000">
                <a:latin typeface="Noto Sans JP"/>
                <a:ea typeface="Noto Sans JP"/>
                <a:cs typeface="Noto Sans JP"/>
                <a:sym typeface="Noto Sans JP"/>
              </a:rPr>
              <a:t>（≒ 週1回程度）の掲載習慣を作れるかが翌月継続の分水嶺であると考えられる。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・利用初月の掲載日数が多い店舗ほど翌月継続率が高く、初月4日以上の掲載があると翌月継続率が50%を超える。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・初回掲載日からの日数が7の倍数（同じ曜日）の日に募集を掲載する店舗が多い。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・初月稼働率が高いほど翌月継続率は高いが、掲載日数が1~3日の段階では稼働率が80%を超えても44.4%にとどまる。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latin typeface="Noto Sans JP"/>
              <a:ea typeface="Noto Sans JP"/>
              <a:cs typeface="Noto Sans JP"/>
              <a:sym typeface="Noto Sans JP"/>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71"/>
          <p:cNvSpPr/>
          <p:nvPr/>
        </p:nvSpPr>
        <p:spPr>
          <a:xfrm>
            <a:off x="-80550" y="3588800"/>
            <a:ext cx="9305100" cy="543900"/>
          </a:xfrm>
          <a:prstGeom prst="roundRect">
            <a:avLst>
              <a:gd fmla="val 16667" name="adj"/>
            </a:avLst>
          </a:prstGeom>
          <a:solidFill>
            <a:srgbClr val="FFE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71"/>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48" name="Google Shape;848;p71"/>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目次</a:t>
            </a:r>
            <a:endParaRPr/>
          </a:p>
        </p:txBody>
      </p:sp>
      <p:sp>
        <p:nvSpPr>
          <p:cNvPr id="849" name="Google Shape;849;p71"/>
          <p:cNvSpPr txBox="1"/>
          <p:nvPr>
            <p:ph idx="1" type="subTitle"/>
          </p:nvPr>
        </p:nvSpPr>
        <p:spPr>
          <a:xfrm>
            <a:off x="796050" y="10364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分析概要</a:t>
            </a:r>
            <a:endParaRPr sz="2000"/>
          </a:p>
        </p:txBody>
      </p:sp>
      <p:sp>
        <p:nvSpPr>
          <p:cNvPr id="850" name="Google Shape;850;p71"/>
          <p:cNvSpPr txBox="1"/>
          <p:nvPr>
            <p:ph idx="1" type="subTitle"/>
          </p:nvPr>
        </p:nvSpPr>
        <p:spPr>
          <a:xfrm>
            <a:off x="796050" y="1680938"/>
            <a:ext cx="73344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翌月継続率の概観</a:t>
            </a:r>
            <a:endParaRPr sz="1400"/>
          </a:p>
        </p:txBody>
      </p:sp>
      <p:sp>
        <p:nvSpPr>
          <p:cNvPr id="851" name="Google Shape;851;p71"/>
          <p:cNvSpPr txBox="1"/>
          <p:nvPr>
            <p:ph idx="1" type="subTitle"/>
          </p:nvPr>
        </p:nvSpPr>
        <p:spPr>
          <a:xfrm>
            <a:off x="796050" y="23254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Phase1: 初回利用体験の分析</a:t>
            </a:r>
            <a:endParaRPr sz="1400"/>
          </a:p>
        </p:txBody>
      </p:sp>
      <p:sp>
        <p:nvSpPr>
          <p:cNvPr id="852" name="Google Shape;852;p71"/>
          <p:cNvSpPr txBox="1"/>
          <p:nvPr>
            <p:ph idx="1" type="subTitle"/>
          </p:nvPr>
        </p:nvSpPr>
        <p:spPr>
          <a:xfrm>
            <a:off x="247350" y="1036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01</a:t>
            </a:r>
            <a:endParaRPr i="1" sz="2000"/>
          </a:p>
        </p:txBody>
      </p:sp>
      <p:sp>
        <p:nvSpPr>
          <p:cNvPr id="853" name="Google Shape;853;p71"/>
          <p:cNvSpPr txBox="1"/>
          <p:nvPr>
            <p:ph idx="1" type="subTitle"/>
          </p:nvPr>
        </p:nvSpPr>
        <p:spPr>
          <a:xfrm>
            <a:off x="247350" y="1680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02</a:t>
            </a:r>
            <a:endParaRPr i="1" sz="2000"/>
          </a:p>
        </p:txBody>
      </p:sp>
      <p:sp>
        <p:nvSpPr>
          <p:cNvPr id="854" name="Google Shape;854;p71"/>
          <p:cNvSpPr txBox="1"/>
          <p:nvPr>
            <p:ph idx="1" type="subTitle"/>
          </p:nvPr>
        </p:nvSpPr>
        <p:spPr>
          <a:xfrm>
            <a:off x="247350" y="23254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03</a:t>
            </a:r>
            <a:endParaRPr i="1" sz="2000"/>
          </a:p>
        </p:txBody>
      </p:sp>
      <p:sp>
        <p:nvSpPr>
          <p:cNvPr id="855" name="Google Shape;855;p71"/>
          <p:cNvSpPr txBox="1"/>
          <p:nvPr>
            <p:ph idx="1" type="subTitle"/>
          </p:nvPr>
        </p:nvSpPr>
        <p:spPr>
          <a:xfrm>
            <a:off x="796050" y="2969950"/>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Phase2: 利用初月の習慣的な掲載の分析</a:t>
            </a:r>
            <a:endParaRPr sz="1400"/>
          </a:p>
        </p:txBody>
      </p:sp>
      <p:sp>
        <p:nvSpPr>
          <p:cNvPr id="856" name="Google Shape;856;p71"/>
          <p:cNvSpPr txBox="1"/>
          <p:nvPr>
            <p:ph idx="1" type="subTitle"/>
          </p:nvPr>
        </p:nvSpPr>
        <p:spPr>
          <a:xfrm>
            <a:off x="247350" y="2969938"/>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04</a:t>
            </a:r>
            <a:endParaRPr i="1" sz="2000"/>
          </a:p>
        </p:txBody>
      </p:sp>
      <p:sp>
        <p:nvSpPr>
          <p:cNvPr id="857" name="Google Shape;857;p71"/>
          <p:cNvSpPr txBox="1"/>
          <p:nvPr>
            <p:ph idx="1" type="subTitle"/>
          </p:nvPr>
        </p:nvSpPr>
        <p:spPr>
          <a:xfrm>
            <a:off x="796050" y="3614463"/>
            <a:ext cx="81006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ja" sz="2000"/>
              <a:t>考察</a:t>
            </a:r>
            <a:endParaRPr sz="1400"/>
          </a:p>
        </p:txBody>
      </p:sp>
      <p:sp>
        <p:nvSpPr>
          <p:cNvPr id="858" name="Google Shape;858;p71"/>
          <p:cNvSpPr txBox="1"/>
          <p:nvPr>
            <p:ph idx="1" type="subTitle"/>
          </p:nvPr>
        </p:nvSpPr>
        <p:spPr>
          <a:xfrm>
            <a:off x="247350" y="3614450"/>
            <a:ext cx="5487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ja" sz="2000"/>
              <a:t>05</a:t>
            </a:r>
            <a:endParaRPr i="1"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72"/>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64" name="Google Shape;864;p72"/>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翌月継続率の探索分析 - サマリー</a:t>
            </a:r>
            <a:endParaRPr/>
          </a:p>
        </p:txBody>
      </p:sp>
      <p:sp>
        <p:nvSpPr>
          <p:cNvPr id="865" name="Google Shape;865;p72"/>
          <p:cNvSpPr/>
          <p:nvPr/>
        </p:nvSpPr>
        <p:spPr>
          <a:xfrm>
            <a:off x="1764425" y="2397000"/>
            <a:ext cx="4862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72"/>
          <p:cNvSpPr/>
          <p:nvPr/>
        </p:nvSpPr>
        <p:spPr>
          <a:xfrm>
            <a:off x="2938975" y="2224425"/>
            <a:ext cx="5289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7" name="Google Shape;867;p72"/>
          <p:cNvSpPr/>
          <p:nvPr/>
        </p:nvSpPr>
        <p:spPr>
          <a:xfrm>
            <a:off x="188175" y="6514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翌月継続率の</a:t>
            </a:r>
            <a:r>
              <a:rPr b="1" lang="ja" sz="1000">
                <a:latin typeface="Noto Sans JP"/>
                <a:ea typeface="Noto Sans JP"/>
                <a:cs typeface="Noto Sans JP"/>
                <a:sym typeface="Noto Sans JP"/>
              </a:rPr>
              <a:t>課題の</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所在は？</a:t>
            </a:r>
            <a:endParaRPr b="1" sz="1000">
              <a:latin typeface="Noto Sans JP"/>
              <a:ea typeface="Noto Sans JP"/>
              <a:cs typeface="Noto Sans JP"/>
              <a:sym typeface="Noto Sans JP"/>
            </a:endParaRPr>
          </a:p>
        </p:txBody>
      </p:sp>
      <p:sp>
        <p:nvSpPr>
          <p:cNvPr id="868" name="Google Shape;868;p72"/>
          <p:cNvSpPr/>
          <p:nvPr/>
        </p:nvSpPr>
        <p:spPr>
          <a:xfrm>
            <a:off x="3973700" y="822150"/>
            <a:ext cx="3447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9" name="Google Shape;869;p72"/>
          <p:cNvSpPr/>
          <p:nvPr/>
        </p:nvSpPr>
        <p:spPr>
          <a:xfrm>
            <a:off x="1764425" y="1001475"/>
            <a:ext cx="18210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0" name="Google Shape;870;p72"/>
          <p:cNvSpPr/>
          <p:nvPr/>
        </p:nvSpPr>
        <p:spPr>
          <a:xfrm>
            <a:off x="188175" y="2044600"/>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Phase1:</a:t>
            </a:r>
            <a:br>
              <a:rPr b="1" lang="ja" sz="1000">
                <a:latin typeface="Noto Sans JP"/>
                <a:ea typeface="Noto Sans JP"/>
                <a:cs typeface="Noto Sans JP"/>
                <a:sym typeface="Noto Sans JP"/>
              </a:rPr>
            </a:br>
            <a:r>
              <a:rPr b="1" lang="ja" sz="1000">
                <a:latin typeface="Noto Sans JP"/>
                <a:ea typeface="Noto Sans JP"/>
                <a:cs typeface="Noto Sans JP"/>
                <a:sym typeface="Noto Sans JP"/>
              </a:rPr>
              <a:t>初回利用体験</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追加掲載にどう影響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sp>
        <p:nvSpPr>
          <p:cNvPr id="871" name="Google Shape;871;p72"/>
          <p:cNvSpPr/>
          <p:nvPr/>
        </p:nvSpPr>
        <p:spPr>
          <a:xfrm>
            <a:off x="188175" y="3435625"/>
            <a:ext cx="1481400" cy="13038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Phase2:</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利用初月の掲載習慣</a:t>
            </a:r>
            <a:r>
              <a:rPr lang="ja" sz="1000">
                <a:latin typeface="Noto Sans JP"/>
                <a:ea typeface="Noto Sans JP"/>
                <a:cs typeface="Noto Sans JP"/>
                <a:sym typeface="Noto Sans JP"/>
              </a:rPr>
              <a:t>は</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翌月継続にどう影響</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するか？</a:t>
            </a:r>
            <a:endParaRPr sz="1000">
              <a:latin typeface="Noto Sans JP"/>
              <a:ea typeface="Noto Sans JP"/>
              <a:cs typeface="Noto Sans JP"/>
              <a:sym typeface="Noto Sans JP"/>
            </a:endParaRPr>
          </a:p>
        </p:txBody>
      </p:sp>
      <p:cxnSp>
        <p:nvCxnSpPr>
          <p:cNvPr id="872" name="Google Shape;872;p72"/>
          <p:cNvCxnSpPr/>
          <p:nvPr/>
        </p:nvCxnSpPr>
        <p:spPr>
          <a:xfrm>
            <a:off x="1711725" y="2004225"/>
            <a:ext cx="7159800" cy="0"/>
          </a:xfrm>
          <a:prstGeom prst="straightConnector1">
            <a:avLst/>
          </a:prstGeom>
          <a:noFill/>
          <a:ln cap="flat" cmpd="sng" w="9525">
            <a:solidFill>
              <a:srgbClr val="808080"/>
            </a:solidFill>
            <a:prstDash val="dash"/>
            <a:round/>
            <a:headEnd len="med" w="med" type="none"/>
            <a:tailEnd len="med" w="med" type="none"/>
          </a:ln>
        </p:spPr>
      </p:cxnSp>
      <p:sp>
        <p:nvSpPr>
          <p:cNvPr id="873" name="Google Shape;873;p72"/>
          <p:cNvSpPr/>
          <p:nvPr/>
        </p:nvSpPr>
        <p:spPr>
          <a:xfrm rot="10800000">
            <a:off x="430575" y="1903129"/>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4" name="Google Shape;874;p72"/>
          <p:cNvSpPr txBox="1"/>
          <p:nvPr/>
        </p:nvSpPr>
        <p:spPr>
          <a:xfrm>
            <a:off x="1711725" y="651400"/>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LowTouchではHighTouchと比較してタイミーをお試し・テスト的に恐る恐る使う層が多いと想定される。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この層の追加掲載率が最も低いため、この層を施策によってサポート・フォローすることのインパクトが大きい。</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・HighTouch店舗の翌月継続率は56.0%、LowTouch店舗の翌月継続率は40.7%と15ptの差が存在する。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・LowTouch店舗の45.8%が初回「C_計画*単発型」の掲載であり、この群の翌月継続率は36.8%と最低水準。</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・LowTouch店舗の初回「C_計画*単発型」うち約半数の50.1%が利用初月に2回目の掲載に至っていない。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・LowTouch店舗の初回「C_計画*単発型」うち追加掲載がある店舗は翌月継続率が55.7%とHighTouchの全体同等の水準。</a:t>
            </a:r>
            <a:endParaRPr sz="1000">
              <a:latin typeface="Noto Sans JP"/>
              <a:ea typeface="Noto Sans JP"/>
              <a:cs typeface="Noto Sans JP"/>
              <a:sym typeface="Noto Sans JP"/>
            </a:endParaRPr>
          </a:p>
        </p:txBody>
      </p:sp>
      <p:sp>
        <p:nvSpPr>
          <p:cNvPr id="875" name="Google Shape;875;p72"/>
          <p:cNvSpPr/>
          <p:nvPr/>
        </p:nvSpPr>
        <p:spPr>
          <a:xfrm rot="10800000">
            <a:off x="430575" y="3301725"/>
            <a:ext cx="996600" cy="101100"/>
          </a:xfrm>
          <a:prstGeom prst="triangle">
            <a:avLst>
              <a:gd fmla="val 50000" name="adj"/>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76" name="Google Shape;876;p72"/>
          <p:cNvCxnSpPr/>
          <p:nvPr/>
        </p:nvCxnSpPr>
        <p:spPr>
          <a:xfrm>
            <a:off x="1711725" y="3402825"/>
            <a:ext cx="7159800" cy="0"/>
          </a:xfrm>
          <a:prstGeom prst="straightConnector1">
            <a:avLst/>
          </a:prstGeom>
          <a:noFill/>
          <a:ln cap="flat" cmpd="sng" w="9525">
            <a:solidFill>
              <a:srgbClr val="808080"/>
            </a:solidFill>
            <a:prstDash val="dash"/>
            <a:round/>
            <a:headEnd len="med" w="med" type="none"/>
            <a:tailEnd len="med" w="med" type="none"/>
          </a:ln>
        </p:spPr>
      </p:cxnSp>
      <p:sp>
        <p:nvSpPr>
          <p:cNvPr id="877" name="Google Shape;877;p72"/>
          <p:cNvSpPr txBox="1"/>
          <p:nvPr/>
        </p:nvSpPr>
        <p:spPr>
          <a:xfrm>
            <a:off x="1711725" y="2051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初回利用では、特にマッチしたワーカーの質が店舗の求める水準に達しないとマイナスの体験として捉えられる。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初回募集でワーカーが稼働 ^ Good評価 の条件が揃えば60%の店舗が追加掲載に至る。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・初回募集でワーカーが稼働しなかった店舗は稼働ありと比較して追加掲載率が10ptほど低い。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・初回募集におけるワーカー稼働なしのうち、最も追加掲載率が低いのは「企業キャンセル」の39.0%</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・初回募集で稼働したワーカーにGood評価をつけなかった店舗はGoodありと比較して追加掲載率が20ptほど低い。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・企業キャンセル、Good評価無しのワーカーの特徴に初回掲載店舗ならではの傾向は確認できない。</a:t>
            </a:r>
            <a:endParaRPr sz="1000">
              <a:latin typeface="Noto Sans JP"/>
              <a:ea typeface="Noto Sans JP"/>
              <a:cs typeface="Noto Sans JP"/>
              <a:sym typeface="Noto Sans JP"/>
            </a:endParaRPr>
          </a:p>
        </p:txBody>
      </p:sp>
      <p:sp>
        <p:nvSpPr>
          <p:cNvPr id="878" name="Google Shape;878;p72"/>
          <p:cNvSpPr/>
          <p:nvPr/>
        </p:nvSpPr>
        <p:spPr>
          <a:xfrm>
            <a:off x="1764425" y="3610475"/>
            <a:ext cx="44181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72"/>
          <p:cNvSpPr/>
          <p:nvPr/>
        </p:nvSpPr>
        <p:spPr>
          <a:xfrm>
            <a:off x="4991750" y="3769600"/>
            <a:ext cx="3330600" cy="66000"/>
          </a:xfrm>
          <a:prstGeom prst="rect">
            <a:avLst/>
          </a:prstGeom>
          <a:solidFill>
            <a:srgbClr val="FFE080"/>
          </a:solidFill>
          <a:ln cap="flat" cmpd="sng" w="952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72"/>
          <p:cNvSpPr txBox="1"/>
          <p:nvPr/>
        </p:nvSpPr>
        <p:spPr>
          <a:xfrm>
            <a:off x="1711725" y="3435625"/>
            <a:ext cx="7244100" cy="1303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利用初月に月4日（≒ 週1回程度）の掲載習慣を作れるかが翌月継続の分水嶺であると考えられる。</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店舗は初回掲載と同じ曜日で掲載することが多いため、募集の掲載を定常業務のサイクルに載せるための体験設計が重要。</a:t>
            </a:r>
            <a:endParaRPr b="1"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・利用初月の掲載日数が多い店舗ほど翌月継続率が高く、初月4日以上の掲載があると翌月継続率が50%を超える。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・初回掲載日からの日数が7の倍数（同じ曜日）の日に募集を掲載する店舗が多い。</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・初月稼働率が高いほど翌月継続率は高いが、掲載日数が1~3日の段階では稼働率が80%を超えても44.4%にとどまる。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・初月リピーター稼働有無による翌月継続率への影響は限定的、掲載日数10日以上の店舗では5pt程度の差が存在する。</a:t>
            </a:r>
            <a:endParaRPr sz="1000">
              <a:latin typeface="Noto Sans JP"/>
              <a:ea typeface="Noto Sans JP"/>
              <a:cs typeface="Noto Sans JP"/>
              <a:sym typeface="Noto Sans JP"/>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73"/>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86" name="Google Shape;886;p73"/>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考察: 向き合うべき課題と打ち手の方向性</a:t>
            </a:r>
            <a:endParaRPr/>
          </a:p>
        </p:txBody>
      </p:sp>
      <p:sp>
        <p:nvSpPr>
          <p:cNvPr id="887" name="Google Shape;887;p73"/>
          <p:cNvSpPr txBox="1"/>
          <p:nvPr/>
        </p:nvSpPr>
        <p:spPr>
          <a:xfrm>
            <a:off x="483925" y="580825"/>
            <a:ext cx="2135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主なファインディングス</a:t>
            </a:r>
            <a:endParaRPr sz="1000">
              <a:latin typeface="Noto Sans JP"/>
              <a:ea typeface="Noto Sans JP"/>
              <a:cs typeface="Noto Sans JP"/>
              <a:sym typeface="Noto Sans JP"/>
            </a:endParaRPr>
          </a:p>
        </p:txBody>
      </p:sp>
      <p:cxnSp>
        <p:nvCxnSpPr>
          <p:cNvPr id="888" name="Google Shape;888;p73"/>
          <p:cNvCxnSpPr/>
          <p:nvPr/>
        </p:nvCxnSpPr>
        <p:spPr>
          <a:xfrm>
            <a:off x="187613" y="917474"/>
            <a:ext cx="2741400" cy="0"/>
          </a:xfrm>
          <a:prstGeom prst="straightConnector1">
            <a:avLst/>
          </a:prstGeom>
          <a:noFill/>
          <a:ln cap="flat" cmpd="sng" w="9525">
            <a:solidFill>
              <a:srgbClr val="808080"/>
            </a:solidFill>
            <a:prstDash val="solid"/>
            <a:round/>
            <a:headEnd len="med" w="med" type="none"/>
            <a:tailEnd len="med" w="med" type="none"/>
          </a:ln>
        </p:spPr>
      </p:cxnSp>
      <p:sp>
        <p:nvSpPr>
          <p:cNvPr id="889" name="Google Shape;889;p73"/>
          <p:cNvSpPr txBox="1"/>
          <p:nvPr/>
        </p:nvSpPr>
        <p:spPr>
          <a:xfrm>
            <a:off x="3504288" y="580825"/>
            <a:ext cx="2135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向き合うべき課題</a:t>
            </a:r>
            <a:endParaRPr sz="1000">
              <a:latin typeface="Noto Sans JP"/>
              <a:ea typeface="Noto Sans JP"/>
              <a:cs typeface="Noto Sans JP"/>
              <a:sym typeface="Noto Sans JP"/>
            </a:endParaRPr>
          </a:p>
        </p:txBody>
      </p:sp>
      <p:cxnSp>
        <p:nvCxnSpPr>
          <p:cNvPr id="890" name="Google Shape;890;p73"/>
          <p:cNvCxnSpPr/>
          <p:nvPr/>
        </p:nvCxnSpPr>
        <p:spPr>
          <a:xfrm>
            <a:off x="3201288" y="917474"/>
            <a:ext cx="2741400" cy="0"/>
          </a:xfrm>
          <a:prstGeom prst="straightConnector1">
            <a:avLst/>
          </a:prstGeom>
          <a:noFill/>
          <a:ln cap="flat" cmpd="sng" w="9525">
            <a:solidFill>
              <a:srgbClr val="808080"/>
            </a:solidFill>
            <a:prstDash val="solid"/>
            <a:round/>
            <a:headEnd len="med" w="med" type="none"/>
            <a:tailEnd len="med" w="med" type="none"/>
          </a:ln>
        </p:spPr>
      </p:cxnSp>
      <p:sp>
        <p:nvSpPr>
          <p:cNvPr id="891" name="Google Shape;891;p73"/>
          <p:cNvSpPr txBox="1"/>
          <p:nvPr/>
        </p:nvSpPr>
        <p:spPr>
          <a:xfrm>
            <a:off x="6517963" y="580825"/>
            <a:ext cx="2135400" cy="3387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打ち手の方向性・案</a:t>
            </a:r>
            <a:endParaRPr sz="1000">
              <a:latin typeface="Noto Sans JP"/>
              <a:ea typeface="Noto Sans JP"/>
              <a:cs typeface="Noto Sans JP"/>
              <a:sym typeface="Noto Sans JP"/>
            </a:endParaRPr>
          </a:p>
        </p:txBody>
      </p:sp>
      <p:cxnSp>
        <p:nvCxnSpPr>
          <p:cNvPr id="892" name="Google Shape;892;p73"/>
          <p:cNvCxnSpPr/>
          <p:nvPr/>
        </p:nvCxnSpPr>
        <p:spPr>
          <a:xfrm>
            <a:off x="6214963" y="917474"/>
            <a:ext cx="2741400" cy="0"/>
          </a:xfrm>
          <a:prstGeom prst="straightConnector1">
            <a:avLst/>
          </a:prstGeom>
          <a:noFill/>
          <a:ln cap="flat" cmpd="sng" w="9525">
            <a:solidFill>
              <a:srgbClr val="808080"/>
            </a:solidFill>
            <a:prstDash val="solid"/>
            <a:round/>
            <a:headEnd len="med" w="med" type="none"/>
            <a:tailEnd len="med" w="med" type="none"/>
          </a:ln>
        </p:spPr>
      </p:cxnSp>
      <p:sp>
        <p:nvSpPr>
          <p:cNvPr id="893" name="Google Shape;893;p73"/>
          <p:cNvSpPr/>
          <p:nvPr/>
        </p:nvSpPr>
        <p:spPr>
          <a:xfrm>
            <a:off x="187525" y="100662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LowTouch店舗の初回掲載では「1日分だけ余裕を持って掲載」する</a:t>
            </a:r>
            <a:r>
              <a:rPr b="1" lang="ja" sz="1000">
                <a:latin typeface="Noto Sans JP"/>
                <a:ea typeface="Noto Sans JP"/>
                <a:cs typeface="Noto Sans JP"/>
                <a:sym typeface="Noto Sans JP"/>
              </a:rPr>
              <a:t>お試し・テスト的な掲載が多くこの層の翌月継続率が低い。</a:t>
            </a:r>
            <a:endParaRPr b="1" sz="1000">
              <a:latin typeface="Noto Sans JP"/>
              <a:ea typeface="Noto Sans JP"/>
              <a:cs typeface="Noto Sans JP"/>
              <a:sym typeface="Noto Sans JP"/>
            </a:endParaRPr>
          </a:p>
        </p:txBody>
      </p:sp>
      <p:sp>
        <p:nvSpPr>
          <p:cNvPr id="894" name="Google Shape;894;p73"/>
          <p:cNvSpPr/>
          <p:nvPr/>
        </p:nvSpPr>
        <p:spPr>
          <a:xfrm>
            <a:off x="187525" y="196097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初回体験では、</a:t>
            </a:r>
            <a:r>
              <a:rPr b="1" lang="ja" sz="1000">
                <a:latin typeface="Noto Sans JP"/>
                <a:ea typeface="Noto Sans JP"/>
                <a:cs typeface="Noto Sans JP"/>
                <a:sym typeface="Noto Sans JP"/>
              </a:rPr>
              <a:t>企業キャンセル・ワーカーへのGood評価なしだと追加掲載率が低く、</a:t>
            </a:r>
            <a:r>
              <a:rPr lang="ja" sz="1000">
                <a:latin typeface="Noto Sans JP"/>
                <a:ea typeface="Noto Sans JP"/>
                <a:cs typeface="Noto Sans JP"/>
                <a:sym typeface="Noto Sans JP"/>
              </a:rPr>
              <a:t>ワーカーの質が期待値通りでないことがマイナス体験として追加掲載判断に影響する。</a:t>
            </a:r>
            <a:endParaRPr sz="1000">
              <a:latin typeface="Noto Sans JP"/>
              <a:ea typeface="Noto Sans JP"/>
              <a:cs typeface="Noto Sans JP"/>
              <a:sym typeface="Noto Sans JP"/>
            </a:endParaRPr>
          </a:p>
        </p:txBody>
      </p:sp>
      <p:sp>
        <p:nvSpPr>
          <p:cNvPr id="895" name="Google Shape;895;p73"/>
          <p:cNvSpPr/>
          <p:nvPr/>
        </p:nvSpPr>
        <p:spPr>
          <a:xfrm>
            <a:off x="187525" y="291532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初月に月4日の募集掲載があると翌月継続率が50%を超える</a:t>
            </a:r>
            <a:r>
              <a:rPr lang="ja" sz="1000">
                <a:latin typeface="Noto Sans JP"/>
                <a:ea typeface="Noto Sans JP"/>
                <a:cs typeface="Noto Sans JP"/>
                <a:sym typeface="Noto Sans JP"/>
              </a:rPr>
              <a:t>。利用初月稼働率も継続率に影響はするものの、掲載習慣が作れているか否かはより重要性が高い。</a:t>
            </a:r>
            <a:endParaRPr sz="1000">
              <a:latin typeface="Noto Sans JP"/>
              <a:ea typeface="Noto Sans JP"/>
              <a:cs typeface="Noto Sans JP"/>
              <a:sym typeface="Noto Sans JP"/>
            </a:endParaRPr>
          </a:p>
        </p:txBody>
      </p:sp>
      <p:sp>
        <p:nvSpPr>
          <p:cNvPr id="896" name="Google Shape;896;p73"/>
          <p:cNvSpPr/>
          <p:nvPr/>
        </p:nvSpPr>
        <p:spPr>
          <a:xfrm>
            <a:off x="187525" y="3869675"/>
            <a:ext cx="2728200" cy="865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b="1" lang="ja" sz="1000">
                <a:latin typeface="Noto Sans JP"/>
                <a:ea typeface="Noto Sans JP"/>
                <a:cs typeface="Noto Sans JP"/>
                <a:sym typeface="Noto Sans JP"/>
              </a:rPr>
              <a:t>店舗は初回掲載と同じ曜日で掲載することが多いため</a:t>
            </a:r>
            <a:r>
              <a:rPr lang="ja" sz="1000">
                <a:latin typeface="Noto Sans JP"/>
                <a:ea typeface="Noto Sans JP"/>
                <a:cs typeface="Noto Sans JP"/>
                <a:sym typeface="Noto Sans JP"/>
              </a:rPr>
              <a:t>、募集の掲載を店舗の定常業務サイクルに載せてもらうための体験設計が重要と考えられる。</a:t>
            </a:r>
            <a:endParaRPr sz="1000">
              <a:latin typeface="Noto Sans JP"/>
              <a:ea typeface="Noto Sans JP"/>
              <a:cs typeface="Noto Sans JP"/>
              <a:sym typeface="Noto Sans JP"/>
            </a:endParaRPr>
          </a:p>
        </p:txBody>
      </p:sp>
      <p:sp>
        <p:nvSpPr>
          <p:cNvPr id="897" name="Google Shape;897;p73"/>
          <p:cNvSpPr/>
          <p:nvPr/>
        </p:nvSpPr>
        <p:spPr>
          <a:xfrm>
            <a:off x="3207900" y="1006625"/>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お試し的な利用が想定される店舗に対して</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000">
                <a:latin typeface="Noto Sans JP"/>
                <a:ea typeface="Noto Sans JP"/>
                <a:cs typeface="Noto Sans JP"/>
                <a:sym typeface="Noto Sans JP"/>
              </a:rPr>
              <a:t>1回の利用で満足or離反させず、いかにして追加掲載を促すか？</a:t>
            </a:r>
            <a:endParaRPr sz="1000">
              <a:latin typeface="Noto Sans JP"/>
              <a:ea typeface="Noto Sans JP"/>
              <a:cs typeface="Noto Sans JP"/>
              <a:sym typeface="Noto Sans JP"/>
            </a:endParaRPr>
          </a:p>
        </p:txBody>
      </p:sp>
      <p:sp>
        <p:nvSpPr>
          <p:cNvPr id="898" name="Google Shape;898;p73"/>
          <p:cNvSpPr/>
          <p:nvPr/>
        </p:nvSpPr>
        <p:spPr>
          <a:xfrm>
            <a:off x="3207900" y="1640084"/>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店舗が抱きうる不安や不信に対して、どのようにしてフォローができるか？</a:t>
            </a:r>
            <a:endParaRPr sz="1000">
              <a:latin typeface="Noto Sans JP"/>
              <a:ea typeface="Noto Sans JP"/>
              <a:cs typeface="Noto Sans JP"/>
              <a:sym typeface="Noto Sans JP"/>
            </a:endParaRPr>
          </a:p>
        </p:txBody>
      </p:sp>
      <p:sp>
        <p:nvSpPr>
          <p:cNvPr id="899" name="Google Shape;899;p73"/>
          <p:cNvSpPr/>
          <p:nvPr/>
        </p:nvSpPr>
        <p:spPr>
          <a:xfrm>
            <a:off x="3207900" y="2273544"/>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初回マッチング~稼働前後でワーカーの質の期待値を調整できないか？</a:t>
            </a:r>
            <a:endParaRPr sz="1000">
              <a:latin typeface="Noto Sans JP"/>
              <a:ea typeface="Noto Sans JP"/>
              <a:cs typeface="Noto Sans JP"/>
              <a:sym typeface="Noto Sans JP"/>
            </a:endParaRPr>
          </a:p>
        </p:txBody>
      </p:sp>
      <p:sp>
        <p:nvSpPr>
          <p:cNvPr id="900" name="Google Shape;900;p73"/>
          <p:cNvSpPr/>
          <p:nvPr/>
        </p:nvSpPr>
        <p:spPr>
          <a:xfrm>
            <a:off x="3207900" y="2907003"/>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オンボーディングのゴールを初回掲載で終わらせず、週次ルーチンにできないか？</a:t>
            </a:r>
            <a:endParaRPr sz="1000">
              <a:latin typeface="Noto Sans JP"/>
              <a:ea typeface="Noto Sans JP"/>
              <a:cs typeface="Noto Sans JP"/>
              <a:sym typeface="Noto Sans JP"/>
            </a:endParaRPr>
          </a:p>
        </p:txBody>
      </p:sp>
      <p:sp>
        <p:nvSpPr>
          <p:cNvPr id="901" name="Google Shape;901;p73"/>
          <p:cNvSpPr/>
          <p:nvPr/>
        </p:nvSpPr>
        <p:spPr>
          <a:xfrm>
            <a:off x="3201300" y="3540463"/>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TechTouchのコミュニケーションで店舗の週次ルーチン化をどう促せるか？</a:t>
            </a:r>
            <a:endParaRPr sz="1000">
              <a:latin typeface="Noto Sans JP"/>
              <a:ea typeface="Noto Sans JP"/>
              <a:cs typeface="Noto Sans JP"/>
              <a:sym typeface="Noto Sans JP"/>
            </a:endParaRPr>
          </a:p>
        </p:txBody>
      </p:sp>
      <p:sp>
        <p:nvSpPr>
          <p:cNvPr id="902" name="Google Shape;902;p73"/>
          <p:cNvSpPr/>
          <p:nvPr/>
        </p:nvSpPr>
        <p:spPr>
          <a:xfrm>
            <a:off x="3207900" y="4173924"/>
            <a:ext cx="2728200" cy="5655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募集掲載をルーチン化しやすい管理画面のUIUXとは何か？</a:t>
            </a:r>
            <a:endParaRPr sz="1000">
              <a:latin typeface="Noto Sans JP"/>
              <a:ea typeface="Noto Sans JP"/>
              <a:cs typeface="Noto Sans JP"/>
              <a:sym typeface="Noto Sans JP"/>
            </a:endParaRPr>
          </a:p>
        </p:txBody>
      </p:sp>
      <p:cxnSp>
        <p:nvCxnSpPr>
          <p:cNvPr id="903" name="Google Shape;903;p73"/>
          <p:cNvCxnSpPr>
            <a:stCxn id="893" idx="3"/>
            <a:endCxn id="897" idx="1"/>
          </p:cNvCxnSpPr>
          <p:nvPr/>
        </p:nvCxnSpPr>
        <p:spPr>
          <a:xfrm flipH="1" rot="10800000">
            <a:off x="2915725" y="1289525"/>
            <a:ext cx="292200" cy="149700"/>
          </a:xfrm>
          <a:prstGeom prst="straightConnector1">
            <a:avLst/>
          </a:prstGeom>
          <a:noFill/>
          <a:ln cap="flat" cmpd="sng" w="19050">
            <a:solidFill>
              <a:srgbClr val="808080"/>
            </a:solidFill>
            <a:prstDash val="solid"/>
            <a:round/>
            <a:headEnd len="med" w="med" type="none"/>
            <a:tailEnd len="med" w="med" type="oval"/>
          </a:ln>
        </p:spPr>
      </p:cxnSp>
      <p:sp>
        <p:nvSpPr>
          <p:cNvPr id="904" name="Google Shape;904;p73"/>
          <p:cNvSpPr/>
          <p:nvPr/>
        </p:nvSpPr>
        <p:spPr>
          <a:xfrm>
            <a:off x="6228275" y="100662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同業種の店舗は利用初月で月n回掲載している（利用目安）を訴求</a:t>
            </a:r>
            <a:endParaRPr sz="1000">
              <a:latin typeface="Noto Sans JP"/>
              <a:ea typeface="Noto Sans JP"/>
              <a:cs typeface="Noto Sans JP"/>
              <a:sym typeface="Noto Sans JP"/>
            </a:endParaRPr>
          </a:p>
        </p:txBody>
      </p:sp>
      <p:sp>
        <p:nvSpPr>
          <p:cNvPr id="905" name="Google Shape;905;p73"/>
          <p:cNvSpPr/>
          <p:nvPr/>
        </p:nvSpPr>
        <p:spPr>
          <a:xfrm>
            <a:off x="6228275" y="164008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フォローメールの送付で、「募集の工夫で改善できる」認識へ転換させる</a:t>
            </a:r>
            <a:endParaRPr sz="1000">
              <a:latin typeface="Noto Sans JP"/>
              <a:ea typeface="Noto Sans JP"/>
              <a:cs typeface="Noto Sans JP"/>
              <a:sym typeface="Noto Sans JP"/>
            </a:endParaRPr>
          </a:p>
        </p:txBody>
      </p:sp>
      <p:sp>
        <p:nvSpPr>
          <p:cNvPr id="906" name="Google Shape;906;p73"/>
          <p:cNvSpPr/>
          <p:nvPr/>
        </p:nvSpPr>
        <p:spPr>
          <a:xfrm>
            <a:off x="6228275" y="227354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初回掲載時のツールチップで働くための条件を追加してもらう</a:t>
            </a:r>
            <a:endParaRPr sz="1000">
              <a:latin typeface="Noto Sans JP"/>
              <a:ea typeface="Noto Sans JP"/>
              <a:cs typeface="Noto Sans JP"/>
              <a:sym typeface="Noto Sans JP"/>
            </a:endParaRPr>
          </a:p>
        </p:txBody>
      </p:sp>
      <p:sp>
        <p:nvSpPr>
          <p:cNvPr id="907" name="Google Shape;907;p73"/>
          <p:cNvSpPr/>
          <p:nvPr/>
        </p:nvSpPr>
        <p:spPr>
          <a:xfrm>
            <a:off x="6228275" y="290700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管理画面のオンボーディングプロセスに月4回の掲載、などを表示する</a:t>
            </a:r>
            <a:endParaRPr sz="1000">
              <a:latin typeface="Noto Sans JP"/>
              <a:ea typeface="Noto Sans JP"/>
              <a:cs typeface="Noto Sans JP"/>
              <a:sym typeface="Noto Sans JP"/>
            </a:endParaRPr>
          </a:p>
        </p:txBody>
      </p:sp>
      <p:sp>
        <p:nvSpPr>
          <p:cNvPr id="908" name="Google Shape;908;p73"/>
          <p:cNvSpPr/>
          <p:nvPr/>
        </p:nvSpPr>
        <p:spPr>
          <a:xfrm>
            <a:off x="6228275" y="3540465"/>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7n-1日に追加掲載を促すメールを送付</a:t>
            </a:r>
            <a:endParaRPr sz="1000">
              <a:latin typeface="Noto Sans JP"/>
              <a:ea typeface="Noto Sans JP"/>
              <a:cs typeface="Noto Sans JP"/>
              <a:sym typeface="Noto Sans JP"/>
            </a:endParaRPr>
          </a:p>
        </p:txBody>
      </p:sp>
      <p:sp>
        <p:nvSpPr>
          <p:cNvPr id="909" name="Google Shape;909;p73"/>
          <p:cNvSpPr/>
          <p:nvPr/>
        </p:nvSpPr>
        <p:spPr>
          <a:xfrm>
            <a:off x="6228275" y="4173924"/>
            <a:ext cx="2728200" cy="565500"/>
          </a:xfrm>
          <a:prstGeom prst="rect">
            <a:avLst/>
          </a:prstGeom>
          <a:solidFill>
            <a:srgbClr val="FFFFFF"/>
          </a:solidFill>
          <a:ln cap="flat" cmpd="sng" w="19050">
            <a:solidFill>
              <a:srgbClr val="FFD7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カレンダーへの掲載おすすめ日表示</a:t>
            </a:r>
            <a:endParaRPr sz="1000">
              <a:latin typeface="Noto Sans JP"/>
              <a:ea typeface="Noto Sans JP"/>
              <a:cs typeface="Noto Sans JP"/>
              <a:sym typeface="Noto Sans JP"/>
            </a:endParaRPr>
          </a:p>
        </p:txBody>
      </p:sp>
      <p:sp>
        <p:nvSpPr>
          <p:cNvPr id="910" name="Google Shape;910;p73"/>
          <p:cNvSpPr/>
          <p:nvPr/>
        </p:nvSpPr>
        <p:spPr>
          <a:xfrm>
            <a:off x="6014838" y="112002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73"/>
          <p:cNvSpPr/>
          <p:nvPr/>
        </p:nvSpPr>
        <p:spPr>
          <a:xfrm>
            <a:off x="6014825" y="175348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73"/>
          <p:cNvSpPr/>
          <p:nvPr/>
        </p:nvSpPr>
        <p:spPr>
          <a:xfrm>
            <a:off x="6014838" y="238694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3" name="Google Shape;913;p73"/>
          <p:cNvSpPr/>
          <p:nvPr/>
        </p:nvSpPr>
        <p:spPr>
          <a:xfrm>
            <a:off x="6014825" y="302040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4" name="Google Shape;914;p73"/>
          <p:cNvSpPr/>
          <p:nvPr/>
        </p:nvSpPr>
        <p:spPr>
          <a:xfrm>
            <a:off x="6011538" y="3653865"/>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5" name="Google Shape;915;p73"/>
          <p:cNvSpPr/>
          <p:nvPr/>
        </p:nvSpPr>
        <p:spPr>
          <a:xfrm>
            <a:off x="6014825" y="4287324"/>
            <a:ext cx="134700" cy="338700"/>
          </a:xfrm>
          <a:prstGeom prst="rightArrow">
            <a:avLst>
              <a:gd fmla="val 50000" name="adj1"/>
              <a:gd fmla="val 50000" name="adj2"/>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16" name="Google Shape;916;p73"/>
          <p:cNvCxnSpPr>
            <a:stCxn id="894" idx="3"/>
            <a:endCxn id="898" idx="1"/>
          </p:cNvCxnSpPr>
          <p:nvPr/>
        </p:nvCxnSpPr>
        <p:spPr>
          <a:xfrm flipH="1" rot="10800000">
            <a:off x="2915725" y="1922875"/>
            <a:ext cx="292200" cy="470700"/>
          </a:xfrm>
          <a:prstGeom prst="straightConnector1">
            <a:avLst/>
          </a:prstGeom>
          <a:noFill/>
          <a:ln cap="flat" cmpd="sng" w="19050">
            <a:solidFill>
              <a:srgbClr val="808080"/>
            </a:solidFill>
            <a:prstDash val="solid"/>
            <a:round/>
            <a:headEnd len="med" w="med" type="none"/>
            <a:tailEnd len="med" w="med" type="oval"/>
          </a:ln>
        </p:spPr>
      </p:cxnSp>
      <p:cxnSp>
        <p:nvCxnSpPr>
          <p:cNvPr id="917" name="Google Shape;917;p73"/>
          <p:cNvCxnSpPr>
            <a:stCxn id="894" idx="3"/>
            <a:endCxn id="899" idx="1"/>
          </p:cNvCxnSpPr>
          <p:nvPr/>
        </p:nvCxnSpPr>
        <p:spPr>
          <a:xfrm>
            <a:off x="2915725" y="2393575"/>
            <a:ext cx="292200" cy="162600"/>
          </a:xfrm>
          <a:prstGeom prst="straightConnector1">
            <a:avLst/>
          </a:prstGeom>
          <a:noFill/>
          <a:ln cap="flat" cmpd="sng" w="19050">
            <a:solidFill>
              <a:srgbClr val="808080"/>
            </a:solidFill>
            <a:prstDash val="solid"/>
            <a:round/>
            <a:headEnd len="med" w="med" type="none"/>
            <a:tailEnd len="med" w="med" type="oval"/>
          </a:ln>
        </p:spPr>
      </p:cxnSp>
      <p:cxnSp>
        <p:nvCxnSpPr>
          <p:cNvPr id="918" name="Google Shape;918;p73"/>
          <p:cNvCxnSpPr>
            <a:stCxn id="895" idx="3"/>
            <a:endCxn id="900" idx="1"/>
          </p:cNvCxnSpPr>
          <p:nvPr/>
        </p:nvCxnSpPr>
        <p:spPr>
          <a:xfrm flipH="1" rot="10800000">
            <a:off x="2915725" y="3189825"/>
            <a:ext cx="292200" cy="158100"/>
          </a:xfrm>
          <a:prstGeom prst="straightConnector1">
            <a:avLst/>
          </a:prstGeom>
          <a:noFill/>
          <a:ln cap="flat" cmpd="sng" w="19050">
            <a:solidFill>
              <a:srgbClr val="808080"/>
            </a:solidFill>
            <a:prstDash val="solid"/>
            <a:round/>
            <a:headEnd len="med" w="med" type="none"/>
            <a:tailEnd len="med" w="med" type="oval"/>
          </a:ln>
        </p:spPr>
      </p:cxnSp>
      <p:cxnSp>
        <p:nvCxnSpPr>
          <p:cNvPr id="919" name="Google Shape;919;p73"/>
          <p:cNvCxnSpPr>
            <a:stCxn id="895" idx="3"/>
            <a:endCxn id="901" idx="1"/>
          </p:cNvCxnSpPr>
          <p:nvPr/>
        </p:nvCxnSpPr>
        <p:spPr>
          <a:xfrm>
            <a:off x="2915725" y="3347925"/>
            <a:ext cx="285600" cy="475200"/>
          </a:xfrm>
          <a:prstGeom prst="straightConnector1">
            <a:avLst/>
          </a:prstGeom>
          <a:noFill/>
          <a:ln cap="flat" cmpd="sng" w="19050">
            <a:solidFill>
              <a:srgbClr val="808080"/>
            </a:solidFill>
            <a:prstDash val="solid"/>
            <a:round/>
            <a:headEnd len="med" w="med" type="none"/>
            <a:tailEnd len="med" w="med" type="oval"/>
          </a:ln>
        </p:spPr>
      </p:cxnSp>
      <p:cxnSp>
        <p:nvCxnSpPr>
          <p:cNvPr id="920" name="Google Shape;920;p73"/>
          <p:cNvCxnSpPr>
            <a:stCxn id="896" idx="3"/>
            <a:endCxn id="900" idx="1"/>
          </p:cNvCxnSpPr>
          <p:nvPr/>
        </p:nvCxnSpPr>
        <p:spPr>
          <a:xfrm flipH="1" rot="10800000">
            <a:off x="2915725" y="3189875"/>
            <a:ext cx="292200" cy="1112400"/>
          </a:xfrm>
          <a:prstGeom prst="straightConnector1">
            <a:avLst/>
          </a:prstGeom>
          <a:noFill/>
          <a:ln cap="flat" cmpd="sng" w="19050">
            <a:solidFill>
              <a:srgbClr val="808080"/>
            </a:solidFill>
            <a:prstDash val="solid"/>
            <a:round/>
            <a:headEnd len="med" w="med" type="none"/>
            <a:tailEnd len="med" w="med" type="oval"/>
          </a:ln>
        </p:spPr>
      </p:cxnSp>
      <p:cxnSp>
        <p:nvCxnSpPr>
          <p:cNvPr id="921" name="Google Shape;921;p73"/>
          <p:cNvCxnSpPr>
            <a:stCxn id="896" idx="3"/>
            <a:endCxn id="902" idx="1"/>
          </p:cNvCxnSpPr>
          <p:nvPr/>
        </p:nvCxnSpPr>
        <p:spPr>
          <a:xfrm>
            <a:off x="2915725" y="4302275"/>
            <a:ext cx="292200" cy="154500"/>
          </a:xfrm>
          <a:prstGeom prst="straightConnector1">
            <a:avLst/>
          </a:prstGeom>
          <a:noFill/>
          <a:ln cap="flat" cmpd="sng" w="19050">
            <a:solidFill>
              <a:srgbClr val="808080"/>
            </a:solidFill>
            <a:prstDash val="solid"/>
            <a:round/>
            <a:headEnd len="med" w="med" type="none"/>
            <a:tailEnd len="med" w="med" type="oval"/>
          </a:ln>
        </p:spPr>
      </p:cxnSp>
      <p:cxnSp>
        <p:nvCxnSpPr>
          <p:cNvPr id="922" name="Google Shape;922;p73"/>
          <p:cNvCxnSpPr>
            <a:stCxn id="895" idx="3"/>
          </p:cNvCxnSpPr>
          <p:nvPr/>
        </p:nvCxnSpPr>
        <p:spPr>
          <a:xfrm>
            <a:off x="2915725" y="3347925"/>
            <a:ext cx="327300" cy="1240800"/>
          </a:xfrm>
          <a:prstGeom prst="straightConnector1">
            <a:avLst/>
          </a:prstGeom>
          <a:noFill/>
          <a:ln cap="flat" cmpd="sng" w="19050">
            <a:solidFill>
              <a:srgbClr val="808080"/>
            </a:solidFill>
            <a:prstDash val="solid"/>
            <a:round/>
            <a:headEnd len="med" w="med" type="none"/>
            <a:tailEnd len="med" w="med" type="oval"/>
          </a:ln>
        </p:spPr>
      </p:cxnSp>
      <p:sp>
        <p:nvSpPr>
          <p:cNvPr id="923" name="Google Shape;923;p73"/>
          <p:cNvSpPr/>
          <p:nvPr/>
        </p:nvSpPr>
        <p:spPr>
          <a:xfrm>
            <a:off x="6164225" y="961750"/>
            <a:ext cx="2856300" cy="3846600"/>
          </a:xfrm>
          <a:prstGeom prst="roundRect">
            <a:avLst>
              <a:gd fmla="val 4238" name="adj"/>
            </a:avLst>
          </a:prstGeom>
          <a:solidFill>
            <a:srgbClr val="EEEEEE">
              <a:alpha val="80000"/>
            </a:srgbClr>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a:t>TBU</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74"/>
          <p:cNvSpPr/>
          <p:nvPr/>
        </p:nvSpPr>
        <p:spPr>
          <a:xfrm>
            <a:off x="607895" y="523403"/>
            <a:ext cx="6104400" cy="2163600"/>
          </a:xfrm>
          <a:prstGeom prst="roundRect">
            <a:avLst>
              <a:gd fmla="val 16667" name="adj"/>
            </a:avLst>
          </a:prstGeom>
          <a:solidFill>
            <a:srgbClr val="FFFFFF"/>
          </a:solidFill>
          <a:ln cap="flat" cmpd="sng" w="95250">
            <a:solidFill>
              <a:srgbClr val="00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highlight>
                <a:srgbClr val="212121"/>
              </a:highlight>
              <a:latin typeface="Meiryo"/>
              <a:ea typeface="Meiryo"/>
              <a:cs typeface="Meiryo"/>
              <a:sym typeface="Meiryo"/>
            </a:endParaRPr>
          </a:p>
        </p:txBody>
      </p:sp>
      <p:sp>
        <p:nvSpPr>
          <p:cNvPr id="929" name="Google Shape;929;p74"/>
          <p:cNvSpPr txBox="1"/>
          <p:nvPr/>
        </p:nvSpPr>
        <p:spPr>
          <a:xfrm>
            <a:off x="661332" y="1324258"/>
            <a:ext cx="5997600" cy="561900"/>
          </a:xfrm>
          <a:prstGeom prst="rect">
            <a:avLst/>
          </a:prstGeom>
          <a:noFill/>
          <a:ln>
            <a:noFill/>
          </a:ln>
        </p:spPr>
        <p:txBody>
          <a:bodyPr anchorCtr="0" anchor="t" bIns="34275" lIns="68575" spcFirstLastPara="1" rIns="68575" wrap="square" tIns="34275">
            <a:spAutoFit/>
          </a:bodyPr>
          <a:lstStyle/>
          <a:p>
            <a:pPr indent="0" lvl="0" marL="0" marR="0" rtl="0" algn="ctr">
              <a:lnSpc>
                <a:spcPct val="115000"/>
              </a:lnSpc>
              <a:spcBef>
                <a:spcPts val="0"/>
              </a:spcBef>
              <a:spcAft>
                <a:spcPts val="0"/>
              </a:spcAft>
              <a:buClr>
                <a:srgbClr val="000000"/>
              </a:buClr>
              <a:buSzPts val="2300"/>
              <a:buFont typeface="Arial"/>
              <a:buNone/>
            </a:pPr>
            <a:r>
              <a:rPr b="1" lang="ja" sz="3200">
                <a:solidFill>
                  <a:srgbClr val="212121"/>
                </a:solidFill>
                <a:latin typeface="Noto Sans JP"/>
                <a:ea typeface="Noto Sans JP"/>
                <a:cs typeface="Noto Sans JP"/>
                <a:sym typeface="Noto Sans JP"/>
              </a:rPr>
              <a:t>Appendix</a:t>
            </a:r>
            <a:endParaRPr b="1" sz="3200">
              <a:solidFill>
                <a:srgbClr val="212121"/>
              </a:solidFill>
              <a:latin typeface="Noto Sans JP"/>
              <a:ea typeface="Noto Sans JP"/>
              <a:cs typeface="Noto Sans JP"/>
              <a:sym typeface="Noto Sans JP"/>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75"/>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35" name="Google Shape;935;p75"/>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初回掲載パターンによる事業所のサービス利用意図の推測</a:t>
            </a:r>
            <a:endParaRPr/>
          </a:p>
        </p:txBody>
      </p:sp>
      <p:sp>
        <p:nvSpPr>
          <p:cNvPr id="936" name="Google Shape;936;p75"/>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利用開始した店舗によっては人員不足の課題の深刻度合いをもとに、その後の継続利用意思があるか？の有無によって翌月継続するしないが変動することが想像できる。当分析では、初回掲載のパターンで擬似的に継続利用意思を推測する。</a:t>
            </a:r>
            <a:endParaRPr sz="1200">
              <a:latin typeface="Noto Sans JP"/>
              <a:ea typeface="Noto Sans JP"/>
              <a:cs typeface="Noto Sans JP"/>
              <a:sym typeface="Noto Sans JP"/>
            </a:endParaRPr>
          </a:p>
        </p:txBody>
      </p:sp>
      <p:sp>
        <p:nvSpPr>
          <p:cNvPr id="937" name="Google Shape;937;p75"/>
          <p:cNvSpPr/>
          <p:nvPr/>
        </p:nvSpPr>
        <p:spPr>
          <a:xfrm>
            <a:off x="807600" y="1544075"/>
            <a:ext cx="7528800" cy="186900"/>
          </a:xfrm>
          <a:prstGeom prst="leftRightArrow">
            <a:avLst>
              <a:gd fmla="val 50000" name="adj1"/>
              <a:gd fmla="val 50000" name="adj2"/>
            </a:avLst>
          </a:prstGeom>
          <a:solidFill>
            <a:srgbClr val="808080"/>
          </a:solidFill>
          <a:ln cap="flat" cmpd="sng" w="952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75"/>
          <p:cNvSpPr/>
          <p:nvPr/>
        </p:nvSpPr>
        <p:spPr>
          <a:xfrm>
            <a:off x="1026150" y="1342025"/>
            <a:ext cx="2244600" cy="591000"/>
          </a:xfrm>
          <a:prstGeom prst="roundRect">
            <a:avLst>
              <a:gd fmla="val 16667" name="adj"/>
            </a:avLst>
          </a:prstGeom>
          <a:solidFill>
            <a:srgbClr val="FFE08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慢性的な人員不足を抱えている</a:t>
            </a:r>
            <a:endParaRPr b="1" sz="1000">
              <a:solidFill>
                <a:srgbClr val="1F1F1F"/>
              </a:solidFill>
              <a:latin typeface="Noto Sans JP"/>
              <a:ea typeface="Noto Sans JP"/>
              <a:cs typeface="Noto Sans JP"/>
              <a:sym typeface="Noto Sans JP"/>
            </a:endParaRPr>
          </a:p>
        </p:txBody>
      </p:sp>
      <p:sp>
        <p:nvSpPr>
          <p:cNvPr id="939" name="Google Shape;939;p75"/>
          <p:cNvSpPr/>
          <p:nvPr/>
        </p:nvSpPr>
        <p:spPr>
          <a:xfrm>
            <a:off x="3449702" y="1342025"/>
            <a:ext cx="2244600" cy="591000"/>
          </a:xfrm>
          <a:prstGeom prst="roundRect">
            <a:avLst>
              <a:gd fmla="val 16667" name="adj"/>
            </a:avLst>
          </a:prstGeom>
          <a:solidFill>
            <a:srgbClr val="FFE08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突発的な人員不足に陥っている</a:t>
            </a:r>
            <a:endParaRPr b="1" sz="1000">
              <a:solidFill>
                <a:srgbClr val="1F1F1F"/>
              </a:solidFill>
              <a:latin typeface="Noto Sans JP"/>
              <a:ea typeface="Noto Sans JP"/>
              <a:cs typeface="Noto Sans JP"/>
              <a:sym typeface="Noto Sans JP"/>
            </a:endParaRPr>
          </a:p>
        </p:txBody>
      </p:sp>
      <p:sp>
        <p:nvSpPr>
          <p:cNvPr id="940" name="Google Shape;940;p75"/>
          <p:cNvSpPr/>
          <p:nvPr/>
        </p:nvSpPr>
        <p:spPr>
          <a:xfrm>
            <a:off x="5873253" y="1342025"/>
            <a:ext cx="2244600" cy="591000"/>
          </a:xfrm>
          <a:prstGeom prst="roundRect">
            <a:avLst>
              <a:gd fmla="val 16667" name="adj"/>
            </a:avLst>
          </a:prstGeom>
          <a:solidFill>
            <a:srgbClr val="FFE08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お試し・テスト利用的に</a:t>
            </a:r>
            <a:endParaRPr b="1" sz="1000">
              <a:solidFill>
                <a:srgbClr val="1F1F1F"/>
              </a:solidFill>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1000">
                <a:solidFill>
                  <a:srgbClr val="1F1F1F"/>
                </a:solidFill>
                <a:latin typeface="Noto Sans JP"/>
                <a:ea typeface="Noto Sans JP"/>
                <a:cs typeface="Noto Sans JP"/>
                <a:sym typeface="Noto Sans JP"/>
              </a:rPr>
              <a:t>使ってみる</a:t>
            </a:r>
            <a:endParaRPr b="1" sz="1000">
              <a:solidFill>
                <a:srgbClr val="1F1F1F"/>
              </a:solidFill>
              <a:latin typeface="Noto Sans JP"/>
              <a:ea typeface="Noto Sans JP"/>
              <a:cs typeface="Noto Sans JP"/>
              <a:sym typeface="Noto Sans JP"/>
            </a:endParaRPr>
          </a:p>
        </p:txBody>
      </p:sp>
      <p:sp>
        <p:nvSpPr>
          <p:cNvPr id="941" name="Google Shape;941;p75"/>
          <p:cNvSpPr txBox="1"/>
          <p:nvPr/>
        </p:nvSpPr>
        <p:spPr>
          <a:xfrm>
            <a:off x="180000" y="1375925"/>
            <a:ext cx="742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継続意向:</a:t>
            </a:r>
            <a:endParaRPr sz="800">
              <a:latin typeface="Noto Sans JP"/>
              <a:ea typeface="Noto Sans JP"/>
              <a:cs typeface="Noto Sans JP"/>
              <a:sym typeface="Noto Sans JP"/>
            </a:endParaRPr>
          </a:p>
          <a:p>
            <a:pPr indent="0" lvl="0" marL="0" rtl="0" algn="ctr">
              <a:spcBef>
                <a:spcPts val="0"/>
              </a:spcBef>
              <a:spcAft>
                <a:spcPts val="0"/>
              </a:spcAft>
              <a:buNone/>
            </a:pPr>
            <a:r>
              <a:rPr b="1" lang="ja">
                <a:latin typeface="Noto Sans JP"/>
                <a:ea typeface="Noto Sans JP"/>
                <a:cs typeface="Noto Sans JP"/>
                <a:sym typeface="Noto Sans JP"/>
              </a:rPr>
              <a:t>高</a:t>
            </a:r>
            <a:endParaRPr b="1">
              <a:latin typeface="Noto Sans JP"/>
              <a:ea typeface="Noto Sans JP"/>
              <a:cs typeface="Noto Sans JP"/>
              <a:sym typeface="Noto Sans JP"/>
            </a:endParaRPr>
          </a:p>
        </p:txBody>
      </p:sp>
      <p:sp>
        <p:nvSpPr>
          <p:cNvPr id="942" name="Google Shape;942;p75"/>
          <p:cNvSpPr txBox="1"/>
          <p:nvPr/>
        </p:nvSpPr>
        <p:spPr>
          <a:xfrm>
            <a:off x="8221800" y="1375925"/>
            <a:ext cx="742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継続意向:</a:t>
            </a:r>
            <a:endParaRPr sz="800">
              <a:latin typeface="Noto Sans JP"/>
              <a:ea typeface="Noto Sans JP"/>
              <a:cs typeface="Noto Sans JP"/>
              <a:sym typeface="Noto Sans JP"/>
            </a:endParaRPr>
          </a:p>
          <a:p>
            <a:pPr indent="0" lvl="0" marL="0" rtl="0" algn="ctr">
              <a:spcBef>
                <a:spcPts val="0"/>
              </a:spcBef>
              <a:spcAft>
                <a:spcPts val="0"/>
              </a:spcAft>
              <a:buNone/>
            </a:pPr>
            <a:r>
              <a:rPr b="1" lang="ja">
                <a:latin typeface="Noto Sans JP"/>
                <a:ea typeface="Noto Sans JP"/>
                <a:cs typeface="Noto Sans JP"/>
                <a:sym typeface="Noto Sans JP"/>
              </a:rPr>
              <a:t>低</a:t>
            </a:r>
            <a:endParaRPr b="1">
              <a:latin typeface="Noto Sans JP"/>
              <a:ea typeface="Noto Sans JP"/>
              <a:cs typeface="Noto Sans JP"/>
              <a:sym typeface="Noto Sans JP"/>
            </a:endParaRPr>
          </a:p>
        </p:txBody>
      </p:sp>
      <p:sp>
        <p:nvSpPr>
          <p:cNvPr id="943" name="Google Shape;943;p75"/>
          <p:cNvSpPr txBox="1"/>
          <p:nvPr/>
        </p:nvSpPr>
        <p:spPr>
          <a:xfrm>
            <a:off x="1026150" y="2048550"/>
            <a:ext cx="22446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ja" sz="1000">
                <a:latin typeface="Noto Sans JP"/>
                <a:ea typeface="Noto Sans JP"/>
                <a:cs typeface="Noto Sans JP"/>
                <a:sym typeface="Noto Sans JP"/>
              </a:rPr>
              <a:t>ある程度継続して利用していきたい</a:t>
            </a:r>
            <a:endParaRPr sz="1000">
              <a:latin typeface="Noto Sans JP"/>
              <a:ea typeface="Noto Sans JP"/>
              <a:cs typeface="Noto Sans JP"/>
              <a:sym typeface="Noto Sans JP"/>
            </a:endParaRPr>
          </a:p>
          <a:p>
            <a:pPr indent="0" lvl="0" marL="0" rtl="0" algn="ctr">
              <a:lnSpc>
                <a:spcPct val="120000"/>
              </a:lnSpc>
              <a:spcBef>
                <a:spcPts val="0"/>
              </a:spcBef>
              <a:spcAft>
                <a:spcPts val="0"/>
              </a:spcAft>
              <a:buNone/>
            </a:pPr>
            <a:r>
              <a:rPr lang="ja" sz="1000">
                <a:latin typeface="Noto Sans JP"/>
                <a:ea typeface="Noto Sans JP"/>
                <a:cs typeface="Noto Sans JP"/>
                <a:sym typeface="Noto Sans JP"/>
              </a:rPr>
              <a:t>多少問題があっても利用し続ける</a:t>
            </a:r>
            <a:endParaRPr sz="1000">
              <a:latin typeface="Noto Sans JP"/>
              <a:ea typeface="Noto Sans JP"/>
              <a:cs typeface="Noto Sans JP"/>
              <a:sym typeface="Noto Sans JP"/>
            </a:endParaRPr>
          </a:p>
        </p:txBody>
      </p:sp>
      <p:sp>
        <p:nvSpPr>
          <p:cNvPr id="944" name="Google Shape;944;p75"/>
          <p:cNvSpPr txBox="1"/>
          <p:nvPr/>
        </p:nvSpPr>
        <p:spPr>
          <a:xfrm>
            <a:off x="3449700" y="2048550"/>
            <a:ext cx="22446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ja" sz="1000">
                <a:latin typeface="Noto Sans JP"/>
                <a:ea typeface="Noto Sans JP"/>
                <a:cs typeface="Noto Sans JP"/>
                <a:sym typeface="Noto Sans JP"/>
              </a:rPr>
              <a:t>問題が解消するまでは利用したい</a:t>
            </a:r>
            <a:endParaRPr sz="1000">
              <a:latin typeface="Noto Sans JP"/>
              <a:ea typeface="Noto Sans JP"/>
              <a:cs typeface="Noto Sans JP"/>
              <a:sym typeface="Noto Sans JP"/>
            </a:endParaRPr>
          </a:p>
          <a:p>
            <a:pPr indent="0" lvl="0" marL="0" rtl="0" algn="ctr">
              <a:lnSpc>
                <a:spcPct val="120000"/>
              </a:lnSpc>
              <a:spcBef>
                <a:spcPts val="0"/>
              </a:spcBef>
              <a:spcAft>
                <a:spcPts val="0"/>
              </a:spcAft>
              <a:buNone/>
            </a:pPr>
            <a:r>
              <a:t/>
            </a:r>
            <a:endParaRPr sz="1000">
              <a:latin typeface="Noto Sans JP"/>
              <a:ea typeface="Noto Sans JP"/>
              <a:cs typeface="Noto Sans JP"/>
              <a:sym typeface="Noto Sans JP"/>
            </a:endParaRPr>
          </a:p>
        </p:txBody>
      </p:sp>
      <p:sp>
        <p:nvSpPr>
          <p:cNvPr id="945" name="Google Shape;945;p75"/>
          <p:cNvSpPr txBox="1"/>
          <p:nvPr/>
        </p:nvSpPr>
        <p:spPr>
          <a:xfrm>
            <a:off x="5873250" y="2048550"/>
            <a:ext cx="2244600" cy="523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lang="ja" sz="1000">
                <a:latin typeface="Noto Sans JP"/>
                <a:ea typeface="Noto Sans JP"/>
                <a:cs typeface="Noto Sans JP"/>
                <a:sym typeface="Noto Sans JP"/>
              </a:rPr>
              <a:t>どのくらい使えるかを試したい</a:t>
            </a:r>
            <a:endParaRPr sz="1000">
              <a:latin typeface="Noto Sans JP"/>
              <a:ea typeface="Noto Sans JP"/>
              <a:cs typeface="Noto Sans JP"/>
              <a:sym typeface="Noto Sans JP"/>
            </a:endParaRPr>
          </a:p>
          <a:p>
            <a:pPr indent="0" lvl="0" marL="0" rtl="0" algn="ctr">
              <a:lnSpc>
                <a:spcPct val="120000"/>
              </a:lnSpc>
              <a:spcBef>
                <a:spcPts val="0"/>
              </a:spcBef>
              <a:spcAft>
                <a:spcPts val="0"/>
              </a:spcAft>
              <a:buNone/>
            </a:pPr>
            <a:r>
              <a:rPr lang="ja" sz="1000">
                <a:latin typeface="Noto Sans JP"/>
                <a:ea typeface="Noto Sans JP"/>
                <a:cs typeface="Noto Sans JP"/>
                <a:sym typeface="Noto Sans JP"/>
              </a:rPr>
              <a:t>一度使えないと思うと離脱する</a:t>
            </a:r>
            <a:endParaRPr sz="1000">
              <a:latin typeface="Noto Sans JP"/>
              <a:ea typeface="Noto Sans JP"/>
              <a:cs typeface="Noto Sans JP"/>
              <a:sym typeface="Noto Sans JP"/>
            </a:endParaRPr>
          </a:p>
        </p:txBody>
      </p:sp>
      <p:sp>
        <p:nvSpPr>
          <p:cNvPr id="946" name="Google Shape;946;p75"/>
          <p:cNvSpPr/>
          <p:nvPr/>
        </p:nvSpPr>
        <p:spPr>
          <a:xfrm>
            <a:off x="1389600" y="3594112"/>
            <a:ext cx="1472100" cy="4917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1日分の募集のみ掲載</a:t>
            </a:r>
            <a:endParaRPr sz="800">
              <a:latin typeface="Noto Sans JP"/>
              <a:ea typeface="Noto Sans JP"/>
              <a:cs typeface="Noto Sans JP"/>
              <a:sym typeface="Noto Sans JP"/>
            </a:endParaRPr>
          </a:p>
        </p:txBody>
      </p:sp>
      <p:sp>
        <p:nvSpPr>
          <p:cNvPr id="947" name="Google Shape;947;p75"/>
          <p:cNvSpPr/>
          <p:nvPr/>
        </p:nvSpPr>
        <p:spPr>
          <a:xfrm>
            <a:off x="1389600" y="4173073"/>
            <a:ext cx="1472100" cy="4917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2日分以上の募集を掲載</a:t>
            </a:r>
            <a:endParaRPr sz="800">
              <a:latin typeface="Noto Sans JP"/>
              <a:ea typeface="Noto Sans JP"/>
              <a:cs typeface="Noto Sans JP"/>
              <a:sym typeface="Noto Sans JP"/>
            </a:endParaRPr>
          </a:p>
        </p:txBody>
      </p:sp>
      <p:sp>
        <p:nvSpPr>
          <p:cNvPr id="948" name="Google Shape;948;p75"/>
          <p:cNvSpPr/>
          <p:nvPr/>
        </p:nvSpPr>
        <p:spPr>
          <a:xfrm>
            <a:off x="3031500" y="3202650"/>
            <a:ext cx="2294400" cy="304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掲載した募集の仕事開始までの日数が0~1日</a:t>
            </a:r>
            <a:endParaRPr sz="800">
              <a:latin typeface="Noto Sans JP"/>
              <a:ea typeface="Noto Sans JP"/>
              <a:cs typeface="Noto Sans JP"/>
              <a:sym typeface="Noto Sans JP"/>
            </a:endParaRPr>
          </a:p>
        </p:txBody>
      </p:sp>
      <p:sp>
        <p:nvSpPr>
          <p:cNvPr id="949" name="Google Shape;949;p75"/>
          <p:cNvSpPr/>
          <p:nvPr/>
        </p:nvSpPr>
        <p:spPr>
          <a:xfrm>
            <a:off x="5406107" y="3202650"/>
            <a:ext cx="2294400" cy="304200"/>
          </a:xfrm>
          <a:prstGeom prst="rect">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掲載した募集の仕事開始までの日数が2日以上</a:t>
            </a:r>
            <a:endParaRPr sz="800">
              <a:latin typeface="Noto Sans JP"/>
              <a:ea typeface="Noto Sans JP"/>
              <a:cs typeface="Noto Sans JP"/>
              <a:sym typeface="Noto Sans JP"/>
            </a:endParaRPr>
          </a:p>
        </p:txBody>
      </p:sp>
      <p:cxnSp>
        <p:nvCxnSpPr>
          <p:cNvPr id="950" name="Google Shape;950;p75"/>
          <p:cNvCxnSpPr/>
          <p:nvPr/>
        </p:nvCxnSpPr>
        <p:spPr>
          <a:xfrm>
            <a:off x="3031500" y="4129443"/>
            <a:ext cx="4689900" cy="0"/>
          </a:xfrm>
          <a:prstGeom prst="straightConnector1">
            <a:avLst/>
          </a:prstGeom>
          <a:noFill/>
          <a:ln cap="flat" cmpd="sng" w="9525">
            <a:solidFill>
              <a:srgbClr val="808080"/>
            </a:solidFill>
            <a:prstDash val="dot"/>
            <a:round/>
            <a:headEnd len="med" w="med" type="none"/>
            <a:tailEnd len="med" w="med" type="none"/>
          </a:ln>
        </p:spPr>
      </p:cxnSp>
      <p:cxnSp>
        <p:nvCxnSpPr>
          <p:cNvPr id="951" name="Google Shape;951;p75"/>
          <p:cNvCxnSpPr/>
          <p:nvPr/>
        </p:nvCxnSpPr>
        <p:spPr>
          <a:xfrm>
            <a:off x="5366004" y="3594093"/>
            <a:ext cx="0" cy="1041300"/>
          </a:xfrm>
          <a:prstGeom prst="straightConnector1">
            <a:avLst/>
          </a:prstGeom>
          <a:noFill/>
          <a:ln cap="flat" cmpd="sng" w="9525">
            <a:solidFill>
              <a:srgbClr val="808080"/>
            </a:solidFill>
            <a:prstDash val="dot"/>
            <a:round/>
            <a:headEnd len="med" w="med" type="none"/>
            <a:tailEnd len="med" w="med" type="none"/>
          </a:ln>
        </p:spPr>
      </p:cxnSp>
      <p:sp>
        <p:nvSpPr>
          <p:cNvPr id="952" name="Google Shape;952;p75"/>
          <p:cNvSpPr txBox="1"/>
          <p:nvPr/>
        </p:nvSpPr>
        <p:spPr>
          <a:xfrm>
            <a:off x="3004450" y="35941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A_緊急*単発型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（緊急性の高い欠員補充需要）</a:t>
            </a:r>
            <a:endParaRPr b="1" sz="800">
              <a:latin typeface="Noto Sans JP"/>
              <a:ea typeface="Noto Sans JP"/>
              <a:cs typeface="Noto Sans JP"/>
              <a:sym typeface="Noto Sans JP"/>
            </a:endParaRPr>
          </a:p>
        </p:txBody>
      </p:sp>
      <p:sp>
        <p:nvSpPr>
          <p:cNvPr id="953" name="Google Shape;953;p75"/>
          <p:cNvSpPr txBox="1"/>
          <p:nvPr/>
        </p:nvSpPr>
        <p:spPr>
          <a:xfrm>
            <a:off x="5406150" y="35941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C_計画*単発型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（お試し・テスト的な利用を想定）</a:t>
            </a:r>
            <a:endParaRPr b="1" sz="800">
              <a:latin typeface="Noto Sans JP"/>
              <a:ea typeface="Noto Sans JP"/>
              <a:cs typeface="Noto Sans JP"/>
              <a:sym typeface="Noto Sans JP"/>
            </a:endParaRPr>
          </a:p>
        </p:txBody>
      </p:sp>
      <p:sp>
        <p:nvSpPr>
          <p:cNvPr id="954" name="Google Shape;954;p75"/>
          <p:cNvSpPr txBox="1"/>
          <p:nvPr/>
        </p:nvSpPr>
        <p:spPr>
          <a:xfrm>
            <a:off x="3018000" y="41722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B_緊急*一括型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（慢性的な人員不足が発生中）</a:t>
            </a:r>
            <a:endParaRPr b="1" sz="800">
              <a:latin typeface="Noto Sans JP"/>
              <a:ea typeface="Noto Sans JP"/>
              <a:cs typeface="Noto Sans JP"/>
              <a:sym typeface="Noto Sans JP"/>
            </a:endParaRPr>
          </a:p>
        </p:txBody>
      </p:sp>
      <p:sp>
        <p:nvSpPr>
          <p:cNvPr id="955" name="Google Shape;955;p75"/>
          <p:cNvSpPr txBox="1"/>
          <p:nvPr/>
        </p:nvSpPr>
        <p:spPr>
          <a:xfrm>
            <a:off x="5392600" y="4172200"/>
            <a:ext cx="2321400" cy="4926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000">
                <a:latin typeface="Noto Sans JP"/>
                <a:ea typeface="Noto Sans JP"/>
                <a:cs typeface="Noto Sans JP"/>
                <a:sym typeface="Noto Sans JP"/>
              </a:rPr>
              <a:t>D_計画*一括型</a:t>
            </a:r>
            <a:endParaRPr b="1" sz="1000">
              <a:latin typeface="Noto Sans JP"/>
              <a:ea typeface="Noto Sans JP"/>
              <a:cs typeface="Noto Sans JP"/>
              <a:sym typeface="Noto Sans JP"/>
            </a:endParaRPr>
          </a:p>
          <a:p>
            <a:pPr indent="0" lvl="0" marL="0" rtl="0" algn="ctr">
              <a:lnSpc>
                <a:spcPct val="120000"/>
              </a:lnSpc>
              <a:spcBef>
                <a:spcPts val="0"/>
              </a:spcBef>
              <a:spcAft>
                <a:spcPts val="0"/>
              </a:spcAft>
              <a:buNone/>
            </a:pPr>
            <a:r>
              <a:rPr b="1" lang="ja" sz="800">
                <a:latin typeface="Noto Sans JP"/>
                <a:ea typeface="Noto Sans JP"/>
                <a:cs typeface="Noto Sans JP"/>
                <a:sym typeface="Noto Sans JP"/>
              </a:rPr>
              <a:t>（計画的な利用を想定）</a:t>
            </a:r>
            <a:endParaRPr b="1" sz="800">
              <a:latin typeface="Noto Sans JP"/>
              <a:ea typeface="Noto Sans JP"/>
              <a:cs typeface="Noto Sans JP"/>
              <a:sym typeface="Noto Sans JP"/>
            </a:endParaRPr>
          </a:p>
        </p:txBody>
      </p:sp>
      <p:sp>
        <p:nvSpPr>
          <p:cNvPr id="956" name="Google Shape;956;p75"/>
          <p:cNvSpPr/>
          <p:nvPr/>
        </p:nvSpPr>
        <p:spPr>
          <a:xfrm rot="10800000">
            <a:off x="2237550" y="2738688"/>
            <a:ext cx="4668900" cy="297000"/>
          </a:xfrm>
          <a:prstGeom prst="upArrow">
            <a:avLst>
              <a:gd fmla="val 50000" name="adj1"/>
              <a:gd fmla="val 50000" name="adj2"/>
            </a:avLst>
          </a:prstGeom>
          <a:solidFill>
            <a:srgbClr val="EEEEEE"/>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7" name="Google Shape;957;p75"/>
          <p:cNvSpPr txBox="1"/>
          <p:nvPr/>
        </p:nvSpPr>
        <p:spPr>
          <a:xfrm>
            <a:off x="2237550" y="2702538"/>
            <a:ext cx="4668900" cy="369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ja" sz="1200">
                <a:latin typeface="Noto Sans JP"/>
                <a:ea typeface="Noto Sans JP"/>
                <a:cs typeface="Noto Sans JP"/>
                <a:sym typeface="Noto Sans JP"/>
              </a:rPr>
              <a:t>初回掲載日の掲載パターンから4つの顧客群で分類</a:t>
            </a:r>
            <a:endParaRPr sz="1000">
              <a:latin typeface="Noto Sans JP"/>
              <a:ea typeface="Noto Sans JP"/>
              <a:cs typeface="Noto Sans JP"/>
              <a:sym typeface="Noto Sans JP"/>
            </a:endParaRPr>
          </a:p>
        </p:txBody>
      </p:sp>
      <p:sp>
        <p:nvSpPr>
          <p:cNvPr id="958" name="Google Shape;958;p75"/>
          <p:cNvSpPr txBox="1"/>
          <p:nvPr/>
        </p:nvSpPr>
        <p:spPr>
          <a:xfrm>
            <a:off x="187525" y="4750300"/>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参考：初回掲載パターン（≒事業所のサービス利用意図）によって翌月継続率は異なる（</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p.10</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6"/>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64" name="Google Shape;964;p76"/>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初回掲載パターン（≒事業所のサービス利用意図）によって翌週継続率は異なる</a:t>
            </a:r>
            <a:endParaRPr/>
          </a:p>
        </p:txBody>
      </p:sp>
      <p:sp>
        <p:nvSpPr>
          <p:cNvPr id="965" name="Google Shape;965;p76"/>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テスト的な利用が想定される「C_計画*単発型」は</a:t>
            </a:r>
            <a:r>
              <a:rPr lang="ja" sz="1200">
                <a:latin typeface="Noto Sans JP"/>
                <a:ea typeface="Noto Sans JP"/>
                <a:cs typeface="Noto Sans JP"/>
                <a:sym typeface="Noto Sans JP"/>
              </a:rPr>
              <a:t>翌週</a:t>
            </a:r>
            <a:r>
              <a:rPr lang="ja" sz="1200">
                <a:latin typeface="Noto Sans JP"/>
                <a:ea typeface="Noto Sans JP"/>
                <a:cs typeface="Noto Sans JP"/>
                <a:sym typeface="Noto Sans JP"/>
              </a:rPr>
              <a:t>継続率が相対的に低い。</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「D_計画*一括型」は初回掲載時にまとめて募集を掲載していることが想定されるため、翌週継続率は低い。</a:t>
            </a:r>
            <a:endParaRPr sz="1200">
              <a:latin typeface="Noto Sans JP"/>
              <a:ea typeface="Noto Sans JP"/>
              <a:cs typeface="Noto Sans JP"/>
              <a:sym typeface="Noto Sans JP"/>
            </a:endParaRPr>
          </a:p>
        </p:txBody>
      </p:sp>
      <p:sp>
        <p:nvSpPr>
          <p:cNvPr id="966" name="Google Shape;966;p76"/>
          <p:cNvSpPr txBox="1"/>
          <p:nvPr/>
        </p:nvSpPr>
        <p:spPr>
          <a:xfrm>
            <a:off x="187525" y="1250800"/>
            <a:ext cx="3801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初回掲載パターンごとの</a:t>
            </a:r>
            <a:r>
              <a:rPr lang="ja" sz="1000">
                <a:solidFill>
                  <a:schemeClr val="accent2"/>
                </a:solidFill>
                <a:latin typeface="Noto Sans SemiBold"/>
                <a:ea typeface="Noto Sans SemiBold"/>
                <a:cs typeface="Noto Sans SemiBold"/>
                <a:sym typeface="Noto Sans SemiBold"/>
              </a:rPr>
              <a:t>翌週</a:t>
            </a:r>
            <a:r>
              <a:rPr lang="ja" sz="1000">
                <a:solidFill>
                  <a:schemeClr val="accent2"/>
                </a:solidFill>
                <a:latin typeface="Noto Sans SemiBold"/>
                <a:ea typeface="Noto Sans SemiBold"/>
                <a:cs typeface="Noto Sans SemiBold"/>
                <a:sym typeface="Noto Sans SemiBold"/>
              </a:rPr>
              <a:t>継続率</a:t>
            </a:r>
            <a:endParaRPr sz="1000">
              <a:solidFill>
                <a:srgbClr val="808080"/>
              </a:solidFill>
              <a:latin typeface="Noto Sans SemiBold"/>
              <a:ea typeface="Noto Sans SemiBold"/>
              <a:cs typeface="Noto Sans SemiBold"/>
              <a:sym typeface="Noto Sans SemiBold"/>
            </a:endParaRPr>
          </a:p>
        </p:txBody>
      </p:sp>
      <p:sp>
        <p:nvSpPr>
          <p:cNvPr id="967" name="Google Shape;967;p76"/>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a:t>
            </a:r>
            <a:r>
              <a:rPr lang="ja" sz="600">
                <a:solidFill>
                  <a:schemeClr val="accent2"/>
                </a:solidFill>
                <a:latin typeface="Noto Sans JP"/>
                <a:ea typeface="Noto Sans JP"/>
                <a:cs typeface="Noto Sans JP"/>
                <a:sym typeface="Noto Sans JP"/>
              </a:rPr>
              <a:t>初回掲載パターン（≒事業所のサービス利用意図）によって翌月継続率は異なる（</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p.10</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968" name="Google Shape;968;p76"/>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4">
                  <a:extLst>
                    <a:ext uri="{A12FA001-AC4F-418D-AE19-62706E023703}">
                      <ahyp:hlinkClr val="tx"/>
                    </a:ext>
                  </a:extLst>
                </a:hlinkClick>
              </a:rPr>
              <a:t>https://docs.google.com/spreadsheets/d/1mE7kDB4zxw8CnBTSdPp7ojDPh8iWCLUXX-iZWkumfjs/edit?gid=200386187#gid=200386187&amp;range=A302</a:t>
            </a:r>
            <a:endParaRPr sz="600">
              <a:solidFill>
                <a:schemeClr val="accent2"/>
              </a:solidFill>
              <a:latin typeface="Noto Sans JP"/>
              <a:ea typeface="Noto Sans JP"/>
              <a:cs typeface="Noto Sans JP"/>
              <a:sym typeface="Noto Sans JP"/>
            </a:endParaRPr>
          </a:p>
        </p:txBody>
      </p:sp>
      <p:sp>
        <p:nvSpPr>
          <p:cNvPr id="969" name="Google Shape;969;p76"/>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初回掲載した事業所</a:t>
            </a:r>
            <a:endParaRPr sz="600">
              <a:solidFill>
                <a:srgbClr val="808080"/>
              </a:solidFill>
              <a:latin typeface="Noto Sans JP"/>
              <a:ea typeface="Noto Sans JP"/>
              <a:cs typeface="Noto Sans JP"/>
              <a:sym typeface="Noto Sans JP"/>
            </a:endParaRPr>
          </a:p>
        </p:txBody>
      </p:sp>
      <p:pic>
        <p:nvPicPr>
          <p:cNvPr id="970" name="Google Shape;970;p76" title="グラフ"/>
          <p:cNvPicPr preferRelativeResize="0"/>
          <p:nvPr/>
        </p:nvPicPr>
        <p:blipFill>
          <a:blip r:embed="rId5">
            <a:alphaModFix/>
          </a:blip>
          <a:stretch>
            <a:fillRect/>
          </a:stretch>
        </p:blipFill>
        <p:spPr>
          <a:xfrm>
            <a:off x="240750" y="1698550"/>
            <a:ext cx="4270501" cy="2675255"/>
          </a:xfrm>
          <a:prstGeom prst="rect">
            <a:avLst/>
          </a:prstGeom>
          <a:noFill/>
          <a:ln>
            <a:noFill/>
          </a:ln>
        </p:spPr>
      </p:pic>
      <p:pic>
        <p:nvPicPr>
          <p:cNvPr id="971" name="Google Shape;971;p76" title="グラフ"/>
          <p:cNvPicPr preferRelativeResize="0"/>
          <p:nvPr/>
        </p:nvPicPr>
        <p:blipFill>
          <a:blip r:embed="rId6">
            <a:alphaModFix/>
          </a:blip>
          <a:stretch>
            <a:fillRect/>
          </a:stretch>
        </p:blipFill>
        <p:spPr>
          <a:xfrm>
            <a:off x="4632750" y="1711000"/>
            <a:ext cx="4270501" cy="2675238"/>
          </a:xfrm>
          <a:prstGeom prst="rect">
            <a:avLst/>
          </a:prstGeom>
          <a:noFill/>
          <a:ln>
            <a:noFill/>
          </a:ln>
        </p:spPr>
      </p:pic>
      <p:cxnSp>
        <p:nvCxnSpPr>
          <p:cNvPr id="972" name="Google Shape;972;p76"/>
          <p:cNvCxnSpPr/>
          <p:nvPr/>
        </p:nvCxnSpPr>
        <p:spPr>
          <a:xfrm rot="10800000">
            <a:off x="5062900" y="3395325"/>
            <a:ext cx="3372000" cy="0"/>
          </a:xfrm>
          <a:prstGeom prst="straightConnector1">
            <a:avLst/>
          </a:prstGeom>
          <a:noFill/>
          <a:ln cap="flat" cmpd="sng" w="9525">
            <a:solidFill>
              <a:schemeClr val="dk2"/>
            </a:solidFill>
            <a:prstDash val="dash"/>
            <a:round/>
            <a:headEnd len="med" w="med" type="none"/>
            <a:tailEnd len="med" w="med" type="none"/>
          </a:ln>
        </p:spPr>
      </p:cxnSp>
      <p:sp>
        <p:nvSpPr>
          <p:cNvPr id="973" name="Google Shape;973;p76"/>
          <p:cNvSpPr txBox="1"/>
          <p:nvPr/>
        </p:nvSpPr>
        <p:spPr>
          <a:xfrm>
            <a:off x="7812695" y="3395319"/>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37.0%</a:t>
            </a:r>
            <a:endParaRPr b="1" sz="600">
              <a:solidFill>
                <a:srgbClr val="1F1F1F"/>
              </a:solidFill>
              <a:latin typeface="Noto Sans JP"/>
              <a:ea typeface="Noto Sans JP"/>
              <a:cs typeface="Noto Sans JP"/>
              <a:sym typeface="Noto Sans JP"/>
            </a:endParaRPr>
          </a:p>
        </p:txBody>
      </p:sp>
      <p:cxnSp>
        <p:nvCxnSpPr>
          <p:cNvPr id="974" name="Google Shape;974;p76"/>
          <p:cNvCxnSpPr/>
          <p:nvPr/>
        </p:nvCxnSpPr>
        <p:spPr>
          <a:xfrm rot="10800000">
            <a:off x="688714" y="3563498"/>
            <a:ext cx="3356700" cy="0"/>
          </a:xfrm>
          <a:prstGeom prst="straightConnector1">
            <a:avLst/>
          </a:prstGeom>
          <a:noFill/>
          <a:ln cap="flat" cmpd="sng" w="9525">
            <a:solidFill>
              <a:schemeClr val="dk2"/>
            </a:solidFill>
            <a:prstDash val="dash"/>
            <a:round/>
            <a:headEnd len="med" w="med" type="none"/>
            <a:tailEnd len="med" w="med" type="none"/>
          </a:ln>
        </p:spPr>
      </p:cxnSp>
      <p:sp>
        <p:nvSpPr>
          <p:cNvPr id="975" name="Google Shape;975;p76"/>
          <p:cNvSpPr txBox="1"/>
          <p:nvPr/>
        </p:nvSpPr>
        <p:spPr>
          <a:xfrm>
            <a:off x="3423214" y="3563510"/>
            <a:ext cx="622200" cy="2769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ja" sz="600">
                <a:solidFill>
                  <a:srgbClr val="1F1F1F"/>
                </a:solidFill>
                <a:latin typeface="Noto Sans JP"/>
                <a:ea typeface="Noto Sans JP"/>
                <a:cs typeface="Noto Sans JP"/>
                <a:sym typeface="Noto Sans JP"/>
              </a:rPr>
              <a:t>全体: 29.8%</a:t>
            </a:r>
            <a:endParaRPr b="1" sz="600">
              <a:solidFill>
                <a:srgbClr val="1F1F1F"/>
              </a:solidFill>
              <a:latin typeface="Noto Sans JP"/>
              <a:ea typeface="Noto Sans JP"/>
              <a:cs typeface="Noto Sans JP"/>
              <a:sym typeface="Noto Sans JP"/>
            </a:endParaRPr>
          </a:p>
        </p:txBody>
      </p:sp>
      <p:sp>
        <p:nvSpPr>
          <p:cNvPr id="976" name="Google Shape;976;p76"/>
          <p:cNvSpPr/>
          <p:nvPr/>
        </p:nvSpPr>
        <p:spPr>
          <a:xfrm>
            <a:off x="23895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76"/>
          <p:cNvSpPr/>
          <p:nvPr/>
        </p:nvSpPr>
        <p:spPr>
          <a:xfrm>
            <a:off x="6768003" y="4207325"/>
            <a:ext cx="745800" cy="40200"/>
          </a:xfrm>
          <a:prstGeom prst="rect">
            <a:avLst/>
          </a:prstGeom>
          <a:solidFill>
            <a:srgbClr val="FFE080">
              <a:alpha val="6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76"/>
          <p:cNvSpPr txBox="1"/>
          <p:nvPr/>
        </p:nvSpPr>
        <p:spPr>
          <a:xfrm rot="-5400000">
            <a:off x="95125"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979" name="Google Shape;979;p76"/>
          <p:cNvSpPr txBox="1"/>
          <p:nvPr/>
        </p:nvSpPr>
        <p:spPr>
          <a:xfrm rot="-5400000">
            <a:off x="4540350" y="3026013"/>
            <a:ext cx="461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店舗数</a:t>
            </a:r>
            <a:endParaRPr sz="600">
              <a:solidFill>
                <a:srgbClr val="808080"/>
              </a:solidFill>
              <a:latin typeface="Noto Sans JP"/>
              <a:ea typeface="Noto Sans JP"/>
              <a:cs typeface="Noto Sans JP"/>
              <a:sym typeface="Noto Sans JP"/>
            </a:endParaRPr>
          </a:p>
        </p:txBody>
      </p:sp>
      <p:sp>
        <p:nvSpPr>
          <p:cNvPr id="980" name="Google Shape;980;p76"/>
          <p:cNvSpPr txBox="1"/>
          <p:nvPr/>
        </p:nvSpPr>
        <p:spPr>
          <a:xfrm rot="5400000">
            <a:off x="4095775" y="30260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
        <p:nvSpPr>
          <p:cNvPr id="981" name="Google Shape;981;p76"/>
          <p:cNvSpPr txBox="1"/>
          <p:nvPr/>
        </p:nvSpPr>
        <p:spPr>
          <a:xfrm rot="5400000">
            <a:off x="8507675" y="2919930"/>
            <a:ext cx="650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600">
                <a:solidFill>
                  <a:srgbClr val="808080"/>
                </a:solidFill>
                <a:latin typeface="Noto Sans JP"/>
                <a:ea typeface="Noto Sans JP"/>
                <a:cs typeface="Noto Sans JP"/>
                <a:sym typeface="Noto Sans JP"/>
              </a:rPr>
              <a:t>翌月継続率</a:t>
            </a:r>
            <a:endParaRPr sz="600">
              <a:solidFill>
                <a:srgbClr val="808080"/>
              </a:solidFill>
              <a:latin typeface="Noto Sans JP"/>
              <a:ea typeface="Noto Sans JP"/>
              <a:cs typeface="Noto Sans JP"/>
              <a:sym typeface="Noto Sans JP"/>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77"/>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初回掲載パターン</a:t>
            </a:r>
            <a:r>
              <a:rPr lang="ja"/>
              <a:t>別の解釈</a:t>
            </a:r>
            <a:endParaRPr/>
          </a:p>
        </p:txBody>
      </p:sp>
      <p:sp>
        <p:nvSpPr>
          <p:cNvPr id="987" name="Google Shape;987;p77"/>
          <p:cNvSpPr/>
          <p:nvPr/>
        </p:nvSpPr>
        <p:spPr>
          <a:xfrm>
            <a:off x="180000" y="908401"/>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A_緊急*単発型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・リードタイム短</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・1日分のみ掲載</a:t>
            </a:r>
            <a:endParaRPr sz="800">
              <a:latin typeface="Noto Sans JP"/>
              <a:ea typeface="Noto Sans JP"/>
              <a:cs typeface="Noto Sans JP"/>
              <a:sym typeface="Noto Sans JP"/>
            </a:endParaRPr>
          </a:p>
        </p:txBody>
      </p:sp>
      <p:sp>
        <p:nvSpPr>
          <p:cNvPr id="988" name="Google Shape;988;p77"/>
          <p:cNvSpPr/>
          <p:nvPr/>
        </p:nvSpPr>
        <p:spPr>
          <a:xfrm>
            <a:off x="180000" y="1882632"/>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B_緊急*一括型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・リードタイム短</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・2日分以上掲載</a:t>
            </a:r>
            <a:endParaRPr sz="1000">
              <a:latin typeface="Noto Sans JP"/>
              <a:ea typeface="Noto Sans JP"/>
              <a:cs typeface="Noto Sans JP"/>
              <a:sym typeface="Noto Sans JP"/>
            </a:endParaRPr>
          </a:p>
        </p:txBody>
      </p:sp>
      <p:sp>
        <p:nvSpPr>
          <p:cNvPr id="989" name="Google Shape;989;p77"/>
          <p:cNvSpPr/>
          <p:nvPr/>
        </p:nvSpPr>
        <p:spPr>
          <a:xfrm>
            <a:off x="180000" y="2856863"/>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C_計画 *単発型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・リードタイム長</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・1日分のみ掲載</a:t>
            </a:r>
            <a:endParaRPr sz="1000">
              <a:latin typeface="Noto Sans JP"/>
              <a:ea typeface="Noto Sans JP"/>
              <a:cs typeface="Noto Sans JP"/>
              <a:sym typeface="Noto Sans JP"/>
            </a:endParaRPr>
          </a:p>
        </p:txBody>
      </p:sp>
      <p:sp>
        <p:nvSpPr>
          <p:cNvPr id="990" name="Google Shape;990;p77"/>
          <p:cNvSpPr/>
          <p:nvPr/>
        </p:nvSpPr>
        <p:spPr>
          <a:xfrm>
            <a:off x="180000" y="3831094"/>
            <a:ext cx="1130100" cy="908400"/>
          </a:xfrm>
          <a:prstGeom prst="rect">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000">
                <a:latin typeface="Noto Sans JP"/>
                <a:ea typeface="Noto Sans JP"/>
                <a:cs typeface="Noto Sans JP"/>
                <a:sym typeface="Noto Sans JP"/>
              </a:rPr>
              <a:t>D_計画*一括型</a:t>
            </a:r>
            <a:endParaRPr sz="1000">
              <a:latin typeface="Noto Sans JP"/>
              <a:ea typeface="Noto Sans JP"/>
              <a:cs typeface="Noto Sans JP"/>
              <a:sym typeface="Noto Sans JP"/>
            </a:endParaRPr>
          </a:p>
          <a:p>
            <a:pPr indent="0" lvl="0" marL="0" rtl="0" algn="l">
              <a:lnSpc>
                <a:spcPct val="120000"/>
              </a:lnSpc>
              <a:spcBef>
                <a:spcPts val="0"/>
              </a:spcBef>
              <a:spcAft>
                <a:spcPts val="0"/>
              </a:spcAft>
              <a:buNone/>
            </a:pPr>
            <a:r>
              <a:t/>
            </a:r>
            <a:endParaRPr sz="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・リードタイム長</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・2日分以上掲載</a:t>
            </a:r>
            <a:endParaRPr sz="1000">
              <a:latin typeface="Noto Sans JP"/>
              <a:ea typeface="Noto Sans JP"/>
              <a:cs typeface="Noto Sans JP"/>
              <a:sym typeface="Noto Sans JP"/>
            </a:endParaRPr>
          </a:p>
        </p:txBody>
      </p:sp>
      <p:cxnSp>
        <p:nvCxnSpPr>
          <p:cNvPr id="991" name="Google Shape;991;p77"/>
          <p:cNvCxnSpPr/>
          <p:nvPr/>
        </p:nvCxnSpPr>
        <p:spPr>
          <a:xfrm>
            <a:off x="1382625" y="881675"/>
            <a:ext cx="1082400" cy="0"/>
          </a:xfrm>
          <a:prstGeom prst="straightConnector1">
            <a:avLst/>
          </a:prstGeom>
          <a:noFill/>
          <a:ln cap="flat" cmpd="sng" w="9525">
            <a:solidFill>
              <a:schemeClr val="accent2"/>
            </a:solidFill>
            <a:prstDash val="solid"/>
            <a:round/>
            <a:headEnd len="med" w="med" type="none"/>
            <a:tailEnd len="med" w="med" type="none"/>
          </a:ln>
        </p:spPr>
      </p:cxnSp>
      <p:sp>
        <p:nvSpPr>
          <p:cNvPr id="992" name="Google Shape;992;p77"/>
          <p:cNvSpPr txBox="1"/>
          <p:nvPr/>
        </p:nvSpPr>
        <p:spPr>
          <a:xfrm>
            <a:off x="1432353" y="573875"/>
            <a:ext cx="9831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要約</a:t>
            </a:r>
            <a:endParaRPr sz="800">
              <a:latin typeface="Noto Sans JP"/>
              <a:ea typeface="Noto Sans JP"/>
              <a:cs typeface="Noto Sans JP"/>
              <a:sym typeface="Noto Sans JP"/>
            </a:endParaRPr>
          </a:p>
        </p:txBody>
      </p:sp>
      <p:cxnSp>
        <p:nvCxnSpPr>
          <p:cNvPr id="993" name="Google Shape;993;p77"/>
          <p:cNvCxnSpPr/>
          <p:nvPr/>
        </p:nvCxnSpPr>
        <p:spPr>
          <a:xfrm>
            <a:off x="2524676" y="881675"/>
            <a:ext cx="1082400" cy="0"/>
          </a:xfrm>
          <a:prstGeom prst="straightConnector1">
            <a:avLst/>
          </a:prstGeom>
          <a:noFill/>
          <a:ln cap="flat" cmpd="sng" w="9525">
            <a:solidFill>
              <a:schemeClr val="accent2"/>
            </a:solidFill>
            <a:prstDash val="solid"/>
            <a:round/>
            <a:headEnd len="med" w="med" type="none"/>
            <a:tailEnd len="med" w="med" type="none"/>
          </a:ln>
        </p:spPr>
      </p:cxnSp>
      <p:sp>
        <p:nvSpPr>
          <p:cNvPr id="994" name="Google Shape;994;p77"/>
          <p:cNvSpPr txBox="1"/>
          <p:nvPr/>
        </p:nvSpPr>
        <p:spPr>
          <a:xfrm>
            <a:off x="2574404" y="573875"/>
            <a:ext cx="9831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ボリューム</a:t>
            </a:r>
            <a:endParaRPr sz="800">
              <a:latin typeface="Noto Sans JP"/>
              <a:ea typeface="Noto Sans JP"/>
              <a:cs typeface="Noto Sans JP"/>
              <a:sym typeface="Noto Sans JP"/>
            </a:endParaRPr>
          </a:p>
        </p:txBody>
      </p:sp>
      <p:cxnSp>
        <p:nvCxnSpPr>
          <p:cNvPr id="995" name="Google Shape;995;p77"/>
          <p:cNvCxnSpPr/>
          <p:nvPr/>
        </p:nvCxnSpPr>
        <p:spPr>
          <a:xfrm>
            <a:off x="3666727" y="881675"/>
            <a:ext cx="1082400" cy="0"/>
          </a:xfrm>
          <a:prstGeom prst="straightConnector1">
            <a:avLst/>
          </a:prstGeom>
          <a:noFill/>
          <a:ln cap="flat" cmpd="sng" w="9525">
            <a:solidFill>
              <a:schemeClr val="accent2"/>
            </a:solidFill>
            <a:prstDash val="solid"/>
            <a:round/>
            <a:headEnd len="med" w="med" type="none"/>
            <a:tailEnd len="med" w="med" type="none"/>
          </a:ln>
        </p:spPr>
      </p:cxnSp>
      <p:sp>
        <p:nvSpPr>
          <p:cNvPr id="996" name="Google Shape;996;p77"/>
          <p:cNvSpPr txBox="1"/>
          <p:nvPr/>
        </p:nvSpPr>
        <p:spPr>
          <a:xfrm>
            <a:off x="3716455" y="573875"/>
            <a:ext cx="9831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翌週掲載率</a:t>
            </a:r>
            <a:endParaRPr sz="800">
              <a:latin typeface="Noto Sans JP"/>
              <a:ea typeface="Noto Sans JP"/>
              <a:cs typeface="Noto Sans JP"/>
              <a:sym typeface="Noto Sans JP"/>
            </a:endParaRPr>
          </a:p>
        </p:txBody>
      </p:sp>
      <p:cxnSp>
        <p:nvCxnSpPr>
          <p:cNvPr id="997" name="Google Shape;997;p77"/>
          <p:cNvCxnSpPr/>
          <p:nvPr/>
        </p:nvCxnSpPr>
        <p:spPr>
          <a:xfrm>
            <a:off x="4808775" y="881675"/>
            <a:ext cx="1309200" cy="0"/>
          </a:xfrm>
          <a:prstGeom prst="straightConnector1">
            <a:avLst/>
          </a:prstGeom>
          <a:noFill/>
          <a:ln cap="flat" cmpd="sng" w="9525">
            <a:solidFill>
              <a:schemeClr val="accent2"/>
            </a:solidFill>
            <a:prstDash val="solid"/>
            <a:round/>
            <a:headEnd len="med" w="med" type="none"/>
            <a:tailEnd len="med" w="med" type="none"/>
          </a:ln>
        </p:spPr>
      </p:cxnSp>
      <p:sp>
        <p:nvSpPr>
          <p:cNvPr id="998" name="Google Shape;998;p77"/>
          <p:cNvSpPr txBox="1"/>
          <p:nvPr/>
        </p:nvSpPr>
        <p:spPr>
          <a:xfrm>
            <a:off x="4868925" y="573875"/>
            <a:ext cx="11889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翌月継続率</a:t>
            </a:r>
            <a:endParaRPr sz="800">
              <a:latin typeface="Noto Sans JP"/>
              <a:ea typeface="Noto Sans JP"/>
              <a:cs typeface="Noto Sans JP"/>
              <a:sym typeface="Noto Sans JP"/>
            </a:endParaRPr>
          </a:p>
        </p:txBody>
      </p:sp>
      <p:cxnSp>
        <p:nvCxnSpPr>
          <p:cNvPr id="999" name="Google Shape;999;p77"/>
          <p:cNvCxnSpPr/>
          <p:nvPr/>
        </p:nvCxnSpPr>
        <p:spPr>
          <a:xfrm>
            <a:off x="6177625" y="881675"/>
            <a:ext cx="2786400" cy="0"/>
          </a:xfrm>
          <a:prstGeom prst="straightConnector1">
            <a:avLst/>
          </a:prstGeom>
          <a:noFill/>
          <a:ln cap="flat" cmpd="sng" w="9525">
            <a:solidFill>
              <a:schemeClr val="accent2"/>
            </a:solidFill>
            <a:prstDash val="solid"/>
            <a:round/>
            <a:headEnd len="med" w="med" type="none"/>
            <a:tailEnd len="med" w="med" type="none"/>
          </a:ln>
        </p:spPr>
      </p:cxnSp>
      <p:sp>
        <p:nvSpPr>
          <p:cNvPr id="1000" name="Google Shape;1000;p77"/>
          <p:cNvSpPr txBox="1"/>
          <p:nvPr/>
        </p:nvSpPr>
        <p:spPr>
          <a:xfrm>
            <a:off x="6305642" y="573875"/>
            <a:ext cx="25302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800">
                <a:latin typeface="Noto Sans JP"/>
                <a:ea typeface="Noto Sans JP"/>
                <a:cs typeface="Noto Sans JP"/>
                <a:sym typeface="Noto Sans JP"/>
              </a:rPr>
              <a:t>解釈</a:t>
            </a:r>
            <a:endParaRPr sz="800">
              <a:latin typeface="Noto Sans JP"/>
              <a:ea typeface="Noto Sans JP"/>
              <a:cs typeface="Noto Sans JP"/>
              <a:sym typeface="Noto Sans JP"/>
            </a:endParaRPr>
          </a:p>
        </p:txBody>
      </p:sp>
      <p:cxnSp>
        <p:nvCxnSpPr>
          <p:cNvPr id="1001" name="Google Shape;1001;p77"/>
          <p:cNvCxnSpPr/>
          <p:nvPr/>
        </p:nvCxnSpPr>
        <p:spPr>
          <a:xfrm>
            <a:off x="1354675" y="1843517"/>
            <a:ext cx="7567800" cy="0"/>
          </a:xfrm>
          <a:prstGeom prst="straightConnector1">
            <a:avLst/>
          </a:prstGeom>
          <a:noFill/>
          <a:ln cap="flat" cmpd="sng" w="9525">
            <a:solidFill>
              <a:srgbClr val="808080"/>
            </a:solidFill>
            <a:prstDash val="dot"/>
            <a:round/>
            <a:headEnd len="med" w="med" type="none"/>
            <a:tailEnd len="med" w="med" type="none"/>
          </a:ln>
        </p:spPr>
      </p:cxnSp>
      <p:cxnSp>
        <p:nvCxnSpPr>
          <p:cNvPr id="1002" name="Google Shape;1002;p77"/>
          <p:cNvCxnSpPr/>
          <p:nvPr/>
        </p:nvCxnSpPr>
        <p:spPr>
          <a:xfrm>
            <a:off x="1354675" y="2824167"/>
            <a:ext cx="7567800" cy="0"/>
          </a:xfrm>
          <a:prstGeom prst="straightConnector1">
            <a:avLst/>
          </a:prstGeom>
          <a:noFill/>
          <a:ln cap="flat" cmpd="sng" w="9525">
            <a:solidFill>
              <a:srgbClr val="808080"/>
            </a:solidFill>
            <a:prstDash val="dot"/>
            <a:round/>
            <a:headEnd len="med" w="med" type="none"/>
            <a:tailEnd len="med" w="med" type="none"/>
          </a:ln>
        </p:spPr>
      </p:cxnSp>
      <p:cxnSp>
        <p:nvCxnSpPr>
          <p:cNvPr id="1003" name="Google Shape;1003;p77"/>
          <p:cNvCxnSpPr/>
          <p:nvPr/>
        </p:nvCxnSpPr>
        <p:spPr>
          <a:xfrm>
            <a:off x="1354675" y="3798142"/>
            <a:ext cx="7567800" cy="0"/>
          </a:xfrm>
          <a:prstGeom prst="straightConnector1">
            <a:avLst/>
          </a:prstGeom>
          <a:noFill/>
          <a:ln cap="flat" cmpd="sng" w="9525">
            <a:solidFill>
              <a:srgbClr val="808080"/>
            </a:solidFill>
            <a:prstDash val="dot"/>
            <a:round/>
            <a:headEnd len="med" w="med" type="none"/>
            <a:tailEnd len="med" w="med" type="none"/>
          </a:ln>
        </p:spPr>
      </p:cxnSp>
      <p:sp>
        <p:nvSpPr>
          <p:cNvPr id="1004" name="Google Shape;1004;p77"/>
          <p:cNvSpPr txBox="1"/>
          <p:nvPr/>
        </p:nvSpPr>
        <p:spPr>
          <a:xfrm>
            <a:off x="1466350" y="1116300"/>
            <a:ext cx="983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都度利用</a:t>
            </a:r>
            <a:endParaRPr b="1" sz="1000"/>
          </a:p>
          <a:p>
            <a:pPr indent="0" lvl="0" marL="0" rtl="0" algn="ctr">
              <a:spcBef>
                <a:spcPts val="0"/>
              </a:spcBef>
              <a:spcAft>
                <a:spcPts val="0"/>
              </a:spcAft>
              <a:buNone/>
            </a:pPr>
            <a:r>
              <a:rPr b="1" lang="ja" sz="1000"/>
              <a:t>リピーター</a:t>
            </a:r>
            <a:endParaRPr b="1" sz="1000">
              <a:latin typeface="Noto Sans JP"/>
              <a:ea typeface="Noto Sans JP"/>
              <a:cs typeface="Noto Sans JP"/>
              <a:sym typeface="Noto Sans JP"/>
            </a:endParaRPr>
          </a:p>
        </p:txBody>
      </p:sp>
      <p:sp>
        <p:nvSpPr>
          <p:cNvPr id="1005" name="Google Shape;1005;p77"/>
          <p:cNvSpPr txBox="1"/>
          <p:nvPr/>
        </p:nvSpPr>
        <p:spPr>
          <a:xfrm>
            <a:off x="1416700" y="2164500"/>
            <a:ext cx="108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慢性的人手不足</a:t>
            </a:r>
            <a:endParaRPr b="1" sz="1000">
              <a:latin typeface="Noto Sans JP"/>
              <a:ea typeface="Noto Sans JP"/>
              <a:cs typeface="Noto Sans JP"/>
              <a:sym typeface="Noto Sans JP"/>
            </a:endParaRPr>
          </a:p>
        </p:txBody>
      </p:sp>
      <p:sp>
        <p:nvSpPr>
          <p:cNvPr id="1006" name="Google Shape;1006;p77"/>
          <p:cNvSpPr txBox="1"/>
          <p:nvPr/>
        </p:nvSpPr>
        <p:spPr>
          <a:xfrm>
            <a:off x="2574403" y="116281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少</a:t>
            </a:r>
            <a:endParaRPr b="1">
              <a:latin typeface="Noto Sans JP"/>
              <a:ea typeface="Noto Sans JP"/>
              <a:cs typeface="Noto Sans JP"/>
              <a:sym typeface="Noto Sans JP"/>
            </a:endParaRPr>
          </a:p>
        </p:txBody>
      </p:sp>
      <p:sp>
        <p:nvSpPr>
          <p:cNvPr id="1007" name="Google Shape;1007;p77"/>
          <p:cNvSpPr txBox="1"/>
          <p:nvPr/>
        </p:nvSpPr>
        <p:spPr>
          <a:xfrm>
            <a:off x="2574403" y="213406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少</a:t>
            </a:r>
            <a:endParaRPr b="1">
              <a:latin typeface="Noto Sans JP"/>
              <a:ea typeface="Noto Sans JP"/>
              <a:cs typeface="Noto Sans JP"/>
              <a:sym typeface="Noto Sans JP"/>
            </a:endParaRPr>
          </a:p>
        </p:txBody>
      </p:sp>
      <p:sp>
        <p:nvSpPr>
          <p:cNvPr id="1008" name="Google Shape;1008;p77"/>
          <p:cNvSpPr txBox="1"/>
          <p:nvPr/>
        </p:nvSpPr>
        <p:spPr>
          <a:xfrm>
            <a:off x="2574403" y="311137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多</a:t>
            </a:r>
            <a:endParaRPr b="1">
              <a:latin typeface="Noto Sans JP"/>
              <a:ea typeface="Noto Sans JP"/>
              <a:cs typeface="Noto Sans JP"/>
              <a:sym typeface="Noto Sans JP"/>
            </a:endParaRPr>
          </a:p>
        </p:txBody>
      </p:sp>
      <p:sp>
        <p:nvSpPr>
          <p:cNvPr id="1009" name="Google Shape;1009;p77"/>
          <p:cNvSpPr txBox="1"/>
          <p:nvPr/>
        </p:nvSpPr>
        <p:spPr>
          <a:xfrm>
            <a:off x="2574403" y="408532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10" name="Google Shape;1010;p77"/>
          <p:cNvSpPr txBox="1"/>
          <p:nvPr/>
        </p:nvSpPr>
        <p:spPr>
          <a:xfrm>
            <a:off x="1416700" y="3141813"/>
            <a:ext cx="108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お試し利用</a:t>
            </a:r>
            <a:endParaRPr b="1" sz="1000">
              <a:latin typeface="Noto Sans JP"/>
              <a:ea typeface="Noto Sans JP"/>
              <a:cs typeface="Noto Sans JP"/>
              <a:sym typeface="Noto Sans JP"/>
            </a:endParaRPr>
          </a:p>
        </p:txBody>
      </p:sp>
      <p:sp>
        <p:nvSpPr>
          <p:cNvPr id="1011" name="Google Shape;1011;p77"/>
          <p:cNvSpPr txBox="1"/>
          <p:nvPr/>
        </p:nvSpPr>
        <p:spPr>
          <a:xfrm>
            <a:off x="1416700" y="4115763"/>
            <a:ext cx="1082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000"/>
              <a:t>計画的利用</a:t>
            </a:r>
            <a:endParaRPr b="1" sz="1000">
              <a:latin typeface="Noto Sans JP"/>
              <a:ea typeface="Noto Sans JP"/>
              <a:cs typeface="Noto Sans JP"/>
              <a:sym typeface="Noto Sans JP"/>
            </a:endParaRPr>
          </a:p>
        </p:txBody>
      </p:sp>
      <p:sp>
        <p:nvSpPr>
          <p:cNvPr id="1012" name="Google Shape;1012;p77"/>
          <p:cNvSpPr txBox="1"/>
          <p:nvPr/>
        </p:nvSpPr>
        <p:spPr>
          <a:xfrm>
            <a:off x="3716453" y="116281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13" name="Google Shape;1013;p77"/>
          <p:cNvSpPr txBox="1"/>
          <p:nvPr/>
        </p:nvSpPr>
        <p:spPr>
          <a:xfrm>
            <a:off x="3716453" y="213406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lt2"/>
                </a:solidFill>
                <a:latin typeface="Noto Sans JP"/>
                <a:ea typeface="Noto Sans JP"/>
                <a:cs typeface="Noto Sans JP"/>
                <a:sym typeface="Noto Sans JP"/>
              </a:rPr>
              <a:t>高</a:t>
            </a:r>
            <a:endParaRPr b="1">
              <a:solidFill>
                <a:schemeClr val="lt2"/>
              </a:solidFill>
              <a:latin typeface="Noto Sans JP"/>
              <a:ea typeface="Noto Sans JP"/>
              <a:cs typeface="Noto Sans JP"/>
              <a:sym typeface="Noto Sans JP"/>
            </a:endParaRPr>
          </a:p>
        </p:txBody>
      </p:sp>
      <p:sp>
        <p:nvSpPr>
          <p:cNvPr id="1014" name="Google Shape;1014;p77"/>
          <p:cNvSpPr txBox="1"/>
          <p:nvPr/>
        </p:nvSpPr>
        <p:spPr>
          <a:xfrm>
            <a:off x="3716453" y="311137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accent1"/>
                </a:solidFill>
                <a:latin typeface="Noto Sans JP"/>
                <a:ea typeface="Noto Sans JP"/>
                <a:cs typeface="Noto Sans JP"/>
                <a:sym typeface="Noto Sans JP"/>
              </a:rPr>
              <a:t>低</a:t>
            </a:r>
            <a:endParaRPr b="1">
              <a:solidFill>
                <a:schemeClr val="accent1"/>
              </a:solidFill>
              <a:latin typeface="Noto Sans JP"/>
              <a:ea typeface="Noto Sans JP"/>
              <a:cs typeface="Noto Sans JP"/>
              <a:sym typeface="Noto Sans JP"/>
            </a:endParaRPr>
          </a:p>
        </p:txBody>
      </p:sp>
      <p:sp>
        <p:nvSpPr>
          <p:cNvPr id="1015" name="Google Shape;1015;p77"/>
          <p:cNvSpPr txBox="1"/>
          <p:nvPr/>
        </p:nvSpPr>
        <p:spPr>
          <a:xfrm>
            <a:off x="3716453" y="408532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accent1"/>
                </a:solidFill>
                <a:latin typeface="Noto Sans JP"/>
                <a:ea typeface="Noto Sans JP"/>
                <a:cs typeface="Noto Sans JP"/>
                <a:sym typeface="Noto Sans JP"/>
              </a:rPr>
              <a:t>低</a:t>
            </a:r>
            <a:endParaRPr b="1">
              <a:solidFill>
                <a:schemeClr val="accent1"/>
              </a:solidFill>
              <a:latin typeface="Noto Sans JP"/>
              <a:ea typeface="Noto Sans JP"/>
              <a:cs typeface="Noto Sans JP"/>
              <a:sym typeface="Noto Sans JP"/>
            </a:endParaRPr>
          </a:p>
        </p:txBody>
      </p:sp>
      <p:sp>
        <p:nvSpPr>
          <p:cNvPr id="1016" name="Google Shape;1016;p77"/>
          <p:cNvSpPr txBox="1"/>
          <p:nvPr/>
        </p:nvSpPr>
        <p:spPr>
          <a:xfrm>
            <a:off x="4971828" y="116281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17" name="Google Shape;1017;p77"/>
          <p:cNvSpPr txBox="1"/>
          <p:nvPr/>
        </p:nvSpPr>
        <p:spPr>
          <a:xfrm>
            <a:off x="4971828" y="2134063"/>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lt2"/>
                </a:solidFill>
                <a:latin typeface="Noto Sans JP"/>
                <a:ea typeface="Noto Sans JP"/>
                <a:cs typeface="Noto Sans JP"/>
                <a:sym typeface="Noto Sans JP"/>
              </a:rPr>
              <a:t>高</a:t>
            </a:r>
            <a:endParaRPr b="1">
              <a:solidFill>
                <a:schemeClr val="lt2"/>
              </a:solidFill>
              <a:latin typeface="Noto Sans JP"/>
              <a:ea typeface="Noto Sans JP"/>
              <a:cs typeface="Noto Sans JP"/>
              <a:sym typeface="Noto Sans JP"/>
            </a:endParaRPr>
          </a:p>
        </p:txBody>
      </p:sp>
      <p:sp>
        <p:nvSpPr>
          <p:cNvPr id="1018" name="Google Shape;1018;p77"/>
          <p:cNvSpPr txBox="1"/>
          <p:nvPr/>
        </p:nvSpPr>
        <p:spPr>
          <a:xfrm>
            <a:off x="4971828" y="311137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solidFill>
                  <a:schemeClr val="accent1"/>
                </a:solidFill>
                <a:latin typeface="Noto Sans JP"/>
                <a:ea typeface="Noto Sans JP"/>
                <a:cs typeface="Noto Sans JP"/>
                <a:sym typeface="Noto Sans JP"/>
              </a:rPr>
              <a:t>低</a:t>
            </a:r>
            <a:endParaRPr b="1">
              <a:solidFill>
                <a:schemeClr val="accent1"/>
              </a:solidFill>
              <a:latin typeface="Noto Sans JP"/>
              <a:ea typeface="Noto Sans JP"/>
              <a:cs typeface="Noto Sans JP"/>
              <a:sym typeface="Noto Sans JP"/>
            </a:endParaRPr>
          </a:p>
        </p:txBody>
      </p:sp>
      <p:sp>
        <p:nvSpPr>
          <p:cNvPr id="1019" name="Google Shape;1019;p77"/>
          <p:cNvSpPr txBox="1"/>
          <p:nvPr/>
        </p:nvSpPr>
        <p:spPr>
          <a:xfrm>
            <a:off x="4971828" y="4085325"/>
            <a:ext cx="983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Noto Sans JP"/>
                <a:ea typeface="Noto Sans JP"/>
                <a:cs typeface="Noto Sans JP"/>
                <a:sym typeface="Noto Sans JP"/>
              </a:rPr>
              <a:t>中</a:t>
            </a:r>
            <a:endParaRPr b="1">
              <a:latin typeface="Noto Sans JP"/>
              <a:ea typeface="Noto Sans JP"/>
              <a:cs typeface="Noto Sans JP"/>
              <a:sym typeface="Noto Sans JP"/>
            </a:endParaRPr>
          </a:p>
        </p:txBody>
      </p:sp>
      <p:sp>
        <p:nvSpPr>
          <p:cNvPr id="1020" name="Google Shape;1020;p77"/>
          <p:cNvSpPr txBox="1"/>
          <p:nvPr/>
        </p:nvSpPr>
        <p:spPr>
          <a:xfrm>
            <a:off x="6177619" y="913200"/>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・急な欠員が出たときだけ使うという利用スタイル、</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課題が解決すると利用を停止することもあると想定</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・翌週掲載率は35.5%と2番目に高いが、翌月継続率は　</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46.8%止まり。</a:t>
            </a:r>
            <a:r>
              <a:rPr b="1" lang="ja" sz="800">
                <a:latin typeface="Noto Sans JP"/>
                <a:ea typeface="Noto Sans JP"/>
                <a:cs typeface="Noto Sans JP"/>
                <a:sym typeface="Noto Sans JP"/>
              </a:rPr>
              <a:t>必要性が翌週や翌月にも出れば利用を</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継続するし、そうでなければ利用を停止</a:t>
            </a:r>
            <a:r>
              <a:rPr lang="ja" sz="800">
                <a:latin typeface="Noto Sans JP"/>
                <a:ea typeface="Noto Sans JP"/>
                <a:cs typeface="Noto Sans JP"/>
                <a:sym typeface="Noto Sans JP"/>
              </a:rPr>
              <a:t>する。</a:t>
            </a:r>
            <a:endParaRPr sz="800">
              <a:latin typeface="Noto Sans JP"/>
              <a:ea typeface="Noto Sans JP"/>
              <a:cs typeface="Noto Sans JP"/>
              <a:sym typeface="Noto Sans JP"/>
            </a:endParaRPr>
          </a:p>
        </p:txBody>
      </p:sp>
      <p:sp>
        <p:nvSpPr>
          <p:cNvPr id="1021" name="Google Shape;1021;p77"/>
          <p:cNvSpPr txBox="1"/>
          <p:nvPr/>
        </p:nvSpPr>
        <p:spPr>
          <a:xfrm>
            <a:off x="6177544" y="1884450"/>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a:t>
            </a:r>
            <a:r>
              <a:rPr b="1" lang="ja" sz="800">
                <a:latin typeface="Noto Sans JP"/>
                <a:ea typeface="Noto Sans JP"/>
                <a:cs typeface="Noto Sans JP"/>
                <a:sym typeface="Noto Sans JP"/>
              </a:rPr>
              <a:t>最も継続率が高い。</a:t>
            </a:r>
            <a:r>
              <a:rPr lang="ja" sz="800">
                <a:latin typeface="Noto Sans JP"/>
                <a:ea typeface="Noto Sans JP"/>
                <a:cs typeface="Noto Sans JP"/>
                <a:sym typeface="Noto Sans JP"/>
              </a:rPr>
              <a:t>全体に占める</a:t>
            </a:r>
            <a:r>
              <a:rPr b="1" lang="ja" sz="800">
                <a:latin typeface="Noto Sans JP"/>
                <a:ea typeface="Noto Sans JP"/>
                <a:cs typeface="Noto Sans JP"/>
                <a:sym typeface="Noto Sans JP"/>
              </a:rPr>
              <a:t>割合は9%と少ない</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ものの、最もタイミーの利用ニーズが高いと想定。</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・構造的な欠員が突然発生した状態になっており、</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緊急かつ当面の間埋めたい、と考えている。</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多少UXが悪くても継続することが予想される。</a:t>
            </a:r>
            <a:endParaRPr sz="800">
              <a:latin typeface="Noto Sans JP"/>
              <a:ea typeface="Noto Sans JP"/>
              <a:cs typeface="Noto Sans JP"/>
              <a:sym typeface="Noto Sans JP"/>
            </a:endParaRPr>
          </a:p>
        </p:txBody>
      </p:sp>
      <p:sp>
        <p:nvSpPr>
          <p:cNvPr id="1022" name="Google Shape;1022;p77"/>
          <p:cNvSpPr txBox="1"/>
          <p:nvPr/>
        </p:nvSpPr>
        <p:spPr>
          <a:xfrm>
            <a:off x="6177619" y="2861750"/>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a:t>
            </a:r>
            <a:r>
              <a:rPr b="1" lang="ja" sz="800">
                <a:latin typeface="Noto Sans JP"/>
                <a:ea typeface="Noto Sans JP"/>
                <a:cs typeface="Noto Sans JP"/>
                <a:sym typeface="Noto Sans JP"/>
              </a:rPr>
              <a:t>最も継続率が低く、翌週でも翌月でも同様。お試し的　に利用してみたい層であることが想定</a:t>
            </a:r>
            <a:r>
              <a:rPr lang="ja" sz="800">
                <a:latin typeface="Noto Sans JP"/>
                <a:ea typeface="Noto Sans JP"/>
                <a:cs typeface="Noto Sans JP"/>
                <a:sym typeface="Noto Sans JP"/>
              </a:rPr>
              <a:t>される。</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・初回利用体験の良し悪しが継続に影響</a:t>
            </a:r>
            <a:r>
              <a:rPr lang="ja" sz="800">
                <a:latin typeface="Noto Sans JP"/>
                <a:ea typeface="Noto Sans JP"/>
                <a:cs typeface="Noto Sans JP"/>
                <a:sym typeface="Noto Sans JP"/>
              </a:rPr>
              <a:t>すると予想。</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・本当に使えるのかをジャッジしている可能性が高く、</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失敗させないためのサポートが効く可能性あり？</a:t>
            </a:r>
            <a:endParaRPr sz="800">
              <a:latin typeface="Noto Sans JP"/>
              <a:ea typeface="Noto Sans JP"/>
              <a:cs typeface="Noto Sans JP"/>
              <a:sym typeface="Noto Sans JP"/>
            </a:endParaRPr>
          </a:p>
        </p:txBody>
      </p:sp>
      <p:sp>
        <p:nvSpPr>
          <p:cNvPr id="1023" name="Google Shape;1023;p77"/>
          <p:cNvSpPr txBox="1"/>
          <p:nvPr/>
        </p:nvSpPr>
        <p:spPr>
          <a:xfrm>
            <a:off x="6177619" y="3835738"/>
            <a:ext cx="2786400" cy="89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800">
                <a:latin typeface="Noto Sans JP"/>
                <a:ea typeface="Noto Sans JP"/>
                <a:cs typeface="Noto Sans JP"/>
                <a:sym typeface="Noto Sans JP"/>
              </a:rPr>
              <a:t>・翌週掲載率は34.3%とA_緊急*単発型に劣るものの翌月</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継続率を見るとB_緊急*一括型に劣らず高い。単に、　一括掲載しているので翌週に募集を掲載する用事が</a:t>
            </a:r>
            <a:endParaRPr sz="8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800">
                <a:latin typeface="Noto Sans JP"/>
                <a:ea typeface="Noto Sans JP"/>
                <a:cs typeface="Noto Sans JP"/>
                <a:sym typeface="Noto Sans JP"/>
              </a:rPr>
              <a:t>　発生していないと想定される。</a:t>
            </a:r>
            <a:r>
              <a:rPr b="1" lang="ja" sz="800">
                <a:latin typeface="Noto Sans JP"/>
                <a:ea typeface="Noto Sans JP"/>
                <a:cs typeface="Noto Sans JP"/>
                <a:sym typeface="Noto Sans JP"/>
              </a:rPr>
              <a:t>継続したニーズが</a:t>
            </a:r>
            <a:endParaRPr b="1" sz="800">
              <a:latin typeface="Noto Sans JP"/>
              <a:ea typeface="Noto Sans JP"/>
              <a:cs typeface="Noto Sans JP"/>
              <a:sym typeface="Noto Sans JP"/>
            </a:endParaRPr>
          </a:p>
          <a:p>
            <a:pPr indent="0" lvl="0" marL="0" rtl="0" algn="l">
              <a:lnSpc>
                <a:spcPct val="120000"/>
              </a:lnSpc>
              <a:spcBef>
                <a:spcPts val="0"/>
              </a:spcBef>
              <a:spcAft>
                <a:spcPts val="0"/>
              </a:spcAft>
              <a:buNone/>
            </a:pPr>
            <a:r>
              <a:rPr b="1" lang="ja" sz="800">
                <a:latin typeface="Noto Sans JP"/>
                <a:ea typeface="Noto Sans JP"/>
                <a:cs typeface="Noto Sans JP"/>
                <a:sym typeface="Noto Sans JP"/>
              </a:rPr>
              <a:t>　もともとあるので継続率が高いと考えられる</a:t>
            </a:r>
            <a:r>
              <a:rPr lang="ja" sz="800">
                <a:latin typeface="Noto Sans JP"/>
                <a:ea typeface="Noto Sans JP"/>
                <a:cs typeface="Noto Sans JP"/>
                <a:sym typeface="Noto Sans JP"/>
              </a:rPr>
              <a:t>。</a:t>
            </a:r>
            <a:endParaRPr sz="800">
              <a:latin typeface="Noto Sans JP"/>
              <a:ea typeface="Noto Sans JP"/>
              <a:cs typeface="Noto Sans JP"/>
              <a:sym typeface="Noto Sans JP"/>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78"/>
          <p:cNvSpPr txBox="1"/>
          <p:nvPr>
            <p:ph idx="12" type="sldNum"/>
          </p:nvPr>
        </p:nvSpPr>
        <p:spPr>
          <a:xfrm>
            <a:off x="8558684" y="4739417"/>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029" name="Google Shape;1029;p78"/>
          <p:cNvSpPr txBox="1"/>
          <p:nvPr>
            <p:ph type="title"/>
          </p:nvPr>
        </p:nvSpPr>
        <p:spPr>
          <a:xfrm>
            <a:off x="187525" y="48100"/>
            <a:ext cx="84672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LowTouch</a:t>
            </a:r>
            <a:r>
              <a:rPr lang="ja"/>
              <a:t>では初回企業キャンセル時の追加掲載率がHighTouchと比較して低い</a:t>
            </a:r>
            <a:endParaRPr/>
          </a:p>
        </p:txBody>
      </p:sp>
      <p:sp>
        <p:nvSpPr>
          <p:cNvPr id="1030" name="Google Shape;1030;p78"/>
          <p:cNvSpPr txBox="1"/>
          <p:nvPr/>
        </p:nvSpPr>
        <p:spPr>
          <a:xfrm>
            <a:off x="187525" y="550750"/>
            <a:ext cx="8776500" cy="591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ja" sz="1200">
                <a:latin typeface="Noto Sans JP"/>
                <a:ea typeface="Noto Sans JP"/>
                <a:cs typeface="Noto Sans JP"/>
                <a:sym typeface="Noto Sans JP"/>
              </a:rPr>
              <a:t>LowTouchでは初回企業キャンセル時の追加掲載率の低さがHighTouchと比較して顕著に低い。</a:t>
            </a:r>
            <a:endParaRPr sz="1200">
              <a:latin typeface="Noto Sans JP"/>
              <a:ea typeface="Noto Sans JP"/>
              <a:cs typeface="Noto Sans JP"/>
              <a:sym typeface="Noto Sans JP"/>
            </a:endParaRPr>
          </a:p>
          <a:p>
            <a:pPr indent="0" lvl="0" marL="0" rtl="0" algn="l">
              <a:lnSpc>
                <a:spcPct val="120000"/>
              </a:lnSpc>
              <a:spcBef>
                <a:spcPts val="0"/>
              </a:spcBef>
              <a:spcAft>
                <a:spcPts val="0"/>
              </a:spcAft>
              <a:buNone/>
            </a:pPr>
            <a:r>
              <a:rPr lang="ja" sz="1200">
                <a:latin typeface="Noto Sans JP"/>
                <a:ea typeface="Noto Sans JP"/>
                <a:cs typeface="Noto Sans JP"/>
                <a:sym typeface="Noto Sans JP"/>
              </a:rPr>
              <a:t>LowTouch店舗ではCSMによるサポートがない分、不信を感じる→離反 に直結しやすいのでは？と考えられる。</a:t>
            </a:r>
            <a:endParaRPr sz="1200">
              <a:latin typeface="Noto Sans JP"/>
              <a:ea typeface="Noto Sans JP"/>
              <a:cs typeface="Noto Sans JP"/>
              <a:sym typeface="Noto Sans JP"/>
            </a:endParaRPr>
          </a:p>
        </p:txBody>
      </p:sp>
      <p:sp>
        <p:nvSpPr>
          <p:cNvPr id="1031" name="Google Shape;1031;p78"/>
          <p:cNvSpPr txBox="1"/>
          <p:nvPr/>
        </p:nvSpPr>
        <p:spPr>
          <a:xfrm>
            <a:off x="187525" y="4462525"/>
            <a:ext cx="62361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参考：初回利用体験にマイナスの影響を及ぼすのは企業によるワーカーキャンセル</a:t>
            </a:r>
            <a:r>
              <a:rPr lang="ja" sz="600">
                <a:solidFill>
                  <a:schemeClr val="accent2"/>
                </a:solidFill>
                <a:latin typeface="Noto Sans JP"/>
                <a:ea typeface="Noto Sans JP"/>
                <a:cs typeface="Noto Sans JP"/>
                <a:sym typeface="Noto Sans JP"/>
              </a:rPr>
              <a:t>（</a:t>
            </a:r>
            <a:r>
              <a:rPr lang="ja" sz="600" u="sng">
                <a:solidFill>
                  <a:schemeClr val="accent2"/>
                </a:solidFill>
                <a:latin typeface="Noto Sans JP"/>
                <a:ea typeface="Noto Sans JP"/>
                <a:cs typeface="Noto Sans JP"/>
                <a:sym typeface="Noto Sans JP"/>
                <a:hlinkClick action="ppaction://hlinksldjump" r:id="rId3">
                  <a:extLst>
                    <a:ext uri="{A12FA001-AC4F-418D-AE19-62706E023703}">
                      <ahyp:hlinkClr val="tx"/>
                    </a:ext>
                  </a:extLst>
                </a:hlinkClick>
              </a:rPr>
              <a:t>p.18</a:t>
            </a:r>
            <a:r>
              <a:rPr lang="ja" sz="600">
                <a:solidFill>
                  <a:schemeClr val="accent2"/>
                </a:solidFill>
                <a:latin typeface="Noto Sans JP"/>
                <a:ea typeface="Noto Sans JP"/>
                <a:cs typeface="Noto Sans JP"/>
                <a:sym typeface="Noto Sans JP"/>
              </a:rPr>
              <a:t>）</a:t>
            </a:r>
            <a:endParaRPr sz="600">
              <a:solidFill>
                <a:schemeClr val="accent2"/>
              </a:solidFill>
              <a:latin typeface="Noto Sans JP"/>
              <a:ea typeface="Noto Sans JP"/>
              <a:cs typeface="Noto Sans JP"/>
              <a:sym typeface="Noto Sans JP"/>
            </a:endParaRPr>
          </a:p>
        </p:txBody>
      </p:sp>
      <p:sp>
        <p:nvSpPr>
          <p:cNvPr id="1032" name="Google Shape;1032;p78"/>
          <p:cNvSpPr txBox="1"/>
          <p:nvPr/>
        </p:nvSpPr>
        <p:spPr>
          <a:xfrm>
            <a:off x="6652500" y="1281700"/>
            <a:ext cx="23115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600">
                <a:solidFill>
                  <a:srgbClr val="808080"/>
                </a:solidFill>
                <a:latin typeface="Noto Sans JP"/>
                <a:ea typeface="Noto Sans JP"/>
                <a:cs typeface="Noto Sans JP"/>
                <a:sym typeface="Noto Sans JP"/>
              </a:rPr>
              <a:t>集計対象：2025-01 ~ 2025-09 初回掲載した事業所</a:t>
            </a:r>
            <a:endParaRPr sz="600">
              <a:solidFill>
                <a:srgbClr val="808080"/>
              </a:solidFill>
              <a:latin typeface="Noto Sans JP"/>
              <a:ea typeface="Noto Sans JP"/>
              <a:cs typeface="Noto Sans JP"/>
              <a:sym typeface="Noto Sans JP"/>
            </a:endParaRPr>
          </a:p>
        </p:txBody>
      </p:sp>
      <p:pic>
        <p:nvPicPr>
          <p:cNvPr id="1033" name="Google Shape;1033;p78" title="グラフ"/>
          <p:cNvPicPr preferRelativeResize="0"/>
          <p:nvPr/>
        </p:nvPicPr>
        <p:blipFill>
          <a:blip r:embed="rId4">
            <a:alphaModFix/>
          </a:blip>
          <a:stretch>
            <a:fillRect/>
          </a:stretch>
        </p:blipFill>
        <p:spPr>
          <a:xfrm>
            <a:off x="1231188" y="1726450"/>
            <a:ext cx="6681623" cy="2736075"/>
          </a:xfrm>
          <a:prstGeom prst="rect">
            <a:avLst/>
          </a:prstGeom>
          <a:noFill/>
          <a:ln>
            <a:noFill/>
          </a:ln>
        </p:spPr>
      </p:pic>
      <p:sp>
        <p:nvSpPr>
          <p:cNvPr id="1034" name="Google Shape;1034;p78"/>
          <p:cNvSpPr txBox="1"/>
          <p:nvPr/>
        </p:nvSpPr>
        <p:spPr>
          <a:xfrm>
            <a:off x="187525" y="4739425"/>
            <a:ext cx="602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600">
                <a:solidFill>
                  <a:schemeClr val="accent2"/>
                </a:solidFill>
                <a:latin typeface="Noto Sans JP"/>
                <a:ea typeface="Noto Sans JP"/>
                <a:cs typeface="Noto Sans JP"/>
                <a:sym typeface="Noto Sans JP"/>
              </a:rPr>
              <a:t>source: </a:t>
            </a:r>
            <a:r>
              <a:rPr lang="ja" sz="600" u="sng">
                <a:solidFill>
                  <a:schemeClr val="accent2"/>
                </a:solidFill>
                <a:latin typeface="Noto Sans JP"/>
                <a:ea typeface="Noto Sans JP"/>
                <a:cs typeface="Noto Sans JP"/>
                <a:sym typeface="Noto Sans JP"/>
                <a:hlinkClick r:id="rId5">
                  <a:extLst>
                    <a:ext uri="{A12FA001-AC4F-418D-AE19-62706E023703}">
                      <ahyp:hlinkClr val="tx"/>
                    </a:ext>
                  </a:extLst>
                </a:hlinkClick>
              </a:rPr>
              <a:t>https://docs.google.com/spreadsheets/d/1VlYTSFJRUFDtw1kHuFzHLWfSJakMuAQH8yrISJJvOXk/edit?pli=1&amp;gid=1982118576#gid=1982118576&amp;range=A94</a:t>
            </a:r>
            <a:endParaRPr sz="600">
              <a:solidFill>
                <a:schemeClr val="accent2"/>
              </a:solidFill>
              <a:latin typeface="Noto Sans JP"/>
              <a:ea typeface="Noto Sans JP"/>
              <a:cs typeface="Noto Sans JP"/>
              <a:sym typeface="Noto Sans JP"/>
            </a:endParaRPr>
          </a:p>
        </p:txBody>
      </p:sp>
      <p:sp>
        <p:nvSpPr>
          <p:cNvPr id="1035" name="Google Shape;1035;p78"/>
          <p:cNvSpPr txBox="1"/>
          <p:nvPr/>
        </p:nvSpPr>
        <p:spPr>
          <a:xfrm>
            <a:off x="187525" y="1250800"/>
            <a:ext cx="409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solidFill>
                  <a:srgbClr val="808080"/>
                </a:solidFill>
                <a:latin typeface="Noto Sans SemiBold"/>
                <a:ea typeface="Noto Sans SemiBold"/>
                <a:cs typeface="Noto Sans SemiBold"/>
                <a:sym typeface="Noto Sans SemiBold"/>
              </a:rPr>
              <a:t>■ </a:t>
            </a:r>
            <a:r>
              <a:rPr lang="ja" sz="1000">
                <a:solidFill>
                  <a:schemeClr val="accent2"/>
                </a:solidFill>
                <a:latin typeface="Noto Sans SemiBold"/>
                <a:ea typeface="Noto Sans SemiBold"/>
                <a:cs typeface="Noto Sans SemiBold"/>
                <a:sym typeface="Noto Sans SemiBold"/>
              </a:rPr>
              <a:t>High/Low区分別 </a:t>
            </a:r>
            <a:r>
              <a:rPr lang="ja" sz="1000">
                <a:solidFill>
                  <a:schemeClr val="accent2"/>
                </a:solidFill>
                <a:latin typeface="Noto Sans SemiBold"/>
                <a:ea typeface="Noto Sans SemiBold"/>
                <a:cs typeface="Noto Sans SemiBold"/>
                <a:sym typeface="Noto Sans SemiBold"/>
              </a:rPr>
              <a:t>店舗の初回稼働有無別追加掲載率 稼働なし詳細</a:t>
            </a:r>
            <a:endParaRPr sz="1000">
              <a:solidFill>
                <a:srgbClr val="808080"/>
              </a:solidFill>
              <a:latin typeface="Noto Sans SemiBold"/>
              <a:ea typeface="Noto Sans SemiBold"/>
              <a:cs typeface="Noto Sans SemiBold"/>
              <a:sym typeface="Noto Sans SemiBold"/>
            </a:endParaRPr>
          </a:p>
        </p:txBody>
      </p:sp>
      <p:sp>
        <p:nvSpPr>
          <p:cNvPr id="1036" name="Google Shape;1036;p78"/>
          <p:cNvSpPr/>
          <p:nvPr/>
        </p:nvSpPr>
        <p:spPr>
          <a:xfrm rot="5401215">
            <a:off x="5498275" y="2739503"/>
            <a:ext cx="848700" cy="577500"/>
          </a:xfrm>
          <a:prstGeom prst="ellipse">
            <a:avLst/>
          </a:prstGeom>
          <a:noFill/>
          <a:ln cap="flat" cmpd="sng" w="2857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79"/>
          <p:cNvSpPr txBox="1"/>
          <p:nvPr/>
        </p:nvSpPr>
        <p:spPr>
          <a:xfrm>
            <a:off x="8558684" y="4739417"/>
            <a:ext cx="548700" cy="393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ja" sz="600">
                <a:solidFill>
                  <a:srgbClr val="212121"/>
                </a:solidFill>
                <a:latin typeface="Noto Sans JP"/>
                <a:ea typeface="Noto Sans JP"/>
                <a:cs typeface="Noto Sans JP"/>
                <a:sym typeface="Noto Sans JP"/>
              </a:rPr>
              <a:t>‹#›</a:t>
            </a:fld>
            <a:endParaRPr sz="600">
              <a:solidFill>
                <a:srgbClr val="212121"/>
              </a:solidFill>
              <a:latin typeface="Noto Sans JP"/>
              <a:ea typeface="Noto Sans JP"/>
              <a:cs typeface="Noto Sans JP"/>
              <a:sym typeface="Noto Sans JP"/>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mee">
  <a:themeElements>
    <a:clrScheme name="Office">
      <a:dk1>
        <a:srgbClr val="000000"/>
      </a:dk1>
      <a:lt1>
        <a:srgbClr val="FFFFFF"/>
      </a:lt1>
      <a:dk2>
        <a:srgbClr val="000000"/>
      </a:dk2>
      <a:lt2>
        <a:srgbClr val="FFFFFF"/>
      </a:lt2>
      <a:accent1>
        <a:srgbClr val="FFD700"/>
      </a:accent1>
      <a:accent2>
        <a:srgbClr val="007AFF"/>
      </a:accent2>
      <a:accent3>
        <a:srgbClr val="FF303B"/>
      </a:accent3>
      <a:accent4>
        <a:srgbClr val="808080"/>
      </a:accent4>
      <a:accent5>
        <a:srgbClr val="EEEEEE"/>
      </a:accent5>
      <a:accent6>
        <a:srgbClr val="FFE080"/>
      </a:accent6>
      <a:hlink>
        <a:srgbClr val="007A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FFFFFF"/>
      </a:dk1>
      <a:lt1>
        <a:srgbClr val="212121"/>
      </a:lt1>
      <a:dk2>
        <a:srgbClr val="FFD700"/>
      </a:dk2>
      <a:lt2>
        <a:srgbClr val="007AFF"/>
      </a:lt2>
      <a:accent1>
        <a:srgbClr val="FF303B"/>
      </a:accent1>
      <a:accent2>
        <a:srgbClr val="808080"/>
      </a:accent2>
      <a:accent3>
        <a:srgbClr val="EEEEEE"/>
      </a:accent3>
      <a:accent4>
        <a:srgbClr val="FFFFFF"/>
      </a:accent4>
      <a:accent5>
        <a:srgbClr val="FFFFFF"/>
      </a:accent5>
      <a:accent6>
        <a:srgbClr val="FFFFFF"/>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