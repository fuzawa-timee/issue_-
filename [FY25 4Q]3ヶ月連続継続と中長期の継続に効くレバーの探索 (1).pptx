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6" r:id="rId5"/>
    <p:sldMasterId id="2147483657"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Lst>
  <p:sldSz cy="5143500" cx="9144000"/>
  <p:notesSz cx="6858000" cy="9144000"/>
  <p:embeddedFontLst>
    <p:embeddedFont>
      <p:font typeface="M PLUS 1p"/>
      <p:regular r:id="rId69"/>
      <p:bold r:id="rId70"/>
    </p:embeddedFont>
    <p:embeddedFont>
      <p:font typeface="Zen Kaku Gothic New"/>
      <p:regular r:id="rId71"/>
      <p:bold r:id="rId7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454">
          <p15:clr>
            <a:srgbClr val="9AA0A6"/>
          </p15:clr>
        </p15:guide>
        <p15:guide id="2" pos="2880">
          <p15:clr>
            <a:srgbClr val="9AA0A6"/>
          </p15:clr>
        </p15:guide>
        <p15:guide id="3" orient="horz" pos="1620">
          <p15:clr>
            <a:srgbClr val="9AA0A6"/>
          </p15:clr>
        </p15:guide>
        <p15:guide id="4" orient="horz" pos="1037">
          <p15:clr>
            <a:srgbClr val="9AA0A6"/>
          </p15:clr>
        </p15:guide>
        <p15:guide id="5" orient="horz" pos="2203">
          <p15:clr>
            <a:srgbClr val="9AA0A6"/>
          </p15:clr>
        </p15:guide>
        <p15:guide id="6">
          <p15:clr>
            <a:srgbClr val="9AA0A6"/>
          </p15:clr>
        </p15:guide>
        <p15:guide id="7" pos="1440">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F8EDBD9-CB3C-42A3-955A-0CF7C7B87A50}">
  <a:tblStyle styleId="{BF8EDBD9-CB3C-42A3-955A-0CF7C7B87A50}"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717431F7-2294-48B2-AEED-F836AFECFFDB}"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454" orient="horz"/>
        <p:guide pos="2880"/>
        <p:guide pos="1620" orient="horz"/>
        <p:guide pos="1037" orient="horz"/>
        <p:guide pos="2203" orient="horz"/>
        <p:guide/>
        <p:guide pos="144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48" Type="http://schemas.openxmlformats.org/officeDocument/2006/relationships/slide" Target="slides/slide41.xml"/><Relationship Id="rId47" Type="http://schemas.openxmlformats.org/officeDocument/2006/relationships/slide" Target="slides/slide40.xml"/><Relationship Id="rId49" Type="http://schemas.openxmlformats.org/officeDocument/2006/relationships/slide" Target="slides/slide42.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72" Type="http://schemas.openxmlformats.org/officeDocument/2006/relationships/font" Target="fonts/ZenKakuGothicNew-bold.fntdata"/><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71" Type="http://schemas.openxmlformats.org/officeDocument/2006/relationships/font" Target="fonts/ZenKakuGothicNew-regular.fntdata"/><Relationship Id="rId70" Type="http://schemas.openxmlformats.org/officeDocument/2006/relationships/font" Target="fonts/MPLUS1p-bold.fntdata"/><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62" Type="http://schemas.openxmlformats.org/officeDocument/2006/relationships/slide" Target="slides/slide55.xml"/><Relationship Id="rId61" Type="http://schemas.openxmlformats.org/officeDocument/2006/relationships/slide" Target="slides/slide54.xml"/><Relationship Id="rId20" Type="http://schemas.openxmlformats.org/officeDocument/2006/relationships/slide" Target="slides/slide13.xml"/><Relationship Id="rId64" Type="http://schemas.openxmlformats.org/officeDocument/2006/relationships/slide" Target="slides/slide57.xml"/><Relationship Id="rId63" Type="http://schemas.openxmlformats.org/officeDocument/2006/relationships/slide" Target="slides/slide56.xml"/><Relationship Id="rId22" Type="http://schemas.openxmlformats.org/officeDocument/2006/relationships/slide" Target="slides/slide15.xml"/><Relationship Id="rId66" Type="http://schemas.openxmlformats.org/officeDocument/2006/relationships/slide" Target="slides/slide59.xml"/><Relationship Id="rId21" Type="http://schemas.openxmlformats.org/officeDocument/2006/relationships/slide" Target="slides/slide14.xml"/><Relationship Id="rId65" Type="http://schemas.openxmlformats.org/officeDocument/2006/relationships/slide" Target="slides/slide58.xml"/><Relationship Id="rId24" Type="http://schemas.openxmlformats.org/officeDocument/2006/relationships/slide" Target="slides/slide17.xml"/><Relationship Id="rId68" Type="http://schemas.openxmlformats.org/officeDocument/2006/relationships/slide" Target="slides/slide61.xml"/><Relationship Id="rId23" Type="http://schemas.openxmlformats.org/officeDocument/2006/relationships/slide" Target="slides/slide16.xml"/><Relationship Id="rId67" Type="http://schemas.openxmlformats.org/officeDocument/2006/relationships/slide" Target="slides/slide60.xml"/><Relationship Id="rId60" Type="http://schemas.openxmlformats.org/officeDocument/2006/relationships/slide" Target="slides/slide53.xml"/><Relationship Id="rId26" Type="http://schemas.openxmlformats.org/officeDocument/2006/relationships/slide" Target="slides/slide19.xml"/><Relationship Id="rId25" Type="http://schemas.openxmlformats.org/officeDocument/2006/relationships/slide" Target="slides/slide18.xml"/><Relationship Id="rId69" Type="http://schemas.openxmlformats.org/officeDocument/2006/relationships/font" Target="fonts/MPLUS1p-regular.fntdata"/><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slide" Target="slides/slide44.xml"/><Relationship Id="rId50" Type="http://schemas.openxmlformats.org/officeDocument/2006/relationships/slide" Target="slides/slide43.xml"/><Relationship Id="rId53" Type="http://schemas.openxmlformats.org/officeDocument/2006/relationships/slide" Target="slides/slide46.xml"/><Relationship Id="rId52" Type="http://schemas.openxmlformats.org/officeDocument/2006/relationships/slide" Target="slides/slide45.xml"/><Relationship Id="rId11" Type="http://schemas.openxmlformats.org/officeDocument/2006/relationships/slide" Target="slides/slide4.xml"/><Relationship Id="rId55" Type="http://schemas.openxmlformats.org/officeDocument/2006/relationships/slide" Target="slides/slide48.xml"/><Relationship Id="rId10" Type="http://schemas.openxmlformats.org/officeDocument/2006/relationships/slide" Target="slides/slide3.xml"/><Relationship Id="rId54" Type="http://schemas.openxmlformats.org/officeDocument/2006/relationships/slide" Target="slides/slide47.xml"/><Relationship Id="rId13" Type="http://schemas.openxmlformats.org/officeDocument/2006/relationships/slide" Target="slides/slide6.xml"/><Relationship Id="rId57" Type="http://schemas.openxmlformats.org/officeDocument/2006/relationships/slide" Target="slides/slide50.xml"/><Relationship Id="rId12" Type="http://schemas.openxmlformats.org/officeDocument/2006/relationships/slide" Target="slides/slide5.xml"/><Relationship Id="rId56" Type="http://schemas.openxmlformats.org/officeDocument/2006/relationships/slide" Target="slides/slide49.xml"/><Relationship Id="rId15" Type="http://schemas.openxmlformats.org/officeDocument/2006/relationships/slide" Target="slides/slide8.xml"/><Relationship Id="rId59" Type="http://schemas.openxmlformats.org/officeDocument/2006/relationships/slide" Target="slides/slide52.xml"/><Relationship Id="rId14" Type="http://schemas.openxmlformats.org/officeDocument/2006/relationships/slide" Target="slides/slide7.xml"/><Relationship Id="rId58" Type="http://schemas.openxmlformats.org/officeDocument/2006/relationships/slide" Target="slides/slide51.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2e2dd58f6b2_0_2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2e2dd58f6b2_0_2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951d96da3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3951d96da3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72ffe43996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372ffe43996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69d9e75d49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69d9e75d49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69d9e75d49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369d9e75d49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69d9e75d49_0_2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369d9e75d49_0_2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69d9e75d49_0_1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369d9e75d49_0_1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69d9e75d49_0_3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369d9e75d49_0_3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8d0fe66944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38d0fe66944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89c6b1f98b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389c6b1f98b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389c6b1f98b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389c6b1f98b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最初の3ヶ月で後のパターンが予測できたら良いよねというのが、この分析で始まり</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389c6b1f98b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389c6b1f98b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最初の3ヶ月で後のパターンが予測できたら良いよねというのが、この分析で始まり</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369d9e75d49_0_3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 name="Google Shape;268;g369d9e75d49_0_3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369d9e75d49_0_4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369d9e75d49_0_4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389c6b1f98b_0_1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1" name="Google Shape;301;g389c6b1f98b_0_1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369d9e75d49_0_4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6" name="Google Shape;336;g369d9e75d49_0_4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369d9e75d49_0_4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1" name="Google Shape;341;g369d9e75d49_0_4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38afbd5b4ec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1" name="Google Shape;351;g38afbd5b4ec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369d9e75d49_0_5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2" name="Google Shape;362;g369d9e75d49_0_5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最初の3ヶ月で後のパターンが予測できたら良いよねというのが、この分析で始まり</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38afbd5b4ec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5" name="Google Shape;375;g38afbd5b4ec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g38d0fe66944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6" name="Google Shape;386;g38d0fe66944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最初の3ヶ月で後のパターンが予測できたら良いよねというのが、この分析で始まり</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g39dc416ae1a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9" name="Google Shape;399;g39dc416ae1a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最初の3ヶ月で後のパターンが予測できたら良いよねというのが、この分析で始まり</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g39dc416ae1a_1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1" name="Google Shape;411;g39dc416ae1a_1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最初の3ヶ月で後のパターンが予測できたら良いよねというのが、この分析で始まり</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g39dc416ae1a_1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2" name="Google Shape;422;g39dc416ae1a_1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最初の3ヶ月で後のパターンが予測できたら良いよねというのが、この分析で始まり</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g39dc416ae1a_1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4" name="Google Shape;434;g39dc416ae1a_1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最初の3ヶ月で後のパターンが予測できたら良いよねというのが、この分析で始まり</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g39dc416ae1a_1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6" name="Google Shape;446;g39dc416ae1a_1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最初の3ヶ月で後のパターンが予測できたら良いよねというのが、この分析で始まり</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g39dc416ae1a_1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7" name="Google Shape;457;g39dc416ae1a_1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最初の3ヶ月で後のパターンが予測できたら良いよねというのが、この分析で始まり</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g369d9e75d49_0_5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9" name="Google Shape;469;g369d9e75d49_0_5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g39d5448aaa5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5" name="Google Shape;475;g39d5448aaa5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g369d9e75d49_0_5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2" name="Google Shape;512;g369d9e75d49_0_5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g36f7a3fcb3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2" name="Google Shape;522;g36f7a3fcb3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3" name="Shape 533"/>
        <p:cNvGrpSpPr/>
        <p:nvPr/>
      </p:nvGrpSpPr>
      <p:grpSpPr>
        <a:xfrm>
          <a:off x="0" y="0"/>
          <a:ext cx="0" cy="0"/>
          <a:chOff x="0" y="0"/>
          <a:chExt cx="0" cy="0"/>
        </a:xfrm>
      </p:grpSpPr>
      <p:sp>
        <p:nvSpPr>
          <p:cNvPr id="534" name="Google Shape;534;g36f7a3fcb3b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5" name="Google Shape;535;g36f7a3fcb3b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g394aa404979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3" name="Google Shape;553;g394aa404979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g372736d13ab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8" name="Google Shape;568;g372736d13ab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g394aa404979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6" name="Google Shape;586;g394aa404979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3" name="Shape 603"/>
        <p:cNvGrpSpPr/>
        <p:nvPr/>
      </p:nvGrpSpPr>
      <p:grpSpPr>
        <a:xfrm>
          <a:off x="0" y="0"/>
          <a:ext cx="0" cy="0"/>
          <a:chOff x="0" y="0"/>
          <a:chExt cx="0" cy="0"/>
        </a:xfrm>
      </p:grpSpPr>
      <p:sp>
        <p:nvSpPr>
          <p:cNvPr id="604" name="Google Shape;604;g38d0fe66944_0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5" name="Google Shape;605;g38d0fe66944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g39b2b633be7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6" name="Google Shape;616;g39b2b633be7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1" name="Shape 631"/>
        <p:cNvGrpSpPr/>
        <p:nvPr/>
      </p:nvGrpSpPr>
      <p:grpSpPr>
        <a:xfrm>
          <a:off x="0" y="0"/>
          <a:ext cx="0" cy="0"/>
          <a:chOff x="0" y="0"/>
          <a:chExt cx="0" cy="0"/>
        </a:xfrm>
      </p:grpSpPr>
      <p:sp>
        <p:nvSpPr>
          <p:cNvPr id="632" name="Google Shape;632;g394c3e6be8e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3" name="Google Shape;633;g394c3e6be8e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6" name="Shape 646"/>
        <p:cNvGrpSpPr/>
        <p:nvPr/>
      </p:nvGrpSpPr>
      <p:grpSpPr>
        <a:xfrm>
          <a:off x="0" y="0"/>
          <a:ext cx="0" cy="0"/>
          <a:chOff x="0" y="0"/>
          <a:chExt cx="0" cy="0"/>
        </a:xfrm>
      </p:grpSpPr>
      <p:sp>
        <p:nvSpPr>
          <p:cNvPr id="647" name="Google Shape;647;g371e7911025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8" name="Google Shape;648;g371e7911025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g39c5e9a8161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1" name="Google Shape;671;g39c5e9a8161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0" name="Shape 680"/>
        <p:cNvGrpSpPr/>
        <p:nvPr/>
      </p:nvGrpSpPr>
      <p:grpSpPr>
        <a:xfrm>
          <a:off x="0" y="0"/>
          <a:ext cx="0" cy="0"/>
          <a:chOff x="0" y="0"/>
          <a:chExt cx="0" cy="0"/>
        </a:xfrm>
      </p:grpSpPr>
      <p:sp>
        <p:nvSpPr>
          <p:cNvPr id="681" name="Google Shape;681;g39dbf7e29d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2" name="Google Shape;682;g39dbf7e29d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1" name="Shape 691"/>
        <p:cNvGrpSpPr/>
        <p:nvPr/>
      </p:nvGrpSpPr>
      <p:grpSpPr>
        <a:xfrm>
          <a:off x="0" y="0"/>
          <a:ext cx="0" cy="0"/>
          <a:chOff x="0" y="0"/>
          <a:chExt cx="0" cy="0"/>
        </a:xfrm>
      </p:grpSpPr>
      <p:sp>
        <p:nvSpPr>
          <p:cNvPr id="692" name="Google Shape;692;g39dbf7e29d6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3" name="Google Shape;693;g39dbf7e29d6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2" name="Shape 702"/>
        <p:cNvGrpSpPr/>
        <p:nvPr/>
      </p:nvGrpSpPr>
      <p:grpSpPr>
        <a:xfrm>
          <a:off x="0" y="0"/>
          <a:ext cx="0" cy="0"/>
          <a:chOff x="0" y="0"/>
          <a:chExt cx="0" cy="0"/>
        </a:xfrm>
      </p:grpSpPr>
      <p:sp>
        <p:nvSpPr>
          <p:cNvPr id="703" name="Google Shape;703;g39dbf7e29d6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4" name="Google Shape;704;g39dbf7e29d6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3" name="Shape 713"/>
        <p:cNvGrpSpPr/>
        <p:nvPr/>
      </p:nvGrpSpPr>
      <p:grpSpPr>
        <a:xfrm>
          <a:off x="0" y="0"/>
          <a:ext cx="0" cy="0"/>
          <a:chOff x="0" y="0"/>
          <a:chExt cx="0" cy="0"/>
        </a:xfrm>
      </p:grpSpPr>
      <p:sp>
        <p:nvSpPr>
          <p:cNvPr id="714" name="Google Shape;714;g36f7b301394_2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5" name="Google Shape;715;g36f7b301394_2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9" name="Shape 719"/>
        <p:cNvGrpSpPr/>
        <p:nvPr/>
      </p:nvGrpSpPr>
      <p:grpSpPr>
        <a:xfrm>
          <a:off x="0" y="0"/>
          <a:ext cx="0" cy="0"/>
          <a:chOff x="0" y="0"/>
          <a:chExt cx="0" cy="0"/>
        </a:xfrm>
      </p:grpSpPr>
      <p:sp>
        <p:nvSpPr>
          <p:cNvPr id="720" name="Google Shape;720;g39d5448aaa5_1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1" name="Google Shape;721;g39d5448aaa5_1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4" name="Shape 754"/>
        <p:cNvGrpSpPr/>
        <p:nvPr/>
      </p:nvGrpSpPr>
      <p:grpSpPr>
        <a:xfrm>
          <a:off x="0" y="0"/>
          <a:ext cx="0" cy="0"/>
          <a:chOff x="0" y="0"/>
          <a:chExt cx="0" cy="0"/>
        </a:xfrm>
      </p:grpSpPr>
      <p:sp>
        <p:nvSpPr>
          <p:cNvPr id="755" name="Google Shape;755;g36f7b301394_2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6" name="Google Shape;756;g36f7b301394_2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4" name="Shape 764"/>
        <p:cNvGrpSpPr/>
        <p:nvPr/>
      </p:nvGrpSpPr>
      <p:grpSpPr>
        <a:xfrm>
          <a:off x="0" y="0"/>
          <a:ext cx="0" cy="0"/>
          <a:chOff x="0" y="0"/>
          <a:chExt cx="0" cy="0"/>
        </a:xfrm>
      </p:grpSpPr>
      <p:sp>
        <p:nvSpPr>
          <p:cNvPr id="765" name="Google Shape;765;g38d0fe66944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6" name="Google Shape;766;g38d0fe66944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6" name="Shape 776"/>
        <p:cNvGrpSpPr/>
        <p:nvPr/>
      </p:nvGrpSpPr>
      <p:grpSpPr>
        <a:xfrm>
          <a:off x="0" y="0"/>
          <a:ext cx="0" cy="0"/>
          <a:chOff x="0" y="0"/>
          <a:chExt cx="0" cy="0"/>
        </a:xfrm>
      </p:grpSpPr>
      <p:sp>
        <p:nvSpPr>
          <p:cNvPr id="777" name="Google Shape;777;g38dc1f0fc7d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8" name="Google Shape;778;g38dc1f0fc7d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9" name="Shape 789"/>
        <p:cNvGrpSpPr/>
        <p:nvPr/>
      </p:nvGrpSpPr>
      <p:grpSpPr>
        <a:xfrm>
          <a:off x="0" y="0"/>
          <a:ext cx="0" cy="0"/>
          <a:chOff x="0" y="0"/>
          <a:chExt cx="0" cy="0"/>
        </a:xfrm>
      </p:grpSpPr>
      <p:sp>
        <p:nvSpPr>
          <p:cNvPr id="790" name="Google Shape;790;g36cd47f2d09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1" name="Google Shape;791;g36cd47f2d09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ja"/>
              <a:t>休眠復活を考える上で、ログインは一つの重要な指標になる、的な話を入れたい</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3" name="Shape 803"/>
        <p:cNvGrpSpPr/>
        <p:nvPr/>
      </p:nvGrpSpPr>
      <p:grpSpPr>
        <a:xfrm>
          <a:off x="0" y="0"/>
          <a:ext cx="0" cy="0"/>
          <a:chOff x="0" y="0"/>
          <a:chExt cx="0" cy="0"/>
        </a:xfrm>
      </p:grpSpPr>
      <p:sp>
        <p:nvSpPr>
          <p:cNvPr id="804" name="Google Shape;804;g38afbd5b4ec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5" name="Google Shape;805;g38afbd5b4ec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6" name="Shape 816"/>
        <p:cNvGrpSpPr/>
        <p:nvPr/>
      </p:nvGrpSpPr>
      <p:grpSpPr>
        <a:xfrm>
          <a:off x="0" y="0"/>
          <a:ext cx="0" cy="0"/>
          <a:chOff x="0" y="0"/>
          <a:chExt cx="0" cy="0"/>
        </a:xfrm>
      </p:grpSpPr>
      <p:sp>
        <p:nvSpPr>
          <p:cNvPr id="817" name="Google Shape;817;g389c6b1f98b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8" name="Google Shape;818;g389c6b1f98b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9" name="Shape 829"/>
        <p:cNvGrpSpPr/>
        <p:nvPr/>
      </p:nvGrpSpPr>
      <p:grpSpPr>
        <a:xfrm>
          <a:off x="0" y="0"/>
          <a:ext cx="0" cy="0"/>
          <a:chOff x="0" y="0"/>
          <a:chExt cx="0" cy="0"/>
        </a:xfrm>
      </p:grpSpPr>
      <p:sp>
        <p:nvSpPr>
          <p:cNvPr id="830" name="Google Shape;830;g394c3e6be8e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1" name="Google Shape;831;g394c3e6be8e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5" name="Shape 845"/>
        <p:cNvGrpSpPr/>
        <p:nvPr/>
      </p:nvGrpSpPr>
      <p:grpSpPr>
        <a:xfrm>
          <a:off x="0" y="0"/>
          <a:ext cx="0" cy="0"/>
          <a:chOff x="0" y="0"/>
          <a:chExt cx="0" cy="0"/>
        </a:xfrm>
      </p:grpSpPr>
      <p:sp>
        <p:nvSpPr>
          <p:cNvPr id="846" name="Google Shape;846;g39dc416ae1a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7" name="Google Shape;847;g39dc416ae1a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8" name="Shape 858"/>
        <p:cNvGrpSpPr/>
        <p:nvPr/>
      </p:nvGrpSpPr>
      <p:grpSpPr>
        <a:xfrm>
          <a:off x="0" y="0"/>
          <a:ext cx="0" cy="0"/>
          <a:chOff x="0" y="0"/>
          <a:chExt cx="0" cy="0"/>
        </a:xfrm>
      </p:grpSpPr>
      <p:sp>
        <p:nvSpPr>
          <p:cNvPr id="859" name="Google Shape;859;g39dc416ae1a_1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0" name="Google Shape;860;g39dc416ae1a_1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1" name="Shape 871"/>
        <p:cNvGrpSpPr/>
        <p:nvPr/>
      </p:nvGrpSpPr>
      <p:grpSpPr>
        <a:xfrm>
          <a:off x="0" y="0"/>
          <a:ext cx="0" cy="0"/>
          <a:chOff x="0" y="0"/>
          <a:chExt cx="0" cy="0"/>
        </a:xfrm>
      </p:grpSpPr>
      <p:sp>
        <p:nvSpPr>
          <p:cNvPr id="872" name="Google Shape;872;g39dc416ae1a_1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3" name="Google Shape;873;g39dc416ae1a_1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3" name="Shape 883"/>
        <p:cNvGrpSpPr/>
        <p:nvPr/>
      </p:nvGrpSpPr>
      <p:grpSpPr>
        <a:xfrm>
          <a:off x="0" y="0"/>
          <a:ext cx="0" cy="0"/>
          <a:chOff x="0" y="0"/>
          <a:chExt cx="0" cy="0"/>
        </a:xfrm>
      </p:grpSpPr>
      <p:sp>
        <p:nvSpPr>
          <p:cNvPr id="884" name="Google Shape;884;g39dc416ae1a_3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5" name="Google Shape;885;g39dc416ae1a_3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6" name="Shape 896"/>
        <p:cNvGrpSpPr/>
        <p:nvPr/>
      </p:nvGrpSpPr>
      <p:grpSpPr>
        <a:xfrm>
          <a:off x="0" y="0"/>
          <a:ext cx="0" cy="0"/>
          <a:chOff x="0" y="0"/>
          <a:chExt cx="0" cy="0"/>
        </a:xfrm>
      </p:grpSpPr>
      <p:sp>
        <p:nvSpPr>
          <p:cNvPr id="897" name="Google Shape;897;g39dc416ae1a_3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8" name="Google Shape;898;g39dc416ae1a_3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9" name="Shape 909"/>
        <p:cNvGrpSpPr/>
        <p:nvPr/>
      </p:nvGrpSpPr>
      <p:grpSpPr>
        <a:xfrm>
          <a:off x="0" y="0"/>
          <a:ext cx="0" cy="0"/>
          <a:chOff x="0" y="0"/>
          <a:chExt cx="0" cy="0"/>
        </a:xfrm>
      </p:grpSpPr>
      <p:sp>
        <p:nvSpPr>
          <p:cNvPr id="910" name="Google Shape;910;g39dc416ae1a_3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1" name="Google Shape;911;g39dc416ae1a_3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1" name="Shape 921"/>
        <p:cNvGrpSpPr/>
        <p:nvPr/>
      </p:nvGrpSpPr>
      <p:grpSpPr>
        <a:xfrm>
          <a:off x="0" y="0"/>
          <a:ext cx="0" cy="0"/>
          <a:chOff x="0" y="0"/>
          <a:chExt cx="0" cy="0"/>
        </a:xfrm>
      </p:grpSpPr>
      <p:sp>
        <p:nvSpPr>
          <p:cNvPr id="922" name="Google Shape;922;g39d5448aaa5_1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3" name="Google Shape;923;g39d5448aaa5_1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4" name="Shape 934"/>
        <p:cNvGrpSpPr/>
        <p:nvPr/>
      </p:nvGrpSpPr>
      <p:grpSpPr>
        <a:xfrm>
          <a:off x="0" y="0"/>
          <a:ext cx="0" cy="0"/>
          <a:chOff x="0" y="0"/>
          <a:chExt cx="0" cy="0"/>
        </a:xfrm>
      </p:grpSpPr>
      <p:sp>
        <p:nvSpPr>
          <p:cNvPr id="935" name="Google Shape;935;g39d5448aaa5_1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6" name="Google Shape;936;g39d5448aaa5_1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7" name="Shape 947"/>
        <p:cNvGrpSpPr/>
        <p:nvPr/>
      </p:nvGrpSpPr>
      <p:grpSpPr>
        <a:xfrm>
          <a:off x="0" y="0"/>
          <a:ext cx="0" cy="0"/>
          <a:chOff x="0" y="0"/>
          <a:chExt cx="0" cy="0"/>
        </a:xfrm>
      </p:grpSpPr>
      <p:sp>
        <p:nvSpPr>
          <p:cNvPr id="948" name="Google Shape;948;g39d5448aaa5_1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9" name="Google Shape;949;g39d5448aaa5_1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8.png"/><Relationship Id="rId3" Type="http://schemas.openxmlformats.org/officeDocument/2006/relationships/image" Target="../media/image55.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8.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8.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CUSTOM">
    <p:spTree>
      <p:nvGrpSpPr>
        <p:cNvPr id="11" name="Shape 11"/>
        <p:cNvGrpSpPr/>
        <p:nvPr/>
      </p:nvGrpSpPr>
      <p:grpSpPr>
        <a:xfrm>
          <a:off x="0" y="0"/>
          <a:ext cx="0" cy="0"/>
          <a:chOff x="0" y="0"/>
          <a:chExt cx="0" cy="0"/>
        </a:xfrm>
      </p:grpSpPr>
      <p:sp>
        <p:nvSpPr>
          <p:cNvPr id="12" name="Google Shape;12;p2"/>
          <p:cNvSpPr txBox="1"/>
          <p:nvPr>
            <p:ph idx="12" type="sldNum"/>
          </p:nvPr>
        </p:nvSpPr>
        <p:spPr>
          <a:xfrm>
            <a:off x="8556784" y="4749851"/>
            <a:ext cx="548700" cy="393600"/>
          </a:xfrm>
          <a:prstGeom prst="rect">
            <a:avLst/>
          </a:prstGeom>
        </p:spPr>
        <p:txBody>
          <a:bodyPr anchorCtr="0" anchor="t" bIns="34275" lIns="68575" spcFirstLastPara="1" rIns="68575" wrap="square" tIns="34275">
            <a:noAutofit/>
          </a:bodyPr>
          <a:lstStyle>
            <a:lvl1pPr lvl="0">
              <a:buNone/>
              <a:defRPr sz="1300">
                <a:solidFill>
                  <a:schemeClr val="dk1"/>
                </a:solidFill>
              </a:defRPr>
            </a:lvl1pPr>
            <a:lvl2pPr lvl="1">
              <a:buNone/>
              <a:defRPr sz="1300">
                <a:solidFill>
                  <a:schemeClr val="dk1"/>
                </a:solidFill>
              </a:defRPr>
            </a:lvl2pPr>
            <a:lvl3pPr lvl="2">
              <a:buNone/>
              <a:defRPr sz="1300">
                <a:solidFill>
                  <a:schemeClr val="dk1"/>
                </a:solidFill>
              </a:defRPr>
            </a:lvl3pPr>
            <a:lvl4pPr lvl="3">
              <a:buNone/>
              <a:defRPr sz="1300">
                <a:solidFill>
                  <a:schemeClr val="dk1"/>
                </a:solidFill>
              </a:defRPr>
            </a:lvl4pPr>
            <a:lvl5pPr lvl="4">
              <a:buNone/>
              <a:defRPr sz="1300">
                <a:solidFill>
                  <a:schemeClr val="dk1"/>
                </a:solidFill>
              </a:defRPr>
            </a:lvl5pPr>
            <a:lvl6pPr lvl="5">
              <a:buNone/>
              <a:defRPr sz="1300">
                <a:solidFill>
                  <a:schemeClr val="dk1"/>
                </a:solidFill>
              </a:defRPr>
            </a:lvl6pPr>
            <a:lvl7pPr lvl="6">
              <a:buNone/>
              <a:defRPr sz="1300">
                <a:solidFill>
                  <a:schemeClr val="dk1"/>
                </a:solidFill>
              </a:defRPr>
            </a:lvl7pPr>
            <a:lvl8pPr lvl="7">
              <a:buNone/>
              <a:defRPr sz="1300">
                <a:solidFill>
                  <a:schemeClr val="dk1"/>
                </a:solidFill>
              </a:defRPr>
            </a:lvl8pPr>
            <a:lvl9pPr lvl="8">
              <a:buNone/>
              <a:defRPr sz="1300">
                <a:solidFill>
                  <a:schemeClr val="dk1"/>
                </a:solidFill>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mpty">
  <p:cSld name="CUSTOM_1">
    <p:spTree>
      <p:nvGrpSpPr>
        <p:cNvPr id="13" name="Shape 13"/>
        <p:cNvGrpSpPr/>
        <p:nvPr/>
      </p:nvGrpSpPr>
      <p:grpSpPr>
        <a:xfrm>
          <a:off x="0" y="0"/>
          <a:ext cx="0" cy="0"/>
          <a:chOff x="0" y="0"/>
          <a:chExt cx="0" cy="0"/>
        </a:xfrm>
      </p:grpSpPr>
      <p:sp>
        <p:nvSpPr>
          <p:cNvPr id="14" name="Google Shape;14;p3"/>
          <p:cNvSpPr txBox="1"/>
          <p:nvPr>
            <p:ph type="title"/>
          </p:nvPr>
        </p:nvSpPr>
        <p:spPr>
          <a:xfrm>
            <a:off x="628650" y="317045"/>
            <a:ext cx="7886700" cy="436500"/>
          </a:xfrm>
          <a:prstGeom prst="rect">
            <a:avLst/>
          </a:prstGeom>
        </p:spPr>
        <p:txBody>
          <a:bodyPr anchorCtr="0" anchor="t" bIns="34275" lIns="68575" spcFirstLastPara="1" rIns="68575" wrap="square" tIns="34275">
            <a:noAutofit/>
          </a:bodyPr>
          <a:lstStyle>
            <a:lvl1pPr lvl="0" rtl="0">
              <a:spcBef>
                <a:spcPts val="0"/>
              </a:spcBef>
              <a:spcAft>
                <a:spcPts val="0"/>
              </a:spcAft>
              <a:buSzPts val="2500"/>
              <a:buNone/>
              <a:defRPr/>
            </a:lvl1pPr>
            <a:lvl2pPr lvl="1" rtl="0">
              <a:spcBef>
                <a:spcPts val="0"/>
              </a:spcBef>
              <a:spcAft>
                <a:spcPts val="0"/>
              </a:spcAft>
              <a:buSzPts val="300"/>
              <a:buNone/>
              <a:defRPr/>
            </a:lvl2pPr>
            <a:lvl3pPr lvl="2" rtl="0">
              <a:spcBef>
                <a:spcPts val="0"/>
              </a:spcBef>
              <a:spcAft>
                <a:spcPts val="0"/>
              </a:spcAft>
              <a:buSzPts val="300"/>
              <a:buNone/>
              <a:defRPr/>
            </a:lvl3pPr>
            <a:lvl4pPr lvl="3" rtl="0">
              <a:spcBef>
                <a:spcPts val="0"/>
              </a:spcBef>
              <a:spcAft>
                <a:spcPts val="0"/>
              </a:spcAft>
              <a:buSzPts val="300"/>
              <a:buNone/>
              <a:defRPr/>
            </a:lvl4pPr>
            <a:lvl5pPr lvl="4" rtl="0">
              <a:spcBef>
                <a:spcPts val="0"/>
              </a:spcBef>
              <a:spcAft>
                <a:spcPts val="0"/>
              </a:spcAft>
              <a:buSzPts val="300"/>
              <a:buNone/>
              <a:defRPr/>
            </a:lvl5pPr>
            <a:lvl6pPr lvl="5" rtl="0">
              <a:spcBef>
                <a:spcPts val="0"/>
              </a:spcBef>
              <a:spcAft>
                <a:spcPts val="0"/>
              </a:spcAft>
              <a:buSzPts val="300"/>
              <a:buNone/>
              <a:defRPr/>
            </a:lvl6pPr>
            <a:lvl7pPr lvl="6" rtl="0">
              <a:spcBef>
                <a:spcPts val="0"/>
              </a:spcBef>
              <a:spcAft>
                <a:spcPts val="0"/>
              </a:spcAft>
              <a:buSzPts val="300"/>
              <a:buNone/>
              <a:defRPr/>
            </a:lvl7pPr>
            <a:lvl8pPr lvl="7" rtl="0">
              <a:spcBef>
                <a:spcPts val="0"/>
              </a:spcBef>
              <a:spcAft>
                <a:spcPts val="0"/>
              </a:spcAft>
              <a:buSzPts val="300"/>
              <a:buNone/>
              <a:defRPr/>
            </a:lvl8pPr>
            <a:lvl9pPr lvl="8" rtl="0">
              <a:spcBef>
                <a:spcPts val="0"/>
              </a:spcBef>
              <a:spcAft>
                <a:spcPts val="0"/>
              </a:spcAft>
              <a:buSzPts val="300"/>
              <a:buNone/>
              <a:defRPr/>
            </a:lvl9pPr>
          </a:lstStyle>
          <a:p/>
        </p:txBody>
      </p:sp>
      <p:sp>
        <p:nvSpPr>
          <p:cNvPr id="15" name="Google Shape;15;p3"/>
          <p:cNvSpPr txBox="1"/>
          <p:nvPr>
            <p:ph idx="12" type="sldNum"/>
          </p:nvPr>
        </p:nvSpPr>
        <p:spPr>
          <a:xfrm>
            <a:off x="8601000" y="4869600"/>
            <a:ext cx="543000" cy="273900"/>
          </a:xfrm>
          <a:prstGeom prst="rect">
            <a:avLst/>
          </a:prstGeom>
        </p:spPr>
        <p:txBody>
          <a:bodyPr anchorCtr="0" anchor="ctr" bIns="34275" lIns="68575" spcFirstLastPara="1" rIns="68575" wrap="square" tIns="34275">
            <a:noAutofit/>
          </a:bodyPr>
          <a:lstStyle>
            <a:lvl1pPr lvl="0" rtl="0">
              <a:buClr>
                <a:srgbClr val="000000"/>
              </a:buClr>
              <a:buSzPts val="900"/>
              <a:buFont typeface="Arial"/>
              <a:buNone/>
              <a:defRPr/>
            </a:lvl1pPr>
            <a:lvl2pPr lvl="1" rtl="0">
              <a:buClr>
                <a:srgbClr val="000000"/>
              </a:buClr>
              <a:buSzPts val="900"/>
              <a:buFont typeface="Arial"/>
              <a:buNone/>
              <a:defRPr/>
            </a:lvl2pPr>
            <a:lvl3pPr lvl="2" rtl="0">
              <a:buClr>
                <a:srgbClr val="000000"/>
              </a:buClr>
              <a:buSzPts val="900"/>
              <a:buFont typeface="Arial"/>
              <a:buNone/>
              <a:defRPr/>
            </a:lvl3pPr>
            <a:lvl4pPr lvl="3" rtl="0">
              <a:buClr>
                <a:srgbClr val="000000"/>
              </a:buClr>
              <a:buSzPts val="900"/>
              <a:buFont typeface="Arial"/>
              <a:buNone/>
              <a:defRPr/>
            </a:lvl4pPr>
            <a:lvl5pPr lvl="4" rtl="0">
              <a:buClr>
                <a:srgbClr val="000000"/>
              </a:buClr>
              <a:buSzPts val="900"/>
              <a:buFont typeface="Arial"/>
              <a:buNone/>
              <a:defRPr/>
            </a:lvl5pPr>
            <a:lvl6pPr lvl="5" rtl="0">
              <a:buClr>
                <a:srgbClr val="000000"/>
              </a:buClr>
              <a:buSzPts val="900"/>
              <a:buFont typeface="Arial"/>
              <a:buNone/>
              <a:defRPr/>
            </a:lvl6pPr>
            <a:lvl7pPr lvl="6" rtl="0">
              <a:buClr>
                <a:srgbClr val="000000"/>
              </a:buClr>
              <a:buSzPts val="900"/>
              <a:buFont typeface="Arial"/>
              <a:buNone/>
              <a:defRPr/>
            </a:lvl7pPr>
            <a:lvl8pPr lvl="7" rtl="0">
              <a:buClr>
                <a:srgbClr val="000000"/>
              </a:buClr>
              <a:buSzPts val="900"/>
              <a:buFont typeface="Arial"/>
              <a:buNone/>
              <a:defRPr/>
            </a:lvl8pPr>
            <a:lvl9pPr lvl="8" rtl="0">
              <a:buClr>
                <a:srgbClr val="000000"/>
              </a:buClr>
              <a:buSzPts val="900"/>
              <a:buFont typeface="Arial"/>
              <a:buNone/>
              <a:defRPr/>
            </a:lvl9pPr>
          </a:lstStyle>
          <a:p>
            <a:pPr indent="0" lvl="0" marL="0" rtl="0" algn="r">
              <a:spcBef>
                <a:spcPts val="0"/>
              </a:spcBef>
              <a:spcAft>
                <a:spcPts val="0"/>
              </a:spcAft>
              <a:buNone/>
            </a:pPr>
            <a:fld id="{00000000-1234-1234-1234-123412341234}" type="slidenum">
              <a:rPr lang="ja"/>
              <a:t>‹#›</a:t>
            </a:fld>
            <a:endParaRPr/>
          </a:p>
        </p:txBody>
      </p:sp>
      <p:sp>
        <p:nvSpPr>
          <p:cNvPr id="16" name="Google Shape;16;p3"/>
          <p:cNvSpPr txBox="1"/>
          <p:nvPr>
            <p:ph idx="2" type="sldNum"/>
          </p:nvPr>
        </p:nvSpPr>
        <p:spPr>
          <a:xfrm>
            <a:off x="8601000" y="4869600"/>
            <a:ext cx="543000" cy="273900"/>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ja"/>
              <a:t>‹#›</a:t>
            </a:fld>
            <a:endParaRPr>
              <a:solidFill>
                <a:schemeClr val="dk1"/>
              </a:solidFill>
            </a:endParaRPr>
          </a:p>
        </p:txBody>
      </p:sp>
      <p:sp>
        <p:nvSpPr>
          <p:cNvPr id="17" name="Google Shape;17;p3"/>
          <p:cNvSpPr txBox="1"/>
          <p:nvPr>
            <p:ph idx="1" type="subTitle"/>
          </p:nvPr>
        </p:nvSpPr>
        <p:spPr>
          <a:xfrm>
            <a:off x="628650" y="773590"/>
            <a:ext cx="7886700" cy="507900"/>
          </a:xfrm>
          <a:prstGeom prst="rect">
            <a:avLst/>
          </a:prstGeom>
        </p:spPr>
        <p:txBody>
          <a:bodyPr anchorCtr="0" anchor="t" bIns="91425" lIns="91425" spcFirstLastPara="1" rIns="91425" wrap="square" tIns="91425">
            <a:noAutofit/>
          </a:bodyPr>
          <a:lstStyle>
            <a:lvl1pPr lvl="0" rtl="0">
              <a:spcBef>
                <a:spcPts val="0"/>
              </a:spcBef>
              <a:spcAft>
                <a:spcPts val="0"/>
              </a:spcAft>
              <a:buSzPts val="1200"/>
              <a:buNone/>
              <a:defRPr b="1" sz="1200"/>
            </a:lvl1pPr>
            <a:lvl2pPr lvl="1" rtl="0">
              <a:spcBef>
                <a:spcPts val="0"/>
              </a:spcBef>
              <a:spcAft>
                <a:spcPts val="0"/>
              </a:spcAft>
              <a:buSzPts val="1200"/>
              <a:buNone/>
              <a:defRPr b="1" sz="1200"/>
            </a:lvl2pPr>
            <a:lvl3pPr lvl="2" rtl="0">
              <a:spcBef>
                <a:spcPts val="0"/>
              </a:spcBef>
              <a:spcAft>
                <a:spcPts val="0"/>
              </a:spcAft>
              <a:buSzPts val="1200"/>
              <a:buNone/>
              <a:defRPr b="1" sz="1200"/>
            </a:lvl3pPr>
            <a:lvl4pPr lvl="3" rtl="0">
              <a:spcBef>
                <a:spcPts val="0"/>
              </a:spcBef>
              <a:spcAft>
                <a:spcPts val="0"/>
              </a:spcAft>
              <a:buSzPts val="1200"/>
              <a:buNone/>
              <a:defRPr b="1" sz="1200"/>
            </a:lvl4pPr>
            <a:lvl5pPr lvl="4" rtl="0">
              <a:spcBef>
                <a:spcPts val="0"/>
              </a:spcBef>
              <a:spcAft>
                <a:spcPts val="0"/>
              </a:spcAft>
              <a:buSzPts val="1200"/>
              <a:buNone/>
              <a:defRPr b="1" sz="1200"/>
            </a:lvl5pPr>
            <a:lvl6pPr lvl="5" rtl="0">
              <a:spcBef>
                <a:spcPts val="0"/>
              </a:spcBef>
              <a:spcAft>
                <a:spcPts val="0"/>
              </a:spcAft>
              <a:buSzPts val="1200"/>
              <a:buNone/>
              <a:defRPr b="1" sz="1200"/>
            </a:lvl6pPr>
            <a:lvl7pPr lvl="6" rtl="0">
              <a:spcBef>
                <a:spcPts val="0"/>
              </a:spcBef>
              <a:spcAft>
                <a:spcPts val="0"/>
              </a:spcAft>
              <a:buSzPts val="1200"/>
              <a:buNone/>
              <a:defRPr b="1" sz="1200"/>
            </a:lvl7pPr>
            <a:lvl8pPr lvl="7" rtl="0">
              <a:spcBef>
                <a:spcPts val="0"/>
              </a:spcBef>
              <a:spcAft>
                <a:spcPts val="0"/>
              </a:spcAft>
              <a:buSzPts val="1200"/>
              <a:buNone/>
              <a:defRPr b="1" sz="1200"/>
            </a:lvl8pPr>
            <a:lvl9pPr lvl="8" rtl="0">
              <a:spcBef>
                <a:spcPts val="0"/>
              </a:spcBef>
              <a:spcAft>
                <a:spcPts val="0"/>
              </a:spcAft>
              <a:buSzPts val="1200"/>
              <a:buNone/>
              <a:defRPr b="1" sz="1200"/>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cSld name="CUSTOM_1_3">
    <p:spTree>
      <p:nvGrpSpPr>
        <p:cNvPr id="18" name="Shape 18"/>
        <p:cNvGrpSpPr/>
        <p:nvPr/>
      </p:nvGrpSpPr>
      <p:grpSpPr>
        <a:xfrm>
          <a:off x="0" y="0"/>
          <a:ext cx="0" cy="0"/>
          <a:chOff x="0" y="0"/>
          <a:chExt cx="0" cy="0"/>
        </a:xfrm>
      </p:grpSpPr>
      <p:sp>
        <p:nvSpPr>
          <p:cNvPr id="19" name="Google Shape;19;p4"/>
          <p:cNvSpPr txBox="1"/>
          <p:nvPr>
            <p:ph type="title"/>
          </p:nvPr>
        </p:nvSpPr>
        <p:spPr>
          <a:xfrm>
            <a:off x="628650" y="317045"/>
            <a:ext cx="7886700" cy="436500"/>
          </a:xfrm>
          <a:prstGeom prst="rect">
            <a:avLst/>
          </a:prstGeom>
        </p:spPr>
        <p:txBody>
          <a:bodyPr anchorCtr="0" anchor="t" bIns="34275" lIns="68575" spcFirstLastPara="1" rIns="68575" wrap="square" tIns="34275">
            <a:noAutofit/>
          </a:bodyPr>
          <a:lstStyle>
            <a:lvl1pPr lvl="0" rtl="0">
              <a:spcBef>
                <a:spcPts val="0"/>
              </a:spcBef>
              <a:spcAft>
                <a:spcPts val="0"/>
              </a:spcAft>
              <a:buSzPts val="2500"/>
              <a:buNone/>
              <a:defRPr/>
            </a:lvl1pPr>
            <a:lvl2pPr lvl="1" rtl="0">
              <a:spcBef>
                <a:spcPts val="0"/>
              </a:spcBef>
              <a:spcAft>
                <a:spcPts val="0"/>
              </a:spcAft>
              <a:buSzPts val="300"/>
              <a:buNone/>
              <a:defRPr/>
            </a:lvl2pPr>
            <a:lvl3pPr lvl="2" rtl="0">
              <a:spcBef>
                <a:spcPts val="0"/>
              </a:spcBef>
              <a:spcAft>
                <a:spcPts val="0"/>
              </a:spcAft>
              <a:buSzPts val="300"/>
              <a:buNone/>
              <a:defRPr/>
            </a:lvl3pPr>
            <a:lvl4pPr lvl="3" rtl="0">
              <a:spcBef>
                <a:spcPts val="0"/>
              </a:spcBef>
              <a:spcAft>
                <a:spcPts val="0"/>
              </a:spcAft>
              <a:buSzPts val="300"/>
              <a:buNone/>
              <a:defRPr/>
            </a:lvl4pPr>
            <a:lvl5pPr lvl="4" rtl="0">
              <a:spcBef>
                <a:spcPts val="0"/>
              </a:spcBef>
              <a:spcAft>
                <a:spcPts val="0"/>
              </a:spcAft>
              <a:buSzPts val="300"/>
              <a:buNone/>
              <a:defRPr/>
            </a:lvl5pPr>
            <a:lvl6pPr lvl="5" rtl="0">
              <a:spcBef>
                <a:spcPts val="0"/>
              </a:spcBef>
              <a:spcAft>
                <a:spcPts val="0"/>
              </a:spcAft>
              <a:buSzPts val="300"/>
              <a:buNone/>
              <a:defRPr/>
            </a:lvl6pPr>
            <a:lvl7pPr lvl="6" rtl="0">
              <a:spcBef>
                <a:spcPts val="0"/>
              </a:spcBef>
              <a:spcAft>
                <a:spcPts val="0"/>
              </a:spcAft>
              <a:buSzPts val="300"/>
              <a:buNone/>
              <a:defRPr/>
            </a:lvl7pPr>
            <a:lvl8pPr lvl="7" rtl="0">
              <a:spcBef>
                <a:spcPts val="0"/>
              </a:spcBef>
              <a:spcAft>
                <a:spcPts val="0"/>
              </a:spcAft>
              <a:buSzPts val="300"/>
              <a:buNone/>
              <a:defRPr/>
            </a:lvl8pPr>
            <a:lvl9pPr lvl="8" rtl="0">
              <a:spcBef>
                <a:spcPts val="0"/>
              </a:spcBef>
              <a:spcAft>
                <a:spcPts val="0"/>
              </a:spcAft>
              <a:buSzPts val="300"/>
              <a:buNone/>
              <a:defRPr/>
            </a:lvl9pPr>
          </a:lstStyle>
          <a:p/>
        </p:txBody>
      </p:sp>
      <p:sp>
        <p:nvSpPr>
          <p:cNvPr id="20" name="Google Shape;20;p4"/>
          <p:cNvSpPr txBox="1"/>
          <p:nvPr>
            <p:ph idx="12" type="sldNum"/>
          </p:nvPr>
        </p:nvSpPr>
        <p:spPr>
          <a:xfrm>
            <a:off x="8601000" y="4869600"/>
            <a:ext cx="543000" cy="273900"/>
          </a:xfrm>
          <a:prstGeom prst="rect">
            <a:avLst/>
          </a:prstGeom>
        </p:spPr>
        <p:txBody>
          <a:bodyPr anchorCtr="0" anchor="ctr" bIns="34275" lIns="68575" spcFirstLastPara="1" rIns="68575" wrap="square" tIns="34275">
            <a:noAutofit/>
          </a:bodyPr>
          <a:lstStyle>
            <a:lvl1pPr lvl="0" rtl="0">
              <a:buClr>
                <a:srgbClr val="000000"/>
              </a:buClr>
              <a:buSzPts val="900"/>
              <a:buFont typeface="Arial"/>
              <a:buNone/>
              <a:defRPr/>
            </a:lvl1pPr>
            <a:lvl2pPr lvl="1" rtl="0">
              <a:buClr>
                <a:srgbClr val="000000"/>
              </a:buClr>
              <a:buSzPts val="900"/>
              <a:buFont typeface="Arial"/>
              <a:buNone/>
              <a:defRPr/>
            </a:lvl2pPr>
            <a:lvl3pPr lvl="2" rtl="0">
              <a:buClr>
                <a:srgbClr val="000000"/>
              </a:buClr>
              <a:buSzPts val="900"/>
              <a:buFont typeface="Arial"/>
              <a:buNone/>
              <a:defRPr/>
            </a:lvl3pPr>
            <a:lvl4pPr lvl="3" rtl="0">
              <a:buClr>
                <a:srgbClr val="000000"/>
              </a:buClr>
              <a:buSzPts val="900"/>
              <a:buFont typeface="Arial"/>
              <a:buNone/>
              <a:defRPr/>
            </a:lvl4pPr>
            <a:lvl5pPr lvl="4" rtl="0">
              <a:buClr>
                <a:srgbClr val="000000"/>
              </a:buClr>
              <a:buSzPts val="900"/>
              <a:buFont typeface="Arial"/>
              <a:buNone/>
              <a:defRPr/>
            </a:lvl5pPr>
            <a:lvl6pPr lvl="5" rtl="0">
              <a:buClr>
                <a:srgbClr val="000000"/>
              </a:buClr>
              <a:buSzPts val="900"/>
              <a:buFont typeface="Arial"/>
              <a:buNone/>
              <a:defRPr/>
            </a:lvl6pPr>
            <a:lvl7pPr lvl="6" rtl="0">
              <a:buClr>
                <a:srgbClr val="000000"/>
              </a:buClr>
              <a:buSzPts val="900"/>
              <a:buFont typeface="Arial"/>
              <a:buNone/>
              <a:defRPr/>
            </a:lvl7pPr>
            <a:lvl8pPr lvl="7" rtl="0">
              <a:buClr>
                <a:srgbClr val="000000"/>
              </a:buClr>
              <a:buSzPts val="900"/>
              <a:buFont typeface="Arial"/>
              <a:buNone/>
              <a:defRPr/>
            </a:lvl8pPr>
            <a:lvl9pPr lvl="8" rtl="0">
              <a:buClr>
                <a:srgbClr val="000000"/>
              </a:buClr>
              <a:buSzPts val="900"/>
              <a:buFont typeface="Arial"/>
              <a:buNone/>
              <a:defRPr/>
            </a:lvl9pPr>
          </a:lstStyle>
          <a:p>
            <a:pPr indent="0" lvl="0" marL="0" rtl="0" algn="r">
              <a:spcBef>
                <a:spcPts val="0"/>
              </a:spcBef>
              <a:spcAft>
                <a:spcPts val="0"/>
              </a:spcAft>
              <a:buNone/>
            </a:pPr>
            <a:fld id="{00000000-1234-1234-1234-123412341234}" type="slidenum">
              <a:rPr lang="ja"/>
              <a:t>‹#›</a:t>
            </a:fld>
            <a:endParaRPr/>
          </a:p>
        </p:txBody>
      </p:sp>
      <p:sp>
        <p:nvSpPr>
          <p:cNvPr id="21" name="Google Shape;21;p4"/>
          <p:cNvSpPr txBox="1"/>
          <p:nvPr>
            <p:ph idx="2" type="sldNum"/>
          </p:nvPr>
        </p:nvSpPr>
        <p:spPr>
          <a:xfrm>
            <a:off x="8601000" y="4869600"/>
            <a:ext cx="543000" cy="273900"/>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ja"/>
              <a:t>‹#›</a:t>
            </a:fld>
            <a:endParaRPr>
              <a:solidFill>
                <a:schemeClr val="dk1"/>
              </a:solidFill>
            </a:endParaRPr>
          </a:p>
        </p:txBody>
      </p:sp>
      <p:sp>
        <p:nvSpPr>
          <p:cNvPr id="22" name="Google Shape;22;p4"/>
          <p:cNvSpPr txBox="1"/>
          <p:nvPr>
            <p:ph idx="1" type="body"/>
          </p:nvPr>
        </p:nvSpPr>
        <p:spPr>
          <a:xfrm>
            <a:off x="628650" y="1315800"/>
            <a:ext cx="7886700" cy="3402600"/>
          </a:xfrm>
          <a:prstGeom prst="rect">
            <a:avLst/>
          </a:prstGeom>
          <a:noFill/>
          <a:ln>
            <a:noFill/>
          </a:ln>
        </p:spPr>
        <p:txBody>
          <a:bodyPr anchorCtr="0" anchor="t" bIns="34275" lIns="68575" spcFirstLastPara="1" rIns="68575" wrap="square" tIns="34275">
            <a:normAutofit/>
          </a:bodyPr>
          <a:lstStyle>
            <a:lvl1pPr indent="-317500" lvl="0" marL="457200" marR="0" rtl="0" algn="l">
              <a:lnSpc>
                <a:spcPct val="90000"/>
              </a:lnSpc>
              <a:spcBef>
                <a:spcPts val="800"/>
              </a:spcBef>
              <a:spcAft>
                <a:spcPts val="0"/>
              </a:spcAft>
              <a:buClr>
                <a:schemeClr val="dk1"/>
              </a:buClr>
              <a:buSzPts val="1400"/>
              <a:buChar char="•"/>
              <a:defRPr b="1" i="0" u="none" cap="none" strike="noStrike">
                <a:solidFill>
                  <a:schemeClr val="dk1"/>
                </a:solidFill>
              </a:defRPr>
            </a:lvl1pPr>
            <a:lvl2pPr indent="-317500" lvl="1" marL="914400" marR="0" rtl="0" algn="l">
              <a:lnSpc>
                <a:spcPct val="90000"/>
              </a:lnSpc>
              <a:spcBef>
                <a:spcPts val="400"/>
              </a:spcBef>
              <a:spcAft>
                <a:spcPts val="0"/>
              </a:spcAft>
              <a:buClr>
                <a:schemeClr val="dk1"/>
              </a:buClr>
              <a:buSzPts val="1400"/>
              <a:buFont typeface="Arial"/>
              <a:buChar char="•"/>
              <a:defRPr b="0" i="0" u="none" cap="none" strike="noStrike">
                <a:solidFill>
                  <a:schemeClr val="dk1"/>
                </a:solidFill>
                <a:latin typeface="Arial"/>
                <a:ea typeface="Arial"/>
                <a:cs typeface="Arial"/>
                <a:sym typeface="Arial"/>
              </a:defRPr>
            </a:lvl2pPr>
            <a:lvl3pPr indent="-298450" lvl="2" marL="1371600" marR="0" rtl="0" algn="l">
              <a:lnSpc>
                <a:spcPct val="90000"/>
              </a:lnSpc>
              <a:spcBef>
                <a:spcPts val="4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3pPr>
            <a:lvl4pPr indent="-298450" lvl="3" marL="1828800" marR="0" rtl="0" algn="l">
              <a:lnSpc>
                <a:spcPct val="90000"/>
              </a:lnSpc>
              <a:spcBef>
                <a:spcPts val="4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4pPr>
            <a:lvl5pPr indent="-298450" lvl="4" marL="2286000" marR="0" rtl="0" algn="l">
              <a:lnSpc>
                <a:spcPct val="90000"/>
              </a:lnSpc>
              <a:spcBef>
                <a:spcPts val="4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5pPr>
            <a:lvl6pPr indent="-298450" lvl="5" marL="2743200" marR="0" rtl="0" algn="l">
              <a:lnSpc>
                <a:spcPct val="90000"/>
              </a:lnSpc>
              <a:spcBef>
                <a:spcPts val="4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6pPr>
            <a:lvl7pPr indent="-298450" lvl="6" marL="3200400" marR="0" rtl="0" algn="l">
              <a:lnSpc>
                <a:spcPct val="90000"/>
              </a:lnSpc>
              <a:spcBef>
                <a:spcPts val="4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7pPr>
            <a:lvl8pPr indent="-298450" lvl="7" marL="3657600" marR="0" rtl="0" algn="l">
              <a:lnSpc>
                <a:spcPct val="90000"/>
              </a:lnSpc>
              <a:spcBef>
                <a:spcPts val="4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8pPr>
            <a:lvl9pPr indent="-298450" lvl="8" marL="4114800" marR="0" rtl="0" algn="l">
              <a:lnSpc>
                <a:spcPct val="90000"/>
              </a:lnSpc>
              <a:spcBef>
                <a:spcPts val="4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9pPr>
          </a:lstStyle>
          <a:p/>
        </p:txBody>
      </p:sp>
      <p:sp>
        <p:nvSpPr>
          <p:cNvPr id="23" name="Google Shape;23;p4"/>
          <p:cNvSpPr txBox="1"/>
          <p:nvPr>
            <p:ph idx="3" type="subTitle"/>
          </p:nvPr>
        </p:nvSpPr>
        <p:spPr>
          <a:xfrm>
            <a:off x="628650" y="773590"/>
            <a:ext cx="7886700" cy="507900"/>
          </a:xfrm>
          <a:prstGeom prst="rect">
            <a:avLst/>
          </a:prstGeom>
        </p:spPr>
        <p:txBody>
          <a:bodyPr anchorCtr="0" anchor="t" bIns="91425" lIns="91425" spcFirstLastPara="1" rIns="91425" wrap="square" tIns="91425">
            <a:noAutofit/>
          </a:bodyPr>
          <a:lstStyle>
            <a:lvl1pPr lvl="0" rtl="0">
              <a:spcBef>
                <a:spcPts val="0"/>
              </a:spcBef>
              <a:spcAft>
                <a:spcPts val="0"/>
              </a:spcAft>
              <a:buSzPts val="1200"/>
              <a:buNone/>
              <a:defRPr b="1" sz="1200"/>
            </a:lvl1pPr>
            <a:lvl2pPr lvl="1" rtl="0">
              <a:spcBef>
                <a:spcPts val="0"/>
              </a:spcBef>
              <a:spcAft>
                <a:spcPts val="0"/>
              </a:spcAft>
              <a:buSzPts val="1200"/>
              <a:buNone/>
              <a:defRPr b="1" sz="1200"/>
            </a:lvl2pPr>
            <a:lvl3pPr lvl="2" rtl="0">
              <a:spcBef>
                <a:spcPts val="0"/>
              </a:spcBef>
              <a:spcAft>
                <a:spcPts val="0"/>
              </a:spcAft>
              <a:buSzPts val="1200"/>
              <a:buNone/>
              <a:defRPr b="1" sz="1200"/>
            </a:lvl3pPr>
            <a:lvl4pPr lvl="3" rtl="0">
              <a:spcBef>
                <a:spcPts val="0"/>
              </a:spcBef>
              <a:spcAft>
                <a:spcPts val="0"/>
              </a:spcAft>
              <a:buSzPts val="1200"/>
              <a:buNone/>
              <a:defRPr b="1" sz="1200"/>
            </a:lvl4pPr>
            <a:lvl5pPr lvl="4" rtl="0">
              <a:spcBef>
                <a:spcPts val="0"/>
              </a:spcBef>
              <a:spcAft>
                <a:spcPts val="0"/>
              </a:spcAft>
              <a:buSzPts val="1200"/>
              <a:buNone/>
              <a:defRPr b="1" sz="1200"/>
            </a:lvl5pPr>
            <a:lvl6pPr lvl="5" rtl="0">
              <a:spcBef>
                <a:spcPts val="0"/>
              </a:spcBef>
              <a:spcAft>
                <a:spcPts val="0"/>
              </a:spcAft>
              <a:buSzPts val="1200"/>
              <a:buNone/>
              <a:defRPr b="1" sz="1200"/>
            </a:lvl6pPr>
            <a:lvl7pPr lvl="6" rtl="0">
              <a:spcBef>
                <a:spcPts val="0"/>
              </a:spcBef>
              <a:spcAft>
                <a:spcPts val="0"/>
              </a:spcAft>
              <a:buSzPts val="1200"/>
              <a:buNone/>
              <a:defRPr b="1" sz="1200"/>
            </a:lvl7pPr>
            <a:lvl8pPr lvl="7" rtl="0">
              <a:spcBef>
                <a:spcPts val="0"/>
              </a:spcBef>
              <a:spcAft>
                <a:spcPts val="0"/>
              </a:spcAft>
              <a:buSzPts val="1200"/>
              <a:buNone/>
              <a:defRPr b="1" sz="1200"/>
            </a:lvl8pPr>
            <a:lvl9pPr lvl="8" rtl="0">
              <a:spcBef>
                <a:spcPts val="0"/>
              </a:spcBef>
              <a:spcAft>
                <a:spcPts val="0"/>
              </a:spcAft>
              <a:buSzPts val="1200"/>
              <a:buNone/>
              <a:defRPr b="1" sz="1200"/>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p:cSld name="CUSTOM_1_2">
    <p:spTree>
      <p:nvGrpSpPr>
        <p:cNvPr id="24" name="Shape 24"/>
        <p:cNvGrpSpPr/>
        <p:nvPr/>
      </p:nvGrpSpPr>
      <p:grpSpPr>
        <a:xfrm>
          <a:off x="0" y="0"/>
          <a:ext cx="0" cy="0"/>
          <a:chOff x="0" y="0"/>
          <a:chExt cx="0" cy="0"/>
        </a:xfrm>
      </p:grpSpPr>
      <p:sp>
        <p:nvSpPr>
          <p:cNvPr id="25" name="Google Shape;25;p5"/>
          <p:cNvSpPr txBox="1"/>
          <p:nvPr>
            <p:ph type="title"/>
          </p:nvPr>
        </p:nvSpPr>
        <p:spPr>
          <a:xfrm>
            <a:off x="628650" y="317045"/>
            <a:ext cx="7886700" cy="436500"/>
          </a:xfrm>
          <a:prstGeom prst="rect">
            <a:avLst/>
          </a:prstGeom>
        </p:spPr>
        <p:txBody>
          <a:bodyPr anchorCtr="0" anchor="t" bIns="34275" lIns="68575" spcFirstLastPara="1" rIns="68575" wrap="square" tIns="34275">
            <a:noAutofit/>
          </a:bodyPr>
          <a:lstStyle>
            <a:lvl1pPr lvl="0" rtl="0">
              <a:spcBef>
                <a:spcPts val="0"/>
              </a:spcBef>
              <a:spcAft>
                <a:spcPts val="0"/>
              </a:spcAft>
              <a:buSzPts val="2500"/>
              <a:buNone/>
              <a:defRPr/>
            </a:lvl1pPr>
            <a:lvl2pPr lvl="1" rtl="0">
              <a:spcBef>
                <a:spcPts val="0"/>
              </a:spcBef>
              <a:spcAft>
                <a:spcPts val="0"/>
              </a:spcAft>
              <a:buSzPts val="300"/>
              <a:buNone/>
              <a:defRPr/>
            </a:lvl2pPr>
            <a:lvl3pPr lvl="2" rtl="0">
              <a:spcBef>
                <a:spcPts val="0"/>
              </a:spcBef>
              <a:spcAft>
                <a:spcPts val="0"/>
              </a:spcAft>
              <a:buSzPts val="300"/>
              <a:buNone/>
              <a:defRPr/>
            </a:lvl3pPr>
            <a:lvl4pPr lvl="3" rtl="0">
              <a:spcBef>
                <a:spcPts val="0"/>
              </a:spcBef>
              <a:spcAft>
                <a:spcPts val="0"/>
              </a:spcAft>
              <a:buSzPts val="300"/>
              <a:buNone/>
              <a:defRPr/>
            </a:lvl4pPr>
            <a:lvl5pPr lvl="4" rtl="0">
              <a:spcBef>
                <a:spcPts val="0"/>
              </a:spcBef>
              <a:spcAft>
                <a:spcPts val="0"/>
              </a:spcAft>
              <a:buSzPts val="300"/>
              <a:buNone/>
              <a:defRPr/>
            </a:lvl5pPr>
            <a:lvl6pPr lvl="5" rtl="0">
              <a:spcBef>
                <a:spcPts val="0"/>
              </a:spcBef>
              <a:spcAft>
                <a:spcPts val="0"/>
              </a:spcAft>
              <a:buSzPts val="300"/>
              <a:buNone/>
              <a:defRPr/>
            </a:lvl6pPr>
            <a:lvl7pPr lvl="6" rtl="0">
              <a:spcBef>
                <a:spcPts val="0"/>
              </a:spcBef>
              <a:spcAft>
                <a:spcPts val="0"/>
              </a:spcAft>
              <a:buSzPts val="300"/>
              <a:buNone/>
              <a:defRPr/>
            </a:lvl7pPr>
            <a:lvl8pPr lvl="7" rtl="0">
              <a:spcBef>
                <a:spcPts val="0"/>
              </a:spcBef>
              <a:spcAft>
                <a:spcPts val="0"/>
              </a:spcAft>
              <a:buSzPts val="300"/>
              <a:buNone/>
              <a:defRPr/>
            </a:lvl8pPr>
            <a:lvl9pPr lvl="8" rtl="0">
              <a:spcBef>
                <a:spcPts val="0"/>
              </a:spcBef>
              <a:spcAft>
                <a:spcPts val="0"/>
              </a:spcAft>
              <a:buSzPts val="300"/>
              <a:buNone/>
              <a:defRPr/>
            </a:lvl9pPr>
          </a:lstStyle>
          <a:p/>
        </p:txBody>
      </p:sp>
      <p:sp>
        <p:nvSpPr>
          <p:cNvPr id="26" name="Google Shape;26;p5"/>
          <p:cNvSpPr txBox="1"/>
          <p:nvPr>
            <p:ph idx="12" type="sldNum"/>
          </p:nvPr>
        </p:nvSpPr>
        <p:spPr>
          <a:xfrm>
            <a:off x="8601000" y="4869600"/>
            <a:ext cx="543000" cy="273900"/>
          </a:xfrm>
          <a:prstGeom prst="rect">
            <a:avLst/>
          </a:prstGeom>
        </p:spPr>
        <p:txBody>
          <a:bodyPr anchorCtr="0" anchor="ctr" bIns="34275" lIns="68575" spcFirstLastPara="1" rIns="68575" wrap="square" tIns="34275">
            <a:noAutofit/>
          </a:bodyPr>
          <a:lstStyle>
            <a:lvl1pPr lvl="0" rtl="0">
              <a:buClr>
                <a:srgbClr val="000000"/>
              </a:buClr>
              <a:buSzPts val="900"/>
              <a:buFont typeface="Arial"/>
              <a:buNone/>
              <a:defRPr/>
            </a:lvl1pPr>
            <a:lvl2pPr lvl="1" rtl="0">
              <a:buClr>
                <a:srgbClr val="000000"/>
              </a:buClr>
              <a:buSzPts val="900"/>
              <a:buFont typeface="Arial"/>
              <a:buNone/>
              <a:defRPr/>
            </a:lvl2pPr>
            <a:lvl3pPr lvl="2" rtl="0">
              <a:buClr>
                <a:srgbClr val="000000"/>
              </a:buClr>
              <a:buSzPts val="900"/>
              <a:buFont typeface="Arial"/>
              <a:buNone/>
              <a:defRPr/>
            </a:lvl3pPr>
            <a:lvl4pPr lvl="3" rtl="0">
              <a:buClr>
                <a:srgbClr val="000000"/>
              </a:buClr>
              <a:buSzPts val="900"/>
              <a:buFont typeface="Arial"/>
              <a:buNone/>
              <a:defRPr/>
            </a:lvl4pPr>
            <a:lvl5pPr lvl="4" rtl="0">
              <a:buClr>
                <a:srgbClr val="000000"/>
              </a:buClr>
              <a:buSzPts val="900"/>
              <a:buFont typeface="Arial"/>
              <a:buNone/>
              <a:defRPr/>
            </a:lvl5pPr>
            <a:lvl6pPr lvl="5" rtl="0">
              <a:buClr>
                <a:srgbClr val="000000"/>
              </a:buClr>
              <a:buSzPts val="900"/>
              <a:buFont typeface="Arial"/>
              <a:buNone/>
              <a:defRPr/>
            </a:lvl6pPr>
            <a:lvl7pPr lvl="6" rtl="0">
              <a:buClr>
                <a:srgbClr val="000000"/>
              </a:buClr>
              <a:buSzPts val="900"/>
              <a:buFont typeface="Arial"/>
              <a:buNone/>
              <a:defRPr/>
            </a:lvl7pPr>
            <a:lvl8pPr lvl="7" rtl="0">
              <a:buClr>
                <a:srgbClr val="000000"/>
              </a:buClr>
              <a:buSzPts val="900"/>
              <a:buFont typeface="Arial"/>
              <a:buNone/>
              <a:defRPr/>
            </a:lvl8pPr>
            <a:lvl9pPr lvl="8" rtl="0">
              <a:buClr>
                <a:srgbClr val="000000"/>
              </a:buClr>
              <a:buSzPts val="900"/>
              <a:buFont typeface="Arial"/>
              <a:buNone/>
              <a:defRPr/>
            </a:lvl9pPr>
          </a:lstStyle>
          <a:p>
            <a:pPr indent="0" lvl="0" marL="0" rtl="0" algn="r">
              <a:spcBef>
                <a:spcPts val="0"/>
              </a:spcBef>
              <a:spcAft>
                <a:spcPts val="0"/>
              </a:spcAft>
              <a:buNone/>
            </a:pPr>
            <a:fld id="{00000000-1234-1234-1234-123412341234}" type="slidenum">
              <a:rPr lang="ja"/>
              <a:t>‹#›</a:t>
            </a:fld>
            <a:endParaRPr/>
          </a:p>
        </p:txBody>
      </p:sp>
      <p:sp>
        <p:nvSpPr>
          <p:cNvPr id="27" name="Google Shape;27;p5"/>
          <p:cNvSpPr txBox="1"/>
          <p:nvPr>
            <p:ph idx="2" type="sldNum"/>
          </p:nvPr>
        </p:nvSpPr>
        <p:spPr>
          <a:xfrm>
            <a:off x="8601000" y="4869600"/>
            <a:ext cx="543000" cy="273900"/>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ja"/>
              <a:t>‹#›</a:t>
            </a:fld>
            <a:endParaRPr>
              <a:solidFill>
                <a:schemeClr val="dk1"/>
              </a:solidFill>
            </a:endParaRPr>
          </a:p>
        </p:txBody>
      </p:sp>
      <p:sp>
        <p:nvSpPr>
          <p:cNvPr id="28" name="Google Shape;28;p5"/>
          <p:cNvSpPr/>
          <p:nvPr>
            <p:ph idx="3" type="pic"/>
          </p:nvPr>
        </p:nvSpPr>
        <p:spPr>
          <a:xfrm>
            <a:off x="628650" y="1267075"/>
            <a:ext cx="7886700" cy="3355200"/>
          </a:xfrm>
          <a:prstGeom prst="rect">
            <a:avLst/>
          </a:prstGeom>
          <a:noFill/>
          <a:ln cap="flat" cmpd="sng" w="28575">
            <a:solidFill>
              <a:srgbClr val="000000"/>
            </a:solidFill>
            <a:prstDash val="solid"/>
            <a:round/>
            <a:headEnd len="sm" w="sm" type="none"/>
            <a:tailEnd len="sm" w="sm" type="none"/>
          </a:ln>
        </p:spPr>
      </p:sp>
      <p:sp>
        <p:nvSpPr>
          <p:cNvPr id="29" name="Google Shape;29;p5"/>
          <p:cNvSpPr txBox="1"/>
          <p:nvPr>
            <p:ph idx="1" type="subTitle"/>
          </p:nvPr>
        </p:nvSpPr>
        <p:spPr>
          <a:xfrm>
            <a:off x="628650" y="773590"/>
            <a:ext cx="7886700" cy="507900"/>
          </a:xfrm>
          <a:prstGeom prst="rect">
            <a:avLst/>
          </a:prstGeom>
        </p:spPr>
        <p:txBody>
          <a:bodyPr anchorCtr="0" anchor="t" bIns="91425" lIns="91425" spcFirstLastPara="1" rIns="91425" wrap="square" tIns="91425">
            <a:noAutofit/>
          </a:bodyPr>
          <a:lstStyle>
            <a:lvl1pPr lvl="0" rtl="0">
              <a:spcBef>
                <a:spcPts val="0"/>
              </a:spcBef>
              <a:spcAft>
                <a:spcPts val="0"/>
              </a:spcAft>
              <a:buSzPts val="1000"/>
              <a:buNone/>
              <a:defRPr b="1" sz="1000"/>
            </a:lvl1pPr>
            <a:lvl2pPr lvl="1" rtl="0">
              <a:spcBef>
                <a:spcPts val="0"/>
              </a:spcBef>
              <a:spcAft>
                <a:spcPts val="0"/>
              </a:spcAft>
              <a:buSzPts val="1000"/>
              <a:buNone/>
              <a:defRPr b="1" sz="1000"/>
            </a:lvl2pPr>
            <a:lvl3pPr lvl="2" rtl="0">
              <a:spcBef>
                <a:spcPts val="0"/>
              </a:spcBef>
              <a:spcAft>
                <a:spcPts val="0"/>
              </a:spcAft>
              <a:buSzPts val="1000"/>
              <a:buNone/>
              <a:defRPr b="1" sz="1000"/>
            </a:lvl3pPr>
            <a:lvl4pPr lvl="3" rtl="0">
              <a:spcBef>
                <a:spcPts val="0"/>
              </a:spcBef>
              <a:spcAft>
                <a:spcPts val="0"/>
              </a:spcAft>
              <a:buSzPts val="1000"/>
              <a:buNone/>
              <a:defRPr b="1" sz="1000"/>
            </a:lvl4pPr>
            <a:lvl5pPr lvl="4" rtl="0">
              <a:spcBef>
                <a:spcPts val="0"/>
              </a:spcBef>
              <a:spcAft>
                <a:spcPts val="0"/>
              </a:spcAft>
              <a:buSzPts val="1000"/>
              <a:buNone/>
              <a:defRPr b="1" sz="1000"/>
            </a:lvl5pPr>
            <a:lvl6pPr lvl="5" rtl="0">
              <a:spcBef>
                <a:spcPts val="0"/>
              </a:spcBef>
              <a:spcAft>
                <a:spcPts val="0"/>
              </a:spcAft>
              <a:buSzPts val="1000"/>
              <a:buNone/>
              <a:defRPr b="1" sz="1000"/>
            </a:lvl6pPr>
            <a:lvl7pPr lvl="6" rtl="0">
              <a:spcBef>
                <a:spcPts val="0"/>
              </a:spcBef>
              <a:spcAft>
                <a:spcPts val="0"/>
              </a:spcAft>
              <a:buSzPts val="1000"/>
              <a:buNone/>
              <a:defRPr b="1" sz="1000"/>
            </a:lvl7pPr>
            <a:lvl8pPr lvl="7" rtl="0">
              <a:spcBef>
                <a:spcPts val="0"/>
              </a:spcBef>
              <a:spcAft>
                <a:spcPts val="0"/>
              </a:spcAft>
              <a:buSzPts val="1000"/>
              <a:buNone/>
              <a:defRPr b="1" sz="1000"/>
            </a:lvl8pPr>
            <a:lvl9pPr lvl="8" rtl="0">
              <a:spcBef>
                <a:spcPts val="0"/>
              </a:spcBef>
              <a:spcAft>
                <a:spcPts val="0"/>
              </a:spcAft>
              <a:buSzPts val="1000"/>
              <a:buNone/>
              <a:defRPr b="1" sz="10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cSld name="CUSTOM_1_1">
    <p:spTree>
      <p:nvGrpSpPr>
        <p:cNvPr id="30" name="Shape 30"/>
        <p:cNvGrpSpPr/>
        <p:nvPr/>
      </p:nvGrpSpPr>
      <p:grpSpPr>
        <a:xfrm>
          <a:off x="0" y="0"/>
          <a:ext cx="0" cy="0"/>
          <a:chOff x="0" y="0"/>
          <a:chExt cx="0" cy="0"/>
        </a:xfrm>
      </p:grpSpPr>
      <p:sp>
        <p:nvSpPr>
          <p:cNvPr id="31" name="Google Shape;31;p6"/>
          <p:cNvSpPr txBox="1"/>
          <p:nvPr>
            <p:ph type="title"/>
          </p:nvPr>
        </p:nvSpPr>
        <p:spPr>
          <a:xfrm>
            <a:off x="628650" y="1375350"/>
            <a:ext cx="7886700" cy="1421400"/>
          </a:xfrm>
          <a:prstGeom prst="rect">
            <a:avLst/>
          </a:prstGeom>
        </p:spPr>
        <p:txBody>
          <a:bodyPr anchorCtr="0" anchor="b" bIns="34275" lIns="68575" spcFirstLastPara="1" rIns="68575" wrap="square" tIns="34275">
            <a:noAutofit/>
          </a:bodyPr>
          <a:lstStyle>
            <a:lvl1pPr lvl="0" rtl="0">
              <a:spcBef>
                <a:spcPts val="0"/>
              </a:spcBef>
              <a:spcAft>
                <a:spcPts val="0"/>
              </a:spcAft>
              <a:buSzPts val="3500"/>
              <a:buNone/>
              <a:defRPr sz="3500"/>
            </a:lvl1pPr>
            <a:lvl2pPr lvl="1" rtl="0">
              <a:spcBef>
                <a:spcPts val="0"/>
              </a:spcBef>
              <a:spcAft>
                <a:spcPts val="0"/>
              </a:spcAft>
              <a:buSzPts val="3500"/>
              <a:buNone/>
              <a:defRPr sz="3500"/>
            </a:lvl2pPr>
            <a:lvl3pPr lvl="2" rtl="0">
              <a:spcBef>
                <a:spcPts val="0"/>
              </a:spcBef>
              <a:spcAft>
                <a:spcPts val="0"/>
              </a:spcAft>
              <a:buSzPts val="3500"/>
              <a:buNone/>
              <a:defRPr sz="3500"/>
            </a:lvl3pPr>
            <a:lvl4pPr lvl="3" rtl="0">
              <a:spcBef>
                <a:spcPts val="0"/>
              </a:spcBef>
              <a:spcAft>
                <a:spcPts val="0"/>
              </a:spcAft>
              <a:buSzPts val="3500"/>
              <a:buNone/>
              <a:defRPr sz="3500"/>
            </a:lvl4pPr>
            <a:lvl5pPr lvl="4" rtl="0">
              <a:spcBef>
                <a:spcPts val="0"/>
              </a:spcBef>
              <a:spcAft>
                <a:spcPts val="0"/>
              </a:spcAft>
              <a:buSzPts val="3500"/>
              <a:buNone/>
              <a:defRPr sz="3500"/>
            </a:lvl5pPr>
            <a:lvl6pPr lvl="5" rtl="0">
              <a:spcBef>
                <a:spcPts val="0"/>
              </a:spcBef>
              <a:spcAft>
                <a:spcPts val="0"/>
              </a:spcAft>
              <a:buSzPts val="3500"/>
              <a:buNone/>
              <a:defRPr sz="3500"/>
            </a:lvl6pPr>
            <a:lvl7pPr lvl="6" rtl="0">
              <a:spcBef>
                <a:spcPts val="0"/>
              </a:spcBef>
              <a:spcAft>
                <a:spcPts val="0"/>
              </a:spcAft>
              <a:buSzPts val="3500"/>
              <a:buNone/>
              <a:defRPr sz="3500"/>
            </a:lvl7pPr>
            <a:lvl8pPr lvl="7" rtl="0">
              <a:spcBef>
                <a:spcPts val="0"/>
              </a:spcBef>
              <a:spcAft>
                <a:spcPts val="0"/>
              </a:spcAft>
              <a:buSzPts val="3500"/>
              <a:buNone/>
              <a:defRPr sz="3500"/>
            </a:lvl8pPr>
            <a:lvl9pPr lvl="8" rtl="0">
              <a:spcBef>
                <a:spcPts val="0"/>
              </a:spcBef>
              <a:spcAft>
                <a:spcPts val="0"/>
              </a:spcAft>
              <a:buSzPts val="3500"/>
              <a:buNone/>
              <a:defRPr sz="3500"/>
            </a:lvl9pPr>
          </a:lstStyle>
          <a:p/>
        </p:txBody>
      </p:sp>
      <p:sp>
        <p:nvSpPr>
          <p:cNvPr id="32" name="Google Shape;32;p6"/>
          <p:cNvSpPr txBox="1"/>
          <p:nvPr>
            <p:ph idx="12" type="sldNum"/>
          </p:nvPr>
        </p:nvSpPr>
        <p:spPr>
          <a:xfrm>
            <a:off x="8601000" y="4869600"/>
            <a:ext cx="543000" cy="273900"/>
          </a:xfrm>
          <a:prstGeom prst="rect">
            <a:avLst/>
          </a:prstGeom>
        </p:spPr>
        <p:txBody>
          <a:bodyPr anchorCtr="0" anchor="ctr" bIns="34275" lIns="68575" spcFirstLastPara="1" rIns="68575" wrap="square" tIns="34275">
            <a:noAutofit/>
          </a:bodyPr>
          <a:lstStyle>
            <a:lvl1pPr lvl="0" rtl="0">
              <a:buClr>
                <a:srgbClr val="000000"/>
              </a:buClr>
              <a:buSzPts val="900"/>
              <a:buFont typeface="Arial"/>
              <a:buNone/>
              <a:defRPr/>
            </a:lvl1pPr>
            <a:lvl2pPr lvl="1" rtl="0">
              <a:buClr>
                <a:srgbClr val="000000"/>
              </a:buClr>
              <a:buSzPts val="900"/>
              <a:buFont typeface="Arial"/>
              <a:buNone/>
              <a:defRPr/>
            </a:lvl2pPr>
            <a:lvl3pPr lvl="2" rtl="0">
              <a:buClr>
                <a:srgbClr val="000000"/>
              </a:buClr>
              <a:buSzPts val="900"/>
              <a:buFont typeface="Arial"/>
              <a:buNone/>
              <a:defRPr/>
            </a:lvl3pPr>
            <a:lvl4pPr lvl="3" rtl="0">
              <a:buClr>
                <a:srgbClr val="000000"/>
              </a:buClr>
              <a:buSzPts val="900"/>
              <a:buFont typeface="Arial"/>
              <a:buNone/>
              <a:defRPr/>
            </a:lvl4pPr>
            <a:lvl5pPr lvl="4" rtl="0">
              <a:buClr>
                <a:srgbClr val="000000"/>
              </a:buClr>
              <a:buSzPts val="900"/>
              <a:buFont typeface="Arial"/>
              <a:buNone/>
              <a:defRPr/>
            </a:lvl5pPr>
            <a:lvl6pPr lvl="5" rtl="0">
              <a:buClr>
                <a:srgbClr val="000000"/>
              </a:buClr>
              <a:buSzPts val="900"/>
              <a:buFont typeface="Arial"/>
              <a:buNone/>
              <a:defRPr/>
            </a:lvl6pPr>
            <a:lvl7pPr lvl="6" rtl="0">
              <a:buClr>
                <a:srgbClr val="000000"/>
              </a:buClr>
              <a:buSzPts val="900"/>
              <a:buFont typeface="Arial"/>
              <a:buNone/>
              <a:defRPr/>
            </a:lvl7pPr>
            <a:lvl8pPr lvl="7" rtl="0">
              <a:buClr>
                <a:srgbClr val="000000"/>
              </a:buClr>
              <a:buSzPts val="900"/>
              <a:buFont typeface="Arial"/>
              <a:buNone/>
              <a:defRPr/>
            </a:lvl8pPr>
            <a:lvl9pPr lvl="8" rtl="0">
              <a:buClr>
                <a:srgbClr val="000000"/>
              </a:buClr>
              <a:buSzPts val="900"/>
              <a:buFont typeface="Arial"/>
              <a:buNone/>
              <a:defRPr/>
            </a:lvl9pPr>
          </a:lstStyle>
          <a:p>
            <a:pPr indent="0" lvl="0" marL="0" rtl="0" algn="r">
              <a:spcBef>
                <a:spcPts val="0"/>
              </a:spcBef>
              <a:spcAft>
                <a:spcPts val="0"/>
              </a:spcAft>
              <a:buNone/>
            </a:pPr>
            <a:fld id="{00000000-1234-1234-1234-123412341234}" type="slidenum">
              <a:rPr lang="ja"/>
              <a:t>‹#›</a:t>
            </a:fld>
            <a:endParaRPr/>
          </a:p>
        </p:txBody>
      </p:sp>
      <p:sp>
        <p:nvSpPr>
          <p:cNvPr id="33" name="Google Shape;33;p6"/>
          <p:cNvSpPr txBox="1"/>
          <p:nvPr>
            <p:ph idx="2" type="sldNum"/>
          </p:nvPr>
        </p:nvSpPr>
        <p:spPr>
          <a:xfrm>
            <a:off x="8601000" y="4869600"/>
            <a:ext cx="543000" cy="273900"/>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ja"/>
              <a:t>‹#›</a:t>
            </a:fld>
            <a:endParaRPr>
              <a:solidFill>
                <a:schemeClr val="dk1"/>
              </a:solidFill>
            </a:endParaRPr>
          </a:p>
        </p:txBody>
      </p:sp>
      <p:sp>
        <p:nvSpPr>
          <p:cNvPr id="34" name="Google Shape;34;p6"/>
          <p:cNvSpPr txBox="1"/>
          <p:nvPr>
            <p:ph idx="1" type="subTitle"/>
          </p:nvPr>
        </p:nvSpPr>
        <p:spPr>
          <a:xfrm>
            <a:off x="628650" y="2720700"/>
            <a:ext cx="7886700" cy="5196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1400"/>
              <a:buNone/>
              <a:defRPr b="1" sz="1400">
                <a:solidFill>
                  <a:schemeClr val="dk1"/>
                </a:solidFill>
              </a:defRPr>
            </a:lvl1pPr>
            <a:lvl2pPr lvl="1" rtl="0">
              <a:spcBef>
                <a:spcPts val="0"/>
              </a:spcBef>
              <a:spcAft>
                <a:spcPts val="0"/>
              </a:spcAft>
              <a:buSzPts val="1200"/>
              <a:buNone/>
              <a:defRPr sz="1200"/>
            </a:lvl2pPr>
            <a:lvl3pPr lvl="2" rtl="0">
              <a:spcBef>
                <a:spcPts val="0"/>
              </a:spcBef>
              <a:spcAft>
                <a:spcPts val="0"/>
              </a:spcAft>
              <a:buSzPts val="1200"/>
              <a:buNone/>
              <a:defRPr sz="1200"/>
            </a:lvl3pPr>
            <a:lvl4pPr lvl="3" rtl="0">
              <a:spcBef>
                <a:spcPts val="0"/>
              </a:spcBef>
              <a:spcAft>
                <a:spcPts val="0"/>
              </a:spcAft>
              <a:buSzPts val="1200"/>
              <a:buNone/>
              <a:defRPr sz="1200"/>
            </a:lvl4pPr>
            <a:lvl5pPr lvl="4" rtl="0">
              <a:spcBef>
                <a:spcPts val="0"/>
              </a:spcBef>
              <a:spcAft>
                <a:spcPts val="0"/>
              </a:spcAft>
              <a:buSzPts val="1200"/>
              <a:buNone/>
              <a:defRPr sz="1200"/>
            </a:lvl5pPr>
            <a:lvl6pPr lvl="5" rtl="0">
              <a:spcBef>
                <a:spcPts val="0"/>
              </a:spcBef>
              <a:spcAft>
                <a:spcPts val="0"/>
              </a:spcAft>
              <a:buSzPts val="1200"/>
              <a:buNone/>
              <a:defRPr sz="1200"/>
            </a:lvl6pPr>
            <a:lvl7pPr lvl="6" rtl="0">
              <a:spcBef>
                <a:spcPts val="0"/>
              </a:spcBef>
              <a:spcAft>
                <a:spcPts val="0"/>
              </a:spcAft>
              <a:buSzPts val="1200"/>
              <a:buNone/>
              <a:defRPr sz="1200"/>
            </a:lvl7pPr>
            <a:lvl8pPr lvl="7" rtl="0">
              <a:spcBef>
                <a:spcPts val="0"/>
              </a:spcBef>
              <a:spcAft>
                <a:spcPts val="0"/>
              </a:spcAft>
              <a:buSzPts val="1200"/>
              <a:buNone/>
              <a:defRPr sz="1200"/>
            </a:lvl8pPr>
            <a:lvl9pPr lvl="8" rtl="0">
              <a:spcBef>
                <a:spcPts val="0"/>
              </a:spcBef>
              <a:spcAft>
                <a:spcPts val="0"/>
              </a:spcAft>
              <a:buSzPts val="1200"/>
              <a:buNone/>
              <a:defRPr sz="1200"/>
            </a:lvl9pPr>
          </a:lstStyle>
          <a:p/>
        </p:txBody>
      </p:sp>
      <p:sp>
        <p:nvSpPr>
          <p:cNvPr id="35" name="Google Shape;35;p6"/>
          <p:cNvSpPr/>
          <p:nvPr/>
        </p:nvSpPr>
        <p:spPr>
          <a:xfrm flipH="1" rot="10800000">
            <a:off x="0" y="0"/>
            <a:ext cx="545100" cy="11001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6"/>
          <p:cNvSpPr/>
          <p:nvPr/>
        </p:nvSpPr>
        <p:spPr>
          <a:xfrm flipH="1" rot="10800000">
            <a:off x="0" y="0"/>
            <a:ext cx="2371800" cy="3330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6"/>
          <p:cNvSpPr txBox="1"/>
          <p:nvPr/>
        </p:nvSpPr>
        <p:spPr>
          <a:xfrm>
            <a:off x="8136000" y="104275"/>
            <a:ext cx="916800" cy="190200"/>
          </a:xfrm>
          <a:prstGeom prst="rect">
            <a:avLst/>
          </a:prstGeom>
          <a:solidFill>
            <a:srgbClr val="DC0451"/>
          </a:solidFill>
          <a:ln>
            <a:noFill/>
          </a:ln>
        </p:spPr>
        <p:txBody>
          <a:bodyPr anchorCtr="0" anchor="t" bIns="91425" lIns="91425" spcFirstLastPara="1" rIns="91425" wrap="square" tIns="91425">
            <a:noAutofit/>
          </a:bodyPr>
          <a:lstStyle/>
          <a:p>
            <a:pPr indent="0" lvl="0" marL="0" rtl="0" algn="ctr">
              <a:lnSpc>
                <a:spcPct val="50000"/>
              </a:lnSpc>
              <a:spcBef>
                <a:spcPts val="0"/>
              </a:spcBef>
              <a:spcAft>
                <a:spcPts val="0"/>
              </a:spcAft>
              <a:buNone/>
            </a:pPr>
            <a:r>
              <a:rPr b="1" lang="ja" sz="700">
                <a:solidFill>
                  <a:srgbClr val="FFFFFF"/>
                </a:solidFill>
                <a:latin typeface="M PLUS 1p"/>
                <a:ea typeface="M PLUS 1p"/>
                <a:cs typeface="M PLUS 1p"/>
                <a:sym typeface="M PLUS 1p"/>
              </a:rPr>
              <a:t>CONFIDENTIAL</a:t>
            </a:r>
            <a:endParaRPr b="1" sz="700">
              <a:solidFill>
                <a:srgbClr val="FFFFFF"/>
              </a:solidFill>
              <a:latin typeface="M PLUS 1p"/>
              <a:ea typeface="M PLUS 1p"/>
              <a:cs typeface="M PLUS 1p"/>
              <a:sym typeface="M PLUS 1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42" name="Shape 42"/>
        <p:cNvGrpSpPr/>
        <p:nvPr/>
      </p:nvGrpSpPr>
      <p:grpSpPr>
        <a:xfrm>
          <a:off x="0" y="0"/>
          <a:ext cx="0" cy="0"/>
          <a:chOff x="0" y="0"/>
          <a:chExt cx="0" cy="0"/>
        </a:xfrm>
      </p:grpSpPr>
      <p:sp>
        <p:nvSpPr>
          <p:cNvPr id="43" name="Google Shape;43;p8"/>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44" name="Google Shape;44;p8"/>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45" name="Google Shape;45;p8"/>
          <p:cNvSpPr/>
          <p:nvPr/>
        </p:nvSpPr>
        <p:spPr>
          <a:xfrm flipH="1" rot="10800000">
            <a:off x="0" y="0"/>
            <a:ext cx="545100" cy="1100100"/>
          </a:xfrm>
          <a:prstGeom prst="rtTriangle">
            <a:avLst/>
          </a:prstGeom>
          <a:solidFill>
            <a:srgbClr val="FFD7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8"/>
          <p:cNvSpPr/>
          <p:nvPr/>
        </p:nvSpPr>
        <p:spPr>
          <a:xfrm flipH="1" rot="10800000">
            <a:off x="0" y="0"/>
            <a:ext cx="2371800" cy="333000"/>
          </a:xfrm>
          <a:prstGeom prst="rtTriangle">
            <a:avLst/>
          </a:prstGeom>
          <a:solidFill>
            <a:srgbClr val="FFD7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7" name="Google Shape;47;p8"/>
          <p:cNvPicPr preferRelativeResize="0"/>
          <p:nvPr/>
        </p:nvPicPr>
        <p:blipFill>
          <a:blip r:embed="rId2">
            <a:alphaModFix/>
          </a:blip>
          <a:stretch>
            <a:fillRect/>
          </a:stretch>
        </p:blipFill>
        <p:spPr>
          <a:xfrm>
            <a:off x="159300" y="4843475"/>
            <a:ext cx="548700" cy="144029"/>
          </a:xfrm>
          <a:prstGeom prst="rect">
            <a:avLst/>
          </a:prstGeom>
          <a:noFill/>
          <a:ln>
            <a:noFill/>
          </a:ln>
        </p:spPr>
      </p:pic>
      <p:pic>
        <p:nvPicPr>
          <p:cNvPr id="48" name="Google Shape;48;p8"/>
          <p:cNvPicPr preferRelativeResize="0"/>
          <p:nvPr/>
        </p:nvPicPr>
        <p:blipFill>
          <a:blip r:embed="rId3">
            <a:alphaModFix/>
          </a:blip>
          <a:stretch>
            <a:fillRect/>
          </a:stretch>
        </p:blipFill>
        <p:spPr>
          <a:xfrm>
            <a:off x="6683000" y="2764975"/>
            <a:ext cx="2461002" cy="2167919"/>
          </a:xfrm>
          <a:prstGeom prst="rect">
            <a:avLst/>
          </a:prstGeom>
          <a:noFill/>
          <a:ln>
            <a:noFill/>
          </a:ln>
        </p:spPr>
      </p:pic>
      <p:sp>
        <p:nvSpPr>
          <p:cNvPr id="49" name="Google Shape;49;p8"/>
          <p:cNvSpPr txBox="1"/>
          <p:nvPr/>
        </p:nvSpPr>
        <p:spPr>
          <a:xfrm>
            <a:off x="8136000" y="104275"/>
            <a:ext cx="916800" cy="190200"/>
          </a:xfrm>
          <a:prstGeom prst="rect">
            <a:avLst/>
          </a:prstGeom>
          <a:solidFill>
            <a:srgbClr val="DC0451"/>
          </a:solidFill>
          <a:ln>
            <a:noFill/>
          </a:ln>
        </p:spPr>
        <p:txBody>
          <a:bodyPr anchorCtr="0" anchor="t" bIns="91425" lIns="91425" spcFirstLastPara="1" rIns="91425" wrap="square" tIns="91425">
            <a:noAutofit/>
          </a:bodyPr>
          <a:lstStyle/>
          <a:p>
            <a:pPr indent="0" lvl="0" marL="0" rtl="0" algn="ctr">
              <a:lnSpc>
                <a:spcPct val="50000"/>
              </a:lnSpc>
              <a:spcBef>
                <a:spcPts val="0"/>
              </a:spcBef>
              <a:spcAft>
                <a:spcPts val="0"/>
              </a:spcAft>
              <a:buNone/>
            </a:pPr>
            <a:r>
              <a:rPr b="1" lang="ja" sz="700">
                <a:solidFill>
                  <a:srgbClr val="FFFFFF"/>
                </a:solidFill>
                <a:latin typeface="M PLUS 1p"/>
                <a:ea typeface="M PLUS 1p"/>
                <a:cs typeface="M PLUS 1p"/>
                <a:sym typeface="M PLUS 1p"/>
              </a:rPr>
              <a:t>CONFIDENTIAL</a:t>
            </a:r>
            <a:endParaRPr b="1" sz="700">
              <a:solidFill>
                <a:srgbClr val="FFFFFF"/>
              </a:solidFill>
              <a:latin typeface="M PLUS 1p"/>
              <a:ea typeface="M PLUS 1p"/>
              <a:cs typeface="M PLUS 1p"/>
              <a:sym typeface="M PLUS 1p"/>
            </a:endParaRPr>
          </a:p>
        </p:txBody>
      </p:sp>
      <p:sp>
        <p:nvSpPr>
          <p:cNvPr id="50" name="Google Shape;50;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51" name="Shape 51"/>
        <p:cNvGrpSpPr/>
        <p:nvPr/>
      </p:nvGrpSpPr>
      <p:grpSpPr>
        <a:xfrm>
          <a:off x="0" y="0"/>
          <a:ext cx="0" cy="0"/>
          <a:chOff x="0" y="0"/>
          <a:chExt cx="0" cy="0"/>
        </a:xfrm>
      </p:grpSpPr>
      <p:sp>
        <p:nvSpPr>
          <p:cNvPr id="52" name="Google Shape;52;p9"/>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53" name="Google Shape;53;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ja"/>
              <a:t>‹#›</a:t>
            </a:fld>
            <a:endParaRPr/>
          </a:p>
        </p:txBody>
      </p:sp>
      <p:pic>
        <p:nvPicPr>
          <p:cNvPr id="54" name="Google Shape;54;p9"/>
          <p:cNvPicPr preferRelativeResize="0"/>
          <p:nvPr/>
        </p:nvPicPr>
        <p:blipFill>
          <a:blip r:embed="rId2">
            <a:alphaModFix/>
          </a:blip>
          <a:stretch>
            <a:fillRect/>
          </a:stretch>
        </p:blipFill>
        <p:spPr>
          <a:xfrm>
            <a:off x="159300" y="4843475"/>
            <a:ext cx="548700" cy="144029"/>
          </a:xfrm>
          <a:prstGeom prst="rect">
            <a:avLst/>
          </a:prstGeom>
          <a:noFill/>
          <a:ln>
            <a:noFill/>
          </a:ln>
        </p:spPr>
      </p:pic>
      <p:sp>
        <p:nvSpPr>
          <p:cNvPr id="55" name="Google Shape;55;p9"/>
          <p:cNvSpPr txBox="1"/>
          <p:nvPr/>
        </p:nvSpPr>
        <p:spPr>
          <a:xfrm>
            <a:off x="8136000" y="104275"/>
            <a:ext cx="916800" cy="190200"/>
          </a:xfrm>
          <a:prstGeom prst="rect">
            <a:avLst/>
          </a:prstGeom>
          <a:solidFill>
            <a:srgbClr val="DC0451"/>
          </a:solidFill>
          <a:ln>
            <a:noFill/>
          </a:ln>
        </p:spPr>
        <p:txBody>
          <a:bodyPr anchorCtr="0" anchor="t" bIns="91425" lIns="91425" spcFirstLastPara="1" rIns="91425" wrap="square" tIns="91425">
            <a:noAutofit/>
          </a:bodyPr>
          <a:lstStyle/>
          <a:p>
            <a:pPr indent="0" lvl="0" marL="0" rtl="0" algn="ctr">
              <a:lnSpc>
                <a:spcPct val="50000"/>
              </a:lnSpc>
              <a:spcBef>
                <a:spcPts val="0"/>
              </a:spcBef>
              <a:spcAft>
                <a:spcPts val="0"/>
              </a:spcAft>
              <a:buNone/>
            </a:pPr>
            <a:r>
              <a:rPr b="1" lang="ja" sz="700">
                <a:solidFill>
                  <a:srgbClr val="FFFFFF"/>
                </a:solidFill>
                <a:latin typeface="M PLUS 1p"/>
                <a:ea typeface="M PLUS 1p"/>
                <a:cs typeface="M PLUS 1p"/>
                <a:sym typeface="M PLUS 1p"/>
              </a:rPr>
              <a:t>CONFIDENTIAL</a:t>
            </a:r>
            <a:endParaRPr b="1" sz="700">
              <a:solidFill>
                <a:srgbClr val="FFFFFF"/>
              </a:solidFill>
              <a:latin typeface="M PLUS 1p"/>
              <a:ea typeface="M PLUS 1p"/>
              <a:cs typeface="M PLUS 1p"/>
              <a:sym typeface="M PLUS 1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6" name="Shape 56"/>
        <p:cNvGrpSpPr/>
        <p:nvPr/>
      </p:nvGrpSpPr>
      <p:grpSpPr>
        <a:xfrm>
          <a:off x="0" y="0"/>
          <a:ext cx="0" cy="0"/>
          <a:chOff x="0" y="0"/>
          <a:chExt cx="0" cy="0"/>
        </a:xfrm>
      </p:grpSpPr>
      <p:sp>
        <p:nvSpPr>
          <p:cNvPr id="57" name="Google Shape;57;p10"/>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10"/>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59" name="Google Shape;59;p10"/>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60" name="Google Shape;60;p10"/>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61" name="Google Shape;61;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ja"/>
              <a:t>‹#›</a:t>
            </a:fld>
            <a:endParaRPr/>
          </a:p>
        </p:txBody>
      </p:sp>
      <p:pic>
        <p:nvPicPr>
          <p:cNvPr id="62" name="Google Shape;62;p10"/>
          <p:cNvPicPr preferRelativeResize="0"/>
          <p:nvPr/>
        </p:nvPicPr>
        <p:blipFill>
          <a:blip r:embed="rId2">
            <a:alphaModFix/>
          </a:blip>
          <a:stretch>
            <a:fillRect/>
          </a:stretch>
        </p:blipFill>
        <p:spPr>
          <a:xfrm>
            <a:off x="159300" y="4843475"/>
            <a:ext cx="548700" cy="144029"/>
          </a:xfrm>
          <a:prstGeom prst="rect">
            <a:avLst/>
          </a:prstGeom>
          <a:noFill/>
          <a:ln>
            <a:noFill/>
          </a:ln>
        </p:spPr>
      </p:pic>
      <p:sp>
        <p:nvSpPr>
          <p:cNvPr id="63" name="Google Shape;63;p10"/>
          <p:cNvSpPr txBox="1"/>
          <p:nvPr/>
        </p:nvSpPr>
        <p:spPr>
          <a:xfrm>
            <a:off x="8136000" y="104275"/>
            <a:ext cx="916800" cy="190200"/>
          </a:xfrm>
          <a:prstGeom prst="rect">
            <a:avLst/>
          </a:prstGeom>
          <a:solidFill>
            <a:srgbClr val="DC0451"/>
          </a:solidFill>
          <a:ln>
            <a:noFill/>
          </a:ln>
        </p:spPr>
        <p:txBody>
          <a:bodyPr anchorCtr="0" anchor="t" bIns="91425" lIns="91425" spcFirstLastPara="1" rIns="91425" wrap="square" tIns="91425">
            <a:noAutofit/>
          </a:bodyPr>
          <a:lstStyle/>
          <a:p>
            <a:pPr indent="0" lvl="0" marL="0" rtl="0" algn="ctr">
              <a:lnSpc>
                <a:spcPct val="50000"/>
              </a:lnSpc>
              <a:spcBef>
                <a:spcPts val="0"/>
              </a:spcBef>
              <a:spcAft>
                <a:spcPts val="0"/>
              </a:spcAft>
              <a:buNone/>
            </a:pPr>
            <a:r>
              <a:rPr b="1" lang="ja" sz="700">
                <a:solidFill>
                  <a:srgbClr val="FFFFFF"/>
                </a:solidFill>
                <a:latin typeface="M PLUS 1p"/>
                <a:ea typeface="M PLUS 1p"/>
                <a:cs typeface="M PLUS 1p"/>
                <a:sym typeface="M PLUS 1p"/>
              </a:rPr>
              <a:t>CONFIDENTIAL</a:t>
            </a:r>
            <a:endParaRPr b="1" sz="700">
              <a:solidFill>
                <a:srgbClr val="FFFFFF"/>
              </a:solidFill>
              <a:latin typeface="M PLUS 1p"/>
              <a:ea typeface="M PLUS 1p"/>
              <a:cs typeface="M PLUS 1p"/>
              <a:sym typeface="M PLUS 1p"/>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slideLayout" Target="../slideLayouts/slideLayout7.xml"/><Relationship Id="rId3" Type="http://schemas.openxmlformats.org/officeDocument/2006/relationships/slideLayout" Target="../slideLayouts/slideLayout8.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628650" y="317045"/>
            <a:ext cx="7886700" cy="436500"/>
          </a:xfrm>
          <a:prstGeom prst="rect">
            <a:avLst/>
          </a:prstGeom>
          <a:noFill/>
          <a:ln>
            <a:noFill/>
          </a:ln>
        </p:spPr>
        <p:txBody>
          <a:bodyPr anchorCtr="0" anchor="t" bIns="34275" lIns="68575" spcFirstLastPara="1" rIns="68575" wrap="square" tIns="34275">
            <a:noAutofit/>
          </a:bodyPr>
          <a:lstStyle>
            <a:lvl1pPr lvl="0" marR="0" rtl="0" algn="l">
              <a:lnSpc>
                <a:spcPct val="90000"/>
              </a:lnSpc>
              <a:spcBef>
                <a:spcPts val="0"/>
              </a:spcBef>
              <a:spcAft>
                <a:spcPts val="0"/>
              </a:spcAft>
              <a:buClr>
                <a:schemeClr val="dk1"/>
              </a:buClr>
              <a:buSzPts val="2500"/>
              <a:buNone/>
              <a:defRPr b="1" i="0" sz="2500" u="none" cap="none" strike="noStrike">
                <a:solidFill>
                  <a:schemeClr val="dk1"/>
                </a:solidFill>
              </a:defRPr>
            </a:lvl1pPr>
            <a:lvl2pPr lvl="1" marR="0" rtl="0" algn="l">
              <a:lnSpc>
                <a:spcPct val="100000"/>
              </a:lnSpc>
              <a:spcBef>
                <a:spcPts val="0"/>
              </a:spcBef>
              <a:spcAft>
                <a:spcPts val="0"/>
              </a:spcAft>
              <a:buClr>
                <a:srgbClr val="000000"/>
              </a:buClr>
              <a:buSzPts val="300"/>
              <a:buFont typeface="Arial"/>
              <a:buNone/>
              <a:defRPr b="0" i="0" sz="6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300"/>
              <a:buFont typeface="Arial"/>
              <a:buNone/>
              <a:defRPr b="0" i="0" sz="6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300"/>
              <a:buFont typeface="Arial"/>
              <a:buNone/>
              <a:defRPr b="0" i="0" sz="6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300"/>
              <a:buFont typeface="Arial"/>
              <a:buNone/>
              <a:defRPr b="0" i="0" sz="6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300"/>
              <a:buFont typeface="Arial"/>
              <a:buNone/>
              <a:defRPr b="0" i="0" sz="6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300"/>
              <a:buFont typeface="Arial"/>
              <a:buNone/>
              <a:defRPr b="0" i="0" sz="6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300"/>
              <a:buFont typeface="Arial"/>
              <a:buNone/>
              <a:defRPr b="0" i="0" sz="6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300"/>
              <a:buFont typeface="Arial"/>
              <a:buNone/>
              <a:defRPr b="0" i="0" sz="600" u="none" cap="none" strike="noStrike">
                <a:solidFill>
                  <a:srgbClr val="000000"/>
                </a:solidFill>
                <a:latin typeface="Arial"/>
                <a:ea typeface="Arial"/>
                <a:cs typeface="Arial"/>
                <a:sym typeface="Arial"/>
              </a:defRPr>
            </a:lvl9pPr>
          </a:lstStyle>
          <a:p/>
        </p:txBody>
      </p:sp>
      <p:sp>
        <p:nvSpPr>
          <p:cNvPr id="7" name="Google Shape;7;p1"/>
          <p:cNvSpPr txBox="1"/>
          <p:nvPr>
            <p:ph idx="1" type="body"/>
          </p:nvPr>
        </p:nvSpPr>
        <p:spPr>
          <a:xfrm>
            <a:off x="628650" y="1315800"/>
            <a:ext cx="7886700" cy="3402600"/>
          </a:xfrm>
          <a:prstGeom prst="rect">
            <a:avLst/>
          </a:prstGeom>
          <a:noFill/>
          <a:ln>
            <a:noFill/>
          </a:ln>
        </p:spPr>
        <p:txBody>
          <a:bodyPr anchorCtr="0" anchor="t" bIns="34275" lIns="68575" spcFirstLastPara="1" rIns="68575" wrap="square" tIns="34275">
            <a:normAutofit/>
          </a:bodyPr>
          <a:lstStyle>
            <a:lvl1pPr indent="-317500" lvl="0" marL="457200" marR="0" rtl="0" algn="l">
              <a:lnSpc>
                <a:spcPct val="90000"/>
              </a:lnSpc>
              <a:spcBef>
                <a:spcPts val="800"/>
              </a:spcBef>
              <a:spcAft>
                <a:spcPts val="0"/>
              </a:spcAft>
              <a:buClr>
                <a:schemeClr val="dk1"/>
              </a:buClr>
              <a:buSzPts val="1400"/>
              <a:buChar char="•"/>
              <a:defRPr b="1" i="0" u="none" cap="none" strike="noStrike">
                <a:solidFill>
                  <a:schemeClr val="dk1"/>
                </a:solidFill>
              </a:defRPr>
            </a:lvl1pPr>
            <a:lvl2pPr indent="-317500" lvl="1" marL="914400" marR="0" rtl="0" algn="l">
              <a:lnSpc>
                <a:spcPct val="90000"/>
              </a:lnSpc>
              <a:spcBef>
                <a:spcPts val="400"/>
              </a:spcBef>
              <a:spcAft>
                <a:spcPts val="0"/>
              </a:spcAft>
              <a:buClr>
                <a:schemeClr val="dk1"/>
              </a:buClr>
              <a:buSzPts val="1400"/>
              <a:buFont typeface="Arial"/>
              <a:buChar char="•"/>
              <a:defRPr b="0" i="0" u="none" cap="none" strike="noStrike">
                <a:solidFill>
                  <a:schemeClr val="dk1"/>
                </a:solidFill>
                <a:latin typeface="Arial"/>
                <a:ea typeface="Arial"/>
                <a:cs typeface="Arial"/>
                <a:sym typeface="Arial"/>
              </a:defRPr>
            </a:lvl2pPr>
            <a:lvl3pPr indent="-317500" lvl="2" marL="1371600" marR="0" rtl="0" algn="l">
              <a:lnSpc>
                <a:spcPct val="90000"/>
              </a:lnSpc>
              <a:spcBef>
                <a:spcPts val="400"/>
              </a:spcBef>
              <a:spcAft>
                <a:spcPts val="0"/>
              </a:spcAft>
              <a:buClr>
                <a:schemeClr val="dk1"/>
              </a:buClr>
              <a:buSzPts val="1400"/>
              <a:buFont typeface="Arial"/>
              <a:buChar char="•"/>
              <a:defRPr b="0" i="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u="none" cap="none" strike="noStrike">
                <a:solidFill>
                  <a:schemeClr val="dk1"/>
                </a:solidFill>
                <a:latin typeface="Arial"/>
                <a:ea typeface="Arial"/>
                <a:cs typeface="Arial"/>
                <a:sym typeface="Arial"/>
              </a:defRPr>
            </a:lvl4pPr>
            <a:lvl5pPr indent="-298450" lvl="4" marL="2286000" marR="0" rtl="0" algn="l">
              <a:lnSpc>
                <a:spcPct val="90000"/>
              </a:lnSpc>
              <a:spcBef>
                <a:spcPts val="4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5pPr>
            <a:lvl6pPr indent="-298450" lvl="5" marL="2743200" marR="0" rtl="0" algn="l">
              <a:lnSpc>
                <a:spcPct val="90000"/>
              </a:lnSpc>
              <a:spcBef>
                <a:spcPts val="4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6pPr>
            <a:lvl7pPr indent="-298450" lvl="6" marL="3200400" marR="0" rtl="0" algn="l">
              <a:lnSpc>
                <a:spcPct val="90000"/>
              </a:lnSpc>
              <a:spcBef>
                <a:spcPts val="4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7pPr>
            <a:lvl8pPr indent="-298450" lvl="7" marL="3657600" marR="0" rtl="0" algn="l">
              <a:lnSpc>
                <a:spcPct val="90000"/>
              </a:lnSpc>
              <a:spcBef>
                <a:spcPts val="4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8pPr>
            <a:lvl9pPr indent="-298450" lvl="8" marL="4114800" marR="0" rtl="0" algn="l">
              <a:lnSpc>
                <a:spcPct val="90000"/>
              </a:lnSpc>
              <a:spcBef>
                <a:spcPts val="4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9pPr>
          </a:lstStyle>
          <a:p/>
        </p:txBody>
      </p:sp>
      <p:sp>
        <p:nvSpPr>
          <p:cNvPr id="8" name="Google Shape;8;p1"/>
          <p:cNvSpPr txBox="1"/>
          <p:nvPr>
            <p:ph idx="12" type="sldNum"/>
          </p:nvPr>
        </p:nvSpPr>
        <p:spPr>
          <a:xfrm>
            <a:off x="8601000" y="4869600"/>
            <a:ext cx="543000" cy="273900"/>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ja"/>
              <a:t>‹#›</a:t>
            </a:fld>
            <a:endParaRPr/>
          </a:p>
        </p:txBody>
      </p:sp>
      <p:pic>
        <p:nvPicPr>
          <p:cNvPr id="9" name="Google Shape;9;p1"/>
          <p:cNvPicPr preferRelativeResize="0"/>
          <p:nvPr/>
        </p:nvPicPr>
        <p:blipFill>
          <a:blip r:embed="rId1">
            <a:alphaModFix/>
          </a:blip>
          <a:stretch>
            <a:fillRect/>
          </a:stretch>
        </p:blipFill>
        <p:spPr>
          <a:xfrm>
            <a:off x="152400" y="4848205"/>
            <a:ext cx="543000" cy="142895"/>
          </a:xfrm>
          <a:prstGeom prst="rect">
            <a:avLst/>
          </a:prstGeom>
          <a:noFill/>
          <a:ln>
            <a:noFill/>
          </a:ln>
        </p:spPr>
      </p:pic>
      <p:sp>
        <p:nvSpPr>
          <p:cNvPr id="10" name="Google Shape;10;p1"/>
          <p:cNvSpPr/>
          <p:nvPr/>
        </p:nvSpPr>
        <p:spPr>
          <a:xfrm flipH="1" rot="10800000">
            <a:off x="0" y="0"/>
            <a:ext cx="847800" cy="3330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38" name="Shape 38"/>
        <p:cNvGrpSpPr/>
        <p:nvPr/>
      </p:nvGrpSpPr>
      <p:grpSpPr>
        <a:xfrm>
          <a:off x="0" y="0"/>
          <a:ext cx="0" cy="0"/>
          <a:chOff x="0" y="0"/>
          <a:chExt cx="0" cy="0"/>
        </a:xfrm>
      </p:grpSpPr>
      <p:sp>
        <p:nvSpPr>
          <p:cNvPr id="39" name="Google Shape;39;p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40" name="Google Shape;40;p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rtl="0">
              <a:lnSpc>
                <a:spcPct val="115000"/>
              </a:lnSpc>
              <a:spcBef>
                <a:spcPts val="0"/>
              </a:spcBef>
              <a:spcAft>
                <a:spcPts val="0"/>
              </a:spcAft>
              <a:buClr>
                <a:schemeClr val="dk2"/>
              </a:buClr>
              <a:buSzPts val="1800"/>
              <a:buChar char="●"/>
              <a:defRPr sz="1800">
                <a:solidFill>
                  <a:schemeClr val="dk2"/>
                </a:solidFill>
              </a:defRPr>
            </a:lvl1pPr>
            <a:lvl2pPr indent="-317500" lvl="1" marL="914400" rtl="0">
              <a:lnSpc>
                <a:spcPct val="115000"/>
              </a:lnSpc>
              <a:spcBef>
                <a:spcPts val="1600"/>
              </a:spcBef>
              <a:spcAft>
                <a:spcPts val="0"/>
              </a:spcAft>
              <a:buClr>
                <a:schemeClr val="dk2"/>
              </a:buClr>
              <a:buSzPts val="1400"/>
              <a:buChar char="○"/>
              <a:defRPr>
                <a:solidFill>
                  <a:schemeClr val="dk2"/>
                </a:solidFill>
              </a:defRPr>
            </a:lvl2pPr>
            <a:lvl3pPr indent="-317500" lvl="2" marL="1371600" rtl="0">
              <a:lnSpc>
                <a:spcPct val="115000"/>
              </a:lnSpc>
              <a:spcBef>
                <a:spcPts val="1600"/>
              </a:spcBef>
              <a:spcAft>
                <a:spcPts val="0"/>
              </a:spcAft>
              <a:buClr>
                <a:schemeClr val="dk2"/>
              </a:buClr>
              <a:buSzPts val="1400"/>
              <a:buChar char="■"/>
              <a:defRPr>
                <a:solidFill>
                  <a:schemeClr val="dk2"/>
                </a:solidFill>
              </a:defRPr>
            </a:lvl3pPr>
            <a:lvl4pPr indent="-317500" lvl="3" marL="1828800" rtl="0">
              <a:lnSpc>
                <a:spcPct val="115000"/>
              </a:lnSpc>
              <a:spcBef>
                <a:spcPts val="1600"/>
              </a:spcBef>
              <a:spcAft>
                <a:spcPts val="0"/>
              </a:spcAft>
              <a:buClr>
                <a:schemeClr val="dk2"/>
              </a:buClr>
              <a:buSzPts val="1400"/>
              <a:buChar char="●"/>
              <a:defRPr>
                <a:solidFill>
                  <a:schemeClr val="dk2"/>
                </a:solidFill>
              </a:defRPr>
            </a:lvl4pPr>
            <a:lvl5pPr indent="-317500" lvl="4" marL="2286000" rtl="0">
              <a:lnSpc>
                <a:spcPct val="115000"/>
              </a:lnSpc>
              <a:spcBef>
                <a:spcPts val="1600"/>
              </a:spcBef>
              <a:spcAft>
                <a:spcPts val="0"/>
              </a:spcAft>
              <a:buClr>
                <a:schemeClr val="dk2"/>
              </a:buClr>
              <a:buSzPts val="1400"/>
              <a:buChar char="○"/>
              <a:defRPr>
                <a:solidFill>
                  <a:schemeClr val="dk2"/>
                </a:solidFill>
              </a:defRPr>
            </a:lvl5pPr>
            <a:lvl6pPr indent="-317500" lvl="5" marL="2743200" rtl="0">
              <a:lnSpc>
                <a:spcPct val="115000"/>
              </a:lnSpc>
              <a:spcBef>
                <a:spcPts val="1600"/>
              </a:spcBef>
              <a:spcAft>
                <a:spcPts val="0"/>
              </a:spcAft>
              <a:buClr>
                <a:schemeClr val="dk2"/>
              </a:buClr>
              <a:buSzPts val="1400"/>
              <a:buChar char="■"/>
              <a:defRPr>
                <a:solidFill>
                  <a:schemeClr val="dk2"/>
                </a:solidFill>
              </a:defRPr>
            </a:lvl6pPr>
            <a:lvl7pPr indent="-317500" lvl="6" marL="3200400" rtl="0">
              <a:lnSpc>
                <a:spcPct val="115000"/>
              </a:lnSpc>
              <a:spcBef>
                <a:spcPts val="1600"/>
              </a:spcBef>
              <a:spcAft>
                <a:spcPts val="0"/>
              </a:spcAft>
              <a:buClr>
                <a:schemeClr val="dk2"/>
              </a:buClr>
              <a:buSzPts val="1400"/>
              <a:buChar char="●"/>
              <a:defRPr>
                <a:solidFill>
                  <a:schemeClr val="dk2"/>
                </a:solidFill>
              </a:defRPr>
            </a:lvl7pPr>
            <a:lvl8pPr indent="-317500" lvl="7" marL="3657600" rtl="0">
              <a:lnSpc>
                <a:spcPct val="115000"/>
              </a:lnSpc>
              <a:spcBef>
                <a:spcPts val="1600"/>
              </a:spcBef>
              <a:spcAft>
                <a:spcPts val="0"/>
              </a:spcAft>
              <a:buClr>
                <a:schemeClr val="dk2"/>
              </a:buClr>
              <a:buSzPts val="1400"/>
              <a:buChar char="○"/>
              <a:defRPr>
                <a:solidFill>
                  <a:schemeClr val="dk2"/>
                </a:solidFill>
              </a:defRPr>
            </a:lvl8pPr>
            <a:lvl9pPr indent="-317500" lvl="8" marL="4114800" rtl="0">
              <a:lnSpc>
                <a:spcPct val="115000"/>
              </a:lnSpc>
              <a:spcBef>
                <a:spcPts val="1600"/>
              </a:spcBef>
              <a:spcAft>
                <a:spcPts val="1600"/>
              </a:spcAft>
              <a:buClr>
                <a:schemeClr val="dk2"/>
              </a:buClr>
              <a:buSzPts val="1400"/>
              <a:buChar char="■"/>
              <a:defRPr>
                <a:solidFill>
                  <a:schemeClr val="dk2"/>
                </a:solidFill>
              </a:defRPr>
            </a:lvl9pPr>
          </a:lstStyle>
          <a:p/>
        </p:txBody>
      </p:sp>
      <p:sp>
        <p:nvSpPr>
          <p:cNvPr id="41" name="Google Shape;41;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ja"/>
              <a:t>‹#›</a:t>
            </a:fld>
            <a:endParaRPr/>
          </a:p>
        </p:txBody>
      </p:sp>
    </p:spTree>
  </p:cSld>
  <p:clrMap accent1="accent1" accent2="accent2" accent3="accent3" accent4="accent4" accent5="accent5" accent6="accent6" bg1="lt1" bg2="dk2" tx1="dk1" tx2="lt2" folHlink="folHlink" hlink="hlink"/>
  <p:sldLayoutIdLst>
    <p:sldLayoutId id="2147483653" r:id="rId1"/>
    <p:sldLayoutId id="2147483654" r:id="rId2"/>
    <p:sldLayoutId id="2147483655" r:id="rId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hyperlink" Target="https://docs.google.com/presentation/d/1RuI073kpSmKQzpn-jxMMRgc-g87hpjpts5YywVQNGJk/edit?slide=id.g2e2dd58f6b2_0_228#slide=id.g2e2dd58f6b2_0_228" TargetMode="External"/><Relationship Id="rId4" Type="http://schemas.openxmlformats.org/officeDocument/2006/relationships/hyperlink" Target="https://docs.google.com/presentation/d/1I1ZgmjIDJ--KD7U8SKC64-vq2Xo4clJODOAFZNowth4/edit?slide=id.g2e2dd58f6b2_0_228#slide=id.g2e2dd58f6b2_0_228" TargetMode="External"/><Relationship Id="rId10" Type="http://schemas.openxmlformats.org/officeDocument/2006/relationships/hyperlink" Target="https://docs.google.com/presentation/d/1WKNDkahPmRXYZfUmP5tMv6rhzj8AWiAKcdtxPjYZx80/edit?slide=id.g2e2dd58f6b2_0_228#slide=id.g2e2dd58f6b2_0_228" TargetMode="External"/><Relationship Id="rId9" Type="http://schemas.openxmlformats.org/officeDocument/2006/relationships/hyperlink" Target="https://docs.google.com/presentation/d/1WKNDkahPmRXYZfUmP5tMv6rhzj8AWiAKcdtxPjYZx80/edit?slide=id.g2e2dd58f6b2_0_228#slide=id.g2e2dd58f6b2_0_228" TargetMode="External"/><Relationship Id="rId5" Type="http://schemas.openxmlformats.org/officeDocument/2006/relationships/slide" Target="/ppt/slides/slide1.xml"/><Relationship Id="rId6" Type="http://schemas.openxmlformats.org/officeDocument/2006/relationships/slide" Target="/ppt/slides/slide1.xml"/><Relationship Id="rId7" Type="http://schemas.openxmlformats.org/officeDocument/2006/relationships/slide" Target="/ppt/slides/slide1.xml"/><Relationship Id="rId8" Type="http://schemas.openxmlformats.org/officeDocument/2006/relationships/slide" Target="/ppt/slid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hyperlink" Target="https://docs.google.com/presentation/d/1r_d33V3D_RyxHbxH2kYiuQ5L49GVMjeGSvBVhX1cFJA/edit?slide=id.g31c75a30478_0_214#slide=id.g31c75a30478_0_214"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slide" Target="/ppt/slides/slide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hyperlink" Target="https://docs.google.com/presentation/d/1WKNDkahPmRXYZfUmP5tMv6rhzj8AWiAKcdtxPjYZx80/edit?slide=id.g2e2dd58f6b2_0_228#slide=id.g2e2dd58f6b2_0_228" TargetMode="External"/><Relationship Id="rId4" Type="http://schemas.openxmlformats.org/officeDocument/2006/relationships/image" Target="../media/image15.png"/><Relationship Id="rId5" Type="http://schemas.openxmlformats.org/officeDocument/2006/relationships/image" Target="../media/image12.png"/><Relationship Id="rId6"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slide" Target="/ppt/slides/slide1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1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2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1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1.png"/><Relationship Id="rId4" Type="http://schemas.openxmlformats.org/officeDocument/2006/relationships/image" Target="../media/image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1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2.png"/><Relationship Id="rId4" Type="http://schemas.openxmlformats.org/officeDocument/2006/relationships/image" Target="../media/image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13.png"/><Relationship Id="rId4" Type="http://schemas.openxmlformats.org/officeDocument/2006/relationships/image" Target="../media/image2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2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26.png"/><Relationship Id="rId4" Type="http://schemas.openxmlformats.org/officeDocument/2006/relationships/image" Target="../media/image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22.png"/><Relationship Id="rId4" Type="http://schemas.openxmlformats.org/officeDocument/2006/relationships/image" Target="../media/image1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3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19.png"/><Relationship Id="rId4" Type="http://schemas.openxmlformats.org/officeDocument/2006/relationships/image" Target="../media/image1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slide" Target="/ppt/slides/slide39.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image" Target="../media/image24.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image" Target="../media/image2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 Id="rId3" Type="http://schemas.openxmlformats.org/officeDocument/2006/relationships/image" Target="../media/image39.png"/><Relationship Id="rId4" Type="http://schemas.openxmlformats.org/officeDocument/2006/relationships/image" Target="../media/image3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 Id="rId3" Type="http://schemas.openxmlformats.org/officeDocument/2006/relationships/image" Target="../media/image28.png"/><Relationship Id="rId4" Type="http://schemas.openxmlformats.org/officeDocument/2006/relationships/image" Target="../media/image25.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 Id="rId3" Type="http://schemas.openxmlformats.org/officeDocument/2006/relationships/image" Target="../media/image37.png"/><Relationship Id="rId4" Type="http://schemas.openxmlformats.org/officeDocument/2006/relationships/image" Target="../media/image50.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 Id="rId3" Type="http://schemas.openxmlformats.org/officeDocument/2006/relationships/image" Target="../media/image40.png"/><Relationship Id="rId4" Type="http://schemas.openxmlformats.org/officeDocument/2006/relationships/image" Target="../media/image3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 Id="rId3" Type="http://schemas.openxmlformats.org/officeDocument/2006/relationships/image" Target="../media/image35.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 Id="rId3" Type="http://schemas.openxmlformats.org/officeDocument/2006/relationships/image" Target="../media/image4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 Id="rId3" Type="http://schemas.openxmlformats.org/officeDocument/2006/relationships/image" Target="../media/image29.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 Id="rId3" Type="http://schemas.openxmlformats.org/officeDocument/2006/relationships/image" Target="../media/image44.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 Id="rId3" Type="http://schemas.openxmlformats.org/officeDocument/2006/relationships/image" Target="../media/image43.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 Id="rId3" Type="http://schemas.openxmlformats.org/officeDocument/2006/relationships/image" Target="../media/image48.png"/><Relationship Id="rId4" Type="http://schemas.openxmlformats.org/officeDocument/2006/relationships/image" Target="../media/image47.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 Id="rId3" Type="http://schemas.openxmlformats.org/officeDocument/2006/relationships/image" Target="../media/image49.png"/><Relationship Id="rId4" Type="http://schemas.openxmlformats.org/officeDocument/2006/relationships/image" Target="../media/image36.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 Id="rId3" Type="http://schemas.openxmlformats.org/officeDocument/2006/relationships/image" Target="../media/image30.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 Id="rId3" Type="http://schemas.openxmlformats.org/officeDocument/2006/relationships/image" Target="../media/image52.png"/><Relationship Id="rId4" Type="http://schemas.openxmlformats.org/officeDocument/2006/relationships/image" Target="../media/image38.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 Id="rId3" Type="http://schemas.openxmlformats.org/officeDocument/2006/relationships/image" Target="../media/image46.png"/><Relationship Id="rId4" Type="http://schemas.openxmlformats.org/officeDocument/2006/relationships/image" Target="../media/image45.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 Id="rId3" Type="http://schemas.openxmlformats.org/officeDocument/2006/relationships/image" Target="../media/image34.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 Id="rId3" Type="http://schemas.openxmlformats.org/officeDocument/2006/relationships/image" Target="../media/image42.png"/><Relationship Id="rId4" Type="http://schemas.openxmlformats.org/officeDocument/2006/relationships/image" Target="../media/image54.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 Id="rId3" Type="http://schemas.openxmlformats.org/officeDocument/2006/relationships/image" Target="../media/image57.png"/><Relationship Id="rId4" Type="http://schemas.openxmlformats.org/officeDocument/2006/relationships/image" Target="../media/image51.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 Id="rId3" Type="http://schemas.openxmlformats.org/officeDocument/2006/relationships/image" Target="../media/image56.png"/><Relationship Id="rId4" Type="http://schemas.openxmlformats.org/officeDocument/2006/relationships/image" Target="../media/image5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1"/>
          <p:cNvSpPr txBox="1"/>
          <p:nvPr>
            <p:ph idx="4294967295" type="title"/>
          </p:nvPr>
        </p:nvSpPr>
        <p:spPr>
          <a:xfrm>
            <a:off x="628650" y="1979750"/>
            <a:ext cx="7886700" cy="1125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ja" sz="3200">
                <a:solidFill>
                  <a:srgbClr val="1F1F1F"/>
                </a:solidFill>
                <a:latin typeface="M PLUS 1p"/>
                <a:ea typeface="M PLUS 1p"/>
                <a:cs typeface="M PLUS 1p"/>
                <a:sym typeface="M PLUS 1p"/>
              </a:rPr>
              <a:t>3ヶ月連続掲載と</a:t>
            </a:r>
            <a:endParaRPr b="1" sz="3200">
              <a:solidFill>
                <a:srgbClr val="1F1F1F"/>
              </a:solidFill>
              <a:latin typeface="M PLUS 1p"/>
              <a:ea typeface="M PLUS 1p"/>
              <a:cs typeface="M PLUS 1p"/>
              <a:sym typeface="M PLUS 1p"/>
            </a:endParaRPr>
          </a:p>
          <a:p>
            <a:pPr indent="0" lvl="0" marL="0" rtl="0" algn="l">
              <a:spcBef>
                <a:spcPts val="0"/>
              </a:spcBef>
              <a:spcAft>
                <a:spcPts val="0"/>
              </a:spcAft>
              <a:buNone/>
            </a:pPr>
            <a:r>
              <a:rPr b="1" lang="ja" sz="3200">
                <a:solidFill>
                  <a:srgbClr val="1F1F1F"/>
                </a:solidFill>
                <a:latin typeface="M PLUS 1p"/>
                <a:ea typeface="M PLUS 1p"/>
                <a:cs typeface="M PLUS 1p"/>
                <a:sym typeface="M PLUS 1p"/>
              </a:rPr>
              <a:t>中長期の継続に効くレバーの探索</a:t>
            </a:r>
            <a:endParaRPr b="1" sz="3200">
              <a:solidFill>
                <a:srgbClr val="1F1F1F"/>
              </a:solidFill>
              <a:latin typeface="M PLUS 1p"/>
              <a:ea typeface="M PLUS 1p"/>
              <a:cs typeface="M PLUS 1p"/>
              <a:sym typeface="M PLUS 1p"/>
            </a:endParaRPr>
          </a:p>
        </p:txBody>
      </p:sp>
      <p:sp>
        <p:nvSpPr>
          <p:cNvPr id="69" name="Google Shape;69;p11"/>
          <p:cNvSpPr txBox="1"/>
          <p:nvPr/>
        </p:nvSpPr>
        <p:spPr>
          <a:xfrm>
            <a:off x="628650" y="3236575"/>
            <a:ext cx="3484500" cy="1125600"/>
          </a:xfrm>
          <a:prstGeom prst="rect">
            <a:avLst/>
          </a:prstGeom>
          <a:noFill/>
          <a:ln>
            <a:noFill/>
          </a:ln>
        </p:spPr>
        <p:txBody>
          <a:bodyPr anchorCtr="0" anchor="t" bIns="91425" lIns="91425" spcFirstLastPara="1" rIns="91425" wrap="square" tIns="91425">
            <a:noAutofit/>
          </a:bodyPr>
          <a:lstStyle/>
          <a:p>
            <a:pPr indent="0" lvl="0" marL="0" rtl="0" algn="l">
              <a:lnSpc>
                <a:spcPct val="140000"/>
              </a:lnSpc>
              <a:spcBef>
                <a:spcPts val="0"/>
              </a:spcBef>
              <a:spcAft>
                <a:spcPts val="0"/>
              </a:spcAft>
              <a:buNone/>
            </a:pPr>
            <a:r>
              <a:rPr lang="ja">
                <a:solidFill>
                  <a:srgbClr val="1F1F1F"/>
                </a:solidFill>
                <a:latin typeface="M PLUS 1p"/>
                <a:ea typeface="M PLUS 1p"/>
                <a:cs typeface="M PLUS 1p"/>
                <a:sym typeface="M PLUS 1p"/>
              </a:rPr>
              <a:t>プロダクト本部データアナリティクス部</a:t>
            </a:r>
            <a:endParaRPr>
              <a:solidFill>
                <a:srgbClr val="1F1F1F"/>
              </a:solidFill>
              <a:latin typeface="M PLUS 1p"/>
              <a:ea typeface="M PLUS 1p"/>
              <a:cs typeface="M PLUS 1p"/>
              <a:sym typeface="M PLUS 1p"/>
            </a:endParaRPr>
          </a:p>
          <a:p>
            <a:pPr indent="0" lvl="0" marL="0" rtl="0" algn="l">
              <a:lnSpc>
                <a:spcPct val="140000"/>
              </a:lnSpc>
              <a:spcBef>
                <a:spcPts val="0"/>
              </a:spcBef>
              <a:spcAft>
                <a:spcPts val="0"/>
              </a:spcAft>
              <a:buNone/>
            </a:pPr>
            <a:r>
              <a:rPr lang="ja">
                <a:solidFill>
                  <a:srgbClr val="1F1F1F"/>
                </a:solidFill>
                <a:latin typeface="M PLUS 1p"/>
                <a:ea typeface="M PLUS 1p"/>
                <a:cs typeface="M PLUS 1p"/>
                <a:sym typeface="M PLUS 1p"/>
              </a:rPr>
              <a:t>akki / kameryo / hirataku / tomita</a:t>
            </a:r>
            <a:endParaRPr>
              <a:solidFill>
                <a:srgbClr val="1F1F1F"/>
              </a:solidFill>
              <a:latin typeface="M PLUS 1p"/>
              <a:ea typeface="M PLUS 1p"/>
              <a:cs typeface="M PLUS 1p"/>
              <a:sym typeface="M PLUS 1p"/>
            </a:endParaRPr>
          </a:p>
          <a:p>
            <a:pPr indent="0" lvl="0" marL="0" rtl="0" algn="l">
              <a:lnSpc>
                <a:spcPct val="140000"/>
              </a:lnSpc>
              <a:spcBef>
                <a:spcPts val="0"/>
              </a:spcBef>
              <a:spcAft>
                <a:spcPts val="0"/>
              </a:spcAft>
              <a:buNone/>
            </a:pPr>
            <a:r>
              <a:t/>
            </a:r>
            <a:endParaRPr>
              <a:solidFill>
                <a:srgbClr val="1F1F1F"/>
              </a:solidFill>
              <a:latin typeface="M PLUS 1p"/>
              <a:ea typeface="M PLUS 1p"/>
              <a:cs typeface="M PLUS 1p"/>
              <a:sym typeface="M PLUS 1p"/>
            </a:endParaRPr>
          </a:p>
        </p:txBody>
      </p:sp>
      <p:sp>
        <p:nvSpPr>
          <p:cNvPr id="70" name="Google Shape;70;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4" name="Shape 74"/>
        <p:cNvGrpSpPr/>
        <p:nvPr/>
      </p:nvGrpSpPr>
      <p:grpSpPr>
        <a:xfrm>
          <a:off x="0" y="0"/>
          <a:ext cx="0" cy="0"/>
          <a:chOff x="0" y="0"/>
          <a:chExt cx="0" cy="0"/>
        </a:xfrm>
      </p:grpSpPr>
      <p:sp>
        <p:nvSpPr>
          <p:cNvPr id="75" name="Google Shape;75;p12"/>
          <p:cNvSpPr txBox="1"/>
          <p:nvPr/>
        </p:nvSpPr>
        <p:spPr>
          <a:xfrm>
            <a:off x="432350" y="784375"/>
            <a:ext cx="8313600" cy="985800"/>
          </a:xfrm>
          <a:prstGeom prst="rect">
            <a:avLst/>
          </a:prstGeom>
          <a:noFill/>
          <a:ln>
            <a:noFill/>
          </a:ln>
        </p:spPr>
        <p:txBody>
          <a:bodyPr anchorCtr="0" anchor="t" bIns="91425" lIns="91425" spcFirstLastPara="1" rIns="91425" wrap="square" tIns="91425">
            <a:noAutofit/>
          </a:bodyPr>
          <a:lstStyle/>
          <a:p>
            <a:pPr indent="-317500" lvl="0" marL="457200" rtl="0" algn="l">
              <a:lnSpc>
                <a:spcPct val="120000"/>
              </a:lnSpc>
              <a:spcBef>
                <a:spcPts val="0"/>
              </a:spcBef>
              <a:spcAft>
                <a:spcPts val="0"/>
              </a:spcAft>
              <a:buClr>
                <a:srgbClr val="1F1F1F"/>
              </a:buClr>
              <a:buSzPts val="1400"/>
              <a:buFont typeface="M PLUS 1p"/>
              <a:buChar char="●"/>
            </a:pPr>
            <a:r>
              <a:rPr lang="ja">
                <a:solidFill>
                  <a:srgbClr val="1F1F1F"/>
                </a:solidFill>
                <a:latin typeface="M PLUS 1p"/>
                <a:ea typeface="M PLUS 1p"/>
                <a:cs typeface="M PLUS 1p"/>
                <a:sym typeface="M PLUS 1p"/>
              </a:rPr>
              <a:t>本資料は、FY25においてDAが取り組んでいた「AAあたり売上に関する横断分析」PJの一環としてのアウトプット</a:t>
            </a:r>
            <a:endParaRPr>
              <a:solidFill>
                <a:srgbClr val="1F1F1F"/>
              </a:solidFill>
              <a:latin typeface="M PLUS 1p"/>
              <a:ea typeface="M PLUS 1p"/>
              <a:cs typeface="M PLUS 1p"/>
              <a:sym typeface="M PLUS 1p"/>
            </a:endParaRPr>
          </a:p>
          <a:p>
            <a:pPr indent="-317500" lvl="0" marL="457200" rtl="0" algn="l">
              <a:lnSpc>
                <a:spcPct val="120000"/>
              </a:lnSpc>
              <a:spcBef>
                <a:spcPts val="0"/>
              </a:spcBef>
              <a:spcAft>
                <a:spcPts val="0"/>
              </a:spcAft>
              <a:buClr>
                <a:srgbClr val="1F1F1F"/>
              </a:buClr>
              <a:buSzPts val="1400"/>
              <a:buFont typeface="M PLUS 1p"/>
              <a:buChar char="●"/>
            </a:pPr>
            <a:r>
              <a:rPr lang="ja">
                <a:solidFill>
                  <a:srgbClr val="1F1F1F"/>
                </a:solidFill>
                <a:latin typeface="M PLUS 1p"/>
                <a:ea typeface="M PLUS 1p"/>
                <a:cs typeface="M PLUS 1p"/>
                <a:sym typeface="M PLUS 1p"/>
              </a:rPr>
              <a:t>横断分析の全体像や、類似の分析資料との関係性はこのようになっている</a:t>
            </a:r>
            <a:endParaRPr>
              <a:solidFill>
                <a:srgbClr val="1F1F1F"/>
              </a:solidFill>
              <a:latin typeface="M PLUS 1p"/>
              <a:ea typeface="M PLUS 1p"/>
              <a:cs typeface="M PLUS 1p"/>
              <a:sym typeface="M PLUS 1p"/>
            </a:endParaRPr>
          </a:p>
        </p:txBody>
      </p:sp>
      <p:sp>
        <p:nvSpPr>
          <p:cNvPr id="76" name="Google Shape;76;p12"/>
          <p:cNvSpPr/>
          <p:nvPr/>
        </p:nvSpPr>
        <p:spPr>
          <a:xfrm>
            <a:off x="342900" y="365275"/>
            <a:ext cx="342900" cy="342900"/>
          </a:xfrm>
          <a:prstGeom prst="ellipse">
            <a:avLst/>
          </a:prstGeom>
          <a:solidFill>
            <a:srgbClr val="FFD7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12"/>
          <p:cNvSpPr txBox="1"/>
          <p:nvPr/>
        </p:nvSpPr>
        <p:spPr>
          <a:xfrm>
            <a:off x="387600" y="335450"/>
            <a:ext cx="298200" cy="30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300">
                <a:solidFill>
                  <a:srgbClr val="FFFFFF"/>
                </a:solidFill>
                <a:latin typeface="Zen Kaku Gothic New"/>
                <a:ea typeface="Zen Kaku Gothic New"/>
                <a:cs typeface="Zen Kaku Gothic New"/>
                <a:sym typeface="Zen Kaku Gothic New"/>
              </a:rPr>
              <a:t>1</a:t>
            </a:r>
            <a:endParaRPr b="1" sz="1300">
              <a:solidFill>
                <a:srgbClr val="FFFFFF"/>
              </a:solidFill>
              <a:latin typeface="Zen Kaku Gothic New"/>
              <a:ea typeface="Zen Kaku Gothic New"/>
              <a:cs typeface="Zen Kaku Gothic New"/>
              <a:sym typeface="Zen Kaku Gothic New"/>
            </a:endParaRPr>
          </a:p>
        </p:txBody>
      </p:sp>
      <p:sp>
        <p:nvSpPr>
          <p:cNvPr id="78" name="Google Shape;78;p12"/>
          <p:cNvSpPr txBox="1"/>
          <p:nvPr/>
        </p:nvSpPr>
        <p:spPr>
          <a:xfrm>
            <a:off x="712300" y="294475"/>
            <a:ext cx="7325400" cy="48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2000">
                <a:solidFill>
                  <a:srgbClr val="1F1F1F"/>
                </a:solidFill>
                <a:latin typeface="M PLUS 1p"/>
                <a:ea typeface="M PLUS 1p"/>
                <a:cs typeface="M PLUS 1p"/>
                <a:sym typeface="M PLUS 1p"/>
              </a:rPr>
              <a:t>DA横断分析の全体像</a:t>
            </a:r>
            <a:endParaRPr b="1" sz="2000">
              <a:solidFill>
                <a:srgbClr val="1F1F1F"/>
              </a:solidFill>
              <a:latin typeface="M PLUS 1p"/>
              <a:ea typeface="M PLUS 1p"/>
              <a:cs typeface="M PLUS 1p"/>
              <a:sym typeface="M PLUS 1p"/>
            </a:endParaRPr>
          </a:p>
        </p:txBody>
      </p:sp>
      <p:sp>
        <p:nvSpPr>
          <p:cNvPr id="79" name="Google Shape;79;p12"/>
          <p:cNvSpPr txBox="1"/>
          <p:nvPr/>
        </p:nvSpPr>
        <p:spPr>
          <a:xfrm>
            <a:off x="8136000" y="104275"/>
            <a:ext cx="916800" cy="190200"/>
          </a:xfrm>
          <a:prstGeom prst="rect">
            <a:avLst/>
          </a:prstGeom>
          <a:solidFill>
            <a:srgbClr val="DC0451"/>
          </a:solidFill>
          <a:ln>
            <a:noFill/>
          </a:ln>
        </p:spPr>
        <p:txBody>
          <a:bodyPr anchorCtr="0" anchor="t" bIns="91425" lIns="91425" spcFirstLastPara="1" rIns="91425" wrap="square" tIns="91425">
            <a:noAutofit/>
          </a:bodyPr>
          <a:lstStyle/>
          <a:p>
            <a:pPr indent="0" lvl="0" marL="0" rtl="0" algn="ctr">
              <a:lnSpc>
                <a:spcPct val="50000"/>
              </a:lnSpc>
              <a:spcBef>
                <a:spcPts val="0"/>
              </a:spcBef>
              <a:spcAft>
                <a:spcPts val="0"/>
              </a:spcAft>
              <a:buNone/>
            </a:pPr>
            <a:r>
              <a:rPr b="1" lang="ja" sz="700">
                <a:solidFill>
                  <a:srgbClr val="FFFFFF"/>
                </a:solidFill>
                <a:latin typeface="M PLUS 1p"/>
                <a:ea typeface="M PLUS 1p"/>
                <a:cs typeface="M PLUS 1p"/>
                <a:sym typeface="M PLUS 1p"/>
              </a:rPr>
              <a:t>CONFIDENTIAL</a:t>
            </a:r>
            <a:endParaRPr b="1" sz="700">
              <a:solidFill>
                <a:srgbClr val="FFFFFF"/>
              </a:solidFill>
              <a:latin typeface="M PLUS 1p"/>
              <a:ea typeface="M PLUS 1p"/>
              <a:cs typeface="M PLUS 1p"/>
              <a:sym typeface="M PLUS 1p"/>
            </a:endParaRPr>
          </a:p>
        </p:txBody>
      </p:sp>
      <p:sp>
        <p:nvSpPr>
          <p:cNvPr id="80" name="Google Shape;80;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81" name="Google Shape;81;p12"/>
          <p:cNvSpPr/>
          <p:nvPr/>
        </p:nvSpPr>
        <p:spPr>
          <a:xfrm>
            <a:off x="712300" y="2974350"/>
            <a:ext cx="1372800" cy="7422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a:latin typeface="M PLUS 1p"/>
                <a:ea typeface="M PLUS 1p"/>
                <a:cs typeface="M PLUS 1p"/>
                <a:sym typeface="M PLUS 1p"/>
              </a:rPr>
              <a:t>利用開始</a:t>
            </a:r>
            <a:endParaRPr>
              <a:latin typeface="M PLUS 1p"/>
              <a:ea typeface="M PLUS 1p"/>
              <a:cs typeface="M PLUS 1p"/>
              <a:sym typeface="M PLUS 1p"/>
            </a:endParaRPr>
          </a:p>
        </p:txBody>
      </p:sp>
      <p:sp>
        <p:nvSpPr>
          <p:cNvPr id="82" name="Google Shape;82;p12"/>
          <p:cNvSpPr/>
          <p:nvPr/>
        </p:nvSpPr>
        <p:spPr>
          <a:xfrm>
            <a:off x="2876808" y="2974350"/>
            <a:ext cx="1372800" cy="7422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a:latin typeface="M PLUS 1p"/>
                <a:ea typeface="M PLUS 1p"/>
                <a:cs typeface="M PLUS 1p"/>
                <a:sym typeface="M PLUS 1p"/>
              </a:rPr>
              <a:t>翌月継続</a:t>
            </a:r>
            <a:endParaRPr>
              <a:latin typeface="M PLUS 1p"/>
              <a:ea typeface="M PLUS 1p"/>
              <a:cs typeface="M PLUS 1p"/>
              <a:sym typeface="M PLUS 1p"/>
            </a:endParaRPr>
          </a:p>
        </p:txBody>
      </p:sp>
      <p:sp>
        <p:nvSpPr>
          <p:cNvPr id="83" name="Google Shape;83;p12"/>
          <p:cNvSpPr/>
          <p:nvPr/>
        </p:nvSpPr>
        <p:spPr>
          <a:xfrm>
            <a:off x="5041317" y="2974350"/>
            <a:ext cx="1372800" cy="7422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a:latin typeface="M PLUS 1p"/>
                <a:ea typeface="M PLUS 1p"/>
                <a:cs typeface="M PLUS 1p"/>
                <a:sym typeface="M PLUS 1p"/>
              </a:rPr>
              <a:t>3ヶ月連続掲載</a:t>
            </a:r>
            <a:endParaRPr>
              <a:latin typeface="M PLUS 1p"/>
              <a:ea typeface="M PLUS 1p"/>
              <a:cs typeface="M PLUS 1p"/>
              <a:sym typeface="M PLUS 1p"/>
            </a:endParaRPr>
          </a:p>
        </p:txBody>
      </p:sp>
      <p:sp>
        <p:nvSpPr>
          <p:cNvPr id="84" name="Google Shape;84;p12"/>
          <p:cNvSpPr/>
          <p:nvPr/>
        </p:nvSpPr>
        <p:spPr>
          <a:xfrm>
            <a:off x="7205825" y="2974350"/>
            <a:ext cx="1372800" cy="7422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a:latin typeface="M PLUS 1p"/>
                <a:ea typeface="M PLUS 1p"/>
                <a:cs typeface="M PLUS 1p"/>
                <a:sym typeface="M PLUS 1p"/>
              </a:rPr>
              <a:t>中長期の</a:t>
            </a:r>
            <a:endParaRPr>
              <a:latin typeface="M PLUS 1p"/>
              <a:ea typeface="M PLUS 1p"/>
              <a:cs typeface="M PLUS 1p"/>
              <a:sym typeface="M PLUS 1p"/>
            </a:endParaRPr>
          </a:p>
          <a:p>
            <a:pPr indent="0" lvl="0" marL="0" rtl="0" algn="ctr">
              <a:spcBef>
                <a:spcPts val="0"/>
              </a:spcBef>
              <a:spcAft>
                <a:spcPts val="0"/>
              </a:spcAft>
              <a:buNone/>
            </a:pPr>
            <a:r>
              <a:rPr lang="ja">
                <a:latin typeface="M PLUS 1p"/>
                <a:ea typeface="M PLUS 1p"/>
                <a:cs typeface="M PLUS 1p"/>
                <a:sym typeface="M PLUS 1p"/>
              </a:rPr>
              <a:t>継続/LTV向上</a:t>
            </a:r>
            <a:endParaRPr>
              <a:latin typeface="M PLUS 1p"/>
              <a:ea typeface="M PLUS 1p"/>
              <a:cs typeface="M PLUS 1p"/>
              <a:sym typeface="M PLUS 1p"/>
            </a:endParaRPr>
          </a:p>
        </p:txBody>
      </p:sp>
      <p:cxnSp>
        <p:nvCxnSpPr>
          <p:cNvPr id="85" name="Google Shape;85;p12"/>
          <p:cNvCxnSpPr>
            <a:stCxn id="81" idx="3"/>
            <a:endCxn id="82" idx="1"/>
          </p:cNvCxnSpPr>
          <p:nvPr/>
        </p:nvCxnSpPr>
        <p:spPr>
          <a:xfrm>
            <a:off x="2085100" y="3345450"/>
            <a:ext cx="791700" cy="0"/>
          </a:xfrm>
          <a:prstGeom prst="straightConnector1">
            <a:avLst/>
          </a:prstGeom>
          <a:noFill/>
          <a:ln cap="flat" cmpd="sng" w="9525">
            <a:solidFill>
              <a:schemeClr val="dk2"/>
            </a:solidFill>
            <a:prstDash val="solid"/>
            <a:round/>
            <a:headEnd len="med" w="med" type="none"/>
            <a:tailEnd len="med" w="med" type="triangle"/>
          </a:ln>
        </p:spPr>
      </p:cxnSp>
      <p:cxnSp>
        <p:nvCxnSpPr>
          <p:cNvPr id="86" name="Google Shape;86;p12"/>
          <p:cNvCxnSpPr>
            <a:stCxn id="82" idx="3"/>
            <a:endCxn id="83" idx="1"/>
          </p:cNvCxnSpPr>
          <p:nvPr/>
        </p:nvCxnSpPr>
        <p:spPr>
          <a:xfrm>
            <a:off x="4249608" y="3345450"/>
            <a:ext cx="791700" cy="0"/>
          </a:xfrm>
          <a:prstGeom prst="straightConnector1">
            <a:avLst/>
          </a:prstGeom>
          <a:noFill/>
          <a:ln cap="flat" cmpd="sng" w="9525">
            <a:solidFill>
              <a:schemeClr val="dk2"/>
            </a:solidFill>
            <a:prstDash val="solid"/>
            <a:round/>
            <a:headEnd len="med" w="med" type="none"/>
            <a:tailEnd len="med" w="med" type="triangle"/>
          </a:ln>
        </p:spPr>
      </p:cxnSp>
      <p:cxnSp>
        <p:nvCxnSpPr>
          <p:cNvPr id="87" name="Google Shape;87;p12"/>
          <p:cNvCxnSpPr>
            <a:stCxn id="83" idx="3"/>
            <a:endCxn id="84" idx="1"/>
          </p:cNvCxnSpPr>
          <p:nvPr/>
        </p:nvCxnSpPr>
        <p:spPr>
          <a:xfrm>
            <a:off x="6414117" y="3345450"/>
            <a:ext cx="791700" cy="0"/>
          </a:xfrm>
          <a:prstGeom prst="straightConnector1">
            <a:avLst/>
          </a:prstGeom>
          <a:noFill/>
          <a:ln cap="flat" cmpd="sng" w="9525">
            <a:solidFill>
              <a:schemeClr val="dk2"/>
            </a:solidFill>
            <a:prstDash val="solid"/>
            <a:round/>
            <a:headEnd len="med" w="med" type="none"/>
            <a:tailEnd len="med" w="med" type="triangle"/>
          </a:ln>
        </p:spPr>
      </p:cxnSp>
      <p:sp>
        <p:nvSpPr>
          <p:cNvPr id="88" name="Google Shape;88;p12"/>
          <p:cNvSpPr/>
          <p:nvPr/>
        </p:nvSpPr>
        <p:spPr>
          <a:xfrm>
            <a:off x="902375" y="4005125"/>
            <a:ext cx="2360100" cy="846900"/>
          </a:xfrm>
          <a:prstGeom prst="wedgeRoundRectCallout">
            <a:avLst>
              <a:gd fmla="val 15436" name="adj1"/>
              <a:gd fmla="val -70489" name="adj2"/>
              <a:gd fmla="val 0" name="adj3"/>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1200" u="sng">
                <a:solidFill>
                  <a:schemeClr val="hlink"/>
                </a:solidFill>
                <a:latin typeface="M PLUS 1p"/>
                <a:ea typeface="M PLUS 1p"/>
                <a:cs typeface="M PLUS 1p"/>
                <a:sym typeface="M PLUS 1p"/>
                <a:hlinkClick r:id="rId3"/>
              </a:rPr>
              <a:t>翌月継続率の構造化分析①</a:t>
            </a:r>
            <a:endParaRPr sz="1200">
              <a:latin typeface="M PLUS 1p"/>
              <a:ea typeface="M PLUS 1p"/>
              <a:cs typeface="M PLUS 1p"/>
              <a:sym typeface="M PLUS 1p"/>
            </a:endParaRPr>
          </a:p>
          <a:p>
            <a:pPr indent="0" lvl="0" marL="0" rtl="0" algn="ctr">
              <a:spcBef>
                <a:spcPts val="0"/>
              </a:spcBef>
              <a:spcAft>
                <a:spcPts val="0"/>
              </a:spcAft>
              <a:buClr>
                <a:schemeClr val="dk1"/>
              </a:buClr>
              <a:buSzPts val="1100"/>
              <a:buFont typeface="Arial"/>
              <a:buNone/>
            </a:pPr>
            <a:r>
              <a:rPr lang="ja" sz="1200" u="sng">
                <a:solidFill>
                  <a:schemeClr val="hlink"/>
                </a:solidFill>
                <a:latin typeface="M PLUS 1p"/>
                <a:ea typeface="M PLUS 1p"/>
                <a:cs typeface="M PLUS 1p"/>
                <a:sym typeface="M PLUS 1p"/>
                <a:hlinkClick r:id="rId4"/>
              </a:rPr>
              <a:t>翌月継続率の構造化分析②</a:t>
            </a:r>
            <a:endParaRPr sz="1200">
              <a:latin typeface="M PLUS 1p"/>
              <a:ea typeface="M PLUS 1p"/>
              <a:cs typeface="M PLUS 1p"/>
              <a:sym typeface="M PLUS 1p"/>
            </a:endParaRPr>
          </a:p>
        </p:txBody>
      </p:sp>
      <p:sp>
        <p:nvSpPr>
          <p:cNvPr id="89" name="Google Shape;89;p12"/>
          <p:cNvSpPr/>
          <p:nvPr/>
        </p:nvSpPr>
        <p:spPr>
          <a:xfrm>
            <a:off x="4054025" y="1948813"/>
            <a:ext cx="2360100" cy="846900"/>
          </a:xfrm>
          <a:prstGeom prst="wedgeRoundRectCallout">
            <a:avLst>
              <a:gd fmla="val -26779" name="adj1"/>
              <a:gd fmla="val 72321" name="adj2"/>
              <a:gd fmla="val 0" name="adj3"/>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1200" u="sng">
                <a:solidFill>
                  <a:schemeClr val="hlink"/>
                </a:solidFill>
                <a:latin typeface="M PLUS 1p"/>
                <a:ea typeface="M PLUS 1p"/>
                <a:cs typeface="M PLUS 1p"/>
                <a:sym typeface="M PLUS 1p"/>
                <a:hlinkClick action="ppaction://hlinksldjump" r:id="rId5"/>
              </a:rPr>
              <a:t>3ヶ月</a:t>
            </a:r>
            <a:r>
              <a:rPr lang="ja" sz="1200" u="sng">
                <a:solidFill>
                  <a:schemeClr val="hlink"/>
                </a:solidFill>
                <a:latin typeface="M PLUS 1p"/>
                <a:ea typeface="M PLUS 1p"/>
                <a:cs typeface="M PLUS 1p"/>
                <a:sym typeface="M PLUS 1p"/>
                <a:hlinkClick action="ppaction://hlinksldjump" r:id="rId6"/>
              </a:rPr>
              <a:t>連続掲載</a:t>
            </a:r>
            <a:r>
              <a:rPr lang="ja" sz="1200" u="sng">
                <a:solidFill>
                  <a:schemeClr val="hlink"/>
                </a:solidFill>
                <a:latin typeface="M PLUS 1p"/>
                <a:ea typeface="M PLUS 1p"/>
                <a:cs typeface="M PLUS 1p"/>
                <a:sym typeface="M PLUS 1p"/>
                <a:hlinkClick action="ppaction://hlinksldjump" r:id="rId7"/>
              </a:rPr>
              <a:t>と</a:t>
            </a:r>
            <a:endParaRPr sz="1200">
              <a:latin typeface="M PLUS 1p"/>
              <a:ea typeface="M PLUS 1p"/>
              <a:cs typeface="M PLUS 1p"/>
              <a:sym typeface="M PLUS 1p"/>
            </a:endParaRPr>
          </a:p>
          <a:p>
            <a:pPr indent="0" lvl="0" marL="0" rtl="0" algn="ctr">
              <a:spcBef>
                <a:spcPts val="0"/>
              </a:spcBef>
              <a:spcAft>
                <a:spcPts val="0"/>
              </a:spcAft>
              <a:buNone/>
            </a:pPr>
            <a:r>
              <a:rPr lang="ja" sz="1200" u="sng">
                <a:solidFill>
                  <a:schemeClr val="hlink"/>
                </a:solidFill>
                <a:latin typeface="M PLUS 1p"/>
                <a:ea typeface="M PLUS 1p"/>
                <a:cs typeface="M PLUS 1p"/>
                <a:sym typeface="M PLUS 1p"/>
                <a:hlinkClick action="ppaction://hlinksldjump" r:id="rId8"/>
              </a:rPr>
              <a:t>中長期の継続に効くレバーの探索</a:t>
            </a:r>
            <a:endParaRPr sz="1200">
              <a:latin typeface="M PLUS 1p"/>
              <a:ea typeface="M PLUS 1p"/>
              <a:cs typeface="M PLUS 1p"/>
              <a:sym typeface="M PLUS 1p"/>
            </a:endParaRPr>
          </a:p>
        </p:txBody>
      </p:sp>
      <p:sp>
        <p:nvSpPr>
          <p:cNvPr id="90" name="Google Shape;90;p12"/>
          <p:cNvSpPr/>
          <p:nvPr/>
        </p:nvSpPr>
        <p:spPr>
          <a:xfrm>
            <a:off x="5178200" y="4005113"/>
            <a:ext cx="2360100" cy="846900"/>
          </a:xfrm>
          <a:prstGeom prst="wedgeRoundRectCallout">
            <a:avLst>
              <a:gd fmla="val 22645" name="adj1"/>
              <a:gd fmla="val -78686" name="adj2"/>
              <a:gd fmla="val 0" name="adj3"/>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1200" u="sng">
                <a:solidFill>
                  <a:schemeClr val="hlink"/>
                </a:solidFill>
                <a:latin typeface="M PLUS 1p"/>
                <a:ea typeface="M PLUS 1p"/>
                <a:cs typeface="M PLUS 1p"/>
                <a:sym typeface="M PLUS 1p"/>
                <a:hlinkClick r:id="rId9"/>
              </a:rPr>
              <a:t>利用中期における</a:t>
            </a:r>
            <a:endParaRPr sz="1200">
              <a:latin typeface="M PLUS 1p"/>
              <a:ea typeface="M PLUS 1p"/>
              <a:cs typeface="M PLUS 1p"/>
              <a:sym typeface="M PLUS 1p"/>
            </a:endParaRPr>
          </a:p>
          <a:p>
            <a:pPr indent="0" lvl="0" marL="0" rtl="0" algn="ctr">
              <a:spcBef>
                <a:spcPts val="0"/>
              </a:spcBef>
              <a:spcAft>
                <a:spcPts val="0"/>
              </a:spcAft>
              <a:buNone/>
            </a:pPr>
            <a:r>
              <a:rPr lang="ja" sz="1200" u="sng">
                <a:solidFill>
                  <a:schemeClr val="hlink"/>
                </a:solidFill>
                <a:latin typeface="M PLUS 1p"/>
                <a:ea typeface="M PLUS 1p"/>
                <a:cs typeface="M PLUS 1p"/>
                <a:sym typeface="M PLUS 1p"/>
                <a:hlinkClick r:id="rId10"/>
              </a:rPr>
              <a:t>継続/利用拡大の分析</a:t>
            </a:r>
            <a:endParaRPr sz="1200">
              <a:latin typeface="M PLUS 1p"/>
              <a:ea typeface="M PLUS 1p"/>
              <a:cs typeface="M PLUS 1p"/>
              <a:sym typeface="M PLUS 1p"/>
            </a:endParaRPr>
          </a:p>
        </p:txBody>
      </p:sp>
      <p:sp>
        <p:nvSpPr>
          <p:cNvPr id="91" name="Google Shape;91;p12"/>
          <p:cNvSpPr/>
          <p:nvPr/>
        </p:nvSpPr>
        <p:spPr>
          <a:xfrm>
            <a:off x="3963475" y="1832500"/>
            <a:ext cx="2547600" cy="1081200"/>
          </a:xfrm>
          <a:prstGeom prst="rect">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2" name="Google Shape;92;p12"/>
          <p:cNvSpPr/>
          <p:nvPr/>
        </p:nvSpPr>
        <p:spPr>
          <a:xfrm>
            <a:off x="3074975" y="2175463"/>
            <a:ext cx="8328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ja" sz="1200">
                <a:solidFill>
                  <a:srgbClr val="FF0000"/>
                </a:solidFill>
                <a:latin typeface="M PLUS 1p"/>
                <a:ea typeface="M PLUS 1p"/>
                <a:cs typeface="M PLUS 1p"/>
                <a:sym typeface="M PLUS 1p"/>
              </a:rPr>
              <a:t>本資料→</a:t>
            </a:r>
            <a:endParaRPr sz="1200">
              <a:solidFill>
                <a:srgbClr val="FF0000"/>
              </a:solidFill>
              <a:latin typeface="M PLUS 1p"/>
              <a:ea typeface="M PLUS 1p"/>
              <a:cs typeface="M PLUS 1p"/>
              <a:sym typeface="M PLUS 1p"/>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6" name="Shape 96"/>
        <p:cNvGrpSpPr/>
        <p:nvPr/>
      </p:nvGrpSpPr>
      <p:grpSpPr>
        <a:xfrm>
          <a:off x="0" y="0"/>
          <a:ext cx="0" cy="0"/>
          <a:chOff x="0" y="0"/>
          <a:chExt cx="0" cy="0"/>
        </a:xfrm>
      </p:grpSpPr>
      <p:sp>
        <p:nvSpPr>
          <p:cNvPr id="97" name="Google Shape;97;p13"/>
          <p:cNvSpPr txBox="1"/>
          <p:nvPr/>
        </p:nvSpPr>
        <p:spPr>
          <a:xfrm>
            <a:off x="432350" y="784375"/>
            <a:ext cx="8313600" cy="1146600"/>
          </a:xfrm>
          <a:prstGeom prst="rect">
            <a:avLst/>
          </a:prstGeom>
          <a:noFill/>
          <a:ln>
            <a:noFill/>
          </a:ln>
        </p:spPr>
        <p:txBody>
          <a:bodyPr anchorCtr="0" anchor="t" bIns="91425" lIns="91425" spcFirstLastPara="1" rIns="91425" wrap="square" tIns="91425">
            <a:noAutofit/>
          </a:bodyPr>
          <a:lstStyle/>
          <a:p>
            <a:pPr indent="-317500" lvl="0" marL="457200" rtl="0" algn="l">
              <a:lnSpc>
                <a:spcPct val="120000"/>
              </a:lnSpc>
              <a:spcBef>
                <a:spcPts val="0"/>
              </a:spcBef>
              <a:spcAft>
                <a:spcPts val="0"/>
              </a:spcAft>
              <a:buClr>
                <a:srgbClr val="1F1F1F"/>
              </a:buClr>
              <a:buSzPts val="1400"/>
              <a:buFont typeface="M PLUS 1p"/>
              <a:buChar char="●"/>
            </a:pPr>
            <a:r>
              <a:rPr lang="ja">
                <a:solidFill>
                  <a:srgbClr val="1F1F1F"/>
                </a:solidFill>
                <a:latin typeface="M PLUS 1p"/>
                <a:ea typeface="M PLUS 1p"/>
                <a:cs typeface="M PLUS 1p"/>
                <a:sym typeface="M PLUS 1p"/>
              </a:rPr>
              <a:t>利用開始から</a:t>
            </a:r>
            <a:r>
              <a:rPr lang="ja">
                <a:solidFill>
                  <a:srgbClr val="FF0000"/>
                </a:solidFill>
                <a:latin typeface="M PLUS 1p"/>
                <a:ea typeface="M PLUS 1p"/>
                <a:cs typeface="M PLUS 1p"/>
                <a:sym typeface="M PLUS 1p"/>
              </a:rPr>
              <a:t>3ヶ月連続</a:t>
            </a:r>
            <a:r>
              <a:rPr lang="ja">
                <a:solidFill>
                  <a:srgbClr val="1F1F1F"/>
                </a:solidFill>
                <a:latin typeface="M PLUS 1p"/>
                <a:ea typeface="M PLUS 1p"/>
                <a:cs typeface="M PLUS 1p"/>
                <a:sym typeface="M PLUS 1p"/>
              </a:rPr>
              <a:t>で掲載すると、その後継続しやすく、また仮に3ヶ月連続掲載後に離脱したとしても、復活しやすい</a:t>
            </a:r>
            <a:endParaRPr>
              <a:solidFill>
                <a:srgbClr val="1F1F1F"/>
              </a:solidFill>
              <a:latin typeface="M PLUS 1p"/>
              <a:ea typeface="M PLUS 1p"/>
              <a:cs typeface="M PLUS 1p"/>
              <a:sym typeface="M PLUS 1p"/>
            </a:endParaRPr>
          </a:p>
          <a:p>
            <a:pPr indent="-317500" lvl="0" marL="457200" rtl="0" algn="l">
              <a:lnSpc>
                <a:spcPct val="120000"/>
              </a:lnSpc>
              <a:spcBef>
                <a:spcPts val="0"/>
              </a:spcBef>
              <a:spcAft>
                <a:spcPts val="0"/>
              </a:spcAft>
              <a:buClr>
                <a:srgbClr val="1F1F1F"/>
              </a:buClr>
              <a:buSzPts val="1400"/>
              <a:buFont typeface="M PLUS 1p"/>
              <a:buChar char="●"/>
            </a:pPr>
            <a:r>
              <a:rPr lang="ja">
                <a:solidFill>
                  <a:srgbClr val="1F1F1F"/>
                </a:solidFill>
                <a:latin typeface="M PLUS 1p"/>
                <a:ea typeface="M PLUS 1p"/>
                <a:cs typeface="M PLUS 1p"/>
                <a:sym typeface="M PLUS 1p"/>
              </a:rPr>
              <a:t>「3ヶ月連続掲載」を増やすためにはどうすべきか、また「3ヶ月連続掲載」しなかったときどうしたら復活できるかを分析</a:t>
            </a:r>
            <a:endParaRPr>
              <a:solidFill>
                <a:srgbClr val="1F1F1F"/>
              </a:solidFill>
              <a:latin typeface="M PLUS 1p"/>
              <a:ea typeface="M PLUS 1p"/>
              <a:cs typeface="M PLUS 1p"/>
              <a:sym typeface="M PLUS 1p"/>
            </a:endParaRPr>
          </a:p>
        </p:txBody>
      </p:sp>
      <p:sp>
        <p:nvSpPr>
          <p:cNvPr id="98" name="Google Shape;98;p13"/>
          <p:cNvSpPr/>
          <p:nvPr/>
        </p:nvSpPr>
        <p:spPr>
          <a:xfrm>
            <a:off x="342900" y="365275"/>
            <a:ext cx="342900" cy="342900"/>
          </a:xfrm>
          <a:prstGeom prst="ellipse">
            <a:avLst/>
          </a:prstGeom>
          <a:solidFill>
            <a:srgbClr val="FFD7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13"/>
          <p:cNvSpPr txBox="1"/>
          <p:nvPr/>
        </p:nvSpPr>
        <p:spPr>
          <a:xfrm>
            <a:off x="387600" y="335450"/>
            <a:ext cx="298200" cy="30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300">
                <a:solidFill>
                  <a:srgbClr val="FFFFFF"/>
                </a:solidFill>
                <a:latin typeface="Zen Kaku Gothic New"/>
                <a:ea typeface="Zen Kaku Gothic New"/>
                <a:cs typeface="Zen Kaku Gothic New"/>
                <a:sym typeface="Zen Kaku Gothic New"/>
              </a:rPr>
              <a:t>2</a:t>
            </a:r>
            <a:endParaRPr b="1" sz="1300">
              <a:solidFill>
                <a:srgbClr val="FFFFFF"/>
              </a:solidFill>
              <a:latin typeface="Zen Kaku Gothic New"/>
              <a:ea typeface="Zen Kaku Gothic New"/>
              <a:cs typeface="Zen Kaku Gothic New"/>
              <a:sym typeface="Zen Kaku Gothic New"/>
            </a:endParaRPr>
          </a:p>
        </p:txBody>
      </p:sp>
      <p:sp>
        <p:nvSpPr>
          <p:cNvPr id="100" name="Google Shape;100;p13"/>
          <p:cNvSpPr txBox="1"/>
          <p:nvPr/>
        </p:nvSpPr>
        <p:spPr>
          <a:xfrm>
            <a:off x="712300" y="294475"/>
            <a:ext cx="7325400" cy="48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2000">
                <a:solidFill>
                  <a:srgbClr val="1F1F1F"/>
                </a:solidFill>
                <a:latin typeface="M PLUS 1p"/>
                <a:ea typeface="M PLUS 1p"/>
                <a:cs typeface="M PLUS 1p"/>
                <a:sym typeface="M PLUS 1p"/>
              </a:rPr>
              <a:t>Executive Summary</a:t>
            </a:r>
            <a:endParaRPr b="1" sz="2000">
              <a:solidFill>
                <a:srgbClr val="1F1F1F"/>
              </a:solidFill>
              <a:latin typeface="M PLUS 1p"/>
              <a:ea typeface="M PLUS 1p"/>
              <a:cs typeface="M PLUS 1p"/>
              <a:sym typeface="M PLUS 1p"/>
            </a:endParaRPr>
          </a:p>
        </p:txBody>
      </p:sp>
      <p:sp>
        <p:nvSpPr>
          <p:cNvPr id="101" name="Google Shape;101;p13"/>
          <p:cNvSpPr txBox="1"/>
          <p:nvPr/>
        </p:nvSpPr>
        <p:spPr>
          <a:xfrm>
            <a:off x="8136000" y="104275"/>
            <a:ext cx="916800" cy="190200"/>
          </a:xfrm>
          <a:prstGeom prst="rect">
            <a:avLst/>
          </a:prstGeom>
          <a:solidFill>
            <a:srgbClr val="DC0451"/>
          </a:solidFill>
          <a:ln>
            <a:noFill/>
          </a:ln>
        </p:spPr>
        <p:txBody>
          <a:bodyPr anchorCtr="0" anchor="t" bIns="91425" lIns="91425" spcFirstLastPara="1" rIns="91425" wrap="square" tIns="91425">
            <a:noAutofit/>
          </a:bodyPr>
          <a:lstStyle/>
          <a:p>
            <a:pPr indent="0" lvl="0" marL="0" rtl="0" algn="ctr">
              <a:lnSpc>
                <a:spcPct val="50000"/>
              </a:lnSpc>
              <a:spcBef>
                <a:spcPts val="0"/>
              </a:spcBef>
              <a:spcAft>
                <a:spcPts val="0"/>
              </a:spcAft>
              <a:buNone/>
            </a:pPr>
            <a:r>
              <a:rPr b="1" lang="ja" sz="700">
                <a:solidFill>
                  <a:srgbClr val="FFFFFF"/>
                </a:solidFill>
                <a:latin typeface="M PLUS 1p"/>
                <a:ea typeface="M PLUS 1p"/>
                <a:cs typeface="M PLUS 1p"/>
                <a:sym typeface="M PLUS 1p"/>
              </a:rPr>
              <a:t>CONFIDENTIAL</a:t>
            </a:r>
            <a:endParaRPr b="1" sz="700">
              <a:solidFill>
                <a:srgbClr val="FFFFFF"/>
              </a:solidFill>
              <a:latin typeface="M PLUS 1p"/>
              <a:ea typeface="M PLUS 1p"/>
              <a:cs typeface="M PLUS 1p"/>
              <a:sym typeface="M PLUS 1p"/>
            </a:endParaRPr>
          </a:p>
        </p:txBody>
      </p:sp>
      <p:sp>
        <p:nvSpPr>
          <p:cNvPr id="102" name="Google Shape;102;p1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graphicFrame>
        <p:nvGraphicFramePr>
          <p:cNvPr id="103" name="Google Shape;103;p13"/>
          <p:cNvGraphicFramePr/>
          <p:nvPr/>
        </p:nvGraphicFramePr>
        <p:xfrm>
          <a:off x="342900" y="1964025"/>
          <a:ext cx="3000000" cy="3000000"/>
        </p:xfrm>
        <a:graphic>
          <a:graphicData uri="http://schemas.openxmlformats.org/drawingml/2006/table">
            <a:tbl>
              <a:tblPr>
                <a:noFill/>
                <a:tableStyleId>{BF8EDBD9-CB3C-42A3-955A-0CF7C7B87A50}</a:tableStyleId>
              </a:tblPr>
              <a:tblGrid>
                <a:gridCol w="1582950"/>
                <a:gridCol w="3700800"/>
                <a:gridCol w="3071175"/>
              </a:tblGrid>
              <a:tr h="287025">
                <a:tc>
                  <a:txBody>
                    <a:bodyPr/>
                    <a:lstStyle/>
                    <a:p>
                      <a:pPr indent="0" lvl="0" marL="0" rtl="0" algn="l">
                        <a:spcBef>
                          <a:spcPts val="0"/>
                        </a:spcBef>
                        <a:spcAft>
                          <a:spcPts val="0"/>
                        </a:spcAft>
                        <a:buNone/>
                      </a:pPr>
                      <a:r>
                        <a:rPr b="1" lang="ja" sz="1200">
                          <a:latin typeface="M PLUS 1p"/>
                          <a:ea typeface="M PLUS 1p"/>
                          <a:cs typeface="M PLUS 1p"/>
                          <a:sym typeface="M PLUS 1p"/>
                        </a:rPr>
                        <a:t>カテゴリ</a:t>
                      </a:r>
                      <a:endParaRPr b="1" sz="1200">
                        <a:latin typeface="M PLUS 1p"/>
                        <a:ea typeface="M PLUS 1p"/>
                        <a:cs typeface="M PLUS 1p"/>
                        <a:sym typeface="M PLUS 1p"/>
                      </a:endParaRPr>
                    </a:p>
                  </a:txBody>
                  <a:tcPr marT="91425" marB="91425" marR="91425" marL="91425">
                    <a:solidFill>
                      <a:srgbClr val="EFEFEF"/>
                    </a:solidFill>
                  </a:tcPr>
                </a:tc>
                <a:tc>
                  <a:txBody>
                    <a:bodyPr/>
                    <a:lstStyle/>
                    <a:p>
                      <a:pPr indent="0" lvl="0" marL="0" rtl="0" algn="l">
                        <a:spcBef>
                          <a:spcPts val="0"/>
                        </a:spcBef>
                        <a:spcAft>
                          <a:spcPts val="0"/>
                        </a:spcAft>
                        <a:buNone/>
                      </a:pPr>
                      <a:r>
                        <a:rPr b="1" lang="ja" sz="1200">
                          <a:latin typeface="M PLUS 1p"/>
                          <a:ea typeface="M PLUS 1p"/>
                          <a:cs typeface="M PLUS 1p"/>
                          <a:sym typeface="M PLUS 1p"/>
                        </a:rPr>
                        <a:t>ファクト</a:t>
                      </a:r>
                      <a:endParaRPr b="1" sz="1200">
                        <a:latin typeface="M PLUS 1p"/>
                        <a:ea typeface="M PLUS 1p"/>
                        <a:cs typeface="M PLUS 1p"/>
                        <a:sym typeface="M PLUS 1p"/>
                      </a:endParaRPr>
                    </a:p>
                  </a:txBody>
                  <a:tcPr marT="91425" marB="91425" marR="91425" marL="91425">
                    <a:solidFill>
                      <a:srgbClr val="EFEFEF"/>
                    </a:solidFill>
                  </a:tcPr>
                </a:tc>
                <a:tc>
                  <a:txBody>
                    <a:bodyPr/>
                    <a:lstStyle/>
                    <a:p>
                      <a:pPr indent="0" lvl="0" marL="0" rtl="0" algn="l">
                        <a:spcBef>
                          <a:spcPts val="0"/>
                        </a:spcBef>
                        <a:spcAft>
                          <a:spcPts val="0"/>
                        </a:spcAft>
                        <a:buNone/>
                      </a:pPr>
                      <a:r>
                        <a:rPr b="1" lang="ja" sz="1200">
                          <a:latin typeface="M PLUS 1p"/>
                          <a:ea typeface="M PLUS 1p"/>
                          <a:cs typeface="M PLUS 1p"/>
                          <a:sym typeface="M PLUS 1p"/>
                        </a:rPr>
                        <a:t>提案</a:t>
                      </a:r>
                      <a:endParaRPr b="1" sz="1200">
                        <a:latin typeface="M PLUS 1p"/>
                        <a:ea typeface="M PLUS 1p"/>
                        <a:cs typeface="M PLUS 1p"/>
                        <a:sym typeface="M PLUS 1p"/>
                      </a:endParaRPr>
                    </a:p>
                  </a:txBody>
                  <a:tcPr marT="91425" marB="91425" marR="91425" marL="91425">
                    <a:solidFill>
                      <a:srgbClr val="EFEFEF"/>
                    </a:solidFill>
                  </a:tcPr>
                </a:tc>
              </a:tr>
              <a:tr h="326800">
                <a:tc rowSpan="2">
                  <a:txBody>
                    <a:bodyPr/>
                    <a:lstStyle/>
                    <a:p>
                      <a:pPr indent="0" lvl="0" marL="0" rtl="0" algn="l">
                        <a:spcBef>
                          <a:spcPts val="0"/>
                        </a:spcBef>
                        <a:spcAft>
                          <a:spcPts val="0"/>
                        </a:spcAft>
                        <a:buNone/>
                      </a:pPr>
                      <a:r>
                        <a:rPr lang="ja" sz="1200">
                          <a:latin typeface="M PLUS 1p"/>
                          <a:ea typeface="M PLUS 1p"/>
                          <a:cs typeface="M PLUS 1p"/>
                          <a:sym typeface="M PLUS 1p"/>
                        </a:rPr>
                        <a:t>3ヶ月連続掲載</a:t>
                      </a:r>
                      <a:br>
                        <a:rPr lang="ja" sz="1200">
                          <a:latin typeface="M PLUS 1p"/>
                          <a:ea typeface="M PLUS 1p"/>
                          <a:cs typeface="M PLUS 1p"/>
                          <a:sym typeface="M PLUS 1p"/>
                        </a:rPr>
                      </a:br>
                      <a:r>
                        <a:rPr lang="ja" sz="1200">
                          <a:latin typeface="M PLUS 1p"/>
                          <a:ea typeface="M PLUS 1p"/>
                          <a:cs typeface="M PLUS 1p"/>
                          <a:sym typeface="M PLUS 1p"/>
                        </a:rPr>
                        <a:t>するためには？</a:t>
                      </a:r>
                      <a:endParaRPr sz="1200">
                        <a:latin typeface="M PLUS 1p"/>
                        <a:ea typeface="M PLUS 1p"/>
                        <a:cs typeface="M PLUS 1p"/>
                        <a:sym typeface="M PLUS 1p"/>
                      </a:endParaRPr>
                    </a:p>
                  </a:txBody>
                  <a:tcPr marT="91425" marB="91425" marR="91425" marL="91425">
                    <a:solidFill>
                      <a:schemeClr val="lt1"/>
                    </a:solidFill>
                  </a:tcPr>
                </a:tc>
                <a:tc>
                  <a:txBody>
                    <a:bodyPr/>
                    <a:lstStyle/>
                    <a:p>
                      <a:pPr indent="0" lvl="0" marL="0" rtl="0" algn="l">
                        <a:spcBef>
                          <a:spcPts val="0"/>
                        </a:spcBef>
                        <a:spcAft>
                          <a:spcPts val="0"/>
                        </a:spcAft>
                        <a:buNone/>
                      </a:pPr>
                      <a:r>
                        <a:rPr lang="ja" sz="1200">
                          <a:solidFill>
                            <a:srgbClr val="FF0000"/>
                          </a:solidFill>
                          <a:latin typeface="M PLUS 1p"/>
                          <a:ea typeface="M PLUS 1p"/>
                          <a:cs typeface="M PLUS 1p"/>
                          <a:sym typeface="M PLUS 1p"/>
                        </a:rPr>
                        <a:t>複数の曜日・時間帯</a:t>
                      </a:r>
                      <a:r>
                        <a:rPr lang="ja" sz="1200">
                          <a:latin typeface="M PLUS 1p"/>
                          <a:ea typeface="M PLUS 1p"/>
                          <a:cs typeface="M PLUS 1p"/>
                          <a:sym typeface="M PLUS 1p"/>
                        </a:rPr>
                        <a:t>で掲載すると、3ヶ月</a:t>
                      </a:r>
                      <a:r>
                        <a:rPr lang="ja" sz="1200">
                          <a:latin typeface="M PLUS 1p"/>
                          <a:ea typeface="M PLUS 1p"/>
                          <a:cs typeface="M PLUS 1p"/>
                          <a:sym typeface="M PLUS 1p"/>
                        </a:rPr>
                        <a:t>連続掲載</a:t>
                      </a:r>
                      <a:r>
                        <a:rPr lang="ja" sz="1200">
                          <a:latin typeface="M PLUS 1p"/>
                          <a:ea typeface="M PLUS 1p"/>
                          <a:cs typeface="M PLUS 1p"/>
                          <a:sym typeface="M PLUS 1p"/>
                        </a:rPr>
                        <a:t>率が高い</a:t>
                      </a:r>
                      <a:endParaRPr sz="1200">
                        <a:latin typeface="M PLUS 1p"/>
                        <a:ea typeface="M PLUS 1p"/>
                        <a:cs typeface="M PLUS 1p"/>
                        <a:sym typeface="M PLUS 1p"/>
                      </a:endParaRPr>
                    </a:p>
                  </a:txBody>
                  <a:tcPr marT="91425" marB="91425" marR="91425" marL="91425">
                    <a:solidFill>
                      <a:schemeClr val="lt1"/>
                    </a:solidFill>
                  </a:tcPr>
                </a:tc>
                <a:tc>
                  <a:txBody>
                    <a:bodyPr/>
                    <a:lstStyle/>
                    <a:p>
                      <a:pPr indent="0" lvl="0" marL="0" rtl="0" algn="l">
                        <a:spcBef>
                          <a:spcPts val="0"/>
                        </a:spcBef>
                        <a:spcAft>
                          <a:spcPts val="0"/>
                        </a:spcAft>
                        <a:buNone/>
                      </a:pPr>
                      <a:r>
                        <a:rPr lang="ja" sz="1200">
                          <a:latin typeface="M PLUS 1p"/>
                          <a:ea typeface="M PLUS 1p"/>
                          <a:cs typeface="M PLUS 1p"/>
                          <a:sym typeface="M PLUS 1p"/>
                        </a:rPr>
                        <a:t>曜日・時間帯を増やしたり、長時間の求人を分割する提案が有効なのではないか</a:t>
                      </a:r>
                      <a:endParaRPr sz="1200">
                        <a:latin typeface="M PLUS 1p"/>
                        <a:ea typeface="M PLUS 1p"/>
                        <a:cs typeface="M PLUS 1p"/>
                        <a:sym typeface="M PLUS 1p"/>
                      </a:endParaRPr>
                    </a:p>
                  </a:txBody>
                  <a:tcPr marT="91425" marB="91425" marR="91425" marL="91425">
                    <a:solidFill>
                      <a:schemeClr val="lt1"/>
                    </a:solidFill>
                  </a:tcPr>
                </a:tc>
              </a:tr>
              <a:tr h="194850">
                <a:tc vMerge="1"/>
                <a:tc>
                  <a:txBody>
                    <a:bodyPr/>
                    <a:lstStyle/>
                    <a:p>
                      <a:pPr indent="0" lvl="0" marL="0" rtl="0" algn="l">
                        <a:spcBef>
                          <a:spcPts val="0"/>
                        </a:spcBef>
                        <a:spcAft>
                          <a:spcPts val="0"/>
                        </a:spcAft>
                        <a:buNone/>
                      </a:pPr>
                      <a:r>
                        <a:rPr lang="ja" sz="1200">
                          <a:latin typeface="M PLUS 1p"/>
                          <a:ea typeface="M PLUS 1p"/>
                          <a:cs typeface="M PLUS 1p"/>
                          <a:sym typeface="M PLUS 1p"/>
                        </a:rPr>
                        <a:t>初回募集後、管理画面に</a:t>
                      </a:r>
                      <a:r>
                        <a:rPr lang="ja" sz="1200">
                          <a:solidFill>
                            <a:srgbClr val="FF0000"/>
                          </a:solidFill>
                          <a:latin typeface="M PLUS 1p"/>
                          <a:ea typeface="M PLUS 1p"/>
                          <a:cs typeface="M PLUS 1p"/>
                          <a:sym typeface="M PLUS 1p"/>
                        </a:rPr>
                        <a:t>アクセスだけ</a:t>
                      </a:r>
                      <a:r>
                        <a:rPr lang="ja" sz="1200">
                          <a:latin typeface="M PLUS 1p"/>
                          <a:ea typeface="M PLUS 1p"/>
                          <a:cs typeface="M PLUS 1p"/>
                          <a:sym typeface="M PLUS 1p"/>
                        </a:rPr>
                        <a:t>して募集作成しない店舗が20%ほど存在</a:t>
                      </a:r>
                      <a:br>
                        <a:rPr lang="ja" sz="1200">
                          <a:latin typeface="M PLUS 1p"/>
                          <a:ea typeface="M PLUS 1p"/>
                          <a:cs typeface="M PLUS 1p"/>
                          <a:sym typeface="M PLUS 1p"/>
                        </a:rPr>
                      </a:br>
                      <a:r>
                        <a:rPr lang="ja" sz="1200">
                          <a:latin typeface="M PLUS 1p"/>
                          <a:ea typeface="M PLUS 1p"/>
                          <a:cs typeface="M PLUS 1p"/>
                          <a:sym typeface="M PLUS 1p"/>
                        </a:rPr>
                        <a:t>求人一覧や求人作成画面に訪問している店舗も</a:t>
                      </a:r>
                      <a:endParaRPr sz="1200">
                        <a:latin typeface="M PLUS 1p"/>
                        <a:ea typeface="M PLUS 1p"/>
                        <a:cs typeface="M PLUS 1p"/>
                        <a:sym typeface="M PLUS 1p"/>
                      </a:endParaRPr>
                    </a:p>
                  </a:txBody>
                  <a:tcPr marT="91425" marB="91425" marR="91425" marL="91425">
                    <a:solidFill>
                      <a:schemeClr val="lt1"/>
                    </a:solidFill>
                  </a:tcPr>
                </a:tc>
                <a:tc>
                  <a:txBody>
                    <a:bodyPr/>
                    <a:lstStyle/>
                    <a:p>
                      <a:pPr indent="0" lvl="0" marL="0" rtl="0" algn="l">
                        <a:spcBef>
                          <a:spcPts val="0"/>
                        </a:spcBef>
                        <a:spcAft>
                          <a:spcPts val="0"/>
                        </a:spcAft>
                        <a:buNone/>
                      </a:pPr>
                      <a:r>
                        <a:rPr lang="ja" sz="1200">
                          <a:solidFill>
                            <a:schemeClr val="dk1"/>
                          </a:solidFill>
                          <a:latin typeface="M PLUS 1p"/>
                          <a:ea typeface="M PLUS 1p"/>
                          <a:cs typeface="M PLUS 1p"/>
                          <a:sym typeface="M PLUS 1p"/>
                        </a:rPr>
                        <a:t>管理画面内で、テックタッチで募集作成を促すことが有効なのではないか</a:t>
                      </a:r>
                      <a:endParaRPr sz="1200">
                        <a:latin typeface="M PLUS 1p"/>
                        <a:ea typeface="M PLUS 1p"/>
                        <a:cs typeface="M PLUS 1p"/>
                        <a:sym typeface="M PLUS 1p"/>
                      </a:endParaRPr>
                    </a:p>
                  </a:txBody>
                  <a:tcPr marT="91425" marB="91425" marR="91425" marL="91425">
                    <a:solidFill>
                      <a:schemeClr val="lt1"/>
                    </a:solidFill>
                  </a:tcPr>
                </a:tc>
              </a:tr>
              <a:tr h="100000">
                <a:tc rowSpan="3">
                  <a:txBody>
                    <a:bodyPr/>
                    <a:lstStyle/>
                    <a:p>
                      <a:pPr indent="0" lvl="0" marL="0" rtl="0" algn="l">
                        <a:spcBef>
                          <a:spcPts val="0"/>
                        </a:spcBef>
                        <a:spcAft>
                          <a:spcPts val="0"/>
                        </a:spcAft>
                        <a:buNone/>
                      </a:pPr>
                      <a:r>
                        <a:rPr lang="ja" sz="1200">
                          <a:solidFill>
                            <a:schemeClr val="dk1"/>
                          </a:solidFill>
                          <a:latin typeface="M PLUS 1p"/>
                          <a:ea typeface="M PLUS 1p"/>
                          <a:cs typeface="M PLUS 1p"/>
                          <a:sym typeface="M PLUS 1p"/>
                        </a:rPr>
                        <a:t>3ヶ月連続掲載</a:t>
                      </a:r>
                      <a:br>
                        <a:rPr lang="ja" sz="1200">
                          <a:solidFill>
                            <a:schemeClr val="dk1"/>
                          </a:solidFill>
                          <a:latin typeface="M PLUS 1p"/>
                          <a:ea typeface="M PLUS 1p"/>
                          <a:cs typeface="M PLUS 1p"/>
                          <a:sym typeface="M PLUS 1p"/>
                        </a:rPr>
                      </a:br>
                      <a:r>
                        <a:rPr lang="ja" sz="1200">
                          <a:solidFill>
                            <a:schemeClr val="dk1"/>
                          </a:solidFill>
                          <a:latin typeface="M PLUS 1p"/>
                          <a:ea typeface="M PLUS 1p"/>
                          <a:cs typeface="M PLUS 1p"/>
                          <a:sym typeface="M PLUS 1p"/>
                        </a:rPr>
                        <a:t>しなかったときは？</a:t>
                      </a:r>
                      <a:endParaRPr sz="1200">
                        <a:latin typeface="M PLUS 1p"/>
                        <a:ea typeface="M PLUS 1p"/>
                        <a:cs typeface="M PLUS 1p"/>
                        <a:sym typeface="M PLUS 1p"/>
                      </a:endParaRPr>
                    </a:p>
                  </a:txBody>
                  <a:tcPr marT="91425" marB="91425" marR="91425" marL="91425">
                    <a:solidFill>
                      <a:schemeClr val="lt1"/>
                    </a:solidFill>
                  </a:tcPr>
                </a:tc>
                <a:tc>
                  <a:txBody>
                    <a:bodyPr/>
                    <a:lstStyle/>
                    <a:p>
                      <a:pPr indent="0" lvl="0" marL="0" rtl="0" algn="l">
                        <a:spcBef>
                          <a:spcPts val="0"/>
                        </a:spcBef>
                        <a:spcAft>
                          <a:spcPts val="0"/>
                        </a:spcAft>
                        <a:buNone/>
                      </a:pPr>
                      <a:r>
                        <a:rPr lang="ja" sz="1200">
                          <a:solidFill>
                            <a:srgbClr val="FF0000"/>
                          </a:solidFill>
                          <a:latin typeface="M PLUS 1p"/>
                          <a:ea typeface="M PLUS 1p"/>
                          <a:cs typeface="M PLUS 1p"/>
                          <a:sym typeface="M PLUS 1p"/>
                        </a:rPr>
                        <a:t>離脱期間は短い</a:t>
                      </a:r>
                      <a:r>
                        <a:rPr lang="ja" sz="1200">
                          <a:latin typeface="M PLUS 1p"/>
                          <a:ea typeface="M PLUS 1p"/>
                          <a:cs typeface="M PLUS 1p"/>
                          <a:sym typeface="M PLUS 1p"/>
                        </a:rPr>
                        <a:t>ほど、復活後に継続しやすい</a:t>
                      </a:r>
                      <a:endParaRPr sz="1200">
                        <a:latin typeface="M PLUS 1p"/>
                        <a:ea typeface="M PLUS 1p"/>
                        <a:cs typeface="M PLUS 1p"/>
                        <a:sym typeface="M PLUS 1p"/>
                      </a:endParaRPr>
                    </a:p>
                  </a:txBody>
                  <a:tcPr marT="91425" marB="91425" marR="91425" marL="91425">
                    <a:solidFill>
                      <a:schemeClr val="lt1"/>
                    </a:solidFill>
                  </a:tcPr>
                </a:tc>
                <a:tc>
                  <a:txBody>
                    <a:bodyPr/>
                    <a:lstStyle/>
                    <a:p>
                      <a:pPr indent="0" lvl="0" marL="0" rtl="0" algn="l">
                        <a:spcBef>
                          <a:spcPts val="0"/>
                        </a:spcBef>
                        <a:spcAft>
                          <a:spcPts val="0"/>
                        </a:spcAft>
                        <a:buNone/>
                      </a:pPr>
                      <a:r>
                        <a:rPr lang="ja" sz="1200">
                          <a:latin typeface="M PLUS 1p"/>
                          <a:ea typeface="M PLUS 1p"/>
                          <a:cs typeface="M PLUS 1p"/>
                          <a:sym typeface="M PLUS 1p"/>
                        </a:rPr>
                        <a:t>早めのアプローチが重要なのではないか</a:t>
                      </a:r>
                      <a:endParaRPr sz="1200">
                        <a:latin typeface="M PLUS 1p"/>
                        <a:ea typeface="M PLUS 1p"/>
                        <a:cs typeface="M PLUS 1p"/>
                        <a:sym typeface="M PLUS 1p"/>
                      </a:endParaRPr>
                    </a:p>
                  </a:txBody>
                  <a:tcPr marT="91425" marB="91425" marR="91425" marL="91425">
                    <a:solidFill>
                      <a:schemeClr val="lt1"/>
                    </a:solidFill>
                  </a:tcPr>
                </a:tc>
              </a:tr>
              <a:tr h="334450">
                <a:tc vMerge="1"/>
                <a:tc>
                  <a:txBody>
                    <a:bodyPr/>
                    <a:lstStyle/>
                    <a:p>
                      <a:pPr indent="0" lvl="0" marL="0" rtl="0" algn="l">
                        <a:spcBef>
                          <a:spcPts val="0"/>
                        </a:spcBef>
                        <a:spcAft>
                          <a:spcPts val="0"/>
                        </a:spcAft>
                        <a:buNone/>
                      </a:pPr>
                      <a:r>
                        <a:rPr lang="ja" sz="1200">
                          <a:latin typeface="M PLUS 1p"/>
                          <a:ea typeface="M PLUS 1p"/>
                          <a:cs typeface="M PLUS 1p"/>
                          <a:sym typeface="M PLUS 1p"/>
                        </a:rPr>
                        <a:t>休眠中に管理画面に</a:t>
                      </a:r>
                      <a:r>
                        <a:rPr lang="ja" sz="1200">
                          <a:solidFill>
                            <a:srgbClr val="FF0000"/>
                          </a:solidFill>
                          <a:latin typeface="M PLUS 1p"/>
                          <a:ea typeface="M PLUS 1p"/>
                          <a:cs typeface="M PLUS 1p"/>
                          <a:sym typeface="M PLUS 1p"/>
                        </a:rPr>
                        <a:t>ログイン</a:t>
                      </a:r>
                      <a:r>
                        <a:rPr lang="ja" sz="1200">
                          <a:latin typeface="M PLUS 1p"/>
                          <a:ea typeface="M PLUS 1p"/>
                          <a:cs typeface="M PLUS 1p"/>
                          <a:sym typeface="M PLUS 1p"/>
                        </a:rPr>
                        <a:t>すると復活しやすい</a:t>
                      </a:r>
                      <a:endParaRPr sz="1200">
                        <a:latin typeface="M PLUS 1p"/>
                        <a:ea typeface="M PLUS 1p"/>
                        <a:cs typeface="M PLUS 1p"/>
                        <a:sym typeface="M PLUS 1p"/>
                      </a:endParaRPr>
                    </a:p>
                  </a:txBody>
                  <a:tcPr marT="91425" marB="91425" marR="91425" marL="91425">
                    <a:solidFill>
                      <a:schemeClr val="lt1"/>
                    </a:solidFill>
                  </a:tcPr>
                </a:tc>
                <a:tc rowSpan="2">
                  <a:txBody>
                    <a:bodyPr/>
                    <a:lstStyle/>
                    <a:p>
                      <a:pPr indent="0" lvl="0" marL="0" rtl="0" algn="l">
                        <a:spcBef>
                          <a:spcPts val="0"/>
                        </a:spcBef>
                        <a:spcAft>
                          <a:spcPts val="0"/>
                        </a:spcAft>
                        <a:buNone/>
                      </a:pPr>
                      <a:r>
                        <a:rPr lang="ja" sz="1200">
                          <a:latin typeface="M PLUS 1p"/>
                          <a:ea typeface="M PLUS 1p"/>
                          <a:cs typeface="M PLUS 1p"/>
                          <a:sym typeface="M PLUS 1p"/>
                        </a:rPr>
                        <a:t>管理画面内で、テックタッチで募集作成を促すことが有効なのではないか</a:t>
                      </a:r>
                      <a:endParaRPr sz="1200">
                        <a:latin typeface="M PLUS 1p"/>
                        <a:ea typeface="M PLUS 1p"/>
                        <a:cs typeface="M PLUS 1p"/>
                        <a:sym typeface="M PLUS 1p"/>
                      </a:endParaRPr>
                    </a:p>
                  </a:txBody>
                  <a:tcPr marT="91425" marB="91425" marR="91425" marL="91425">
                    <a:solidFill>
                      <a:schemeClr val="lt1"/>
                    </a:solidFill>
                  </a:tcPr>
                </a:tc>
              </a:tr>
              <a:tr h="499000">
                <a:tc vMerge="1"/>
                <a:tc>
                  <a:txBody>
                    <a:bodyPr/>
                    <a:lstStyle/>
                    <a:p>
                      <a:pPr indent="0" lvl="0" marL="0" rtl="0" algn="l">
                        <a:spcBef>
                          <a:spcPts val="0"/>
                        </a:spcBef>
                        <a:spcAft>
                          <a:spcPts val="0"/>
                        </a:spcAft>
                        <a:buNone/>
                      </a:pPr>
                      <a:r>
                        <a:rPr lang="ja" sz="1200">
                          <a:solidFill>
                            <a:schemeClr val="dk1"/>
                          </a:solidFill>
                          <a:latin typeface="M PLUS 1p"/>
                          <a:ea typeface="M PLUS 1p"/>
                          <a:cs typeface="M PLUS 1p"/>
                          <a:sym typeface="M PLUS 1p"/>
                        </a:rPr>
                        <a:t>休眠中に</a:t>
                      </a:r>
                      <a:r>
                        <a:rPr lang="ja" sz="1200">
                          <a:solidFill>
                            <a:schemeClr val="dk1"/>
                          </a:solidFill>
                          <a:latin typeface="M PLUS 1p"/>
                          <a:ea typeface="M PLUS 1p"/>
                          <a:cs typeface="M PLUS 1p"/>
                          <a:sym typeface="M PLUS 1p"/>
                        </a:rPr>
                        <a:t>、管理画面にアクセスだけして募集作成しない店舗が10%ほど存在</a:t>
                      </a:r>
                      <a:br>
                        <a:rPr lang="ja" sz="1200">
                          <a:solidFill>
                            <a:schemeClr val="dk1"/>
                          </a:solidFill>
                          <a:latin typeface="M PLUS 1p"/>
                          <a:ea typeface="M PLUS 1p"/>
                          <a:cs typeface="M PLUS 1p"/>
                          <a:sym typeface="M PLUS 1p"/>
                        </a:rPr>
                      </a:br>
                      <a:r>
                        <a:rPr lang="ja" sz="1200">
                          <a:solidFill>
                            <a:schemeClr val="dk1"/>
                          </a:solidFill>
                          <a:latin typeface="M PLUS 1p"/>
                          <a:ea typeface="M PLUS 1p"/>
                          <a:cs typeface="M PLUS 1p"/>
                          <a:sym typeface="M PLUS 1p"/>
                        </a:rPr>
                        <a:t>求人一覧や求人作成画面に訪問している店舗も</a:t>
                      </a:r>
                      <a:endParaRPr sz="1200">
                        <a:latin typeface="M PLUS 1p"/>
                        <a:ea typeface="M PLUS 1p"/>
                        <a:cs typeface="M PLUS 1p"/>
                        <a:sym typeface="M PLUS 1p"/>
                      </a:endParaRPr>
                    </a:p>
                  </a:txBody>
                  <a:tcPr marT="91425" marB="91425" marR="91425" marL="91425">
                    <a:solidFill>
                      <a:schemeClr val="lt1"/>
                    </a:solidFill>
                  </a:tcPr>
                </a:tc>
                <a:tc vMerge="1"/>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7" name="Shape 107"/>
        <p:cNvGrpSpPr/>
        <p:nvPr/>
      </p:nvGrpSpPr>
      <p:grpSpPr>
        <a:xfrm>
          <a:off x="0" y="0"/>
          <a:ext cx="0" cy="0"/>
          <a:chOff x="0" y="0"/>
          <a:chExt cx="0" cy="0"/>
        </a:xfrm>
      </p:grpSpPr>
      <p:sp>
        <p:nvSpPr>
          <p:cNvPr id="108" name="Google Shape;108;p14"/>
          <p:cNvSpPr/>
          <p:nvPr/>
        </p:nvSpPr>
        <p:spPr>
          <a:xfrm>
            <a:off x="342900" y="898675"/>
            <a:ext cx="342900" cy="342900"/>
          </a:xfrm>
          <a:prstGeom prst="ellipse">
            <a:avLst/>
          </a:prstGeom>
          <a:solidFill>
            <a:srgbClr val="FFD7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4"/>
          <p:cNvSpPr txBox="1"/>
          <p:nvPr/>
        </p:nvSpPr>
        <p:spPr>
          <a:xfrm>
            <a:off x="387600" y="868850"/>
            <a:ext cx="298200" cy="30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300">
                <a:solidFill>
                  <a:srgbClr val="FFFFFF"/>
                </a:solidFill>
                <a:latin typeface="Zen Kaku Gothic New"/>
                <a:ea typeface="Zen Kaku Gothic New"/>
                <a:cs typeface="Zen Kaku Gothic New"/>
                <a:sym typeface="Zen Kaku Gothic New"/>
              </a:rPr>
              <a:t>1</a:t>
            </a:r>
            <a:endParaRPr b="1" sz="1300">
              <a:solidFill>
                <a:srgbClr val="FFFFFF"/>
              </a:solidFill>
              <a:latin typeface="Zen Kaku Gothic New"/>
              <a:ea typeface="Zen Kaku Gothic New"/>
              <a:cs typeface="Zen Kaku Gothic New"/>
              <a:sym typeface="Zen Kaku Gothic New"/>
            </a:endParaRPr>
          </a:p>
        </p:txBody>
      </p:sp>
      <p:sp>
        <p:nvSpPr>
          <p:cNvPr id="110" name="Google Shape;110;p14"/>
          <p:cNvSpPr txBox="1"/>
          <p:nvPr/>
        </p:nvSpPr>
        <p:spPr>
          <a:xfrm>
            <a:off x="8136000" y="104275"/>
            <a:ext cx="916800" cy="190200"/>
          </a:xfrm>
          <a:prstGeom prst="rect">
            <a:avLst/>
          </a:prstGeom>
          <a:solidFill>
            <a:srgbClr val="DC0451"/>
          </a:solidFill>
          <a:ln>
            <a:noFill/>
          </a:ln>
        </p:spPr>
        <p:txBody>
          <a:bodyPr anchorCtr="0" anchor="t" bIns="91425" lIns="91425" spcFirstLastPara="1" rIns="91425" wrap="square" tIns="91425">
            <a:noAutofit/>
          </a:bodyPr>
          <a:lstStyle/>
          <a:p>
            <a:pPr indent="0" lvl="0" marL="0" rtl="0" algn="ctr">
              <a:lnSpc>
                <a:spcPct val="50000"/>
              </a:lnSpc>
              <a:spcBef>
                <a:spcPts val="0"/>
              </a:spcBef>
              <a:spcAft>
                <a:spcPts val="0"/>
              </a:spcAft>
              <a:buNone/>
            </a:pPr>
            <a:r>
              <a:rPr b="1" lang="ja" sz="700">
                <a:solidFill>
                  <a:srgbClr val="FFFFFF"/>
                </a:solidFill>
                <a:latin typeface="M PLUS 1p"/>
                <a:ea typeface="M PLUS 1p"/>
                <a:cs typeface="M PLUS 1p"/>
                <a:sym typeface="M PLUS 1p"/>
              </a:rPr>
              <a:t>CONFIDENTIAL</a:t>
            </a:r>
            <a:endParaRPr b="1" sz="700">
              <a:solidFill>
                <a:srgbClr val="FFFFFF"/>
              </a:solidFill>
              <a:latin typeface="M PLUS 1p"/>
              <a:ea typeface="M PLUS 1p"/>
              <a:cs typeface="M PLUS 1p"/>
              <a:sym typeface="M PLUS 1p"/>
            </a:endParaRPr>
          </a:p>
        </p:txBody>
      </p:sp>
      <p:sp>
        <p:nvSpPr>
          <p:cNvPr id="111" name="Google Shape;111;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112" name="Google Shape;112;p14"/>
          <p:cNvSpPr/>
          <p:nvPr/>
        </p:nvSpPr>
        <p:spPr>
          <a:xfrm>
            <a:off x="342900" y="1492550"/>
            <a:ext cx="342900" cy="342900"/>
          </a:xfrm>
          <a:prstGeom prst="ellipse">
            <a:avLst/>
          </a:prstGeom>
          <a:solidFill>
            <a:srgbClr val="5BBB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4"/>
          <p:cNvSpPr txBox="1"/>
          <p:nvPr/>
        </p:nvSpPr>
        <p:spPr>
          <a:xfrm>
            <a:off x="387600" y="1462725"/>
            <a:ext cx="298200" cy="30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300">
                <a:solidFill>
                  <a:srgbClr val="FFFFFF"/>
                </a:solidFill>
                <a:latin typeface="Zen Kaku Gothic New"/>
                <a:ea typeface="Zen Kaku Gothic New"/>
                <a:cs typeface="Zen Kaku Gothic New"/>
                <a:sym typeface="Zen Kaku Gothic New"/>
              </a:rPr>
              <a:t>2</a:t>
            </a:r>
            <a:endParaRPr b="1" sz="1300">
              <a:solidFill>
                <a:srgbClr val="FFFFFF"/>
              </a:solidFill>
              <a:latin typeface="Zen Kaku Gothic New"/>
              <a:ea typeface="Zen Kaku Gothic New"/>
              <a:cs typeface="Zen Kaku Gothic New"/>
              <a:sym typeface="Zen Kaku Gothic New"/>
            </a:endParaRPr>
          </a:p>
        </p:txBody>
      </p:sp>
      <p:sp>
        <p:nvSpPr>
          <p:cNvPr id="114" name="Google Shape;114;p14"/>
          <p:cNvSpPr/>
          <p:nvPr/>
        </p:nvSpPr>
        <p:spPr>
          <a:xfrm>
            <a:off x="342900" y="2056588"/>
            <a:ext cx="342900" cy="342900"/>
          </a:xfrm>
          <a:prstGeom prst="ellipse">
            <a:avLst/>
          </a:prstGeom>
          <a:solidFill>
            <a:srgbClr val="DC04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4"/>
          <p:cNvSpPr txBox="1"/>
          <p:nvPr/>
        </p:nvSpPr>
        <p:spPr>
          <a:xfrm>
            <a:off x="387600" y="2026763"/>
            <a:ext cx="298200" cy="30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300">
                <a:solidFill>
                  <a:srgbClr val="FFFFFF"/>
                </a:solidFill>
                <a:latin typeface="Zen Kaku Gothic New"/>
                <a:ea typeface="Zen Kaku Gothic New"/>
                <a:cs typeface="Zen Kaku Gothic New"/>
                <a:sym typeface="Zen Kaku Gothic New"/>
              </a:rPr>
              <a:t>3</a:t>
            </a:r>
            <a:endParaRPr b="1" sz="1300">
              <a:solidFill>
                <a:srgbClr val="FFFFFF"/>
              </a:solidFill>
              <a:latin typeface="Zen Kaku Gothic New"/>
              <a:ea typeface="Zen Kaku Gothic New"/>
              <a:cs typeface="Zen Kaku Gothic New"/>
              <a:sym typeface="Zen Kaku Gothic New"/>
            </a:endParaRPr>
          </a:p>
        </p:txBody>
      </p:sp>
      <p:sp>
        <p:nvSpPr>
          <p:cNvPr id="116" name="Google Shape;116;p14"/>
          <p:cNvSpPr/>
          <p:nvPr/>
        </p:nvSpPr>
        <p:spPr>
          <a:xfrm>
            <a:off x="342900" y="2634750"/>
            <a:ext cx="342900" cy="342900"/>
          </a:xfrm>
          <a:prstGeom prst="ellipse">
            <a:avLst/>
          </a:prstGeom>
          <a:solidFill>
            <a:srgbClr val="FF79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4"/>
          <p:cNvSpPr txBox="1"/>
          <p:nvPr/>
        </p:nvSpPr>
        <p:spPr>
          <a:xfrm>
            <a:off x="387600" y="2604925"/>
            <a:ext cx="298200" cy="30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300">
                <a:solidFill>
                  <a:srgbClr val="FFFFFF"/>
                </a:solidFill>
                <a:latin typeface="Zen Kaku Gothic New"/>
                <a:ea typeface="Zen Kaku Gothic New"/>
                <a:cs typeface="Zen Kaku Gothic New"/>
                <a:sym typeface="Zen Kaku Gothic New"/>
              </a:rPr>
              <a:t>4</a:t>
            </a:r>
            <a:endParaRPr b="1" sz="1300">
              <a:solidFill>
                <a:srgbClr val="FFFFFF"/>
              </a:solidFill>
              <a:latin typeface="Zen Kaku Gothic New"/>
              <a:ea typeface="Zen Kaku Gothic New"/>
              <a:cs typeface="Zen Kaku Gothic New"/>
              <a:sym typeface="Zen Kaku Gothic New"/>
            </a:endParaRPr>
          </a:p>
        </p:txBody>
      </p:sp>
      <p:sp>
        <p:nvSpPr>
          <p:cNvPr id="118" name="Google Shape;118;p14"/>
          <p:cNvSpPr txBox="1"/>
          <p:nvPr/>
        </p:nvSpPr>
        <p:spPr>
          <a:xfrm>
            <a:off x="247200" y="243675"/>
            <a:ext cx="4077600" cy="48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2000">
                <a:solidFill>
                  <a:srgbClr val="1F1F1F"/>
                </a:solidFill>
                <a:latin typeface="M PLUS 1p"/>
                <a:ea typeface="M PLUS 1p"/>
                <a:cs typeface="M PLUS 1p"/>
                <a:sym typeface="M PLUS 1p"/>
              </a:rPr>
              <a:t>目次</a:t>
            </a:r>
            <a:endParaRPr b="1" sz="2000">
              <a:solidFill>
                <a:srgbClr val="1F1F1F"/>
              </a:solidFill>
              <a:latin typeface="M PLUS 1p"/>
              <a:ea typeface="M PLUS 1p"/>
              <a:cs typeface="M PLUS 1p"/>
              <a:sym typeface="M PLUS 1p"/>
            </a:endParaRPr>
          </a:p>
        </p:txBody>
      </p:sp>
      <p:sp>
        <p:nvSpPr>
          <p:cNvPr id="119" name="Google Shape;119;p14"/>
          <p:cNvSpPr txBox="1"/>
          <p:nvPr/>
        </p:nvSpPr>
        <p:spPr>
          <a:xfrm>
            <a:off x="757200" y="839275"/>
            <a:ext cx="7378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1800">
                <a:solidFill>
                  <a:schemeClr val="dk1"/>
                </a:solidFill>
                <a:latin typeface="M PLUS 1p"/>
                <a:ea typeface="M PLUS 1p"/>
                <a:cs typeface="M PLUS 1p"/>
                <a:sym typeface="M PLUS 1p"/>
              </a:rPr>
              <a:t>背景・目的</a:t>
            </a:r>
            <a:endParaRPr sz="1800">
              <a:solidFill>
                <a:schemeClr val="dk1"/>
              </a:solidFill>
              <a:latin typeface="M PLUS 1p"/>
              <a:ea typeface="M PLUS 1p"/>
              <a:cs typeface="M PLUS 1p"/>
              <a:sym typeface="M PLUS 1p"/>
            </a:endParaRPr>
          </a:p>
        </p:txBody>
      </p:sp>
      <p:sp>
        <p:nvSpPr>
          <p:cNvPr id="120" name="Google Shape;120;p14"/>
          <p:cNvSpPr txBox="1"/>
          <p:nvPr/>
        </p:nvSpPr>
        <p:spPr>
          <a:xfrm>
            <a:off x="757200" y="1433150"/>
            <a:ext cx="7378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ja" sz="1800">
                <a:solidFill>
                  <a:schemeClr val="dk1"/>
                </a:solidFill>
                <a:latin typeface="M PLUS 1p"/>
                <a:ea typeface="M PLUS 1p"/>
                <a:cs typeface="M PLUS 1p"/>
                <a:sym typeface="M PLUS 1p"/>
              </a:rPr>
              <a:t>前段の分析の復習</a:t>
            </a:r>
            <a:endParaRPr sz="1800">
              <a:solidFill>
                <a:schemeClr val="dk1"/>
              </a:solidFill>
              <a:latin typeface="M PLUS 1p"/>
              <a:ea typeface="M PLUS 1p"/>
              <a:cs typeface="M PLUS 1p"/>
              <a:sym typeface="M PLUS 1p"/>
            </a:endParaRPr>
          </a:p>
        </p:txBody>
      </p:sp>
      <p:sp>
        <p:nvSpPr>
          <p:cNvPr id="121" name="Google Shape;121;p14"/>
          <p:cNvSpPr txBox="1"/>
          <p:nvPr/>
        </p:nvSpPr>
        <p:spPr>
          <a:xfrm>
            <a:off x="757200" y="1997200"/>
            <a:ext cx="7378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1800">
                <a:solidFill>
                  <a:schemeClr val="dk1"/>
                </a:solidFill>
                <a:latin typeface="M PLUS 1p"/>
                <a:ea typeface="M PLUS 1p"/>
                <a:cs typeface="M PLUS 1p"/>
                <a:sym typeface="M PLUS 1p"/>
              </a:rPr>
              <a:t>今回実施した分析</a:t>
            </a:r>
            <a:endParaRPr sz="1800">
              <a:solidFill>
                <a:schemeClr val="dk1"/>
              </a:solidFill>
              <a:latin typeface="M PLUS 1p"/>
              <a:ea typeface="M PLUS 1p"/>
              <a:cs typeface="M PLUS 1p"/>
              <a:sym typeface="M PLUS 1p"/>
            </a:endParaRPr>
          </a:p>
        </p:txBody>
      </p:sp>
      <p:sp>
        <p:nvSpPr>
          <p:cNvPr id="122" name="Google Shape;122;p14"/>
          <p:cNvSpPr txBox="1"/>
          <p:nvPr/>
        </p:nvSpPr>
        <p:spPr>
          <a:xfrm>
            <a:off x="757200" y="2575350"/>
            <a:ext cx="7378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1800">
                <a:solidFill>
                  <a:schemeClr val="dk1"/>
                </a:solidFill>
                <a:latin typeface="M PLUS 1p"/>
                <a:ea typeface="M PLUS 1p"/>
                <a:cs typeface="M PLUS 1p"/>
                <a:sym typeface="M PLUS 1p"/>
              </a:rPr>
              <a:t>なぜ「3ヶ月連続掲載」なのか</a:t>
            </a:r>
            <a:endParaRPr sz="1800">
              <a:solidFill>
                <a:schemeClr val="dk1"/>
              </a:solidFill>
              <a:latin typeface="M PLUS 1p"/>
              <a:ea typeface="M PLUS 1p"/>
              <a:cs typeface="M PLUS 1p"/>
              <a:sym typeface="M PLUS 1p"/>
            </a:endParaRPr>
          </a:p>
        </p:txBody>
      </p:sp>
      <p:sp>
        <p:nvSpPr>
          <p:cNvPr id="123" name="Google Shape;123;p14"/>
          <p:cNvSpPr/>
          <p:nvPr/>
        </p:nvSpPr>
        <p:spPr>
          <a:xfrm>
            <a:off x="342900" y="3272300"/>
            <a:ext cx="342900" cy="342900"/>
          </a:xfrm>
          <a:prstGeom prst="ellipse">
            <a:avLst/>
          </a:prstGeom>
          <a:solidFill>
            <a:srgbClr val="0B539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4"/>
          <p:cNvSpPr txBox="1"/>
          <p:nvPr/>
        </p:nvSpPr>
        <p:spPr>
          <a:xfrm>
            <a:off x="387600" y="3242475"/>
            <a:ext cx="298200" cy="30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300">
                <a:solidFill>
                  <a:srgbClr val="FFFFFF"/>
                </a:solidFill>
                <a:latin typeface="Zen Kaku Gothic New"/>
                <a:ea typeface="Zen Kaku Gothic New"/>
                <a:cs typeface="Zen Kaku Gothic New"/>
                <a:sym typeface="Zen Kaku Gothic New"/>
              </a:rPr>
              <a:t>5</a:t>
            </a:r>
            <a:endParaRPr b="1" sz="1300">
              <a:solidFill>
                <a:srgbClr val="FFFFFF"/>
              </a:solidFill>
              <a:latin typeface="Zen Kaku Gothic New"/>
              <a:ea typeface="Zen Kaku Gothic New"/>
              <a:cs typeface="Zen Kaku Gothic New"/>
              <a:sym typeface="Zen Kaku Gothic New"/>
            </a:endParaRPr>
          </a:p>
        </p:txBody>
      </p:sp>
      <p:sp>
        <p:nvSpPr>
          <p:cNvPr id="125" name="Google Shape;125;p14"/>
          <p:cNvSpPr txBox="1"/>
          <p:nvPr/>
        </p:nvSpPr>
        <p:spPr>
          <a:xfrm>
            <a:off x="757200" y="3212900"/>
            <a:ext cx="7378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1800">
                <a:solidFill>
                  <a:schemeClr val="dk1"/>
                </a:solidFill>
                <a:latin typeface="M PLUS 1p"/>
                <a:ea typeface="M PLUS 1p"/>
                <a:cs typeface="M PLUS 1p"/>
                <a:sym typeface="M PLUS 1p"/>
              </a:rPr>
              <a:t>3ヶ月連続掲載を増やすためのレバーとは</a:t>
            </a:r>
            <a:endParaRPr sz="1800">
              <a:solidFill>
                <a:schemeClr val="dk1"/>
              </a:solidFill>
              <a:latin typeface="M PLUS 1p"/>
              <a:ea typeface="M PLUS 1p"/>
              <a:cs typeface="M PLUS 1p"/>
              <a:sym typeface="M PLUS 1p"/>
            </a:endParaRPr>
          </a:p>
        </p:txBody>
      </p:sp>
      <p:sp>
        <p:nvSpPr>
          <p:cNvPr id="126" name="Google Shape;126;p14"/>
          <p:cNvSpPr/>
          <p:nvPr/>
        </p:nvSpPr>
        <p:spPr>
          <a:xfrm>
            <a:off x="342900" y="3909850"/>
            <a:ext cx="342900" cy="342900"/>
          </a:xfrm>
          <a:prstGeom prst="ellipse">
            <a:avLst/>
          </a:prstGeom>
          <a:solidFill>
            <a:srgbClr val="FFD7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14"/>
          <p:cNvSpPr txBox="1"/>
          <p:nvPr/>
        </p:nvSpPr>
        <p:spPr>
          <a:xfrm>
            <a:off x="387600" y="3880025"/>
            <a:ext cx="298200" cy="30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300">
                <a:solidFill>
                  <a:srgbClr val="FFFFFF"/>
                </a:solidFill>
                <a:latin typeface="Zen Kaku Gothic New"/>
                <a:ea typeface="Zen Kaku Gothic New"/>
                <a:cs typeface="Zen Kaku Gothic New"/>
                <a:sym typeface="Zen Kaku Gothic New"/>
              </a:rPr>
              <a:t>6</a:t>
            </a:r>
            <a:endParaRPr b="1" sz="1300">
              <a:solidFill>
                <a:srgbClr val="FFFFFF"/>
              </a:solidFill>
              <a:latin typeface="Zen Kaku Gothic New"/>
              <a:ea typeface="Zen Kaku Gothic New"/>
              <a:cs typeface="Zen Kaku Gothic New"/>
              <a:sym typeface="Zen Kaku Gothic New"/>
            </a:endParaRPr>
          </a:p>
        </p:txBody>
      </p:sp>
      <p:sp>
        <p:nvSpPr>
          <p:cNvPr id="128" name="Google Shape;128;p14"/>
          <p:cNvSpPr txBox="1"/>
          <p:nvPr/>
        </p:nvSpPr>
        <p:spPr>
          <a:xfrm>
            <a:off x="757200" y="3850450"/>
            <a:ext cx="7378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1800">
                <a:solidFill>
                  <a:schemeClr val="dk1"/>
                </a:solidFill>
                <a:latin typeface="M PLUS 1p"/>
                <a:ea typeface="M PLUS 1p"/>
                <a:cs typeface="M PLUS 1p"/>
                <a:sym typeface="M PLUS 1p"/>
              </a:rPr>
              <a:t>3ヶ月連続</a:t>
            </a:r>
            <a:r>
              <a:rPr lang="ja" sz="1800">
                <a:solidFill>
                  <a:schemeClr val="dk1"/>
                </a:solidFill>
                <a:latin typeface="M PLUS 1p"/>
                <a:ea typeface="M PLUS 1p"/>
                <a:cs typeface="M PLUS 1p"/>
                <a:sym typeface="M PLUS 1p"/>
              </a:rPr>
              <a:t>掲載</a:t>
            </a:r>
            <a:r>
              <a:rPr lang="ja" sz="1800">
                <a:solidFill>
                  <a:schemeClr val="dk1"/>
                </a:solidFill>
                <a:latin typeface="M PLUS 1p"/>
                <a:ea typeface="M PLUS 1p"/>
                <a:cs typeface="M PLUS 1p"/>
                <a:sym typeface="M PLUS 1p"/>
              </a:rPr>
              <a:t>しなかった場合は、どうすべきか</a:t>
            </a:r>
            <a:endParaRPr sz="1800">
              <a:solidFill>
                <a:schemeClr val="dk1"/>
              </a:solidFill>
              <a:latin typeface="M PLUS 1p"/>
              <a:ea typeface="M PLUS 1p"/>
              <a:cs typeface="M PLUS 1p"/>
              <a:sym typeface="M PLUS 1p"/>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D700"/>
        </a:solidFill>
      </p:bgPr>
    </p:bg>
    <p:spTree>
      <p:nvGrpSpPr>
        <p:cNvPr id="132" name="Shape 132"/>
        <p:cNvGrpSpPr/>
        <p:nvPr/>
      </p:nvGrpSpPr>
      <p:grpSpPr>
        <a:xfrm>
          <a:off x="0" y="0"/>
          <a:ext cx="0" cy="0"/>
          <a:chOff x="0" y="0"/>
          <a:chExt cx="0" cy="0"/>
        </a:xfrm>
      </p:grpSpPr>
      <p:sp>
        <p:nvSpPr>
          <p:cNvPr id="133" name="Google Shape;133;p15"/>
          <p:cNvSpPr txBox="1"/>
          <p:nvPr/>
        </p:nvSpPr>
        <p:spPr>
          <a:xfrm>
            <a:off x="1795200" y="2200650"/>
            <a:ext cx="5553600" cy="742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ja" sz="3200">
                <a:solidFill>
                  <a:srgbClr val="1F1F1F"/>
                </a:solidFill>
                <a:latin typeface="M PLUS 1p"/>
                <a:ea typeface="M PLUS 1p"/>
                <a:cs typeface="M PLUS 1p"/>
                <a:sym typeface="M PLUS 1p"/>
              </a:rPr>
              <a:t>背景・目的</a:t>
            </a:r>
            <a:endParaRPr b="1" sz="3200">
              <a:solidFill>
                <a:srgbClr val="1F1F1F"/>
              </a:solidFill>
              <a:latin typeface="M PLUS 1p"/>
              <a:ea typeface="M PLUS 1p"/>
              <a:cs typeface="M PLUS 1p"/>
              <a:sym typeface="M PLUS 1p"/>
            </a:endParaRPr>
          </a:p>
        </p:txBody>
      </p:sp>
      <p:sp>
        <p:nvSpPr>
          <p:cNvPr id="134" name="Google Shape;134;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8" name="Shape 138"/>
        <p:cNvGrpSpPr/>
        <p:nvPr/>
      </p:nvGrpSpPr>
      <p:grpSpPr>
        <a:xfrm>
          <a:off x="0" y="0"/>
          <a:ext cx="0" cy="0"/>
          <a:chOff x="0" y="0"/>
          <a:chExt cx="0" cy="0"/>
        </a:xfrm>
      </p:grpSpPr>
      <p:sp>
        <p:nvSpPr>
          <p:cNvPr id="139" name="Google Shape;139;p16"/>
          <p:cNvSpPr txBox="1"/>
          <p:nvPr/>
        </p:nvSpPr>
        <p:spPr>
          <a:xfrm>
            <a:off x="8136000" y="104275"/>
            <a:ext cx="916800" cy="190200"/>
          </a:xfrm>
          <a:prstGeom prst="rect">
            <a:avLst/>
          </a:prstGeom>
          <a:solidFill>
            <a:srgbClr val="DC0451"/>
          </a:solidFill>
          <a:ln>
            <a:noFill/>
          </a:ln>
        </p:spPr>
        <p:txBody>
          <a:bodyPr anchorCtr="0" anchor="t" bIns="91425" lIns="91425" spcFirstLastPara="1" rIns="91425" wrap="square" tIns="91425">
            <a:noAutofit/>
          </a:bodyPr>
          <a:lstStyle/>
          <a:p>
            <a:pPr indent="0" lvl="0" marL="0" rtl="0" algn="ctr">
              <a:lnSpc>
                <a:spcPct val="50000"/>
              </a:lnSpc>
              <a:spcBef>
                <a:spcPts val="0"/>
              </a:spcBef>
              <a:spcAft>
                <a:spcPts val="0"/>
              </a:spcAft>
              <a:buNone/>
            </a:pPr>
            <a:r>
              <a:rPr b="1" lang="ja" sz="700">
                <a:solidFill>
                  <a:srgbClr val="FFFFFF"/>
                </a:solidFill>
                <a:latin typeface="M PLUS 1p"/>
                <a:ea typeface="M PLUS 1p"/>
                <a:cs typeface="M PLUS 1p"/>
                <a:sym typeface="M PLUS 1p"/>
              </a:rPr>
              <a:t>CONFIDENTIAL</a:t>
            </a:r>
            <a:endParaRPr b="1" sz="700">
              <a:solidFill>
                <a:srgbClr val="FFFFFF"/>
              </a:solidFill>
              <a:latin typeface="M PLUS 1p"/>
              <a:ea typeface="M PLUS 1p"/>
              <a:cs typeface="M PLUS 1p"/>
              <a:sym typeface="M PLUS 1p"/>
            </a:endParaRPr>
          </a:p>
        </p:txBody>
      </p:sp>
      <p:sp>
        <p:nvSpPr>
          <p:cNvPr id="140" name="Google Shape;140;p16"/>
          <p:cNvSpPr txBox="1"/>
          <p:nvPr>
            <p:ph idx="12" type="sldNum"/>
          </p:nvPr>
        </p:nvSpPr>
        <p:spPr>
          <a:xfrm>
            <a:off x="8358250" y="4862065"/>
            <a:ext cx="548700" cy="369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141" name="Google Shape;141;p16"/>
          <p:cNvSpPr/>
          <p:nvPr/>
        </p:nvSpPr>
        <p:spPr>
          <a:xfrm>
            <a:off x="5386563" y="1400350"/>
            <a:ext cx="1629600" cy="363000"/>
          </a:xfrm>
          <a:prstGeom prst="roundRect">
            <a:avLst>
              <a:gd fmla="val 16667" name="adj"/>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ja" sz="1300">
                <a:latin typeface="M PLUS 1p"/>
                <a:ea typeface="M PLUS 1p"/>
                <a:cs typeface="M PLUS 1p"/>
                <a:sym typeface="M PLUS 1p"/>
              </a:rPr>
              <a:t>売上</a:t>
            </a:r>
            <a:endParaRPr b="1" sz="1300">
              <a:latin typeface="M PLUS 1p"/>
              <a:ea typeface="M PLUS 1p"/>
              <a:cs typeface="M PLUS 1p"/>
              <a:sym typeface="M PLUS 1p"/>
            </a:endParaRPr>
          </a:p>
        </p:txBody>
      </p:sp>
      <p:sp>
        <p:nvSpPr>
          <p:cNvPr id="142" name="Google Shape;142;p16"/>
          <p:cNvSpPr/>
          <p:nvPr/>
        </p:nvSpPr>
        <p:spPr>
          <a:xfrm>
            <a:off x="3704206" y="2148975"/>
            <a:ext cx="1629600" cy="321900"/>
          </a:xfrm>
          <a:prstGeom prst="roundRect">
            <a:avLst>
              <a:gd fmla="val 16667" name="adj"/>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ja" sz="1300">
                <a:latin typeface="M PLUS 1p"/>
                <a:ea typeface="M PLUS 1p"/>
                <a:cs typeface="M PLUS 1p"/>
                <a:sym typeface="M PLUS 1p"/>
              </a:rPr>
              <a:t>稼働数</a:t>
            </a:r>
            <a:endParaRPr sz="1300">
              <a:latin typeface="M PLUS 1p"/>
              <a:ea typeface="M PLUS 1p"/>
              <a:cs typeface="M PLUS 1p"/>
              <a:sym typeface="M PLUS 1p"/>
            </a:endParaRPr>
          </a:p>
        </p:txBody>
      </p:sp>
      <p:sp>
        <p:nvSpPr>
          <p:cNvPr id="143" name="Google Shape;143;p16"/>
          <p:cNvSpPr/>
          <p:nvPr/>
        </p:nvSpPr>
        <p:spPr>
          <a:xfrm>
            <a:off x="5714637" y="2148951"/>
            <a:ext cx="973500" cy="321900"/>
          </a:xfrm>
          <a:prstGeom prst="roundRect">
            <a:avLst>
              <a:gd fmla="val 16667" name="adj"/>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1300">
                <a:latin typeface="M PLUS 1p"/>
                <a:ea typeface="M PLUS 1p"/>
                <a:cs typeface="M PLUS 1p"/>
                <a:sym typeface="M PLUS 1p"/>
              </a:rPr>
              <a:t>単価</a:t>
            </a:r>
            <a:endParaRPr sz="1300">
              <a:latin typeface="M PLUS 1p"/>
              <a:ea typeface="M PLUS 1p"/>
              <a:cs typeface="M PLUS 1p"/>
              <a:sym typeface="M PLUS 1p"/>
            </a:endParaRPr>
          </a:p>
        </p:txBody>
      </p:sp>
      <p:sp>
        <p:nvSpPr>
          <p:cNvPr id="144" name="Google Shape;144;p16"/>
          <p:cNvSpPr/>
          <p:nvPr/>
        </p:nvSpPr>
        <p:spPr>
          <a:xfrm>
            <a:off x="7060608" y="2141934"/>
            <a:ext cx="1166100" cy="321900"/>
          </a:xfrm>
          <a:prstGeom prst="roundRect">
            <a:avLst>
              <a:gd fmla="val 16667" name="adj"/>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1300">
                <a:latin typeface="M PLUS 1p"/>
                <a:ea typeface="M PLUS 1p"/>
                <a:cs typeface="M PLUS 1p"/>
                <a:sym typeface="M PLUS 1p"/>
              </a:rPr>
              <a:t>手数料率</a:t>
            </a:r>
            <a:endParaRPr sz="1300">
              <a:latin typeface="M PLUS 1p"/>
              <a:ea typeface="M PLUS 1p"/>
              <a:cs typeface="M PLUS 1p"/>
              <a:sym typeface="M PLUS 1p"/>
            </a:endParaRPr>
          </a:p>
        </p:txBody>
      </p:sp>
      <p:sp>
        <p:nvSpPr>
          <p:cNvPr id="145" name="Google Shape;145;p16"/>
          <p:cNvSpPr/>
          <p:nvPr/>
        </p:nvSpPr>
        <p:spPr>
          <a:xfrm>
            <a:off x="6615710" y="2174907"/>
            <a:ext cx="367500" cy="262800"/>
          </a:xfrm>
          <a:prstGeom prst="mathMultiply">
            <a:avLst>
              <a:gd fmla="val 23520" name="adj1"/>
            </a:avLst>
          </a:prstGeom>
          <a:solidFill>
            <a:srgbClr val="1F1F1F"/>
          </a:solidFill>
          <a:ln cap="flat" cmpd="sng" w="9525">
            <a:solidFill>
              <a:srgbClr val="1F1F1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6" name="Google Shape;146;p16"/>
          <p:cNvSpPr/>
          <p:nvPr/>
        </p:nvSpPr>
        <p:spPr>
          <a:xfrm>
            <a:off x="3702555" y="3293064"/>
            <a:ext cx="1629600" cy="363000"/>
          </a:xfrm>
          <a:prstGeom prst="roundRect">
            <a:avLst>
              <a:gd fmla="val 16667" name="adj"/>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lang="ja" sz="1300">
                <a:solidFill>
                  <a:srgbClr val="DC0451"/>
                </a:solidFill>
                <a:latin typeface="M PLUS 1p"/>
                <a:ea typeface="M PLUS 1p"/>
                <a:cs typeface="M PLUS 1p"/>
                <a:sym typeface="M PLUS 1p"/>
              </a:rPr>
              <a:t>マッチング数</a:t>
            </a:r>
            <a:endParaRPr b="1" sz="1300">
              <a:solidFill>
                <a:srgbClr val="DC0451"/>
              </a:solidFill>
              <a:latin typeface="M PLUS 1p"/>
              <a:ea typeface="M PLUS 1p"/>
              <a:cs typeface="M PLUS 1p"/>
              <a:sym typeface="M PLUS 1p"/>
            </a:endParaRPr>
          </a:p>
        </p:txBody>
      </p:sp>
      <p:sp>
        <p:nvSpPr>
          <p:cNvPr id="147" name="Google Shape;147;p16"/>
          <p:cNvSpPr/>
          <p:nvPr/>
        </p:nvSpPr>
        <p:spPr>
          <a:xfrm>
            <a:off x="2416909" y="3293466"/>
            <a:ext cx="769800" cy="357900"/>
          </a:xfrm>
          <a:prstGeom prst="roundRect">
            <a:avLst>
              <a:gd fmla="val 16667" name="adj"/>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1300">
                <a:latin typeface="M PLUS 1p"/>
                <a:ea typeface="M PLUS 1p"/>
                <a:cs typeface="M PLUS 1p"/>
                <a:sym typeface="M PLUS 1p"/>
              </a:rPr>
              <a:t>募集数</a:t>
            </a:r>
            <a:endParaRPr sz="1300">
              <a:latin typeface="M PLUS 1p"/>
              <a:ea typeface="M PLUS 1p"/>
              <a:cs typeface="M PLUS 1p"/>
              <a:sym typeface="M PLUS 1p"/>
            </a:endParaRPr>
          </a:p>
        </p:txBody>
      </p:sp>
      <p:sp>
        <p:nvSpPr>
          <p:cNvPr id="148" name="Google Shape;148;p16"/>
          <p:cNvSpPr/>
          <p:nvPr/>
        </p:nvSpPr>
        <p:spPr>
          <a:xfrm>
            <a:off x="5176012" y="3953914"/>
            <a:ext cx="1017900" cy="430200"/>
          </a:xfrm>
          <a:prstGeom prst="roundRect">
            <a:avLst>
              <a:gd fmla="val 16667" name="adj"/>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ja" sz="1200">
                <a:solidFill>
                  <a:schemeClr val="dk1"/>
                </a:solidFill>
                <a:latin typeface="M PLUS 1p"/>
                <a:ea typeface="M PLUS 1p"/>
                <a:cs typeface="M PLUS 1p"/>
                <a:sym typeface="M PLUS 1p"/>
              </a:rPr>
              <a:t>応募</a:t>
            </a:r>
            <a:endParaRPr sz="1200">
              <a:solidFill>
                <a:schemeClr val="dk1"/>
              </a:solidFill>
              <a:latin typeface="M PLUS 1p"/>
              <a:ea typeface="M PLUS 1p"/>
              <a:cs typeface="M PLUS 1p"/>
              <a:sym typeface="M PLUS 1p"/>
            </a:endParaRPr>
          </a:p>
          <a:p>
            <a:pPr indent="0" lvl="0" marL="0" rtl="0" algn="ctr">
              <a:spcBef>
                <a:spcPts val="0"/>
              </a:spcBef>
              <a:spcAft>
                <a:spcPts val="0"/>
              </a:spcAft>
              <a:buClr>
                <a:schemeClr val="dk1"/>
              </a:buClr>
              <a:buSzPts val="1100"/>
              <a:buFont typeface="Arial"/>
              <a:buNone/>
            </a:pPr>
            <a:r>
              <a:rPr lang="ja" sz="1200">
                <a:solidFill>
                  <a:schemeClr val="dk1"/>
                </a:solidFill>
                <a:latin typeface="M PLUS 1p"/>
                <a:ea typeface="M PLUS 1p"/>
                <a:cs typeface="M PLUS 1p"/>
                <a:sym typeface="M PLUS 1p"/>
              </a:rPr>
              <a:t>Worker数</a:t>
            </a:r>
            <a:endParaRPr sz="1300">
              <a:latin typeface="M PLUS 1p"/>
              <a:ea typeface="M PLUS 1p"/>
              <a:cs typeface="M PLUS 1p"/>
              <a:sym typeface="M PLUS 1p"/>
            </a:endParaRPr>
          </a:p>
        </p:txBody>
      </p:sp>
      <p:sp>
        <p:nvSpPr>
          <p:cNvPr id="149" name="Google Shape;149;p16"/>
          <p:cNvSpPr/>
          <p:nvPr/>
        </p:nvSpPr>
        <p:spPr>
          <a:xfrm>
            <a:off x="1607074" y="3953928"/>
            <a:ext cx="973500" cy="430200"/>
          </a:xfrm>
          <a:prstGeom prst="roundRect">
            <a:avLst>
              <a:gd fmla="val 16667" name="adj"/>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1200">
                <a:latin typeface="M PLUS 1p"/>
                <a:ea typeface="M PLUS 1p"/>
                <a:cs typeface="M PLUS 1p"/>
                <a:sym typeface="M PLUS 1p"/>
              </a:rPr>
              <a:t>募集</a:t>
            </a:r>
            <a:endParaRPr sz="1200">
              <a:latin typeface="M PLUS 1p"/>
              <a:ea typeface="M PLUS 1p"/>
              <a:cs typeface="M PLUS 1p"/>
              <a:sym typeface="M PLUS 1p"/>
            </a:endParaRPr>
          </a:p>
          <a:p>
            <a:pPr indent="0" lvl="0" marL="0" rtl="0" algn="ctr">
              <a:spcBef>
                <a:spcPts val="0"/>
              </a:spcBef>
              <a:spcAft>
                <a:spcPts val="0"/>
              </a:spcAft>
              <a:buNone/>
            </a:pPr>
            <a:r>
              <a:rPr lang="ja" sz="1200">
                <a:latin typeface="M PLUS 1p"/>
                <a:ea typeface="M PLUS 1p"/>
                <a:cs typeface="M PLUS 1p"/>
                <a:sym typeface="M PLUS 1p"/>
              </a:rPr>
              <a:t>店舗数</a:t>
            </a:r>
            <a:endParaRPr sz="1000">
              <a:latin typeface="M PLUS 1p"/>
              <a:ea typeface="M PLUS 1p"/>
              <a:cs typeface="M PLUS 1p"/>
              <a:sym typeface="M PLUS 1p"/>
            </a:endParaRPr>
          </a:p>
        </p:txBody>
      </p:sp>
      <p:cxnSp>
        <p:nvCxnSpPr>
          <p:cNvPr id="150" name="Google Shape;150;p16"/>
          <p:cNvCxnSpPr>
            <a:stCxn id="147" idx="0"/>
          </p:cNvCxnSpPr>
          <p:nvPr/>
        </p:nvCxnSpPr>
        <p:spPr>
          <a:xfrm flipH="1" rot="10800000">
            <a:off x="2801809" y="2410866"/>
            <a:ext cx="863100" cy="882600"/>
          </a:xfrm>
          <a:prstGeom prst="straightConnector1">
            <a:avLst/>
          </a:prstGeom>
          <a:noFill/>
          <a:ln cap="flat" cmpd="sng" w="19050">
            <a:solidFill>
              <a:schemeClr val="dk2"/>
            </a:solidFill>
            <a:prstDash val="dot"/>
            <a:round/>
            <a:headEnd len="med" w="med" type="stealth"/>
            <a:tailEnd len="med" w="med" type="stealth"/>
          </a:ln>
        </p:spPr>
      </p:cxnSp>
      <p:sp>
        <p:nvSpPr>
          <p:cNvPr id="151" name="Google Shape;151;p16"/>
          <p:cNvSpPr txBox="1"/>
          <p:nvPr/>
        </p:nvSpPr>
        <p:spPr>
          <a:xfrm>
            <a:off x="2654058" y="2482374"/>
            <a:ext cx="1413300" cy="25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ja" sz="1200">
                <a:solidFill>
                  <a:schemeClr val="dk2"/>
                </a:solidFill>
                <a:latin typeface="M PLUS 1p"/>
                <a:ea typeface="M PLUS 1p"/>
                <a:cs typeface="M PLUS 1p"/>
                <a:sym typeface="M PLUS 1p"/>
              </a:rPr>
              <a:t>稼働率</a:t>
            </a:r>
            <a:endParaRPr sz="1200">
              <a:solidFill>
                <a:schemeClr val="dk2"/>
              </a:solidFill>
              <a:latin typeface="M PLUS 1p"/>
              <a:ea typeface="M PLUS 1p"/>
              <a:cs typeface="M PLUS 1p"/>
              <a:sym typeface="M PLUS 1p"/>
            </a:endParaRPr>
          </a:p>
        </p:txBody>
      </p:sp>
      <p:sp>
        <p:nvSpPr>
          <p:cNvPr id="152" name="Google Shape;152;p16"/>
          <p:cNvSpPr/>
          <p:nvPr/>
        </p:nvSpPr>
        <p:spPr>
          <a:xfrm>
            <a:off x="3100045" y="3953923"/>
            <a:ext cx="1124700" cy="430200"/>
          </a:xfrm>
          <a:prstGeom prst="roundRect">
            <a:avLst>
              <a:gd fmla="val 16667" name="adj"/>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1200">
                <a:latin typeface="M PLUS 1p"/>
                <a:ea typeface="M PLUS 1p"/>
                <a:cs typeface="M PLUS 1p"/>
                <a:sym typeface="M PLUS 1p"/>
              </a:rPr>
              <a:t>平均</a:t>
            </a:r>
            <a:endParaRPr sz="1200">
              <a:latin typeface="M PLUS 1p"/>
              <a:ea typeface="M PLUS 1p"/>
              <a:cs typeface="M PLUS 1p"/>
              <a:sym typeface="M PLUS 1p"/>
            </a:endParaRPr>
          </a:p>
          <a:p>
            <a:pPr indent="0" lvl="0" marL="0" rtl="0" algn="ctr">
              <a:spcBef>
                <a:spcPts val="0"/>
              </a:spcBef>
              <a:spcAft>
                <a:spcPts val="0"/>
              </a:spcAft>
              <a:buNone/>
            </a:pPr>
            <a:r>
              <a:rPr lang="ja" sz="1200">
                <a:latin typeface="M PLUS 1p"/>
                <a:ea typeface="M PLUS 1p"/>
                <a:cs typeface="M PLUS 1p"/>
                <a:sym typeface="M PLUS 1p"/>
              </a:rPr>
              <a:t>募集人数</a:t>
            </a:r>
            <a:endParaRPr sz="1200">
              <a:latin typeface="M PLUS 1p"/>
              <a:ea typeface="M PLUS 1p"/>
              <a:cs typeface="M PLUS 1p"/>
              <a:sym typeface="M PLUS 1p"/>
            </a:endParaRPr>
          </a:p>
        </p:txBody>
      </p:sp>
      <p:sp>
        <p:nvSpPr>
          <p:cNvPr id="153" name="Google Shape;153;p16"/>
          <p:cNvSpPr/>
          <p:nvPr/>
        </p:nvSpPr>
        <p:spPr>
          <a:xfrm>
            <a:off x="5973399" y="3293466"/>
            <a:ext cx="769800" cy="357900"/>
          </a:xfrm>
          <a:prstGeom prst="roundRect">
            <a:avLst>
              <a:gd fmla="val 16667" name="adj"/>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1300">
                <a:latin typeface="M PLUS 1p"/>
                <a:ea typeface="M PLUS 1p"/>
                <a:cs typeface="M PLUS 1p"/>
                <a:sym typeface="M PLUS 1p"/>
              </a:rPr>
              <a:t>応募数</a:t>
            </a:r>
            <a:endParaRPr sz="1300">
              <a:latin typeface="M PLUS 1p"/>
              <a:ea typeface="M PLUS 1p"/>
              <a:cs typeface="M PLUS 1p"/>
              <a:sym typeface="M PLUS 1p"/>
            </a:endParaRPr>
          </a:p>
        </p:txBody>
      </p:sp>
      <p:sp>
        <p:nvSpPr>
          <p:cNvPr id="154" name="Google Shape;154;p16"/>
          <p:cNvSpPr/>
          <p:nvPr/>
        </p:nvSpPr>
        <p:spPr>
          <a:xfrm>
            <a:off x="6567108" y="3953922"/>
            <a:ext cx="973500" cy="430200"/>
          </a:xfrm>
          <a:prstGeom prst="roundRect">
            <a:avLst>
              <a:gd fmla="val 16667" name="adj"/>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1200">
                <a:latin typeface="M PLUS 1p"/>
                <a:ea typeface="M PLUS 1p"/>
                <a:cs typeface="M PLUS 1p"/>
                <a:sym typeface="M PLUS 1p"/>
              </a:rPr>
              <a:t>平均</a:t>
            </a:r>
            <a:endParaRPr sz="1200">
              <a:latin typeface="M PLUS 1p"/>
              <a:ea typeface="M PLUS 1p"/>
              <a:cs typeface="M PLUS 1p"/>
              <a:sym typeface="M PLUS 1p"/>
            </a:endParaRPr>
          </a:p>
          <a:p>
            <a:pPr indent="0" lvl="0" marL="0" rtl="0" algn="ctr">
              <a:spcBef>
                <a:spcPts val="0"/>
              </a:spcBef>
              <a:spcAft>
                <a:spcPts val="0"/>
              </a:spcAft>
              <a:buNone/>
            </a:pPr>
            <a:r>
              <a:rPr lang="ja" sz="1200">
                <a:latin typeface="M PLUS 1p"/>
                <a:ea typeface="M PLUS 1p"/>
                <a:cs typeface="M PLUS 1p"/>
                <a:sym typeface="M PLUS 1p"/>
              </a:rPr>
              <a:t>応募数</a:t>
            </a:r>
            <a:endParaRPr sz="1200">
              <a:latin typeface="M PLUS 1p"/>
              <a:ea typeface="M PLUS 1p"/>
              <a:cs typeface="M PLUS 1p"/>
              <a:sym typeface="M PLUS 1p"/>
            </a:endParaRPr>
          </a:p>
        </p:txBody>
      </p:sp>
      <p:cxnSp>
        <p:nvCxnSpPr>
          <p:cNvPr id="155" name="Google Shape;155;p16"/>
          <p:cNvCxnSpPr>
            <a:stCxn id="147" idx="3"/>
            <a:endCxn id="146" idx="1"/>
          </p:cNvCxnSpPr>
          <p:nvPr/>
        </p:nvCxnSpPr>
        <p:spPr>
          <a:xfrm>
            <a:off x="3186709" y="3472416"/>
            <a:ext cx="515700" cy="2100"/>
          </a:xfrm>
          <a:prstGeom prst="straightConnector1">
            <a:avLst/>
          </a:prstGeom>
          <a:noFill/>
          <a:ln cap="flat" cmpd="sng" w="9525">
            <a:solidFill>
              <a:schemeClr val="dk2"/>
            </a:solidFill>
            <a:prstDash val="solid"/>
            <a:round/>
            <a:headEnd len="med" w="med" type="none"/>
            <a:tailEnd len="med" w="med" type="triangle"/>
          </a:ln>
        </p:spPr>
      </p:cxnSp>
      <p:cxnSp>
        <p:nvCxnSpPr>
          <p:cNvPr id="156" name="Google Shape;156;p16"/>
          <p:cNvCxnSpPr>
            <a:stCxn id="146" idx="3"/>
            <a:endCxn id="153" idx="1"/>
          </p:cNvCxnSpPr>
          <p:nvPr/>
        </p:nvCxnSpPr>
        <p:spPr>
          <a:xfrm flipH="1" rot="10800000">
            <a:off x="5332155" y="3472464"/>
            <a:ext cx="641100" cy="2100"/>
          </a:xfrm>
          <a:prstGeom prst="straightConnector1">
            <a:avLst/>
          </a:prstGeom>
          <a:noFill/>
          <a:ln cap="flat" cmpd="sng" w="9525">
            <a:solidFill>
              <a:schemeClr val="dk2"/>
            </a:solidFill>
            <a:prstDash val="solid"/>
            <a:round/>
            <a:headEnd len="med" w="med" type="triangle"/>
            <a:tailEnd len="med" w="med" type="none"/>
          </a:ln>
        </p:spPr>
      </p:cxnSp>
      <p:sp>
        <p:nvSpPr>
          <p:cNvPr id="157" name="Google Shape;157;p16"/>
          <p:cNvSpPr/>
          <p:nvPr/>
        </p:nvSpPr>
        <p:spPr>
          <a:xfrm>
            <a:off x="2192697" y="4686670"/>
            <a:ext cx="1017900" cy="430200"/>
          </a:xfrm>
          <a:prstGeom prst="roundRect">
            <a:avLst>
              <a:gd fmla="val 16667" name="adj"/>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1200">
                <a:latin typeface="M PLUS 1p"/>
                <a:ea typeface="M PLUS 1p"/>
                <a:cs typeface="M PLUS 1p"/>
                <a:sym typeface="M PLUS 1p"/>
              </a:rPr>
              <a:t>募集</a:t>
            </a:r>
            <a:endParaRPr sz="1200">
              <a:latin typeface="M PLUS 1p"/>
              <a:ea typeface="M PLUS 1p"/>
              <a:cs typeface="M PLUS 1p"/>
              <a:sym typeface="M PLUS 1p"/>
            </a:endParaRPr>
          </a:p>
          <a:p>
            <a:pPr indent="0" lvl="0" marL="0" rtl="0" algn="ctr">
              <a:spcBef>
                <a:spcPts val="0"/>
              </a:spcBef>
              <a:spcAft>
                <a:spcPts val="0"/>
              </a:spcAft>
              <a:buNone/>
            </a:pPr>
            <a:r>
              <a:rPr lang="ja" sz="1200">
                <a:latin typeface="M PLUS 1p"/>
                <a:ea typeface="M PLUS 1p"/>
                <a:cs typeface="M PLUS 1p"/>
                <a:sym typeface="M PLUS 1p"/>
              </a:rPr>
              <a:t>継続率</a:t>
            </a:r>
            <a:endParaRPr sz="1200">
              <a:latin typeface="M PLUS 1p"/>
              <a:ea typeface="M PLUS 1p"/>
              <a:cs typeface="M PLUS 1p"/>
              <a:sym typeface="M PLUS 1p"/>
            </a:endParaRPr>
          </a:p>
        </p:txBody>
      </p:sp>
      <p:sp>
        <p:nvSpPr>
          <p:cNvPr id="158" name="Google Shape;158;p16"/>
          <p:cNvSpPr txBox="1"/>
          <p:nvPr/>
        </p:nvSpPr>
        <p:spPr>
          <a:xfrm>
            <a:off x="712300" y="294475"/>
            <a:ext cx="7423800" cy="48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2000">
                <a:solidFill>
                  <a:srgbClr val="1F1F1F"/>
                </a:solidFill>
                <a:latin typeface="M PLUS 1p"/>
                <a:ea typeface="M PLUS 1p"/>
                <a:cs typeface="M PLUS 1p"/>
                <a:sym typeface="M PLUS 1p"/>
              </a:rPr>
              <a:t>タイミー</a:t>
            </a:r>
            <a:r>
              <a:rPr b="1" lang="ja" sz="2000">
                <a:solidFill>
                  <a:srgbClr val="1F1F1F"/>
                </a:solidFill>
                <a:latin typeface="M PLUS 1p"/>
                <a:ea typeface="M PLUS 1p"/>
                <a:cs typeface="M PLUS 1p"/>
                <a:sym typeface="M PLUS 1p"/>
              </a:rPr>
              <a:t>のNorth Star Metrics</a:t>
            </a:r>
            <a:r>
              <a:rPr b="1" lang="ja" sz="2000">
                <a:solidFill>
                  <a:srgbClr val="1F1F1F"/>
                </a:solidFill>
                <a:latin typeface="M PLUS 1p"/>
                <a:ea typeface="M PLUS 1p"/>
                <a:cs typeface="M PLUS 1p"/>
                <a:sym typeface="M PLUS 1p"/>
              </a:rPr>
              <a:t>　</a:t>
            </a:r>
            <a:r>
              <a:rPr lang="ja" sz="1700">
                <a:solidFill>
                  <a:srgbClr val="1F1F1F"/>
                </a:solidFill>
                <a:latin typeface="M PLUS 1p"/>
                <a:ea typeface="M PLUS 1p"/>
                <a:cs typeface="M PLUS 1p"/>
                <a:sym typeface="M PLUS 1p"/>
              </a:rPr>
              <a:t>※他指標との比較は</a:t>
            </a:r>
            <a:r>
              <a:rPr lang="ja" sz="1700" u="sng">
                <a:solidFill>
                  <a:schemeClr val="hlink"/>
                </a:solidFill>
                <a:latin typeface="M PLUS 1p"/>
                <a:ea typeface="M PLUS 1p"/>
                <a:cs typeface="M PLUS 1p"/>
                <a:sym typeface="M PLUS 1p"/>
                <a:hlinkClick r:id="rId3"/>
              </a:rPr>
              <a:t>こちら</a:t>
            </a:r>
            <a:endParaRPr sz="1700">
              <a:solidFill>
                <a:srgbClr val="1F1F1F"/>
              </a:solidFill>
              <a:latin typeface="M PLUS 1p"/>
              <a:ea typeface="M PLUS 1p"/>
              <a:cs typeface="M PLUS 1p"/>
              <a:sym typeface="M PLUS 1p"/>
            </a:endParaRPr>
          </a:p>
        </p:txBody>
      </p:sp>
      <p:sp>
        <p:nvSpPr>
          <p:cNvPr id="159" name="Google Shape;159;p16"/>
          <p:cNvSpPr/>
          <p:nvPr/>
        </p:nvSpPr>
        <p:spPr>
          <a:xfrm>
            <a:off x="5320313" y="2174907"/>
            <a:ext cx="367500" cy="262800"/>
          </a:xfrm>
          <a:prstGeom prst="mathMultiply">
            <a:avLst>
              <a:gd fmla="val 23520" name="adj1"/>
            </a:avLst>
          </a:prstGeom>
          <a:solidFill>
            <a:srgbClr val="1F1F1F"/>
          </a:solidFill>
          <a:ln cap="flat" cmpd="sng" w="9525">
            <a:solidFill>
              <a:srgbClr val="1F1F1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0" name="Google Shape;160;p16"/>
          <p:cNvSpPr/>
          <p:nvPr/>
        </p:nvSpPr>
        <p:spPr>
          <a:xfrm>
            <a:off x="977050" y="4686951"/>
            <a:ext cx="1017900" cy="430200"/>
          </a:xfrm>
          <a:prstGeom prst="roundRect">
            <a:avLst>
              <a:gd fmla="val 16667" name="adj"/>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1200">
                <a:latin typeface="M PLUS 1p"/>
                <a:ea typeface="M PLUS 1p"/>
                <a:cs typeface="M PLUS 1p"/>
                <a:sym typeface="M PLUS 1p"/>
              </a:rPr>
              <a:t>初募集率</a:t>
            </a:r>
            <a:endParaRPr sz="1200">
              <a:latin typeface="M PLUS 1p"/>
              <a:ea typeface="M PLUS 1p"/>
              <a:cs typeface="M PLUS 1p"/>
              <a:sym typeface="M PLUS 1p"/>
            </a:endParaRPr>
          </a:p>
        </p:txBody>
      </p:sp>
      <p:sp>
        <p:nvSpPr>
          <p:cNvPr id="161" name="Google Shape;161;p16"/>
          <p:cNvSpPr txBox="1"/>
          <p:nvPr/>
        </p:nvSpPr>
        <p:spPr>
          <a:xfrm>
            <a:off x="432300" y="700025"/>
            <a:ext cx="8620500" cy="741300"/>
          </a:xfrm>
          <a:prstGeom prst="rect">
            <a:avLst/>
          </a:prstGeom>
          <a:noFill/>
          <a:ln>
            <a:noFill/>
          </a:ln>
        </p:spPr>
        <p:txBody>
          <a:bodyPr anchorCtr="0" anchor="t" bIns="91425" lIns="91425" spcFirstLastPara="1" rIns="91425" wrap="square" tIns="91425">
            <a:noAutofit/>
          </a:bodyPr>
          <a:lstStyle/>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プラットフォームの成長を把握しやすい</a:t>
            </a:r>
            <a:r>
              <a:rPr lang="ja" sz="1600">
                <a:solidFill>
                  <a:srgbClr val="1F1F1F"/>
                </a:solidFill>
                <a:latin typeface="M PLUS 1p"/>
                <a:ea typeface="M PLUS 1p"/>
                <a:cs typeface="M PLUS 1p"/>
                <a:sym typeface="M PLUS 1p"/>
              </a:rPr>
              <a:t>「マッチング数」をNorth Star Metricとする</a:t>
            </a:r>
            <a:endParaRPr sz="1600">
              <a:solidFill>
                <a:srgbClr val="1F1F1F"/>
              </a:solidFill>
              <a:latin typeface="M PLUS 1p"/>
              <a:ea typeface="M PLUS 1p"/>
              <a:cs typeface="M PLUS 1p"/>
              <a:sym typeface="M PLUS 1p"/>
            </a:endParaRPr>
          </a:p>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マッチング数を次ページで</a:t>
            </a:r>
            <a:r>
              <a:rPr lang="ja" sz="1600">
                <a:solidFill>
                  <a:srgbClr val="1F1F1F"/>
                </a:solidFill>
                <a:latin typeface="M PLUS 1p"/>
                <a:ea typeface="M PLUS 1p"/>
                <a:cs typeface="M PLUS 1p"/>
                <a:sym typeface="M PLUS 1p"/>
              </a:rPr>
              <a:t>さらに</a:t>
            </a:r>
            <a:r>
              <a:rPr lang="ja" sz="1600">
                <a:solidFill>
                  <a:srgbClr val="1F1F1F"/>
                </a:solidFill>
                <a:latin typeface="M PLUS 1p"/>
                <a:ea typeface="M PLUS 1p"/>
                <a:cs typeface="M PLUS 1p"/>
                <a:sym typeface="M PLUS 1p"/>
              </a:rPr>
              <a:t>分解</a:t>
            </a:r>
            <a:endParaRPr sz="1600">
              <a:solidFill>
                <a:srgbClr val="1F1F1F"/>
              </a:solidFill>
              <a:latin typeface="M PLUS 1p"/>
              <a:ea typeface="M PLUS 1p"/>
              <a:cs typeface="M PLUS 1p"/>
              <a:sym typeface="M PLUS 1p"/>
            </a:endParaRPr>
          </a:p>
        </p:txBody>
      </p:sp>
      <p:sp>
        <p:nvSpPr>
          <p:cNvPr id="162" name="Google Shape;162;p16"/>
          <p:cNvSpPr/>
          <p:nvPr/>
        </p:nvSpPr>
        <p:spPr>
          <a:xfrm>
            <a:off x="330250" y="380175"/>
            <a:ext cx="342900" cy="342900"/>
          </a:xfrm>
          <a:prstGeom prst="ellipse">
            <a:avLst/>
          </a:prstGeom>
          <a:solidFill>
            <a:srgbClr val="FFD7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16"/>
          <p:cNvSpPr txBox="1"/>
          <p:nvPr/>
        </p:nvSpPr>
        <p:spPr>
          <a:xfrm>
            <a:off x="374950" y="350350"/>
            <a:ext cx="298200" cy="30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300">
                <a:solidFill>
                  <a:srgbClr val="FFFFFF"/>
                </a:solidFill>
                <a:latin typeface="Zen Kaku Gothic New"/>
                <a:ea typeface="Zen Kaku Gothic New"/>
                <a:cs typeface="Zen Kaku Gothic New"/>
                <a:sym typeface="Zen Kaku Gothic New"/>
              </a:rPr>
              <a:t>1</a:t>
            </a:r>
            <a:endParaRPr b="1" sz="1300">
              <a:solidFill>
                <a:srgbClr val="FFFFFF"/>
              </a:solidFill>
              <a:latin typeface="Zen Kaku Gothic New"/>
              <a:ea typeface="Zen Kaku Gothic New"/>
              <a:cs typeface="Zen Kaku Gothic New"/>
              <a:sym typeface="Zen Kaku Gothic New"/>
            </a:endParaRPr>
          </a:p>
        </p:txBody>
      </p:sp>
      <p:cxnSp>
        <p:nvCxnSpPr>
          <p:cNvPr id="164" name="Google Shape;164;p16"/>
          <p:cNvCxnSpPr>
            <a:stCxn id="141" idx="2"/>
            <a:endCxn id="142" idx="0"/>
          </p:cNvCxnSpPr>
          <p:nvPr/>
        </p:nvCxnSpPr>
        <p:spPr>
          <a:xfrm rot="5400000">
            <a:off x="5167413" y="1114900"/>
            <a:ext cx="385500" cy="1682400"/>
          </a:xfrm>
          <a:prstGeom prst="bentConnector3">
            <a:avLst>
              <a:gd fmla="val 50016" name="adj1"/>
            </a:avLst>
          </a:prstGeom>
          <a:noFill/>
          <a:ln cap="flat" cmpd="sng" w="9525">
            <a:solidFill>
              <a:schemeClr val="dk2"/>
            </a:solidFill>
            <a:prstDash val="solid"/>
            <a:round/>
            <a:headEnd len="med" w="med" type="none"/>
            <a:tailEnd len="med" w="med" type="none"/>
          </a:ln>
        </p:spPr>
      </p:cxnSp>
      <p:cxnSp>
        <p:nvCxnSpPr>
          <p:cNvPr id="165" name="Google Shape;165;p16"/>
          <p:cNvCxnSpPr>
            <a:stCxn id="141" idx="2"/>
            <a:endCxn id="143" idx="0"/>
          </p:cNvCxnSpPr>
          <p:nvPr/>
        </p:nvCxnSpPr>
        <p:spPr>
          <a:xfrm flipH="1" rot="-5400000">
            <a:off x="6008913" y="1955800"/>
            <a:ext cx="385500" cy="600"/>
          </a:xfrm>
          <a:prstGeom prst="bentConnector3">
            <a:avLst>
              <a:gd fmla="val 50013" name="adj1"/>
            </a:avLst>
          </a:prstGeom>
          <a:noFill/>
          <a:ln cap="flat" cmpd="sng" w="9525">
            <a:solidFill>
              <a:schemeClr val="dk2"/>
            </a:solidFill>
            <a:prstDash val="solid"/>
            <a:round/>
            <a:headEnd len="med" w="med" type="none"/>
            <a:tailEnd len="med" w="med" type="none"/>
          </a:ln>
        </p:spPr>
      </p:cxnSp>
      <p:cxnSp>
        <p:nvCxnSpPr>
          <p:cNvPr id="166" name="Google Shape;166;p16"/>
          <p:cNvCxnSpPr>
            <a:stCxn id="141" idx="2"/>
            <a:endCxn id="144" idx="0"/>
          </p:cNvCxnSpPr>
          <p:nvPr/>
        </p:nvCxnSpPr>
        <p:spPr>
          <a:xfrm flipH="1" rot="-5400000">
            <a:off x="6733263" y="1231450"/>
            <a:ext cx="378600" cy="1442400"/>
          </a:xfrm>
          <a:prstGeom prst="bentConnector3">
            <a:avLst>
              <a:gd fmla="val 49998" name="adj1"/>
            </a:avLst>
          </a:prstGeom>
          <a:noFill/>
          <a:ln cap="flat" cmpd="sng" w="9525">
            <a:solidFill>
              <a:schemeClr val="dk2"/>
            </a:solidFill>
            <a:prstDash val="solid"/>
            <a:round/>
            <a:headEnd len="med" w="med" type="none"/>
            <a:tailEnd len="med" w="med" type="none"/>
          </a:ln>
        </p:spPr>
      </p:cxnSp>
      <p:cxnSp>
        <p:nvCxnSpPr>
          <p:cNvPr id="167" name="Google Shape;167;p16"/>
          <p:cNvCxnSpPr>
            <a:stCxn id="142" idx="2"/>
            <a:endCxn id="146" idx="0"/>
          </p:cNvCxnSpPr>
          <p:nvPr/>
        </p:nvCxnSpPr>
        <p:spPr>
          <a:xfrm rot="5400000">
            <a:off x="4106956" y="2881125"/>
            <a:ext cx="822300" cy="1800"/>
          </a:xfrm>
          <a:prstGeom prst="bentConnector3">
            <a:avLst>
              <a:gd fmla="val 49993" name="adj1"/>
            </a:avLst>
          </a:prstGeom>
          <a:noFill/>
          <a:ln cap="flat" cmpd="sng" w="9525">
            <a:solidFill>
              <a:schemeClr val="dk2"/>
            </a:solidFill>
            <a:prstDash val="solid"/>
            <a:round/>
            <a:headEnd len="med" w="med" type="stealth"/>
            <a:tailEnd len="med" w="med" type="none"/>
          </a:ln>
        </p:spPr>
      </p:cxnSp>
      <p:sp>
        <p:nvSpPr>
          <p:cNvPr id="168" name="Google Shape;168;p16"/>
          <p:cNvSpPr/>
          <p:nvPr/>
        </p:nvSpPr>
        <p:spPr>
          <a:xfrm>
            <a:off x="3722505" y="2700474"/>
            <a:ext cx="1629600" cy="363000"/>
          </a:xfrm>
          <a:prstGeom prst="roundRect">
            <a:avLst>
              <a:gd fmla="val 16667" name="adj"/>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ja" sz="1300">
                <a:latin typeface="M PLUS 1p"/>
                <a:ea typeface="M PLUS 1p"/>
                <a:cs typeface="M PLUS 1p"/>
                <a:sym typeface="M PLUS 1p"/>
              </a:rPr>
              <a:t>稼働転換率</a:t>
            </a:r>
            <a:endParaRPr sz="1300">
              <a:latin typeface="M PLUS 1p"/>
              <a:ea typeface="M PLUS 1p"/>
              <a:cs typeface="M PLUS 1p"/>
              <a:sym typeface="M PLUS 1p"/>
            </a:endParaRPr>
          </a:p>
          <a:p>
            <a:pPr indent="0" lvl="0" marL="0" marR="0" rtl="0" algn="ctr">
              <a:lnSpc>
                <a:spcPct val="100000"/>
              </a:lnSpc>
              <a:spcBef>
                <a:spcPts val="0"/>
              </a:spcBef>
              <a:spcAft>
                <a:spcPts val="0"/>
              </a:spcAft>
              <a:buNone/>
            </a:pPr>
            <a:r>
              <a:rPr lang="ja" sz="1000">
                <a:latin typeface="M PLUS 1p"/>
                <a:ea typeface="M PLUS 1p"/>
                <a:cs typeface="M PLUS 1p"/>
                <a:sym typeface="M PLUS 1p"/>
              </a:rPr>
              <a:t>(稼働数/マッチング数)</a:t>
            </a:r>
            <a:endParaRPr sz="1000">
              <a:latin typeface="M PLUS 1p"/>
              <a:ea typeface="M PLUS 1p"/>
              <a:cs typeface="M PLUS 1p"/>
              <a:sym typeface="M PLUS 1p"/>
            </a:endParaRPr>
          </a:p>
        </p:txBody>
      </p:sp>
      <p:cxnSp>
        <p:nvCxnSpPr>
          <p:cNvPr id="169" name="Google Shape;169;p16"/>
          <p:cNvCxnSpPr>
            <a:stCxn id="149" idx="2"/>
            <a:endCxn id="160" idx="0"/>
          </p:cNvCxnSpPr>
          <p:nvPr/>
        </p:nvCxnSpPr>
        <p:spPr>
          <a:xfrm rot="5400000">
            <a:off x="1638574" y="4231578"/>
            <a:ext cx="302700" cy="607800"/>
          </a:xfrm>
          <a:prstGeom prst="bentConnector3">
            <a:avLst>
              <a:gd fmla="val 50020" name="adj1"/>
            </a:avLst>
          </a:prstGeom>
          <a:noFill/>
          <a:ln cap="flat" cmpd="sng" w="9525">
            <a:solidFill>
              <a:schemeClr val="dk2"/>
            </a:solidFill>
            <a:prstDash val="solid"/>
            <a:round/>
            <a:headEnd len="med" w="med" type="none"/>
            <a:tailEnd len="med" w="med" type="none"/>
          </a:ln>
        </p:spPr>
      </p:cxnSp>
      <p:cxnSp>
        <p:nvCxnSpPr>
          <p:cNvPr id="170" name="Google Shape;170;p16"/>
          <p:cNvCxnSpPr>
            <a:stCxn id="149" idx="2"/>
            <a:endCxn id="157" idx="0"/>
          </p:cNvCxnSpPr>
          <p:nvPr/>
        </p:nvCxnSpPr>
        <p:spPr>
          <a:xfrm flipH="1" rot="-5400000">
            <a:off x="2246524" y="4231428"/>
            <a:ext cx="302400" cy="607800"/>
          </a:xfrm>
          <a:prstGeom prst="bentConnector3">
            <a:avLst>
              <a:gd fmla="val 50023" name="adj1"/>
            </a:avLst>
          </a:prstGeom>
          <a:noFill/>
          <a:ln cap="flat" cmpd="sng" w="9525">
            <a:solidFill>
              <a:schemeClr val="dk2"/>
            </a:solidFill>
            <a:prstDash val="solid"/>
            <a:round/>
            <a:headEnd len="med" w="med" type="none"/>
            <a:tailEnd len="med" w="med" type="none"/>
          </a:ln>
        </p:spPr>
      </p:cxnSp>
      <p:cxnSp>
        <p:nvCxnSpPr>
          <p:cNvPr id="171" name="Google Shape;171;p16"/>
          <p:cNvCxnSpPr>
            <a:stCxn id="147" idx="2"/>
            <a:endCxn id="149" idx="0"/>
          </p:cNvCxnSpPr>
          <p:nvPr/>
        </p:nvCxnSpPr>
        <p:spPr>
          <a:xfrm rot="5400000">
            <a:off x="2296459" y="3448716"/>
            <a:ext cx="302700" cy="708000"/>
          </a:xfrm>
          <a:prstGeom prst="bentConnector3">
            <a:avLst>
              <a:gd fmla="val 49977" name="adj1"/>
            </a:avLst>
          </a:prstGeom>
          <a:noFill/>
          <a:ln cap="flat" cmpd="sng" w="9525">
            <a:solidFill>
              <a:schemeClr val="dk2"/>
            </a:solidFill>
            <a:prstDash val="solid"/>
            <a:round/>
            <a:headEnd len="med" w="med" type="none"/>
            <a:tailEnd len="med" w="med" type="none"/>
          </a:ln>
        </p:spPr>
      </p:cxnSp>
      <p:cxnSp>
        <p:nvCxnSpPr>
          <p:cNvPr id="172" name="Google Shape;172;p16"/>
          <p:cNvCxnSpPr>
            <a:stCxn id="147" idx="2"/>
            <a:endCxn id="152" idx="0"/>
          </p:cNvCxnSpPr>
          <p:nvPr/>
        </p:nvCxnSpPr>
        <p:spPr>
          <a:xfrm flipH="1" rot="-5400000">
            <a:off x="3080809" y="3372366"/>
            <a:ext cx="302700" cy="860700"/>
          </a:xfrm>
          <a:prstGeom prst="bentConnector3">
            <a:avLst>
              <a:gd fmla="val 49976" name="adj1"/>
            </a:avLst>
          </a:prstGeom>
          <a:noFill/>
          <a:ln cap="flat" cmpd="sng" w="9525">
            <a:solidFill>
              <a:schemeClr val="dk2"/>
            </a:solidFill>
            <a:prstDash val="solid"/>
            <a:round/>
            <a:headEnd len="med" w="med" type="none"/>
            <a:tailEnd len="med" w="med" type="none"/>
          </a:ln>
        </p:spPr>
      </p:cxnSp>
      <p:cxnSp>
        <p:nvCxnSpPr>
          <p:cNvPr id="173" name="Google Shape;173;p16"/>
          <p:cNvCxnSpPr>
            <a:stCxn id="153" idx="2"/>
            <a:endCxn id="148" idx="0"/>
          </p:cNvCxnSpPr>
          <p:nvPr/>
        </p:nvCxnSpPr>
        <p:spPr>
          <a:xfrm rot="5400000">
            <a:off x="5870499" y="3465966"/>
            <a:ext cx="302400" cy="673200"/>
          </a:xfrm>
          <a:prstGeom prst="bentConnector3">
            <a:avLst>
              <a:gd fmla="val 50025" name="adj1"/>
            </a:avLst>
          </a:prstGeom>
          <a:noFill/>
          <a:ln cap="flat" cmpd="sng" w="9525">
            <a:solidFill>
              <a:schemeClr val="dk2"/>
            </a:solidFill>
            <a:prstDash val="solid"/>
            <a:round/>
            <a:headEnd len="med" w="med" type="none"/>
            <a:tailEnd len="med" w="med" type="none"/>
          </a:ln>
        </p:spPr>
      </p:cxnSp>
      <p:cxnSp>
        <p:nvCxnSpPr>
          <p:cNvPr id="174" name="Google Shape;174;p16"/>
          <p:cNvCxnSpPr>
            <a:stCxn id="153" idx="2"/>
            <a:endCxn id="154" idx="0"/>
          </p:cNvCxnSpPr>
          <p:nvPr/>
        </p:nvCxnSpPr>
        <p:spPr>
          <a:xfrm flipH="1" rot="-5400000">
            <a:off x="6554799" y="3454866"/>
            <a:ext cx="302700" cy="695700"/>
          </a:xfrm>
          <a:prstGeom prst="bentConnector3">
            <a:avLst>
              <a:gd fmla="val 49976" name="adj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8" name="Shape 178"/>
        <p:cNvGrpSpPr/>
        <p:nvPr/>
      </p:nvGrpSpPr>
      <p:grpSpPr>
        <a:xfrm>
          <a:off x="0" y="0"/>
          <a:ext cx="0" cy="0"/>
          <a:chOff x="0" y="0"/>
          <a:chExt cx="0" cy="0"/>
        </a:xfrm>
      </p:grpSpPr>
      <p:sp>
        <p:nvSpPr>
          <p:cNvPr id="179" name="Google Shape;179;p17"/>
          <p:cNvSpPr/>
          <p:nvPr/>
        </p:nvSpPr>
        <p:spPr>
          <a:xfrm>
            <a:off x="683763" y="2335150"/>
            <a:ext cx="5905500" cy="2141100"/>
          </a:xfrm>
          <a:prstGeom prst="roundRect">
            <a:avLst>
              <a:gd fmla="val 16667" name="adj"/>
            </a:avLst>
          </a:prstGeom>
          <a:noFill/>
          <a:ln cap="flat" cmpd="sng" w="19050">
            <a:solidFill>
              <a:schemeClr val="dk2"/>
            </a:solidFill>
            <a:prstDash val="dot"/>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0" name="Google Shape;180;p17"/>
          <p:cNvSpPr/>
          <p:nvPr/>
        </p:nvSpPr>
        <p:spPr>
          <a:xfrm>
            <a:off x="942062" y="2693725"/>
            <a:ext cx="1606800" cy="1020600"/>
          </a:xfrm>
          <a:prstGeom prst="roundRect">
            <a:avLst>
              <a:gd fmla="val 16667"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1250">
                <a:solidFill>
                  <a:srgbClr val="B7B7B7"/>
                </a:solidFill>
                <a:highlight>
                  <a:srgbClr val="FFFFFF"/>
                </a:highlight>
                <a:latin typeface="M PLUS 1p"/>
                <a:ea typeface="M PLUS 1p"/>
                <a:cs typeface="M PLUS 1p"/>
                <a:sym typeface="M PLUS 1p"/>
              </a:rPr>
              <a:t>タイミーを利用し</a:t>
            </a:r>
            <a:r>
              <a:rPr lang="ja" sz="1250">
                <a:solidFill>
                  <a:srgbClr val="B7B7B7"/>
                </a:solidFill>
                <a:highlight>
                  <a:srgbClr val="FFFFFF"/>
                </a:highlight>
                <a:latin typeface="M PLUS 1p"/>
                <a:ea typeface="M PLUS 1p"/>
                <a:cs typeface="M PLUS 1p"/>
                <a:sym typeface="M PLUS 1p"/>
              </a:rPr>
              <a:t>ている</a:t>
            </a:r>
            <a:r>
              <a:rPr lang="ja" sz="1250">
                <a:solidFill>
                  <a:srgbClr val="B7B7B7"/>
                </a:solidFill>
                <a:highlight>
                  <a:srgbClr val="FFFFFF"/>
                </a:highlight>
                <a:latin typeface="M PLUS 1p"/>
                <a:ea typeface="M PLUS 1p"/>
                <a:cs typeface="M PLUS 1p"/>
                <a:sym typeface="M PLUS 1p"/>
              </a:rPr>
              <a:t>店舗がどれだけ存在するか</a:t>
            </a:r>
            <a:endParaRPr sz="1300">
              <a:solidFill>
                <a:srgbClr val="B7B7B7"/>
              </a:solidFill>
              <a:latin typeface="M PLUS 1p"/>
              <a:ea typeface="M PLUS 1p"/>
              <a:cs typeface="M PLUS 1p"/>
              <a:sym typeface="M PLUS 1p"/>
            </a:endParaRPr>
          </a:p>
        </p:txBody>
      </p:sp>
      <p:sp>
        <p:nvSpPr>
          <p:cNvPr id="181" name="Google Shape;181;p17"/>
          <p:cNvSpPr/>
          <p:nvPr/>
        </p:nvSpPr>
        <p:spPr>
          <a:xfrm>
            <a:off x="2718031" y="2335150"/>
            <a:ext cx="1842000" cy="1947600"/>
          </a:xfrm>
          <a:prstGeom prst="rect">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2" name="Google Shape;182;p17"/>
          <p:cNvSpPr txBox="1"/>
          <p:nvPr/>
        </p:nvSpPr>
        <p:spPr>
          <a:xfrm>
            <a:off x="8136000" y="104275"/>
            <a:ext cx="916800" cy="190200"/>
          </a:xfrm>
          <a:prstGeom prst="rect">
            <a:avLst/>
          </a:prstGeom>
          <a:solidFill>
            <a:srgbClr val="DC0451"/>
          </a:solidFill>
          <a:ln>
            <a:noFill/>
          </a:ln>
        </p:spPr>
        <p:txBody>
          <a:bodyPr anchorCtr="0" anchor="t" bIns="91425" lIns="91425" spcFirstLastPara="1" rIns="91425" wrap="square" tIns="91425">
            <a:noAutofit/>
          </a:bodyPr>
          <a:lstStyle/>
          <a:p>
            <a:pPr indent="0" lvl="0" marL="0" rtl="0" algn="ctr">
              <a:lnSpc>
                <a:spcPct val="50000"/>
              </a:lnSpc>
              <a:spcBef>
                <a:spcPts val="0"/>
              </a:spcBef>
              <a:spcAft>
                <a:spcPts val="0"/>
              </a:spcAft>
              <a:buNone/>
            </a:pPr>
            <a:r>
              <a:rPr b="1" lang="ja" sz="700">
                <a:solidFill>
                  <a:srgbClr val="FFFFFF"/>
                </a:solidFill>
                <a:latin typeface="M PLUS 1p"/>
                <a:ea typeface="M PLUS 1p"/>
                <a:cs typeface="M PLUS 1p"/>
                <a:sym typeface="M PLUS 1p"/>
              </a:rPr>
              <a:t>CONFIDENTIAL</a:t>
            </a:r>
            <a:endParaRPr b="1" sz="700">
              <a:solidFill>
                <a:srgbClr val="FFFFFF"/>
              </a:solidFill>
              <a:latin typeface="M PLUS 1p"/>
              <a:ea typeface="M PLUS 1p"/>
              <a:cs typeface="M PLUS 1p"/>
              <a:sym typeface="M PLUS 1p"/>
            </a:endParaRPr>
          </a:p>
        </p:txBody>
      </p:sp>
      <p:sp>
        <p:nvSpPr>
          <p:cNvPr id="183" name="Google Shape;183;p17"/>
          <p:cNvSpPr txBox="1"/>
          <p:nvPr/>
        </p:nvSpPr>
        <p:spPr>
          <a:xfrm>
            <a:off x="712300" y="294475"/>
            <a:ext cx="8431800" cy="48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2000">
                <a:solidFill>
                  <a:srgbClr val="1F1F1F"/>
                </a:solidFill>
                <a:latin typeface="M PLUS 1p"/>
                <a:ea typeface="M PLUS 1p"/>
                <a:cs typeface="M PLUS 1p"/>
                <a:sym typeface="M PLUS 1p"/>
              </a:rPr>
              <a:t>マッチング数を構成する</a:t>
            </a:r>
            <a:r>
              <a:rPr b="1" lang="ja" sz="2000">
                <a:solidFill>
                  <a:srgbClr val="1F1F1F"/>
                </a:solidFill>
                <a:latin typeface="M PLUS 1p"/>
                <a:ea typeface="M PLUS 1p"/>
                <a:cs typeface="M PLUS 1p"/>
                <a:sym typeface="M PLUS 1p"/>
              </a:rPr>
              <a:t>要素</a:t>
            </a:r>
            <a:endParaRPr sz="1600">
              <a:solidFill>
                <a:srgbClr val="1F1F1F"/>
              </a:solidFill>
              <a:latin typeface="M PLUS 1p"/>
              <a:ea typeface="M PLUS 1p"/>
              <a:cs typeface="M PLUS 1p"/>
              <a:sym typeface="M PLUS 1p"/>
            </a:endParaRPr>
          </a:p>
        </p:txBody>
      </p:sp>
      <p:sp>
        <p:nvSpPr>
          <p:cNvPr id="184" name="Google Shape;184;p17"/>
          <p:cNvSpPr txBox="1"/>
          <p:nvPr/>
        </p:nvSpPr>
        <p:spPr>
          <a:xfrm>
            <a:off x="1094463" y="3828625"/>
            <a:ext cx="1376700" cy="342900"/>
          </a:xfrm>
          <a:prstGeom prst="rect">
            <a:avLst/>
          </a:prstGeom>
          <a:solidFill>
            <a:srgbClr val="FCE5CD">
              <a:alpha val="50630"/>
            </a:srgbClr>
          </a:solidFill>
          <a:ln cap="flat" cmpd="sng" w="19050">
            <a:solidFill>
              <a:srgbClr val="CCCCCC"/>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ja" sz="1500">
                <a:solidFill>
                  <a:srgbClr val="B7B7B7"/>
                </a:solidFill>
                <a:latin typeface="M PLUS 1p"/>
                <a:ea typeface="M PLUS 1p"/>
                <a:cs typeface="M PLUS 1p"/>
                <a:sym typeface="M PLUS 1p"/>
              </a:rPr>
              <a:t>初募集率</a:t>
            </a:r>
            <a:endParaRPr sz="1500">
              <a:solidFill>
                <a:srgbClr val="B7B7B7"/>
              </a:solidFill>
              <a:latin typeface="M PLUS 1p"/>
              <a:ea typeface="M PLUS 1p"/>
              <a:cs typeface="M PLUS 1p"/>
              <a:sym typeface="M PLUS 1p"/>
            </a:endParaRPr>
          </a:p>
          <a:p>
            <a:pPr indent="0" lvl="0" marL="0" rtl="0" algn="ctr">
              <a:spcBef>
                <a:spcPts val="0"/>
              </a:spcBef>
              <a:spcAft>
                <a:spcPts val="0"/>
              </a:spcAft>
              <a:buNone/>
            </a:pPr>
            <a:r>
              <a:t/>
            </a:r>
            <a:endParaRPr sz="1500">
              <a:solidFill>
                <a:srgbClr val="B7B7B7"/>
              </a:solidFill>
              <a:latin typeface="M PLUS 1p"/>
              <a:ea typeface="M PLUS 1p"/>
              <a:cs typeface="M PLUS 1p"/>
              <a:sym typeface="M PLUS 1p"/>
            </a:endParaRPr>
          </a:p>
        </p:txBody>
      </p:sp>
      <p:sp>
        <p:nvSpPr>
          <p:cNvPr id="185" name="Google Shape;185;p17"/>
          <p:cNvSpPr txBox="1"/>
          <p:nvPr/>
        </p:nvSpPr>
        <p:spPr>
          <a:xfrm>
            <a:off x="2829363" y="3828625"/>
            <a:ext cx="1590000" cy="342900"/>
          </a:xfrm>
          <a:prstGeom prst="rect">
            <a:avLst/>
          </a:prstGeom>
          <a:solidFill>
            <a:srgbClr val="FCE5CD"/>
          </a:solidFill>
          <a:ln cap="flat" cmpd="sng" w="19050">
            <a:solidFill>
              <a:srgbClr val="1F1F1F"/>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ja" sz="1500">
                <a:solidFill>
                  <a:srgbClr val="1F1F1F"/>
                </a:solidFill>
                <a:latin typeface="M PLUS 1p"/>
                <a:ea typeface="M PLUS 1p"/>
                <a:cs typeface="M PLUS 1p"/>
                <a:sym typeface="M PLUS 1p"/>
              </a:rPr>
              <a:t>募集</a:t>
            </a:r>
            <a:r>
              <a:rPr b="1" lang="ja" sz="1500">
                <a:solidFill>
                  <a:srgbClr val="1F1F1F"/>
                </a:solidFill>
                <a:latin typeface="M PLUS 1p"/>
                <a:ea typeface="M PLUS 1p"/>
                <a:cs typeface="M PLUS 1p"/>
                <a:sym typeface="M PLUS 1p"/>
              </a:rPr>
              <a:t>継続率</a:t>
            </a:r>
            <a:endParaRPr b="1" sz="1500">
              <a:solidFill>
                <a:srgbClr val="1F1F1F"/>
              </a:solidFill>
              <a:latin typeface="M PLUS 1p"/>
              <a:ea typeface="M PLUS 1p"/>
              <a:cs typeface="M PLUS 1p"/>
              <a:sym typeface="M PLUS 1p"/>
            </a:endParaRPr>
          </a:p>
          <a:p>
            <a:pPr indent="0" lvl="0" marL="0" rtl="0" algn="ctr">
              <a:spcBef>
                <a:spcPts val="0"/>
              </a:spcBef>
              <a:spcAft>
                <a:spcPts val="0"/>
              </a:spcAft>
              <a:buNone/>
            </a:pPr>
            <a:r>
              <a:t/>
            </a:r>
            <a:endParaRPr b="1" sz="1500">
              <a:solidFill>
                <a:srgbClr val="1F1F1F"/>
              </a:solidFill>
              <a:latin typeface="M PLUS 1p"/>
              <a:ea typeface="M PLUS 1p"/>
              <a:cs typeface="M PLUS 1p"/>
              <a:sym typeface="M PLUS 1p"/>
            </a:endParaRPr>
          </a:p>
        </p:txBody>
      </p:sp>
      <p:sp>
        <p:nvSpPr>
          <p:cNvPr id="186" name="Google Shape;186;p17"/>
          <p:cNvSpPr txBox="1"/>
          <p:nvPr/>
        </p:nvSpPr>
        <p:spPr>
          <a:xfrm>
            <a:off x="4594063" y="3828625"/>
            <a:ext cx="1842000" cy="342900"/>
          </a:xfrm>
          <a:prstGeom prst="rect">
            <a:avLst/>
          </a:prstGeom>
          <a:solidFill>
            <a:srgbClr val="FCE5CD">
              <a:alpha val="50630"/>
            </a:srgbClr>
          </a:solidFill>
          <a:ln cap="flat" cmpd="sng" w="19050">
            <a:solidFill>
              <a:srgbClr val="CCCCCC"/>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ja" sz="1500">
                <a:solidFill>
                  <a:srgbClr val="B7B7B7"/>
                </a:solidFill>
                <a:latin typeface="M PLUS 1p"/>
                <a:ea typeface="M PLUS 1p"/>
                <a:cs typeface="M PLUS 1p"/>
                <a:sym typeface="M PLUS 1p"/>
              </a:rPr>
              <a:t>AA当たり募集数</a:t>
            </a:r>
            <a:endParaRPr sz="1500">
              <a:solidFill>
                <a:srgbClr val="B7B7B7"/>
              </a:solidFill>
              <a:latin typeface="M PLUS 1p"/>
              <a:ea typeface="M PLUS 1p"/>
              <a:cs typeface="M PLUS 1p"/>
              <a:sym typeface="M PLUS 1p"/>
            </a:endParaRPr>
          </a:p>
          <a:p>
            <a:pPr indent="0" lvl="0" marL="0" rtl="0" algn="ctr">
              <a:spcBef>
                <a:spcPts val="0"/>
              </a:spcBef>
              <a:spcAft>
                <a:spcPts val="0"/>
              </a:spcAft>
              <a:buNone/>
            </a:pPr>
            <a:r>
              <a:t/>
            </a:r>
            <a:endParaRPr sz="1500">
              <a:solidFill>
                <a:srgbClr val="B7B7B7"/>
              </a:solidFill>
              <a:latin typeface="M PLUS 1p"/>
              <a:ea typeface="M PLUS 1p"/>
              <a:cs typeface="M PLUS 1p"/>
              <a:sym typeface="M PLUS 1p"/>
            </a:endParaRPr>
          </a:p>
        </p:txBody>
      </p:sp>
      <p:sp>
        <p:nvSpPr>
          <p:cNvPr id="187" name="Google Shape;187;p17"/>
          <p:cNvSpPr txBox="1"/>
          <p:nvPr/>
        </p:nvSpPr>
        <p:spPr>
          <a:xfrm>
            <a:off x="6777913" y="3744725"/>
            <a:ext cx="1606800" cy="804900"/>
          </a:xfrm>
          <a:prstGeom prst="rect">
            <a:avLst/>
          </a:prstGeom>
          <a:solidFill>
            <a:srgbClr val="FFFFFF"/>
          </a:solidFill>
          <a:ln cap="flat" cmpd="sng" w="9525">
            <a:solidFill>
              <a:srgbClr val="CCCCCC"/>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ja" sz="1300">
                <a:solidFill>
                  <a:srgbClr val="CCCCCC"/>
                </a:solidFill>
                <a:latin typeface="M PLUS 1p"/>
                <a:ea typeface="M PLUS 1p"/>
                <a:cs typeface="M PLUS 1p"/>
                <a:sym typeface="M PLUS 1p"/>
              </a:rPr>
              <a:t>・募集当たりマッチング数</a:t>
            </a:r>
            <a:endParaRPr sz="1300">
              <a:solidFill>
                <a:srgbClr val="CCCCCC"/>
              </a:solidFill>
              <a:latin typeface="M PLUS 1p"/>
              <a:ea typeface="M PLUS 1p"/>
              <a:cs typeface="M PLUS 1p"/>
              <a:sym typeface="M PLUS 1p"/>
            </a:endParaRPr>
          </a:p>
          <a:p>
            <a:pPr indent="0" lvl="0" marL="0" rtl="0" algn="l">
              <a:spcBef>
                <a:spcPts val="0"/>
              </a:spcBef>
              <a:spcAft>
                <a:spcPts val="0"/>
              </a:spcAft>
              <a:buNone/>
            </a:pPr>
            <a:r>
              <a:rPr lang="ja" sz="1300">
                <a:solidFill>
                  <a:srgbClr val="CCCCCC"/>
                </a:solidFill>
                <a:latin typeface="M PLUS 1p"/>
                <a:ea typeface="M PLUS 1p"/>
                <a:cs typeface="M PLUS 1p"/>
                <a:sym typeface="M PLUS 1p"/>
              </a:rPr>
              <a:t>・キャンセル率</a:t>
            </a:r>
            <a:endParaRPr sz="1500">
              <a:solidFill>
                <a:srgbClr val="CCCCCC"/>
              </a:solidFill>
              <a:latin typeface="M PLUS 1p"/>
              <a:ea typeface="M PLUS 1p"/>
              <a:cs typeface="M PLUS 1p"/>
              <a:sym typeface="M PLUS 1p"/>
            </a:endParaRPr>
          </a:p>
        </p:txBody>
      </p:sp>
      <p:sp>
        <p:nvSpPr>
          <p:cNvPr id="188" name="Google Shape;188;p17"/>
          <p:cNvSpPr/>
          <p:nvPr/>
        </p:nvSpPr>
        <p:spPr>
          <a:xfrm>
            <a:off x="2807887" y="2693725"/>
            <a:ext cx="1662300" cy="1020600"/>
          </a:xfrm>
          <a:prstGeom prst="roundRect">
            <a:avLst>
              <a:gd fmla="val 16667"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ja" sz="1250">
                <a:solidFill>
                  <a:schemeClr val="dk1"/>
                </a:solidFill>
                <a:highlight>
                  <a:srgbClr val="FFFFFF"/>
                </a:highlight>
                <a:latin typeface="M PLUS 1p"/>
                <a:ea typeface="M PLUS 1p"/>
                <a:cs typeface="M PLUS 1p"/>
                <a:sym typeface="M PLUS 1p"/>
              </a:rPr>
              <a:t>店舗</a:t>
            </a:r>
            <a:r>
              <a:rPr lang="ja" sz="1250">
                <a:solidFill>
                  <a:schemeClr val="dk1"/>
                </a:solidFill>
                <a:highlight>
                  <a:srgbClr val="FFFFFF"/>
                </a:highlight>
                <a:latin typeface="M PLUS 1p"/>
                <a:ea typeface="M PLUS 1p"/>
                <a:cs typeface="M PLUS 1p"/>
                <a:sym typeface="M PLUS 1p"/>
              </a:rPr>
              <a:t>が</a:t>
            </a:r>
            <a:r>
              <a:rPr b="1" lang="ja" sz="1250">
                <a:solidFill>
                  <a:schemeClr val="dk1"/>
                </a:solidFill>
                <a:highlight>
                  <a:srgbClr val="FFFFFF"/>
                </a:highlight>
                <a:latin typeface="M PLUS 1p"/>
                <a:ea typeface="M PLUS 1p"/>
                <a:cs typeface="M PLUS 1p"/>
                <a:sym typeface="M PLUS 1p"/>
              </a:rPr>
              <a:t>どれくらい</a:t>
            </a:r>
            <a:r>
              <a:rPr b="1" lang="ja" sz="1250">
                <a:solidFill>
                  <a:schemeClr val="dk1"/>
                </a:solidFill>
                <a:highlight>
                  <a:srgbClr val="FFFFFF"/>
                </a:highlight>
                <a:latin typeface="M PLUS 1p"/>
                <a:ea typeface="M PLUS 1p"/>
                <a:cs typeface="M PLUS 1p"/>
                <a:sym typeface="M PLUS 1p"/>
              </a:rPr>
              <a:t>継続して</a:t>
            </a:r>
            <a:r>
              <a:rPr lang="ja" sz="1250">
                <a:solidFill>
                  <a:schemeClr val="dk1"/>
                </a:solidFill>
                <a:highlight>
                  <a:srgbClr val="FFFFFF"/>
                </a:highlight>
                <a:latin typeface="M PLUS 1p"/>
                <a:ea typeface="M PLUS 1p"/>
                <a:cs typeface="M PLUS 1p"/>
                <a:sym typeface="M PLUS 1p"/>
              </a:rPr>
              <a:t>タイミーを利用しているか</a:t>
            </a:r>
            <a:endParaRPr sz="1250">
              <a:solidFill>
                <a:schemeClr val="dk1"/>
              </a:solidFill>
              <a:highlight>
                <a:srgbClr val="FFFFFF"/>
              </a:highlight>
              <a:latin typeface="M PLUS 1p"/>
              <a:ea typeface="M PLUS 1p"/>
              <a:cs typeface="M PLUS 1p"/>
              <a:sym typeface="M PLUS 1p"/>
            </a:endParaRPr>
          </a:p>
        </p:txBody>
      </p:sp>
      <p:sp>
        <p:nvSpPr>
          <p:cNvPr id="189" name="Google Shape;189;p17"/>
          <p:cNvSpPr/>
          <p:nvPr/>
        </p:nvSpPr>
        <p:spPr>
          <a:xfrm>
            <a:off x="4667808" y="2693725"/>
            <a:ext cx="1617000" cy="1020600"/>
          </a:xfrm>
          <a:prstGeom prst="roundRect">
            <a:avLst>
              <a:gd fmla="val 16667"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ja" sz="1250">
                <a:solidFill>
                  <a:srgbClr val="B7B7B7"/>
                </a:solidFill>
                <a:highlight>
                  <a:srgbClr val="FFFFFF"/>
                </a:highlight>
                <a:latin typeface="M PLUS 1p"/>
                <a:ea typeface="M PLUS 1p"/>
                <a:cs typeface="M PLUS 1p"/>
                <a:sym typeface="M PLUS 1p"/>
              </a:rPr>
              <a:t>店舗</a:t>
            </a:r>
            <a:r>
              <a:rPr lang="ja" sz="1250">
                <a:solidFill>
                  <a:srgbClr val="B7B7B7"/>
                </a:solidFill>
                <a:highlight>
                  <a:srgbClr val="FFFFFF"/>
                </a:highlight>
                <a:latin typeface="M PLUS 1p"/>
                <a:ea typeface="M PLUS 1p"/>
                <a:cs typeface="M PLUS 1p"/>
                <a:sym typeface="M PLUS 1p"/>
              </a:rPr>
              <a:t>がどのくらい</a:t>
            </a:r>
            <a:r>
              <a:rPr lang="ja" sz="1250">
                <a:solidFill>
                  <a:srgbClr val="B7B7B7"/>
                </a:solidFill>
                <a:highlight>
                  <a:srgbClr val="FFFFFF"/>
                </a:highlight>
                <a:latin typeface="M PLUS 1p"/>
                <a:ea typeface="M PLUS 1p"/>
                <a:cs typeface="M PLUS 1p"/>
                <a:sym typeface="M PLUS 1p"/>
              </a:rPr>
              <a:t>たくさん</a:t>
            </a:r>
            <a:r>
              <a:rPr lang="ja" sz="1250">
                <a:solidFill>
                  <a:srgbClr val="B7B7B7"/>
                </a:solidFill>
                <a:highlight>
                  <a:srgbClr val="FFFFFF"/>
                </a:highlight>
                <a:latin typeface="M PLUS 1p"/>
                <a:ea typeface="M PLUS 1p"/>
                <a:cs typeface="M PLUS 1p"/>
                <a:sym typeface="M PLUS 1p"/>
              </a:rPr>
              <a:t>タイミーを</a:t>
            </a:r>
            <a:r>
              <a:rPr lang="ja" sz="1250">
                <a:solidFill>
                  <a:srgbClr val="B7B7B7"/>
                </a:solidFill>
                <a:highlight>
                  <a:srgbClr val="FFFFFF"/>
                </a:highlight>
                <a:latin typeface="M PLUS 1p"/>
                <a:ea typeface="M PLUS 1p"/>
                <a:cs typeface="M PLUS 1p"/>
                <a:sym typeface="M PLUS 1p"/>
              </a:rPr>
              <a:t>使っているか</a:t>
            </a:r>
            <a:endParaRPr sz="1250">
              <a:solidFill>
                <a:srgbClr val="B7B7B7"/>
              </a:solidFill>
              <a:highlight>
                <a:srgbClr val="FFFFFF"/>
              </a:highlight>
              <a:latin typeface="M PLUS 1p"/>
              <a:ea typeface="M PLUS 1p"/>
              <a:cs typeface="M PLUS 1p"/>
              <a:sym typeface="M PLUS 1p"/>
            </a:endParaRPr>
          </a:p>
        </p:txBody>
      </p:sp>
      <p:sp>
        <p:nvSpPr>
          <p:cNvPr id="190" name="Google Shape;190;p17"/>
          <p:cNvSpPr/>
          <p:nvPr/>
        </p:nvSpPr>
        <p:spPr>
          <a:xfrm>
            <a:off x="6719338" y="2693725"/>
            <a:ext cx="1740900" cy="1020600"/>
          </a:xfrm>
          <a:prstGeom prst="roundRect">
            <a:avLst>
              <a:gd fmla="val 16667"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lang="ja" sz="1250">
                <a:solidFill>
                  <a:srgbClr val="B7B7B7"/>
                </a:solidFill>
                <a:latin typeface="M PLUS 1p"/>
                <a:ea typeface="M PLUS 1p"/>
                <a:cs typeface="M PLUS 1p"/>
                <a:sym typeface="M PLUS 1p"/>
              </a:rPr>
              <a:t>マッチングが効率的に生じていて稼働に繋がっているか</a:t>
            </a:r>
            <a:endParaRPr sz="1250">
              <a:solidFill>
                <a:srgbClr val="B7B7B7"/>
              </a:solidFill>
              <a:latin typeface="M PLUS 1p"/>
              <a:ea typeface="M PLUS 1p"/>
              <a:cs typeface="M PLUS 1p"/>
              <a:sym typeface="M PLUS 1p"/>
            </a:endParaRPr>
          </a:p>
          <a:p>
            <a:pPr indent="0" lvl="0" marL="0" marR="0" rtl="0" algn="ctr">
              <a:lnSpc>
                <a:spcPct val="100000"/>
              </a:lnSpc>
              <a:spcBef>
                <a:spcPts val="0"/>
              </a:spcBef>
              <a:spcAft>
                <a:spcPts val="0"/>
              </a:spcAft>
              <a:buNone/>
            </a:pPr>
            <a:r>
              <a:rPr lang="ja" sz="1250">
                <a:solidFill>
                  <a:srgbClr val="B7B7B7"/>
                </a:solidFill>
                <a:latin typeface="M PLUS 1p"/>
                <a:ea typeface="M PLUS 1p"/>
                <a:cs typeface="M PLUS 1p"/>
                <a:sym typeface="M PLUS 1p"/>
              </a:rPr>
              <a:t>(ガードレール指標)</a:t>
            </a:r>
            <a:endParaRPr sz="1250">
              <a:solidFill>
                <a:srgbClr val="B7B7B7"/>
              </a:solidFill>
              <a:latin typeface="M PLUS 1p"/>
              <a:ea typeface="M PLUS 1p"/>
              <a:cs typeface="M PLUS 1p"/>
              <a:sym typeface="M PLUS 1p"/>
            </a:endParaRPr>
          </a:p>
        </p:txBody>
      </p:sp>
      <p:sp>
        <p:nvSpPr>
          <p:cNvPr id="191" name="Google Shape;191;p17"/>
          <p:cNvSpPr txBox="1"/>
          <p:nvPr/>
        </p:nvSpPr>
        <p:spPr>
          <a:xfrm>
            <a:off x="927363" y="2380825"/>
            <a:ext cx="1671300" cy="342900"/>
          </a:xfrm>
          <a:prstGeom prst="rect">
            <a:avLst/>
          </a:prstGeom>
          <a:solidFill>
            <a:srgbClr val="FFF2CC">
              <a:alpha val="50000"/>
            </a:srgbClr>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ja" sz="1600">
                <a:solidFill>
                  <a:srgbClr val="B7B7B7"/>
                </a:solidFill>
                <a:latin typeface="M PLUS 1p"/>
                <a:ea typeface="M PLUS 1p"/>
                <a:cs typeface="M PLUS 1p"/>
                <a:sym typeface="M PLUS 1p"/>
              </a:rPr>
              <a:t>広</a:t>
            </a:r>
            <a:r>
              <a:rPr lang="ja" sz="1600">
                <a:solidFill>
                  <a:srgbClr val="B7B7B7"/>
                </a:solidFill>
                <a:latin typeface="M PLUS 1p"/>
                <a:ea typeface="M PLUS 1p"/>
                <a:cs typeface="M PLUS 1p"/>
                <a:sym typeface="M PLUS 1p"/>
              </a:rPr>
              <a:t>さ</a:t>
            </a:r>
            <a:endParaRPr sz="1600">
              <a:solidFill>
                <a:srgbClr val="B7B7B7"/>
              </a:solidFill>
              <a:latin typeface="M PLUS 1p"/>
              <a:ea typeface="M PLUS 1p"/>
              <a:cs typeface="M PLUS 1p"/>
              <a:sym typeface="M PLUS 1p"/>
            </a:endParaRPr>
          </a:p>
        </p:txBody>
      </p:sp>
      <p:sp>
        <p:nvSpPr>
          <p:cNvPr id="192" name="Google Shape;192;p17"/>
          <p:cNvSpPr txBox="1"/>
          <p:nvPr/>
        </p:nvSpPr>
        <p:spPr>
          <a:xfrm>
            <a:off x="2797597" y="2380825"/>
            <a:ext cx="1671300" cy="342900"/>
          </a:xfrm>
          <a:prstGeom prst="rect">
            <a:avLst/>
          </a:prstGeom>
          <a:solidFill>
            <a:srgbClr val="F4CCCC"/>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ja" sz="1600">
                <a:solidFill>
                  <a:srgbClr val="1F1F1F"/>
                </a:solidFill>
                <a:latin typeface="M PLUS 1p"/>
                <a:ea typeface="M PLUS 1p"/>
                <a:cs typeface="M PLUS 1p"/>
                <a:sym typeface="M PLUS 1p"/>
              </a:rPr>
              <a:t>継続</a:t>
            </a:r>
            <a:endParaRPr b="1" sz="1600">
              <a:solidFill>
                <a:srgbClr val="1F1F1F"/>
              </a:solidFill>
              <a:latin typeface="M PLUS 1p"/>
              <a:ea typeface="M PLUS 1p"/>
              <a:cs typeface="M PLUS 1p"/>
              <a:sym typeface="M PLUS 1p"/>
            </a:endParaRPr>
          </a:p>
        </p:txBody>
      </p:sp>
      <p:sp>
        <p:nvSpPr>
          <p:cNvPr id="193" name="Google Shape;193;p17"/>
          <p:cNvSpPr txBox="1"/>
          <p:nvPr/>
        </p:nvSpPr>
        <p:spPr>
          <a:xfrm>
            <a:off x="4679412" y="2380825"/>
            <a:ext cx="1671300" cy="342900"/>
          </a:xfrm>
          <a:prstGeom prst="rect">
            <a:avLst/>
          </a:prstGeom>
          <a:solidFill>
            <a:srgbClr val="D9EAD3">
              <a:alpha val="52530"/>
            </a:srgbClr>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ja" sz="1600">
                <a:solidFill>
                  <a:srgbClr val="B7B7B7"/>
                </a:solidFill>
                <a:latin typeface="M PLUS 1p"/>
                <a:ea typeface="M PLUS 1p"/>
                <a:cs typeface="M PLUS 1p"/>
                <a:sym typeface="M PLUS 1p"/>
              </a:rPr>
              <a:t>深さ</a:t>
            </a:r>
            <a:endParaRPr sz="1600">
              <a:solidFill>
                <a:srgbClr val="B7B7B7"/>
              </a:solidFill>
              <a:latin typeface="M PLUS 1p"/>
              <a:ea typeface="M PLUS 1p"/>
              <a:cs typeface="M PLUS 1p"/>
              <a:sym typeface="M PLUS 1p"/>
            </a:endParaRPr>
          </a:p>
        </p:txBody>
      </p:sp>
      <p:sp>
        <p:nvSpPr>
          <p:cNvPr id="194" name="Google Shape;194;p17"/>
          <p:cNvSpPr txBox="1"/>
          <p:nvPr/>
        </p:nvSpPr>
        <p:spPr>
          <a:xfrm>
            <a:off x="6772591" y="2380825"/>
            <a:ext cx="1634400" cy="342900"/>
          </a:xfrm>
          <a:prstGeom prst="rect">
            <a:avLst/>
          </a:prstGeom>
          <a:solidFill>
            <a:srgbClr val="D9D9D9"/>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ja" sz="1600">
                <a:solidFill>
                  <a:srgbClr val="B7B7B7"/>
                </a:solidFill>
                <a:latin typeface="M PLUS 1p"/>
                <a:ea typeface="M PLUS 1p"/>
                <a:cs typeface="M PLUS 1p"/>
                <a:sym typeface="M PLUS 1p"/>
              </a:rPr>
              <a:t>効率</a:t>
            </a:r>
            <a:endParaRPr sz="1600">
              <a:solidFill>
                <a:srgbClr val="B7B7B7"/>
              </a:solidFill>
              <a:latin typeface="M PLUS 1p"/>
              <a:ea typeface="M PLUS 1p"/>
              <a:cs typeface="M PLUS 1p"/>
              <a:sym typeface="M PLUS 1p"/>
            </a:endParaRPr>
          </a:p>
          <a:p>
            <a:pPr indent="0" lvl="0" marL="0" rtl="0" algn="ctr">
              <a:spcBef>
                <a:spcPts val="0"/>
              </a:spcBef>
              <a:spcAft>
                <a:spcPts val="0"/>
              </a:spcAft>
              <a:buNone/>
            </a:pPr>
            <a:r>
              <a:t/>
            </a:r>
            <a:endParaRPr sz="1600">
              <a:solidFill>
                <a:srgbClr val="B7B7B7"/>
              </a:solidFill>
              <a:latin typeface="M PLUS 1p"/>
              <a:ea typeface="M PLUS 1p"/>
              <a:cs typeface="M PLUS 1p"/>
              <a:sym typeface="M PLUS 1p"/>
            </a:endParaRPr>
          </a:p>
        </p:txBody>
      </p:sp>
      <p:sp>
        <p:nvSpPr>
          <p:cNvPr id="195" name="Google Shape;195;p17"/>
          <p:cNvSpPr txBox="1"/>
          <p:nvPr/>
        </p:nvSpPr>
        <p:spPr>
          <a:xfrm>
            <a:off x="432350" y="860575"/>
            <a:ext cx="8620500" cy="1302900"/>
          </a:xfrm>
          <a:prstGeom prst="rect">
            <a:avLst/>
          </a:prstGeom>
          <a:noFill/>
          <a:ln>
            <a:noFill/>
          </a:ln>
        </p:spPr>
        <p:txBody>
          <a:bodyPr anchorCtr="0" anchor="t" bIns="91425" lIns="91425" spcFirstLastPara="1" rIns="91425" wrap="square" tIns="91425">
            <a:noAutofit/>
          </a:bodyPr>
          <a:lstStyle/>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マッチング数を構成する要素を「広さ」「継続」「深さ」「効率」の4つの観点で整理</a:t>
            </a:r>
            <a:endParaRPr sz="1600">
              <a:solidFill>
                <a:srgbClr val="1F1F1F"/>
              </a:solidFill>
              <a:latin typeface="M PLUS 1p"/>
              <a:ea typeface="M PLUS 1p"/>
              <a:cs typeface="M PLUS 1p"/>
              <a:sym typeface="M PLUS 1p"/>
            </a:endParaRPr>
          </a:p>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前回の分析（</a:t>
            </a:r>
            <a:r>
              <a:rPr lang="ja" sz="1600" u="sng">
                <a:solidFill>
                  <a:schemeClr val="hlink"/>
                </a:solidFill>
                <a:latin typeface="M PLUS 1p"/>
                <a:ea typeface="M PLUS 1p"/>
                <a:cs typeface="M PLUS 1p"/>
                <a:sym typeface="M PLUS 1p"/>
                <a:hlinkClick action="ppaction://hlinksldjump" r:id="rId3"/>
              </a:rPr>
              <a:t>詳細</a:t>
            </a:r>
            <a:r>
              <a:rPr lang="ja" sz="1600">
                <a:solidFill>
                  <a:srgbClr val="1F1F1F"/>
                </a:solidFill>
                <a:latin typeface="M PLUS 1p"/>
                <a:ea typeface="M PLUS 1p"/>
                <a:cs typeface="M PLUS 1p"/>
                <a:sym typeface="M PLUS 1p"/>
              </a:rPr>
              <a:t>）を踏まえ、本分析では</a:t>
            </a:r>
            <a:r>
              <a:rPr b="1" lang="ja" sz="1600">
                <a:solidFill>
                  <a:srgbClr val="1F1F1F"/>
                </a:solidFill>
                <a:latin typeface="M PLUS 1p"/>
                <a:ea typeface="M PLUS 1p"/>
                <a:cs typeface="M PLUS 1p"/>
                <a:sym typeface="M PLUS 1p"/>
              </a:rPr>
              <a:t>継続</a:t>
            </a:r>
            <a:r>
              <a:rPr lang="ja" sz="1600">
                <a:solidFill>
                  <a:srgbClr val="1F1F1F"/>
                </a:solidFill>
                <a:latin typeface="M PLUS 1p"/>
                <a:ea typeface="M PLUS 1p"/>
                <a:cs typeface="M PLUS 1p"/>
                <a:sym typeface="M PLUS 1p"/>
              </a:rPr>
              <a:t>に着目</a:t>
            </a:r>
            <a:endParaRPr sz="1600">
              <a:solidFill>
                <a:srgbClr val="1F1F1F"/>
              </a:solidFill>
              <a:latin typeface="M PLUS 1p"/>
              <a:ea typeface="M PLUS 1p"/>
              <a:cs typeface="M PLUS 1p"/>
              <a:sym typeface="M PLUS 1p"/>
            </a:endParaRPr>
          </a:p>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中長期の継続/売上に影響が大きいとわかった「初月から3ヶ月連続での募集掲載」に着目して分析を行う</a:t>
            </a:r>
            <a:endParaRPr sz="1600">
              <a:solidFill>
                <a:srgbClr val="1F1F1F"/>
              </a:solidFill>
              <a:latin typeface="M PLUS 1p"/>
              <a:ea typeface="M PLUS 1p"/>
              <a:cs typeface="M PLUS 1p"/>
              <a:sym typeface="M PLUS 1p"/>
            </a:endParaRPr>
          </a:p>
        </p:txBody>
      </p:sp>
      <p:sp>
        <p:nvSpPr>
          <p:cNvPr id="196" name="Google Shape;196;p17"/>
          <p:cNvSpPr/>
          <p:nvPr/>
        </p:nvSpPr>
        <p:spPr>
          <a:xfrm>
            <a:off x="330250" y="380175"/>
            <a:ext cx="342900" cy="342900"/>
          </a:xfrm>
          <a:prstGeom prst="ellipse">
            <a:avLst/>
          </a:prstGeom>
          <a:solidFill>
            <a:srgbClr val="FFD7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7"/>
          <p:cNvSpPr txBox="1"/>
          <p:nvPr/>
        </p:nvSpPr>
        <p:spPr>
          <a:xfrm>
            <a:off x="374950" y="350350"/>
            <a:ext cx="298200" cy="30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300">
                <a:solidFill>
                  <a:srgbClr val="FFFFFF"/>
                </a:solidFill>
                <a:latin typeface="Zen Kaku Gothic New"/>
                <a:ea typeface="Zen Kaku Gothic New"/>
                <a:cs typeface="Zen Kaku Gothic New"/>
                <a:sym typeface="Zen Kaku Gothic New"/>
              </a:rPr>
              <a:t>2</a:t>
            </a:r>
            <a:endParaRPr b="1" sz="1300">
              <a:solidFill>
                <a:srgbClr val="FFFFFF"/>
              </a:solidFill>
              <a:latin typeface="Zen Kaku Gothic New"/>
              <a:ea typeface="Zen Kaku Gothic New"/>
              <a:cs typeface="Zen Kaku Gothic New"/>
              <a:sym typeface="Zen Kaku Gothic New"/>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BBBB7"/>
        </a:solidFill>
      </p:bgPr>
    </p:bg>
    <p:spTree>
      <p:nvGrpSpPr>
        <p:cNvPr id="201" name="Shape 201"/>
        <p:cNvGrpSpPr/>
        <p:nvPr/>
      </p:nvGrpSpPr>
      <p:grpSpPr>
        <a:xfrm>
          <a:off x="0" y="0"/>
          <a:ext cx="0" cy="0"/>
          <a:chOff x="0" y="0"/>
          <a:chExt cx="0" cy="0"/>
        </a:xfrm>
      </p:grpSpPr>
      <p:sp>
        <p:nvSpPr>
          <p:cNvPr id="202" name="Google Shape;202;p18"/>
          <p:cNvSpPr txBox="1"/>
          <p:nvPr/>
        </p:nvSpPr>
        <p:spPr>
          <a:xfrm>
            <a:off x="1795200" y="2200650"/>
            <a:ext cx="5553600" cy="742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ja" sz="3200">
                <a:solidFill>
                  <a:srgbClr val="FFFFFF"/>
                </a:solidFill>
                <a:latin typeface="M PLUS 1p"/>
                <a:ea typeface="M PLUS 1p"/>
                <a:cs typeface="M PLUS 1p"/>
                <a:sym typeface="M PLUS 1p"/>
              </a:rPr>
              <a:t>前段の分析の復習</a:t>
            </a:r>
            <a:endParaRPr b="1" sz="3200">
              <a:solidFill>
                <a:srgbClr val="FFFFFF"/>
              </a:solidFill>
              <a:latin typeface="M PLUS 1p"/>
              <a:ea typeface="M PLUS 1p"/>
              <a:cs typeface="M PLUS 1p"/>
              <a:sym typeface="M PLUS 1p"/>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6" name="Shape 206"/>
        <p:cNvGrpSpPr/>
        <p:nvPr/>
      </p:nvGrpSpPr>
      <p:grpSpPr>
        <a:xfrm>
          <a:off x="0" y="0"/>
          <a:ext cx="0" cy="0"/>
          <a:chOff x="0" y="0"/>
          <a:chExt cx="0" cy="0"/>
        </a:xfrm>
      </p:grpSpPr>
      <p:sp>
        <p:nvSpPr>
          <p:cNvPr id="207" name="Google Shape;207;p19"/>
          <p:cNvSpPr txBox="1"/>
          <p:nvPr/>
        </p:nvSpPr>
        <p:spPr>
          <a:xfrm>
            <a:off x="3302100" y="1648975"/>
            <a:ext cx="2539800" cy="484500"/>
          </a:xfrm>
          <a:prstGeom prst="rect">
            <a:avLst/>
          </a:prstGeom>
          <a:solidFill>
            <a:srgbClr val="FCE5C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a:solidFill>
                  <a:srgbClr val="1F1F1F"/>
                </a:solidFill>
                <a:latin typeface="M PLUS 1p"/>
                <a:ea typeface="M PLUS 1p"/>
                <a:cs typeface="M PLUS 1p"/>
                <a:sym typeface="M PLUS 1p"/>
              </a:rPr>
              <a:t>継続</a:t>
            </a:r>
            <a:endParaRPr>
              <a:solidFill>
                <a:srgbClr val="1F1F1F"/>
              </a:solidFill>
              <a:latin typeface="M PLUS 1p"/>
              <a:ea typeface="M PLUS 1p"/>
              <a:cs typeface="M PLUS 1p"/>
              <a:sym typeface="M PLUS 1p"/>
            </a:endParaRPr>
          </a:p>
        </p:txBody>
      </p:sp>
      <p:sp>
        <p:nvSpPr>
          <p:cNvPr id="208" name="Google Shape;208;p19"/>
          <p:cNvSpPr txBox="1"/>
          <p:nvPr/>
        </p:nvSpPr>
        <p:spPr>
          <a:xfrm>
            <a:off x="432350" y="784375"/>
            <a:ext cx="8620500" cy="573600"/>
          </a:xfrm>
          <a:prstGeom prst="rect">
            <a:avLst/>
          </a:prstGeom>
          <a:noFill/>
          <a:ln>
            <a:noFill/>
          </a:ln>
        </p:spPr>
        <p:txBody>
          <a:bodyPr anchorCtr="0" anchor="t" bIns="91425" lIns="91425" spcFirstLastPara="1" rIns="91425" wrap="square" tIns="91425">
            <a:noAutofit/>
          </a:bodyPr>
          <a:lstStyle/>
          <a:p>
            <a:pPr indent="-317500" lvl="0" marL="457200" rtl="0" algn="l">
              <a:lnSpc>
                <a:spcPct val="120000"/>
              </a:lnSpc>
              <a:spcBef>
                <a:spcPts val="0"/>
              </a:spcBef>
              <a:spcAft>
                <a:spcPts val="0"/>
              </a:spcAft>
              <a:buClr>
                <a:srgbClr val="1F1F1F"/>
              </a:buClr>
              <a:buSzPts val="1400"/>
              <a:buFont typeface="M PLUS 1p"/>
              <a:buChar char="●"/>
            </a:pPr>
            <a:r>
              <a:rPr lang="ja">
                <a:solidFill>
                  <a:srgbClr val="1F1F1F"/>
                </a:solidFill>
                <a:latin typeface="M PLUS 1p"/>
                <a:ea typeface="M PLUS 1p"/>
                <a:cs typeface="M PLUS 1p"/>
                <a:sym typeface="M PLUS 1p"/>
              </a:rPr>
              <a:t>過去分析事例の少ない利用「中期」（利用開始から3~6ヶ月後）に着目。長期的なAAあたり売上を改善するレバーを発見することをゴールとした</a:t>
            </a:r>
            <a:endParaRPr>
              <a:solidFill>
                <a:srgbClr val="1F1F1F"/>
              </a:solidFill>
              <a:latin typeface="M PLUS 1p"/>
              <a:ea typeface="M PLUS 1p"/>
              <a:cs typeface="M PLUS 1p"/>
              <a:sym typeface="M PLUS 1p"/>
            </a:endParaRPr>
          </a:p>
        </p:txBody>
      </p:sp>
      <p:sp>
        <p:nvSpPr>
          <p:cNvPr id="209" name="Google Shape;209;p19"/>
          <p:cNvSpPr/>
          <p:nvPr/>
        </p:nvSpPr>
        <p:spPr>
          <a:xfrm>
            <a:off x="342900" y="365275"/>
            <a:ext cx="342900" cy="342900"/>
          </a:xfrm>
          <a:prstGeom prst="ellipse">
            <a:avLst/>
          </a:prstGeom>
          <a:solidFill>
            <a:srgbClr val="5BBB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9"/>
          <p:cNvSpPr txBox="1"/>
          <p:nvPr/>
        </p:nvSpPr>
        <p:spPr>
          <a:xfrm>
            <a:off x="387600" y="335450"/>
            <a:ext cx="298200" cy="30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300">
                <a:solidFill>
                  <a:srgbClr val="FFFFFF"/>
                </a:solidFill>
                <a:latin typeface="Zen Kaku Gothic New"/>
                <a:ea typeface="Zen Kaku Gothic New"/>
                <a:cs typeface="Zen Kaku Gothic New"/>
                <a:sym typeface="Zen Kaku Gothic New"/>
              </a:rPr>
              <a:t>1</a:t>
            </a:r>
            <a:endParaRPr b="1" sz="1300">
              <a:solidFill>
                <a:srgbClr val="FFFFFF"/>
              </a:solidFill>
              <a:latin typeface="Zen Kaku Gothic New"/>
              <a:ea typeface="Zen Kaku Gothic New"/>
              <a:cs typeface="Zen Kaku Gothic New"/>
              <a:sym typeface="Zen Kaku Gothic New"/>
            </a:endParaRPr>
          </a:p>
        </p:txBody>
      </p:sp>
      <p:sp>
        <p:nvSpPr>
          <p:cNvPr id="211" name="Google Shape;211;p19"/>
          <p:cNvSpPr txBox="1"/>
          <p:nvPr/>
        </p:nvSpPr>
        <p:spPr>
          <a:xfrm>
            <a:off x="712300" y="294475"/>
            <a:ext cx="7325400" cy="48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2000">
                <a:solidFill>
                  <a:srgbClr val="1F1F1F"/>
                </a:solidFill>
                <a:latin typeface="M PLUS 1p"/>
                <a:ea typeface="M PLUS 1p"/>
                <a:cs typeface="M PLUS 1p"/>
                <a:sym typeface="M PLUS 1p"/>
              </a:rPr>
              <a:t>前回の分析の</a:t>
            </a:r>
            <a:r>
              <a:rPr b="1" lang="ja" sz="2000">
                <a:solidFill>
                  <a:srgbClr val="1F1F1F"/>
                </a:solidFill>
                <a:latin typeface="M PLUS 1p"/>
                <a:ea typeface="M PLUS 1p"/>
                <a:cs typeface="M PLUS 1p"/>
                <a:sym typeface="M PLUS 1p"/>
              </a:rPr>
              <a:t>Executive Summary</a:t>
            </a:r>
            <a:r>
              <a:rPr b="1" lang="ja" sz="2000">
                <a:solidFill>
                  <a:srgbClr val="1F1F1F"/>
                </a:solidFill>
                <a:latin typeface="M PLUS 1p"/>
                <a:ea typeface="M PLUS 1p"/>
                <a:cs typeface="M PLUS 1p"/>
                <a:sym typeface="M PLUS 1p"/>
              </a:rPr>
              <a:t>（</a:t>
            </a:r>
            <a:r>
              <a:rPr b="1" lang="ja" sz="2000" u="sng">
                <a:solidFill>
                  <a:schemeClr val="hlink"/>
                </a:solidFill>
                <a:latin typeface="M PLUS 1p"/>
                <a:ea typeface="M PLUS 1p"/>
                <a:cs typeface="M PLUS 1p"/>
                <a:sym typeface="M PLUS 1p"/>
                <a:hlinkClick r:id="rId3"/>
              </a:rPr>
              <a:t>資料</a:t>
            </a:r>
            <a:r>
              <a:rPr b="1" lang="ja" sz="2000">
                <a:solidFill>
                  <a:srgbClr val="1F1F1F"/>
                </a:solidFill>
                <a:latin typeface="M PLUS 1p"/>
                <a:ea typeface="M PLUS 1p"/>
                <a:cs typeface="M PLUS 1p"/>
                <a:sym typeface="M PLUS 1p"/>
              </a:rPr>
              <a:t>）</a:t>
            </a:r>
            <a:endParaRPr b="1" sz="2000">
              <a:solidFill>
                <a:srgbClr val="1F1F1F"/>
              </a:solidFill>
              <a:latin typeface="M PLUS 1p"/>
              <a:ea typeface="M PLUS 1p"/>
              <a:cs typeface="M PLUS 1p"/>
              <a:sym typeface="M PLUS 1p"/>
            </a:endParaRPr>
          </a:p>
        </p:txBody>
      </p:sp>
      <p:sp>
        <p:nvSpPr>
          <p:cNvPr id="212" name="Google Shape;212;p19"/>
          <p:cNvSpPr txBox="1"/>
          <p:nvPr/>
        </p:nvSpPr>
        <p:spPr>
          <a:xfrm>
            <a:off x="8136000" y="104275"/>
            <a:ext cx="916800" cy="190200"/>
          </a:xfrm>
          <a:prstGeom prst="rect">
            <a:avLst/>
          </a:prstGeom>
          <a:solidFill>
            <a:srgbClr val="DC0451"/>
          </a:solidFill>
          <a:ln>
            <a:noFill/>
          </a:ln>
        </p:spPr>
        <p:txBody>
          <a:bodyPr anchorCtr="0" anchor="t" bIns="91425" lIns="91425" spcFirstLastPara="1" rIns="91425" wrap="square" tIns="91425">
            <a:noAutofit/>
          </a:bodyPr>
          <a:lstStyle/>
          <a:p>
            <a:pPr indent="0" lvl="0" marL="0" rtl="0" algn="ctr">
              <a:lnSpc>
                <a:spcPct val="50000"/>
              </a:lnSpc>
              <a:spcBef>
                <a:spcPts val="0"/>
              </a:spcBef>
              <a:spcAft>
                <a:spcPts val="0"/>
              </a:spcAft>
              <a:buNone/>
            </a:pPr>
            <a:r>
              <a:rPr b="1" lang="ja" sz="700">
                <a:solidFill>
                  <a:srgbClr val="FFFFFF"/>
                </a:solidFill>
                <a:latin typeface="M PLUS 1p"/>
                <a:ea typeface="M PLUS 1p"/>
                <a:cs typeface="M PLUS 1p"/>
                <a:sym typeface="M PLUS 1p"/>
              </a:rPr>
              <a:t>CONFIDENTIAL</a:t>
            </a:r>
            <a:endParaRPr b="1" sz="700">
              <a:solidFill>
                <a:srgbClr val="FFFFFF"/>
              </a:solidFill>
              <a:latin typeface="M PLUS 1p"/>
              <a:ea typeface="M PLUS 1p"/>
              <a:cs typeface="M PLUS 1p"/>
              <a:sym typeface="M PLUS 1p"/>
            </a:endParaRPr>
          </a:p>
        </p:txBody>
      </p:sp>
      <p:sp>
        <p:nvSpPr>
          <p:cNvPr id="213" name="Google Shape;213;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214" name="Google Shape;214;p19"/>
          <p:cNvSpPr txBox="1"/>
          <p:nvPr/>
        </p:nvSpPr>
        <p:spPr>
          <a:xfrm>
            <a:off x="6392925" y="1648975"/>
            <a:ext cx="2539800" cy="484500"/>
          </a:xfrm>
          <a:prstGeom prst="rect">
            <a:avLst/>
          </a:prstGeom>
          <a:solidFill>
            <a:srgbClr val="CFE2F3">
              <a:alpha val="4937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a:solidFill>
                  <a:srgbClr val="CCCCCC"/>
                </a:solidFill>
                <a:latin typeface="M PLUS 1p"/>
                <a:ea typeface="M PLUS 1p"/>
                <a:cs typeface="M PLUS 1p"/>
                <a:sym typeface="M PLUS 1p"/>
              </a:rPr>
              <a:t>深さ</a:t>
            </a:r>
            <a:endParaRPr>
              <a:solidFill>
                <a:srgbClr val="CCCCCC"/>
              </a:solidFill>
              <a:latin typeface="M PLUS 1p"/>
              <a:ea typeface="M PLUS 1p"/>
              <a:cs typeface="M PLUS 1p"/>
              <a:sym typeface="M PLUS 1p"/>
            </a:endParaRPr>
          </a:p>
        </p:txBody>
      </p:sp>
      <p:sp>
        <p:nvSpPr>
          <p:cNvPr id="215" name="Google Shape;215;p19"/>
          <p:cNvSpPr txBox="1"/>
          <p:nvPr/>
        </p:nvSpPr>
        <p:spPr>
          <a:xfrm>
            <a:off x="234050" y="1648975"/>
            <a:ext cx="2539800" cy="484500"/>
          </a:xfrm>
          <a:prstGeom prst="rect">
            <a:avLst/>
          </a:prstGeom>
          <a:solidFill>
            <a:srgbClr val="F4CCCC">
              <a:alpha val="4684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ja">
                <a:solidFill>
                  <a:srgbClr val="CCCCCC"/>
                </a:solidFill>
                <a:latin typeface="M PLUS 1p"/>
                <a:ea typeface="M PLUS 1p"/>
                <a:cs typeface="M PLUS 1p"/>
                <a:sym typeface="M PLUS 1p"/>
              </a:rPr>
              <a:t>募集ルーティン</a:t>
            </a:r>
            <a:endParaRPr>
              <a:solidFill>
                <a:srgbClr val="CCCCCC"/>
              </a:solidFill>
              <a:latin typeface="M PLUS 1p"/>
              <a:ea typeface="M PLUS 1p"/>
              <a:cs typeface="M PLUS 1p"/>
              <a:sym typeface="M PLUS 1p"/>
            </a:endParaRPr>
          </a:p>
        </p:txBody>
      </p:sp>
      <p:sp>
        <p:nvSpPr>
          <p:cNvPr id="216" name="Google Shape;216;p19"/>
          <p:cNvSpPr/>
          <p:nvPr/>
        </p:nvSpPr>
        <p:spPr>
          <a:xfrm>
            <a:off x="234050" y="2133475"/>
            <a:ext cx="2539800" cy="90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rPr lang="ja" sz="1200">
                <a:solidFill>
                  <a:srgbClr val="CCCCCC"/>
                </a:solidFill>
                <a:latin typeface="M PLUS 1p"/>
                <a:ea typeface="M PLUS 1p"/>
                <a:cs typeface="M PLUS 1p"/>
                <a:sym typeface="M PLUS 1p"/>
              </a:rPr>
              <a:t>「前もってまとめて募集を出す」ような使い方をしている店舗は、長期的に継続しやすい</a:t>
            </a:r>
            <a:endParaRPr sz="1200">
              <a:solidFill>
                <a:srgbClr val="CCCCCC"/>
              </a:solidFill>
              <a:latin typeface="M PLUS 1p"/>
              <a:ea typeface="M PLUS 1p"/>
              <a:cs typeface="M PLUS 1p"/>
              <a:sym typeface="M PLUS 1p"/>
            </a:endParaRPr>
          </a:p>
          <a:p>
            <a:pPr indent="0" lvl="0" marL="0" rtl="0" algn="l">
              <a:spcBef>
                <a:spcPts val="0"/>
              </a:spcBef>
              <a:spcAft>
                <a:spcPts val="0"/>
              </a:spcAft>
              <a:buNone/>
            </a:pPr>
            <a:r>
              <a:t/>
            </a:r>
            <a:endParaRPr sz="1200">
              <a:solidFill>
                <a:srgbClr val="CCCCCC"/>
              </a:solidFill>
              <a:latin typeface="M PLUS 1p"/>
              <a:ea typeface="M PLUS 1p"/>
              <a:cs typeface="M PLUS 1p"/>
              <a:sym typeface="M PLUS 1p"/>
            </a:endParaRPr>
          </a:p>
        </p:txBody>
      </p:sp>
      <p:sp>
        <p:nvSpPr>
          <p:cNvPr id="217" name="Google Shape;217;p19"/>
          <p:cNvSpPr/>
          <p:nvPr/>
        </p:nvSpPr>
        <p:spPr>
          <a:xfrm>
            <a:off x="3302100" y="2136625"/>
            <a:ext cx="2539800" cy="90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ja" sz="1200">
                <a:latin typeface="M PLUS 1p"/>
                <a:ea typeface="M PLUS 1p"/>
                <a:cs typeface="M PLUS 1p"/>
                <a:sym typeface="M PLUS 1p"/>
              </a:rPr>
              <a:t>初回利用から3ヶ月連続で募集を出す店舗は、その後も安定して使い続ける</a:t>
            </a:r>
            <a:endParaRPr sz="1200">
              <a:latin typeface="M PLUS 1p"/>
              <a:ea typeface="M PLUS 1p"/>
              <a:cs typeface="M PLUS 1p"/>
              <a:sym typeface="M PLUS 1p"/>
            </a:endParaRPr>
          </a:p>
        </p:txBody>
      </p:sp>
      <p:sp>
        <p:nvSpPr>
          <p:cNvPr id="218" name="Google Shape;218;p19"/>
          <p:cNvSpPr/>
          <p:nvPr/>
        </p:nvSpPr>
        <p:spPr>
          <a:xfrm>
            <a:off x="6392925" y="2136625"/>
            <a:ext cx="2539800" cy="90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ja" sz="1200">
                <a:solidFill>
                  <a:srgbClr val="CCCCCC"/>
                </a:solidFill>
                <a:latin typeface="M PLUS 1p"/>
                <a:ea typeface="M PLUS 1p"/>
                <a:cs typeface="M PLUS 1p"/>
                <a:sym typeface="M PLUS 1p"/>
              </a:rPr>
              <a:t>継続しながら利用拡大する店舗は、継続している店舗の24%ほどで、それ以外の店舗は継続しながら利用量が増減している</a:t>
            </a:r>
            <a:endParaRPr sz="1200">
              <a:solidFill>
                <a:srgbClr val="CCCCCC"/>
              </a:solidFill>
              <a:latin typeface="M PLUS 1p"/>
              <a:ea typeface="M PLUS 1p"/>
              <a:cs typeface="M PLUS 1p"/>
              <a:sym typeface="M PLUS 1p"/>
            </a:endParaRPr>
          </a:p>
        </p:txBody>
      </p:sp>
      <p:pic>
        <p:nvPicPr>
          <p:cNvPr id="219" name="Google Shape;219;p19" title="スクリーンショット 2025-08-13 10.20.17.png"/>
          <p:cNvPicPr preferRelativeResize="0"/>
          <p:nvPr/>
        </p:nvPicPr>
        <p:blipFill>
          <a:blip r:embed="rId4">
            <a:alphaModFix amt="40000"/>
          </a:blip>
          <a:stretch>
            <a:fillRect/>
          </a:stretch>
        </p:blipFill>
        <p:spPr>
          <a:xfrm>
            <a:off x="6392925" y="3074269"/>
            <a:ext cx="2539800" cy="1530931"/>
          </a:xfrm>
          <a:prstGeom prst="rect">
            <a:avLst/>
          </a:prstGeom>
          <a:noFill/>
          <a:ln>
            <a:noFill/>
          </a:ln>
        </p:spPr>
      </p:pic>
      <p:pic>
        <p:nvPicPr>
          <p:cNvPr id="220" name="Google Shape;220;p19" title="スクリーンショット 2025-08-13 10.19.58.png"/>
          <p:cNvPicPr preferRelativeResize="0"/>
          <p:nvPr/>
        </p:nvPicPr>
        <p:blipFill>
          <a:blip r:embed="rId5">
            <a:alphaModFix/>
          </a:blip>
          <a:stretch>
            <a:fillRect/>
          </a:stretch>
        </p:blipFill>
        <p:spPr>
          <a:xfrm>
            <a:off x="3302100" y="3074272"/>
            <a:ext cx="2539800" cy="1336103"/>
          </a:xfrm>
          <a:prstGeom prst="rect">
            <a:avLst/>
          </a:prstGeom>
          <a:noFill/>
          <a:ln>
            <a:noFill/>
          </a:ln>
        </p:spPr>
      </p:pic>
      <p:pic>
        <p:nvPicPr>
          <p:cNvPr id="221" name="Google Shape;221;p19" title="スクリーンショット 2025-08-13 10.31.03.png"/>
          <p:cNvPicPr preferRelativeResize="0"/>
          <p:nvPr/>
        </p:nvPicPr>
        <p:blipFill>
          <a:blip r:embed="rId6">
            <a:alphaModFix amt="40000"/>
          </a:blip>
          <a:stretch>
            <a:fillRect/>
          </a:stretch>
        </p:blipFill>
        <p:spPr>
          <a:xfrm>
            <a:off x="279850" y="3074275"/>
            <a:ext cx="2494009" cy="1652225"/>
          </a:xfrm>
          <a:prstGeom prst="rect">
            <a:avLst/>
          </a:prstGeom>
          <a:noFill/>
          <a:ln>
            <a:noFill/>
          </a:ln>
        </p:spPr>
      </p:pic>
      <p:sp>
        <p:nvSpPr>
          <p:cNvPr id="222" name="Google Shape;222;p19"/>
          <p:cNvSpPr/>
          <p:nvPr/>
        </p:nvSpPr>
        <p:spPr>
          <a:xfrm>
            <a:off x="3197501" y="1589450"/>
            <a:ext cx="2798100" cy="3015900"/>
          </a:xfrm>
          <a:prstGeom prst="rect">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6" name="Shape 226"/>
        <p:cNvGrpSpPr/>
        <p:nvPr/>
      </p:nvGrpSpPr>
      <p:grpSpPr>
        <a:xfrm>
          <a:off x="0" y="0"/>
          <a:ext cx="0" cy="0"/>
          <a:chOff x="0" y="0"/>
          <a:chExt cx="0" cy="0"/>
        </a:xfrm>
      </p:grpSpPr>
      <p:sp>
        <p:nvSpPr>
          <p:cNvPr id="227" name="Google Shape;227;p20"/>
          <p:cNvSpPr txBox="1"/>
          <p:nvPr/>
        </p:nvSpPr>
        <p:spPr>
          <a:xfrm>
            <a:off x="8136000" y="104275"/>
            <a:ext cx="916800" cy="190200"/>
          </a:xfrm>
          <a:prstGeom prst="rect">
            <a:avLst/>
          </a:prstGeom>
          <a:solidFill>
            <a:srgbClr val="DC0451"/>
          </a:solidFill>
          <a:ln>
            <a:noFill/>
          </a:ln>
        </p:spPr>
        <p:txBody>
          <a:bodyPr anchorCtr="0" anchor="t" bIns="91425" lIns="91425" spcFirstLastPara="1" rIns="91425" wrap="square" tIns="91425">
            <a:noAutofit/>
          </a:bodyPr>
          <a:lstStyle/>
          <a:p>
            <a:pPr indent="0" lvl="0" marL="0" rtl="0" algn="ctr">
              <a:lnSpc>
                <a:spcPct val="50000"/>
              </a:lnSpc>
              <a:spcBef>
                <a:spcPts val="0"/>
              </a:spcBef>
              <a:spcAft>
                <a:spcPts val="0"/>
              </a:spcAft>
              <a:buNone/>
            </a:pPr>
            <a:r>
              <a:rPr b="1" lang="ja" sz="700">
                <a:solidFill>
                  <a:srgbClr val="FFFFFF"/>
                </a:solidFill>
                <a:latin typeface="M PLUS 1p"/>
                <a:ea typeface="M PLUS 1p"/>
                <a:cs typeface="M PLUS 1p"/>
                <a:sym typeface="M PLUS 1p"/>
              </a:rPr>
              <a:t>CONFIDENTIAL</a:t>
            </a:r>
            <a:endParaRPr b="1" sz="700">
              <a:solidFill>
                <a:srgbClr val="FFFFFF"/>
              </a:solidFill>
              <a:latin typeface="M PLUS 1p"/>
              <a:ea typeface="M PLUS 1p"/>
              <a:cs typeface="M PLUS 1p"/>
              <a:sym typeface="M PLUS 1p"/>
            </a:endParaRPr>
          </a:p>
        </p:txBody>
      </p:sp>
      <p:sp>
        <p:nvSpPr>
          <p:cNvPr id="228" name="Google Shape;228;p2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229" name="Google Shape;229;p20"/>
          <p:cNvSpPr txBox="1"/>
          <p:nvPr/>
        </p:nvSpPr>
        <p:spPr>
          <a:xfrm>
            <a:off x="712300" y="294475"/>
            <a:ext cx="7710000" cy="48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2000">
                <a:solidFill>
                  <a:srgbClr val="1F1F1F"/>
                </a:solidFill>
                <a:latin typeface="M PLUS 1p"/>
                <a:ea typeface="M PLUS 1p"/>
                <a:cs typeface="M PLUS 1p"/>
                <a:sym typeface="M PLUS 1p"/>
              </a:rPr>
              <a:t>継続に関する</a:t>
            </a:r>
            <a:r>
              <a:rPr b="1" lang="ja" sz="2000">
                <a:solidFill>
                  <a:srgbClr val="1F1F1F"/>
                </a:solidFill>
                <a:latin typeface="M PLUS 1p"/>
                <a:ea typeface="M PLUS 1p"/>
                <a:cs typeface="M PLUS 1p"/>
                <a:sym typeface="M PLUS 1p"/>
              </a:rPr>
              <a:t>分析と示唆のまとめ</a:t>
            </a:r>
            <a:endParaRPr b="1" sz="2000">
              <a:solidFill>
                <a:srgbClr val="1F1F1F"/>
              </a:solidFill>
              <a:latin typeface="M PLUS 1p"/>
              <a:ea typeface="M PLUS 1p"/>
              <a:cs typeface="M PLUS 1p"/>
              <a:sym typeface="M PLUS 1p"/>
            </a:endParaRPr>
          </a:p>
        </p:txBody>
      </p:sp>
      <p:sp>
        <p:nvSpPr>
          <p:cNvPr id="230" name="Google Shape;230;p20"/>
          <p:cNvSpPr txBox="1"/>
          <p:nvPr/>
        </p:nvSpPr>
        <p:spPr>
          <a:xfrm>
            <a:off x="432350" y="860575"/>
            <a:ext cx="8620500" cy="39558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None/>
            </a:pPr>
            <a:r>
              <a:rPr b="1" lang="ja" sz="1600">
                <a:solidFill>
                  <a:srgbClr val="1F1F1F"/>
                </a:solidFill>
                <a:latin typeface="M PLUS 1p"/>
                <a:ea typeface="M PLUS 1p"/>
                <a:cs typeface="M PLUS 1p"/>
                <a:sym typeface="M PLUS 1p"/>
              </a:rPr>
              <a:t>[分析の目的]</a:t>
            </a:r>
            <a:endParaRPr b="1" sz="1600">
              <a:solidFill>
                <a:srgbClr val="1F1F1F"/>
              </a:solidFill>
              <a:latin typeface="M PLUS 1p"/>
              <a:ea typeface="M PLUS 1p"/>
              <a:cs typeface="M PLUS 1p"/>
              <a:sym typeface="M PLUS 1p"/>
            </a:endParaRPr>
          </a:p>
          <a:p>
            <a:pPr indent="-330200" lvl="0" marL="457200" rtl="0" algn="l">
              <a:lnSpc>
                <a:spcPct val="120000"/>
              </a:lnSpc>
              <a:spcBef>
                <a:spcPts val="0"/>
              </a:spcBef>
              <a:spcAft>
                <a:spcPts val="0"/>
              </a:spcAft>
              <a:buClr>
                <a:srgbClr val="1F1F1F"/>
              </a:buClr>
              <a:buSzPts val="1600"/>
              <a:buFont typeface="M PLUS 1p"/>
              <a:buChar char="●"/>
            </a:pPr>
            <a:r>
              <a:rPr lang="ja" sz="1600">
                <a:solidFill>
                  <a:srgbClr val="FF0000"/>
                </a:solidFill>
                <a:latin typeface="M PLUS 1p"/>
                <a:ea typeface="M PLUS 1p"/>
                <a:cs typeface="M PLUS 1p"/>
                <a:sym typeface="M PLUS 1p"/>
              </a:rPr>
              <a:t>「中長期的にタイミーを継続</a:t>
            </a:r>
            <a:r>
              <a:rPr lang="ja" sz="1600">
                <a:solidFill>
                  <a:srgbClr val="FF0000"/>
                </a:solidFill>
                <a:latin typeface="M PLUS 1p"/>
                <a:ea typeface="M PLUS 1p"/>
                <a:cs typeface="M PLUS 1p"/>
                <a:sym typeface="M PLUS 1p"/>
              </a:rPr>
              <a:t>利用</a:t>
            </a:r>
            <a:r>
              <a:rPr lang="ja" sz="1600">
                <a:solidFill>
                  <a:srgbClr val="FF0000"/>
                </a:solidFill>
                <a:latin typeface="M PLUS 1p"/>
                <a:ea typeface="M PLUS 1p"/>
                <a:cs typeface="M PLUS 1p"/>
                <a:sym typeface="M PLUS 1p"/>
              </a:rPr>
              <a:t>している」とはどのような状態か？</a:t>
            </a:r>
            <a:r>
              <a:rPr lang="ja" sz="1600">
                <a:solidFill>
                  <a:srgbClr val="1F1F1F"/>
                </a:solidFill>
                <a:latin typeface="M PLUS 1p"/>
                <a:ea typeface="M PLUS 1p"/>
                <a:cs typeface="M PLUS 1p"/>
                <a:sym typeface="M PLUS 1p"/>
              </a:rPr>
              <a:t>という問いを明らかにしたい</a:t>
            </a:r>
            <a:endParaRPr sz="1600">
              <a:solidFill>
                <a:srgbClr val="1F1F1F"/>
              </a:solidFill>
              <a:latin typeface="M PLUS 1p"/>
              <a:ea typeface="M PLUS 1p"/>
              <a:cs typeface="M PLUS 1p"/>
              <a:sym typeface="M PLUS 1p"/>
            </a:endParaRPr>
          </a:p>
          <a:p>
            <a:pPr indent="0" lvl="0" marL="0" rtl="0" algn="l">
              <a:lnSpc>
                <a:spcPct val="120000"/>
              </a:lnSpc>
              <a:spcBef>
                <a:spcPts val="0"/>
              </a:spcBef>
              <a:spcAft>
                <a:spcPts val="0"/>
              </a:spcAft>
              <a:buNone/>
            </a:pPr>
            <a:r>
              <a:rPr b="1" lang="ja" sz="1600">
                <a:solidFill>
                  <a:srgbClr val="1F1F1F"/>
                </a:solidFill>
                <a:latin typeface="M PLUS 1p"/>
                <a:ea typeface="M PLUS 1p"/>
                <a:cs typeface="M PLUS 1p"/>
                <a:sym typeface="M PLUS 1p"/>
              </a:rPr>
              <a:t>[行った分析]</a:t>
            </a:r>
            <a:endParaRPr b="1" sz="1600">
              <a:solidFill>
                <a:srgbClr val="1F1F1F"/>
              </a:solidFill>
              <a:latin typeface="M PLUS 1p"/>
              <a:ea typeface="M PLUS 1p"/>
              <a:cs typeface="M PLUS 1p"/>
              <a:sym typeface="M PLUS 1p"/>
            </a:endParaRPr>
          </a:p>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店舗ごとの初回掲載から１年間の月毎のアクティブ状況を確認した</a:t>
            </a:r>
            <a:endParaRPr sz="1600">
              <a:solidFill>
                <a:srgbClr val="1F1F1F"/>
              </a:solidFill>
              <a:latin typeface="M PLUS 1p"/>
              <a:ea typeface="M PLUS 1p"/>
              <a:cs typeface="M PLUS 1p"/>
              <a:sym typeface="M PLUS 1p"/>
            </a:endParaRPr>
          </a:p>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１年間のAAのパターンを3ヶ月時点とその後の9ヶ月間に分けて確認した</a:t>
            </a:r>
            <a:endParaRPr sz="1600">
              <a:solidFill>
                <a:srgbClr val="1F1F1F"/>
              </a:solidFill>
              <a:latin typeface="M PLUS 1p"/>
              <a:ea typeface="M PLUS 1p"/>
              <a:cs typeface="M PLUS 1p"/>
              <a:sym typeface="M PLUS 1p"/>
            </a:endParaRPr>
          </a:p>
          <a:p>
            <a:pPr indent="0" lvl="0" marL="0" rtl="0" algn="l">
              <a:lnSpc>
                <a:spcPct val="120000"/>
              </a:lnSpc>
              <a:spcBef>
                <a:spcPts val="0"/>
              </a:spcBef>
              <a:spcAft>
                <a:spcPts val="0"/>
              </a:spcAft>
              <a:buNone/>
            </a:pPr>
            <a:r>
              <a:rPr b="1" lang="ja" sz="1600">
                <a:solidFill>
                  <a:srgbClr val="1F1F1F"/>
                </a:solidFill>
                <a:latin typeface="M PLUS 1p"/>
                <a:ea typeface="M PLUS 1p"/>
                <a:cs typeface="M PLUS 1p"/>
                <a:sym typeface="M PLUS 1p"/>
              </a:rPr>
              <a:t>[得られた示唆]</a:t>
            </a:r>
            <a:endParaRPr sz="1600">
              <a:solidFill>
                <a:srgbClr val="1F1F1F"/>
              </a:solidFill>
              <a:latin typeface="M PLUS 1p"/>
              <a:ea typeface="M PLUS 1p"/>
              <a:cs typeface="M PLUS 1p"/>
              <a:sym typeface="M PLUS 1p"/>
            </a:endParaRPr>
          </a:p>
          <a:p>
            <a:pPr indent="-330200" lvl="0" marL="457200" rtl="0" algn="l">
              <a:lnSpc>
                <a:spcPct val="120000"/>
              </a:lnSpc>
              <a:spcBef>
                <a:spcPts val="0"/>
              </a:spcBef>
              <a:spcAft>
                <a:spcPts val="0"/>
              </a:spcAft>
              <a:buClr>
                <a:srgbClr val="1F1F1F"/>
              </a:buClr>
              <a:buSzPts val="1600"/>
              <a:buFont typeface="M PLUS 1p"/>
              <a:buChar char="●"/>
            </a:pPr>
            <a:r>
              <a:rPr lang="ja" sz="1600">
                <a:solidFill>
                  <a:srgbClr val="FF0000"/>
                </a:solidFill>
                <a:latin typeface="M PLUS 1p"/>
                <a:ea typeface="M PLUS 1p"/>
                <a:cs typeface="M PLUS 1p"/>
                <a:sym typeface="M PLUS 1p"/>
              </a:rPr>
              <a:t>「継続利用」「スポット利用」「初回利用から離脱」</a:t>
            </a:r>
            <a:r>
              <a:rPr lang="ja" sz="1600">
                <a:solidFill>
                  <a:schemeClr val="dk1"/>
                </a:solidFill>
                <a:latin typeface="M PLUS 1p"/>
                <a:ea typeface="M PLUS 1p"/>
                <a:cs typeface="M PLUS 1p"/>
                <a:sym typeface="M PLUS 1p"/>
              </a:rPr>
              <a:t>のような継続パターン</a:t>
            </a:r>
            <a:r>
              <a:rPr lang="ja" sz="1600">
                <a:solidFill>
                  <a:srgbClr val="1F1F1F"/>
                </a:solidFill>
                <a:latin typeface="M PLUS 1p"/>
                <a:ea typeface="M PLUS 1p"/>
                <a:cs typeface="M PLUS 1p"/>
                <a:sym typeface="M PLUS 1p"/>
              </a:rPr>
              <a:t>が見えた</a:t>
            </a:r>
            <a:endParaRPr sz="1600">
              <a:solidFill>
                <a:srgbClr val="1F1F1F"/>
              </a:solidFill>
              <a:latin typeface="M PLUS 1p"/>
              <a:ea typeface="M PLUS 1p"/>
              <a:cs typeface="M PLUS 1p"/>
              <a:sym typeface="M PLUS 1p"/>
            </a:endParaRPr>
          </a:p>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年間のAAパターンは以下の示唆があった</a:t>
            </a:r>
            <a:endParaRPr sz="1600">
              <a:solidFill>
                <a:srgbClr val="1F1F1F"/>
              </a:solidFill>
              <a:latin typeface="M PLUS 1p"/>
              <a:ea typeface="M PLUS 1p"/>
              <a:cs typeface="M PLUS 1p"/>
              <a:sym typeface="M PLUS 1p"/>
            </a:endParaRPr>
          </a:p>
          <a:p>
            <a:pPr indent="-330200" lvl="1" marL="914400" rtl="0" algn="l">
              <a:lnSpc>
                <a:spcPct val="120000"/>
              </a:lnSpc>
              <a:spcBef>
                <a:spcPts val="0"/>
              </a:spcBef>
              <a:spcAft>
                <a:spcPts val="0"/>
              </a:spcAft>
              <a:buClr>
                <a:srgbClr val="1F1F1F"/>
              </a:buClr>
              <a:buSzPts val="1600"/>
              <a:buFont typeface="M PLUS 1p"/>
              <a:buChar char="○"/>
            </a:pPr>
            <a:r>
              <a:rPr lang="ja" sz="1600">
                <a:solidFill>
                  <a:schemeClr val="dk1"/>
                </a:solidFill>
                <a:latin typeface="M PLUS 1p"/>
                <a:ea typeface="M PLUS 1p"/>
                <a:cs typeface="M PLUS 1p"/>
                <a:sym typeface="M PLUS 1p"/>
              </a:rPr>
              <a:t>初月から</a:t>
            </a:r>
            <a:r>
              <a:rPr lang="ja" sz="1600">
                <a:solidFill>
                  <a:schemeClr val="dk1"/>
                </a:solidFill>
                <a:latin typeface="M PLUS 1p"/>
                <a:ea typeface="M PLUS 1p"/>
                <a:cs typeface="M PLUS 1p"/>
                <a:sym typeface="M PLUS 1p"/>
              </a:rPr>
              <a:t>3ヶ月連続で募集を出す店舗</a:t>
            </a:r>
            <a:r>
              <a:rPr lang="ja" sz="1600">
                <a:solidFill>
                  <a:srgbClr val="1F1F1F"/>
                </a:solidFill>
                <a:latin typeface="M PLUS 1p"/>
                <a:ea typeface="M PLUS 1p"/>
                <a:cs typeface="M PLUS 1p"/>
                <a:sym typeface="M PLUS 1p"/>
              </a:rPr>
              <a:t>は、その後も</a:t>
            </a:r>
            <a:r>
              <a:rPr lang="ja" sz="1600">
                <a:solidFill>
                  <a:srgbClr val="FF0000"/>
                </a:solidFill>
                <a:latin typeface="M PLUS 1p"/>
                <a:ea typeface="M PLUS 1p"/>
                <a:cs typeface="M PLUS 1p"/>
                <a:sym typeface="M PLUS 1p"/>
              </a:rPr>
              <a:t>継続的に利用する</a:t>
            </a:r>
            <a:r>
              <a:rPr lang="ja" sz="1600">
                <a:solidFill>
                  <a:srgbClr val="1F1F1F"/>
                </a:solidFill>
                <a:latin typeface="M PLUS 1p"/>
                <a:ea typeface="M PLUS 1p"/>
                <a:cs typeface="M PLUS 1p"/>
                <a:sym typeface="M PLUS 1p"/>
              </a:rPr>
              <a:t>傾向がある</a:t>
            </a:r>
            <a:endParaRPr sz="1600">
              <a:solidFill>
                <a:srgbClr val="1F1F1F"/>
              </a:solidFill>
              <a:latin typeface="M PLUS 1p"/>
              <a:ea typeface="M PLUS 1p"/>
              <a:cs typeface="M PLUS 1p"/>
              <a:sym typeface="M PLUS 1p"/>
            </a:endParaRPr>
          </a:p>
          <a:p>
            <a:pPr indent="-330200" lvl="1" marL="914400" rtl="0" algn="l">
              <a:lnSpc>
                <a:spcPct val="120000"/>
              </a:lnSpc>
              <a:spcBef>
                <a:spcPts val="0"/>
              </a:spcBef>
              <a:spcAft>
                <a:spcPts val="0"/>
              </a:spcAft>
              <a:buClr>
                <a:srgbClr val="1F1F1F"/>
              </a:buClr>
              <a:buSzPts val="1600"/>
              <a:buFont typeface="M PLUS 1p"/>
              <a:buChar char="○"/>
            </a:pPr>
            <a:r>
              <a:rPr lang="ja" sz="1600">
                <a:solidFill>
                  <a:schemeClr val="dk1"/>
                </a:solidFill>
                <a:latin typeface="M PLUS 1p"/>
                <a:ea typeface="M PLUS 1p"/>
                <a:cs typeface="M PLUS 1p"/>
                <a:sym typeface="M PLUS 1p"/>
              </a:rPr>
              <a:t>2ヶ月目もしくは3ヶ月目は離脱する店舗</a:t>
            </a:r>
            <a:r>
              <a:rPr lang="ja" sz="1600">
                <a:solidFill>
                  <a:srgbClr val="1F1F1F"/>
                </a:solidFill>
                <a:latin typeface="M PLUS 1p"/>
                <a:ea typeface="M PLUS 1p"/>
                <a:cs typeface="M PLUS 1p"/>
                <a:sym typeface="M PLUS 1p"/>
              </a:rPr>
              <a:t>は、その後</a:t>
            </a:r>
            <a:r>
              <a:rPr lang="ja" sz="1600">
                <a:solidFill>
                  <a:srgbClr val="FF0000"/>
                </a:solidFill>
                <a:latin typeface="M PLUS 1p"/>
                <a:ea typeface="M PLUS 1p"/>
                <a:cs typeface="M PLUS 1p"/>
                <a:sym typeface="M PLUS 1p"/>
              </a:rPr>
              <a:t>スポット的に利用する</a:t>
            </a:r>
            <a:r>
              <a:rPr lang="ja" sz="1600">
                <a:solidFill>
                  <a:srgbClr val="1F1F1F"/>
                </a:solidFill>
                <a:latin typeface="M PLUS 1p"/>
                <a:ea typeface="M PLUS 1p"/>
                <a:cs typeface="M PLUS 1p"/>
                <a:sym typeface="M PLUS 1p"/>
              </a:rPr>
              <a:t>傾向がある</a:t>
            </a:r>
            <a:endParaRPr sz="1600">
              <a:solidFill>
                <a:srgbClr val="1F1F1F"/>
              </a:solidFill>
              <a:latin typeface="M PLUS 1p"/>
              <a:ea typeface="M PLUS 1p"/>
              <a:cs typeface="M PLUS 1p"/>
              <a:sym typeface="M PLUS 1p"/>
            </a:endParaRPr>
          </a:p>
          <a:p>
            <a:pPr indent="-330200" lvl="1" marL="914400" rtl="0" algn="l">
              <a:lnSpc>
                <a:spcPct val="120000"/>
              </a:lnSpc>
              <a:spcBef>
                <a:spcPts val="0"/>
              </a:spcBef>
              <a:spcAft>
                <a:spcPts val="0"/>
              </a:spcAft>
              <a:buClr>
                <a:srgbClr val="1F1F1F"/>
              </a:buClr>
              <a:buSzPts val="1600"/>
              <a:buFont typeface="M PLUS 1p"/>
              <a:buChar char="○"/>
            </a:pPr>
            <a:r>
              <a:rPr lang="ja" sz="1600">
                <a:solidFill>
                  <a:schemeClr val="dk1"/>
                </a:solidFill>
                <a:latin typeface="M PLUS 1p"/>
                <a:ea typeface="M PLUS 1p"/>
                <a:cs typeface="M PLUS 1p"/>
                <a:sym typeface="M PLUS 1p"/>
              </a:rPr>
              <a:t>2,3ヶ月目の両方で離脱する店舗</a:t>
            </a:r>
            <a:r>
              <a:rPr lang="ja" sz="1600">
                <a:solidFill>
                  <a:srgbClr val="1F1F1F"/>
                </a:solidFill>
                <a:latin typeface="M PLUS 1p"/>
                <a:ea typeface="M PLUS 1p"/>
                <a:cs typeface="M PLUS 1p"/>
                <a:sym typeface="M PLUS 1p"/>
              </a:rPr>
              <a:t>はその後も</a:t>
            </a:r>
            <a:r>
              <a:rPr lang="ja" sz="1600">
                <a:solidFill>
                  <a:srgbClr val="FF0000"/>
                </a:solidFill>
                <a:latin typeface="M PLUS 1p"/>
                <a:ea typeface="M PLUS 1p"/>
                <a:cs typeface="M PLUS 1p"/>
                <a:sym typeface="M PLUS 1p"/>
              </a:rPr>
              <a:t>離脱し続ける</a:t>
            </a:r>
            <a:r>
              <a:rPr lang="ja" sz="1600">
                <a:solidFill>
                  <a:srgbClr val="1F1F1F"/>
                </a:solidFill>
                <a:latin typeface="M PLUS 1p"/>
                <a:ea typeface="M PLUS 1p"/>
                <a:cs typeface="M PLUS 1p"/>
                <a:sym typeface="M PLUS 1p"/>
              </a:rPr>
              <a:t>傾向がある</a:t>
            </a:r>
            <a:endParaRPr sz="1600">
              <a:solidFill>
                <a:srgbClr val="1F1F1F"/>
              </a:solidFill>
              <a:latin typeface="M PLUS 1p"/>
              <a:ea typeface="M PLUS 1p"/>
              <a:cs typeface="M PLUS 1p"/>
              <a:sym typeface="M PLUS 1p"/>
            </a:endParaRPr>
          </a:p>
          <a:p>
            <a:pPr indent="0" lvl="0" marL="457200" rtl="0" algn="l">
              <a:lnSpc>
                <a:spcPct val="120000"/>
              </a:lnSpc>
              <a:spcBef>
                <a:spcPts val="0"/>
              </a:spcBef>
              <a:spcAft>
                <a:spcPts val="0"/>
              </a:spcAft>
              <a:buNone/>
            </a:pPr>
            <a:r>
              <a:t/>
            </a:r>
            <a:endParaRPr sz="1600">
              <a:solidFill>
                <a:srgbClr val="1F1F1F"/>
              </a:solidFill>
              <a:latin typeface="M PLUS 1p"/>
              <a:ea typeface="M PLUS 1p"/>
              <a:cs typeface="M PLUS 1p"/>
              <a:sym typeface="M PLUS 1p"/>
            </a:endParaRPr>
          </a:p>
        </p:txBody>
      </p:sp>
      <p:sp>
        <p:nvSpPr>
          <p:cNvPr id="231" name="Google Shape;231;p20"/>
          <p:cNvSpPr/>
          <p:nvPr/>
        </p:nvSpPr>
        <p:spPr>
          <a:xfrm>
            <a:off x="342900" y="365275"/>
            <a:ext cx="342900" cy="342900"/>
          </a:xfrm>
          <a:prstGeom prst="ellipse">
            <a:avLst/>
          </a:prstGeom>
          <a:solidFill>
            <a:srgbClr val="5BBB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20"/>
          <p:cNvSpPr txBox="1"/>
          <p:nvPr/>
        </p:nvSpPr>
        <p:spPr>
          <a:xfrm>
            <a:off x="387600" y="335450"/>
            <a:ext cx="298200" cy="30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300">
                <a:solidFill>
                  <a:srgbClr val="FFFFFF"/>
                </a:solidFill>
                <a:latin typeface="Zen Kaku Gothic New"/>
                <a:ea typeface="Zen Kaku Gothic New"/>
                <a:cs typeface="Zen Kaku Gothic New"/>
                <a:sym typeface="Zen Kaku Gothic New"/>
              </a:rPr>
              <a:t>2</a:t>
            </a:r>
            <a:endParaRPr b="1" sz="1300">
              <a:solidFill>
                <a:srgbClr val="FFFFFF"/>
              </a:solidFill>
              <a:latin typeface="Zen Kaku Gothic New"/>
              <a:ea typeface="Zen Kaku Gothic New"/>
              <a:cs typeface="Zen Kaku Gothic New"/>
              <a:sym typeface="Zen Kaku Gothic New"/>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6" name="Shape 236"/>
        <p:cNvGrpSpPr/>
        <p:nvPr/>
      </p:nvGrpSpPr>
      <p:grpSpPr>
        <a:xfrm>
          <a:off x="0" y="0"/>
          <a:ext cx="0" cy="0"/>
          <a:chOff x="0" y="0"/>
          <a:chExt cx="0" cy="0"/>
        </a:xfrm>
      </p:grpSpPr>
      <p:sp>
        <p:nvSpPr>
          <p:cNvPr id="237" name="Google Shape;237;p21"/>
          <p:cNvSpPr txBox="1"/>
          <p:nvPr/>
        </p:nvSpPr>
        <p:spPr>
          <a:xfrm>
            <a:off x="8136000" y="104275"/>
            <a:ext cx="916800" cy="190200"/>
          </a:xfrm>
          <a:prstGeom prst="rect">
            <a:avLst/>
          </a:prstGeom>
          <a:solidFill>
            <a:srgbClr val="DC0451"/>
          </a:solidFill>
          <a:ln>
            <a:noFill/>
          </a:ln>
        </p:spPr>
        <p:txBody>
          <a:bodyPr anchorCtr="0" anchor="t" bIns="91425" lIns="91425" spcFirstLastPara="1" rIns="91425" wrap="square" tIns="91425">
            <a:noAutofit/>
          </a:bodyPr>
          <a:lstStyle/>
          <a:p>
            <a:pPr indent="0" lvl="0" marL="0" rtl="0" algn="ctr">
              <a:lnSpc>
                <a:spcPct val="50000"/>
              </a:lnSpc>
              <a:spcBef>
                <a:spcPts val="0"/>
              </a:spcBef>
              <a:spcAft>
                <a:spcPts val="0"/>
              </a:spcAft>
              <a:buNone/>
            </a:pPr>
            <a:r>
              <a:rPr b="1" lang="ja" sz="700">
                <a:solidFill>
                  <a:srgbClr val="FFFFFF"/>
                </a:solidFill>
                <a:latin typeface="M PLUS 1p"/>
                <a:ea typeface="M PLUS 1p"/>
                <a:cs typeface="M PLUS 1p"/>
                <a:sym typeface="M PLUS 1p"/>
              </a:rPr>
              <a:t>CONFIDENTIAL</a:t>
            </a:r>
            <a:endParaRPr b="1" sz="700">
              <a:solidFill>
                <a:srgbClr val="FFFFFF"/>
              </a:solidFill>
              <a:latin typeface="M PLUS 1p"/>
              <a:ea typeface="M PLUS 1p"/>
              <a:cs typeface="M PLUS 1p"/>
              <a:sym typeface="M PLUS 1p"/>
            </a:endParaRPr>
          </a:p>
        </p:txBody>
      </p:sp>
      <p:sp>
        <p:nvSpPr>
          <p:cNvPr id="238" name="Google Shape;238;p2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239" name="Google Shape;239;p21"/>
          <p:cNvSpPr txBox="1"/>
          <p:nvPr/>
        </p:nvSpPr>
        <p:spPr>
          <a:xfrm>
            <a:off x="712300" y="294475"/>
            <a:ext cx="7710000" cy="48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2000">
                <a:solidFill>
                  <a:srgbClr val="1F1F1F"/>
                </a:solidFill>
                <a:latin typeface="M PLUS 1p"/>
                <a:ea typeface="M PLUS 1p"/>
                <a:cs typeface="M PLUS 1p"/>
                <a:sym typeface="M PLUS 1p"/>
              </a:rPr>
              <a:t>全体像の把握(セグメント定義)</a:t>
            </a:r>
            <a:endParaRPr b="1" sz="2000">
              <a:solidFill>
                <a:srgbClr val="1F1F1F"/>
              </a:solidFill>
              <a:latin typeface="M PLUS 1p"/>
              <a:ea typeface="M PLUS 1p"/>
              <a:cs typeface="M PLUS 1p"/>
              <a:sym typeface="M PLUS 1p"/>
            </a:endParaRPr>
          </a:p>
        </p:txBody>
      </p:sp>
      <p:sp>
        <p:nvSpPr>
          <p:cNvPr id="240" name="Google Shape;240;p21"/>
          <p:cNvSpPr txBox="1"/>
          <p:nvPr/>
        </p:nvSpPr>
        <p:spPr>
          <a:xfrm>
            <a:off x="432350" y="860575"/>
            <a:ext cx="8620500" cy="648300"/>
          </a:xfrm>
          <a:prstGeom prst="rect">
            <a:avLst/>
          </a:prstGeom>
          <a:noFill/>
          <a:ln>
            <a:noFill/>
          </a:ln>
        </p:spPr>
        <p:txBody>
          <a:bodyPr anchorCtr="0" anchor="t" bIns="91425" lIns="91425" spcFirstLastPara="1" rIns="91425" wrap="square" tIns="91425">
            <a:noAutofit/>
          </a:bodyPr>
          <a:lstStyle/>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1〜3ヶ月目までの店舗の掲載パターンを以下の通りに定義した</a:t>
            </a:r>
            <a:endParaRPr sz="1600">
              <a:solidFill>
                <a:srgbClr val="1F1F1F"/>
              </a:solidFill>
              <a:latin typeface="M PLUS 1p"/>
              <a:ea typeface="M PLUS 1p"/>
              <a:cs typeface="M PLUS 1p"/>
              <a:sym typeface="M PLUS 1p"/>
            </a:endParaRPr>
          </a:p>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そして、パターンごとに4〜12ヶ月目までAA月数の傾向を可視化(次スライド参照)</a:t>
            </a:r>
            <a:endParaRPr sz="1600">
              <a:solidFill>
                <a:srgbClr val="1F1F1F"/>
              </a:solidFill>
              <a:latin typeface="M PLUS 1p"/>
              <a:ea typeface="M PLUS 1p"/>
              <a:cs typeface="M PLUS 1p"/>
              <a:sym typeface="M PLUS 1p"/>
            </a:endParaRPr>
          </a:p>
        </p:txBody>
      </p:sp>
      <p:graphicFrame>
        <p:nvGraphicFramePr>
          <p:cNvPr id="241" name="Google Shape;241;p21"/>
          <p:cNvGraphicFramePr/>
          <p:nvPr/>
        </p:nvGraphicFramePr>
        <p:xfrm>
          <a:off x="630300" y="2010050"/>
          <a:ext cx="3000000" cy="3000000"/>
        </p:xfrm>
        <a:graphic>
          <a:graphicData uri="http://schemas.openxmlformats.org/drawingml/2006/table">
            <a:tbl>
              <a:tblPr>
                <a:noFill/>
                <a:tableStyleId>{717431F7-2294-48B2-AEED-F836AFECFFDB}</a:tableStyleId>
              </a:tblPr>
              <a:tblGrid>
                <a:gridCol w="2347275"/>
                <a:gridCol w="1107225"/>
                <a:gridCol w="1107225"/>
                <a:gridCol w="1107225"/>
                <a:gridCol w="1107225"/>
                <a:gridCol w="1107225"/>
              </a:tblGrid>
              <a:tr h="355450">
                <a:tc>
                  <a:txBody>
                    <a:bodyPr/>
                    <a:lstStyle/>
                    <a:p>
                      <a:pPr indent="0" lvl="0" marL="0" rtl="0" algn="l">
                        <a:lnSpc>
                          <a:spcPct val="115000"/>
                        </a:lnSpc>
                        <a:spcBef>
                          <a:spcPts val="0"/>
                        </a:spcBef>
                        <a:spcAft>
                          <a:spcPts val="0"/>
                        </a:spcAft>
                        <a:buNone/>
                      </a:pPr>
                      <a:r>
                        <a:rPr b="1" lang="ja" sz="1000">
                          <a:latin typeface="M PLUS 1p"/>
                          <a:ea typeface="M PLUS 1p"/>
                          <a:cs typeface="M PLUS 1p"/>
                          <a:sym typeface="M PLUS 1p"/>
                        </a:rPr>
                        <a:t>1〜3ヶ月目の掲載パターン</a:t>
                      </a:r>
                      <a:endParaRPr b="1" sz="1000">
                        <a:latin typeface="M PLUS 1p"/>
                        <a:ea typeface="M PLUS 1p"/>
                        <a:cs typeface="M PLUS 1p"/>
                        <a:sym typeface="M PLUS 1p"/>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FEFEF"/>
                    </a:solidFill>
                  </a:tcPr>
                </a:tc>
                <a:tc>
                  <a:txBody>
                    <a:bodyPr/>
                    <a:lstStyle/>
                    <a:p>
                      <a:pPr indent="0" lvl="0" marL="0" rtl="0" algn="ctr">
                        <a:lnSpc>
                          <a:spcPct val="115000"/>
                        </a:lnSpc>
                        <a:spcBef>
                          <a:spcPts val="0"/>
                        </a:spcBef>
                        <a:spcAft>
                          <a:spcPts val="0"/>
                        </a:spcAft>
                        <a:buNone/>
                      </a:pPr>
                      <a:r>
                        <a:rPr b="1" lang="ja" sz="1000">
                          <a:latin typeface="M PLUS 1p"/>
                          <a:ea typeface="M PLUS 1p"/>
                          <a:cs typeface="M PLUS 1p"/>
                          <a:sym typeface="M PLUS 1p"/>
                        </a:rPr>
                        <a:t>1ヶ月目</a:t>
                      </a:r>
                      <a:endParaRPr b="1" sz="1000">
                        <a:latin typeface="M PLUS 1p"/>
                        <a:ea typeface="M PLUS 1p"/>
                        <a:cs typeface="M PLUS 1p"/>
                        <a:sym typeface="M PLUS 1p"/>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FEFEF"/>
                    </a:solidFill>
                  </a:tcPr>
                </a:tc>
                <a:tc>
                  <a:txBody>
                    <a:bodyPr/>
                    <a:lstStyle/>
                    <a:p>
                      <a:pPr indent="0" lvl="0" marL="0" rtl="0" algn="ctr">
                        <a:lnSpc>
                          <a:spcPct val="115000"/>
                        </a:lnSpc>
                        <a:spcBef>
                          <a:spcPts val="0"/>
                        </a:spcBef>
                        <a:spcAft>
                          <a:spcPts val="0"/>
                        </a:spcAft>
                        <a:buNone/>
                      </a:pPr>
                      <a:r>
                        <a:rPr b="1" lang="ja" sz="1000">
                          <a:latin typeface="M PLUS 1p"/>
                          <a:ea typeface="M PLUS 1p"/>
                          <a:cs typeface="M PLUS 1p"/>
                          <a:sym typeface="M PLUS 1p"/>
                        </a:rPr>
                        <a:t>2ヶ月目</a:t>
                      </a:r>
                      <a:endParaRPr b="1" sz="1000">
                        <a:latin typeface="M PLUS 1p"/>
                        <a:ea typeface="M PLUS 1p"/>
                        <a:cs typeface="M PLUS 1p"/>
                        <a:sym typeface="M PLUS 1p"/>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FEFEF"/>
                    </a:solidFill>
                  </a:tcPr>
                </a:tc>
                <a:tc>
                  <a:txBody>
                    <a:bodyPr/>
                    <a:lstStyle/>
                    <a:p>
                      <a:pPr indent="0" lvl="0" marL="0" rtl="0" algn="ctr">
                        <a:lnSpc>
                          <a:spcPct val="115000"/>
                        </a:lnSpc>
                        <a:spcBef>
                          <a:spcPts val="0"/>
                        </a:spcBef>
                        <a:spcAft>
                          <a:spcPts val="0"/>
                        </a:spcAft>
                        <a:buNone/>
                      </a:pPr>
                      <a:r>
                        <a:rPr b="1" lang="ja" sz="1000">
                          <a:latin typeface="M PLUS 1p"/>
                          <a:ea typeface="M PLUS 1p"/>
                          <a:cs typeface="M PLUS 1p"/>
                          <a:sym typeface="M PLUS 1p"/>
                        </a:rPr>
                        <a:t>3ヶ月目</a:t>
                      </a:r>
                      <a:endParaRPr b="1" sz="1000">
                        <a:latin typeface="M PLUS 1p"/>
                        <a:ea typeface="M PLUS 1p"/>
                        <a:cs typeface="M PLUS 1p"/>
                        <a:sym typeface="M PLUS 1p"/>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FEFEF"/>
                    </a:solidFill>
                  </a:tcPr>
                </a:tc>
                <a:tc>
                  <a:txBody>
                    <a:bodyPr/>
                    <a:lstStyle/>
                    <a:p>
                      <a:pPr indent="0" lvl="0" marL="0" rtl="0" algn="ctr">
                        <a:lnSpc>
                          <a:spcPct val="115000"/>
                        </a:lnSpc>
                        <a:spcBef>
                          <a:spcPts val="0"/>
                        </a:spcBef>
                        <a:spcAft>
                          <a:spcPts val="0"/>
                        </a:spcAft>
                        <a:buNone/>
                      </a:pPr>
                      <a:r>
                        <a:rPr b="1" lang="ja" sz="1000">
                          <a:latin typeface="M PLUS 1p"/>
                          <a:ea typeface="M PLUS 1p"/>
                          <a:cs typeface="M PLUS 1p"/>
                          <a:sym typeface="M PLUS 1p"/>
                        </a:rPr>
                        <a:t>店舗</a:t>
                      </a:r>
                      <a:r>
                        <a:rPr b="1" lang="ja" sz="1000">
                          <a:latin typeface="M PLUS 1p"/>
                          <a:ea typeface="M PLUS 1p"/>
                          <a:cs typeface="M PLUS 1p"/>
                          <a:sym typeface="M PLUS 1p"/>
                        </a:rPr>
                        <a:t>数</a:t>
                      </a:r>
                      <a:endParaRPr b="1" sz="1000">
                        <a:latin typeface="M PLUS 1p"/>
                        <a:ea typeface="M PLUS 1p"/>
                        <a:cs typeface="M PLUS 1p"/>
                        <a:sym typeface="M PLUS 1p"/>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FEFEF"/>
                    </a:solidFill>
                  </a:tcPr>
                </a:tc>
                <a:tc>
                  <a:txBody>
                    <a:bodyPr/>
                    <a:lstStyle/>
                    <a:p>
                      <a:pPr indent="0" lvl="0" marL="0" rtl="0" algn="ctr">
                        <a:lnSpc>
                          <a:spcPct val="115000"/>
                        </a:lnSpc>
                        <a:spcBef>
                          <a:spcPts val="0"/>
                        </a:spcBef>
                        <a:spcAft>
                          <a:spcPts val="0"/>
                        </a:spcAft>
                        <a:buNone/>
                      </a:pPr>
                      <a:r>
                        <a:rPr b="1" lang="ja" sz="1000">
                          <a:latin typeface="M PLUS 1p"/>
                          <a:ea typeface="M PLUS 1p"/>
                          <a:cs typeface="M PLUS 1p"/>
                          <a:sym typeface="M PLUS 1p"/>
                        </a:rPr>
                        <a:t>構成比</a:t>
                      </a:r>
                      <a:endParaRPr b="1" sz="1000">
                        <a:latin typeface="M PLUS 1p"/>
                        <a:ea typeface="M PLUS 1p"/>
                        <a:cs typeface="M PLUS 1p"/>
                        <a:sym typeface="M PLUS 1p"/>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FEFEF"/>
                    </a:solidFill>
                  </a:tcPr>
                </a:tc>
              </a:tr>
              <a:tr h="341800">
                <a:tc>
                  <a:txBody>
                    <a:bodyPr/>
                    <a:lstStyle/>
                    <a:p>
                      <a:pPr indent="0" lvl="0" marL="0" rtl="0" algn="l">
                        <a:lnSpc>
                          <a:spcPct val="115000"/>
                        </a:lnSpc>
                        <a:spcBef>
                          <a:spcPts val="0"/>
                        </a:spcBef>
                        <a:spcAft>
                          <a:spcPts val="0"/>
                        </a:spcAft>
                        <a:buNone/>
                      </a:pPr>
                      <a:r>
                        <a:rPr lang="ja" sz="1000">
                          <a:latin typeface="M PLUS 1p"/>
                          <a:ea typeface="M PLUS 1p"/>
                          <a:cs typeface="M PLUS 1p"/>
                          <a:sym typeface="M PLUS 1p"/>
                        </a:rPr>
                        <a:t>1.初回3ヶ月連続掲載</a:t>
                      </a:r>
                      <a:endParaRPr sz="1000">
                        <a:latin typeface="M PLUS 1p"/>
                        <a:ea typeface="M PLUS 1p"/>
                        <a:cs typeface="M PLUS 1p"/>
                        <a:sym typeface="M PLUS 1p"/>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ja" sz="1000">
                          <a:latin typeface="M PLUS 1p"/>
                          <a:ea typeface="M PLUS 1p"/>
                          <a:cs typeface="M PLUS 1p"/>
                          <a:sym typeface="M PLUS 1p"/>
                        </a:rPr>
                        <a:t>掲載</a:t>
                      </a:r>
                      <a:endParaRPr sz="1000">
                        <a:latin typeface="M PLUS 1p"/>
                        <a:ea typeface="M PLUS 1p"/>
                        <a:cs typeface="M PLUS 1p"/>
                        <a:sym typeface="M PLUS 1p"/>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7E1CD"/>
                    </a:solidFill>
                  </a:tcPr>
                </a:tc>
                <a:tc>
                  <a:txBody>
                    <a:bodyPr/>
                    <a:lstStyle/>
                    <a:p>
                      <a:pPr indent="0" lvl="0" marL="0" rtl="0" algn="ctr">
                        <a:lnSpc>
                          <a:spcPct val="115000"/>
                        </a:lnSpc>
                        <a:spcBef>
                          <a:spcPts val="0"/>
                        </a:spcBef>
                        <a:spcAft>
                          <a:spcPts val="0"/>
                        </a:spcAft>
                        <a:buNone/>
                      </a:pPr>
                      <a:r>
                        <a:rPr lang="ja" sz="1000">
                          <a:latin typeface="M PLUS 1p"/>
                          <a:ea typeface="M PLUS 1p"/>
                          <a:cs typeface="M PLUS 1p"/>
                          <a:sym typeface="M PLUS 1p"/>
                        </a:rPr>
                        <a:t>掲載</a:t>
                      </a:r>
                      <a:endParaRPr sz="1000">
                        <a:latin typeface="M PLUS 1p"/>
                        <a:ea typeface="M PLUS 1p"/>
                        <a:cs typeface="M PLUS 1p"/>
                        <a:sym typeface="M PLUS 1p"/>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7E1CD"/>
                    </a:solidFill>
                  </a:tcPr>
                </a:tc>
                <a:tc>
                  <a:txBody>
                    <a:bodyPr/>
                    <a:lstStyle/>
                    <a:p>
                      <a:pPr indent="0" lvl="0" marL="0" rtl="0" algn="ctr">
                        <a:lnSpc>
                          <a:spcPct val="115000"/>
                        </a:lnSpc>
                        <a:spcBef>
                          <a:spcPts val="0"/>
                        </a:spcBef>
                        <a:spcAft>
                          <a:spcPts val="0"/>
                        </a:spcAft>
                        <a:buNone/>
                      </a:pPr>
                      <a:r>
                        <a:rPr lang="ja" sz="1000">
                          <a:latin typeface="M PLUS 1p"/>
                          <a:ea typeface="M PLUS 1p"/>
                          <a:cs typeface="M PLUS 1p"/>
                          <a:sym typeface="M PLUS 1p"/>
                        </a:rPr>
                        <a:t>掲載</a:t>
                      </a:r>
                      <a:endParaRPr sz="1000">
                        <a:latin typeface="M PLUS 1p"/>
                        <a:ea typeface="M PLUS 1p"/>
                        <a:cs typeface="M PLUS 1p"/>
                        <a:sym typeface="M PLUS 1p"/>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7E1CD"/>
                    </a:solidFill>
                  </a:tcPr>
                </a:tc>
                <a:tc>
                  <a:txBody>
                    <a:bodyPr/>
                    <a:lstStyle/>
                    <a:p>
                      <a:pPr indent="0" lvl="0" marL="0" rtl="0" algn="ctr">
                        <a:lnSpc>
                          <a:spcPct val="115000"/>
                        </a:lnSpc>
                        <a:spcBef>
                          <a:spcPts val="0"/>
                        </a:spcBef>
                        <a:spcAft>
                          <a:spcPts val="0"/>
                        </a:spcAft>
                        <a:buNone/>
                      </a:pPr>
                      <a:r>
                        <a:rPr lang="ja" sz="1000">
                          <a:latin typeface="M PLUS 1p"/>
                          <a:ea typeface="M PLUS 1p"/>
                          <a:cs typeface="M PLUS 1p"/>
                          <a:sym typeface="M PLUS 1p"/>
                        </a:rPr>
                        <a:t>22,702</a:t>
                      </a:r>
                      <a:endParaRPr sz="1000">
                        <a:latin typeface="M PLUS 1p"/>
                        <a:ea typeface="M PLUS 1p"/>
                        <a:cs typeface="M PLUS 1p"/>
                        <a:sym typeface="M PLUS 1p"/>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ja" sz="1000">
                          <a:latin typeface="M PLUS 1p"/>
                          <a:ea typeface="M PLUS 1p"/>
                          <a:cs typeface="M PLUS 1p"/>
                          <a:sym typeface="M PLUS 1p"/>
                        </a:rPr>
                        <a:t>41%</a:t>
                      </a:r>
                      <a:endParaRPr sz="1000">
                        <a:latin typeface="M PLUS 1p"/>
                        <a:ea typeface="M PLUS 1p"/>
                        <a:cs typeface="M PLUS 1p"/>
                        <a:sym typeface="M PLUS 1p"/>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41800">
                <a:tc>
                  <a:txBody>
                    <a:bodyPr/>
                    <a:lstStyle/>
                    <a:p>
                      <a:pPr indent="0" lvl="0" marL="0" rtl="0" algn="l">
                        <a:lnSpc>
                          <a:spcPct val="115000"/>
                        </a:lnSpc>
                        <a:spcBef>
                          <a:spcPts val="0"/>
                        </a:spcBef>
                        <a:spcAft>
                          <a:spcPts val="0"/>
                        </a:spcAft>
                        <a:buNone/>
                      </a:pPr>
                      <a:r>
                        <a:rPr lang="ja" sz="1000">
                          <a:latin typeface="M PLUS 1p"/>
                          <a:ea typeface="M PLUS 1p"/>
                          <a:cs typeface="M PLUS 1p"/>
                          <a:sym typeface="M PLUS 1p"/>
                        </a:rPr>
                        <a:t>2.初回掲載後離脱、その後掲載</a:t>
                      </a:r>
                      <a:endParaRPr sz="1000">
                        <a:latin typeface="M PLUS 1p"/>
                        <a:ea typeface="M PLUS 1p"/>
                        <a:cs typeface="M PLUS 1p"/>
                        <a:sym typeface="M PLUS 1p"/>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ja" sz="1000">
                          <a:latin typeface="M PLUS 1p"/>
                          <a:ea typeface="M PLUS 1p"/>
                          <a:cs typeface="M PLUS 1p"/>
                          <a:sym typeface="M PLUS 1p"/>
                        </a:rPr>
                        <a:t>掲載</a:t>
                      </a:r>
                      <a:endParaRPr sz="1000">
                        <a:latin typeface="M PLUS 1p"/>
                        <a:ea typeface="M PLUS 1p"/>
                        <a:cs typeface="M PLUS 1p"/>
                        <a:sym typeface="M PLUS 1p"/>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7E1CD"/>
                    </a:solidFill>
                  </a:tcPr>
                </a:tc>
                <a:tc>
                  <a:txBody>
                    <a:bodyPr/>
                    <a:lstStyle/>
                    <a:p>
                      <a:pPr indent="0" lvl="0" marL="0" rtl="0" algn="ctr">
                        <a:lnSpc>
                          <a:spcPct val="115000"/>
                        </a:lnSpc>
                        <a:spcBef>
                          <a:spcPts val="0"/>
                        </a:spcBef>
                        <a:spcAft>
                          <a:spcPts val="0"/>
                        </a:spcAft>
                        <a:buNone/>
                      </a:pPr>
                      <a:r>
                        <a:rPr lang="ja" sz="1000">
                          <a:latin typeface="M PLUS 1p"/>
                          <a:ea typeface="M PLUS 1p"/>
                          <a:cs typeface="M PLUS 1p"/>
                          <a:sym typeface="M PLUS 1p"/>
                        </a:rPr>
                        <a:t>離脱</a:t>
                      </a:r>
                      <a:endParaRPr sz="1000">
                        <a:latin typeface="M PLUS 1p"/>
                        <a:ea typeface="M PLUS 1p"/>
                        <a:cs typeface="M PLUS 1p"/>
                        <a:sym typeface="M PLUS 1p"/>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4CCCC"/>
                    </a:solidFill>
                  </a:tcPr>
                </a:tc>
                <a:tc>
                  <a:txBody>
                    <a:bodyPr/>
                    <a:lstStyle/>
                    <a:p>
                      <a:pPr indent="0" lvl="0" marL="0" rtl="0" algn="ctr">
                        <a:lnSpc>
                          <a:spcPct val="115000"/>
                        </a:lnSpc>
                        <a:spcBef>
                          <a:spcPts val="0"/>
                        </a:spcBef>
                        <a:spcAft>
                          <a:spcPts val="0"/>
                        </a:spcAft>
                        <a:buNone/>
                      </a:pPr>
                      <a:r>
                        <a:rPr lang="ja" sz="1000">
                          <a:latin typeface="M PLUS 1p"/>
                          <a:ea typeface="M PLUS 1p"/>
                          <a:cs typeface="M PLUS 1p"/>
                          <a:sym typeface="M PLUS 1p"/>
                        </a:rPr>
                        <a:t>掲載</a:t>
                      </a:r>
                      <a:endParaRPr sz="1000">
                        <a:latin typeface="M PLUS 1p"/>
                        <a:ea typeface="M PLUS 1p"/>
                        <a:cs typeface="M PLUS 1p"/>
                        <a:sym typeface="M PLUS 1p"/>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7E1CD"/>
                    </a:solidFill>
                  </a:tcPr>
                </a:tc>
                <a:tc>
                  <a:txBody>
                    <a:bodyPr/>
                    <a:lstStyle/>
                    <a:p>
                      <a:pPr indent="0" lvl="0" marL="0" rtl="0" algn="ctr">
                        <a:lnSpc>
                          <a:spcPct val="115000"/>
                        </a:lnSpc>
                        <a:spcBef>
                          <a:spcPts val="0"/>
                        </a:spcBef>
                        <a:spcAft>
                          <a:spcPts val="0"/>
                        </a:spcAft>
                        <a:buNone/>
                      </a:pPr>
                      <a:r>
                        <a:rPr lang="ja" sz="1000">
                          <a:latin typeface="M PLUS 1p"/>
                          <a:ea typeface="M PLUS 1p"/>
                          <a:cs typeface="M PLUS 1p"/>
                          <a:sym typeface="M PLUS 1p"/>
                        </a:rPr>
                        <a:t>2,770</a:t>
                      </a:r>
                      <a:endParaRPr sz="1000">
                        <a:latin typeface="M PLUS 1p"/>
                        <a:ea typeface="M PLUS 1p"/>
                        <a:cs typeface="M PLUS 1p"/>
                        <a:sym typeface="M PLUS 1p"/>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ja" sz="1000">
                          <a:latin typeface="M PLUS 1p"/>
                          <a:ea typeface="M PLUS 1p"/>
                          <a:cs typeface="M PLUS 1p"/>
                          <a:sym typeface="M PLUS 1p"/>
                        </a:rPr>
                        <a:t>5%</a:t>
                      </a:r>
                      <a:endParaRPr sz="1000">
                        <a:latin typeface="M PLUS 1p"/>
                        <a:ea typeface="M PLUS 1p"/>
                        <a:cs typeface="M PLUS 1p"/>
                        <a:sym typeface="M PLUS 1p"/>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73000">
                <a:tc>
                  <a:txBody>
                    <a:bodyPr/>
                    <a:lstStyle/>
                    <a:p>
                      <a:pPr indent="0" lvl="0" marL="0" rtl="0" algn="l">
                        <a:lnSpc>
                          <a:spcPct val="115000"/>
                        </a:lnSpc>
                        <a:spcBef>
                          <a:spcPts val="0"/>
                        </a:spcBef>
                        <a:spcAft>
                          <a:spcPts val="0"/>
                        </a:spcAft>
                        <a:buNone/>
                      </a:pPr>
                      <a:r>
                        <a:rPr lang="ja" sz="1000">
                          <a:latin typeface="M PLUS 1p"/>
                          <a:ea typeface="M PLUS 1p"/>
                          <a:cs typeface="M PLUS 1p"/>
                          <a:sym typeface="M PLUS 1p"/>
                        </a:rPr>
                        <a:t>3.初回2ヶ月連続掲載、その後離脱</a:t>
                      </a:r>
                      <a:endParaRPr sz="1000">
                        <a:latin typeface="M PLUS 1p"/>
                        <a:ea typeface="M PLUS 1p"/>
                        <a:cs typeface="M PLUS 1p"/>
                        <a:sym typeface="M PLUS 1p"/>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ja" sz="1000">
                          <a:latin typeface="M PLUS 1p"/>
                          <a:ea typeface="M PLUS 1p"/>
                          <a:cs typeface="M PLUS 1p"/>
                          <a:sym typeface="M PLUS 1p"/>
                        </a:rPr>
                        <a:t>掲載</a:t>
                      </a:r>
                      <a:endParaRPr sz="1000">
                        <a:latin typeface="M PLUS 1p"/>
                        <a:ea typeface="M PLUS 1p"/>
                        <a:cs typeface="M PLUS 1p"/>
                        <a:sym typeface="M PLUS 1p"/>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7E1CD"/>
                    </a:solidFill>
                  </a:tcPr>
                </a:tc>
                <a:tc>
                  <a:txBody>
                    <a:bodyPr/>
                    <a:lstStyle/>
                    <a:p>
                      <a:pPr indent="0" lvl="0" marL="0" rtl="0" algn="ctr">
                        <a:lnSpc>
                          <a:spcPct val="115000"/>
                        </a:lnSpc>
                        <a:spcBef>
                          <a:spcPts val="0"/>
                        </a:spcBef>
                        <a:spcAft>
                          <a:spcPts val="0"/>
                        </a:spcAft>
                        <a:buNone/>
                      </a:pPr>
                      <a:r>
                        <a:rPr lang="ja" sz="1000">
                          <a:latin typeface="M PLUS 1p"/>
                          <a:ea typeface="M PLUS 1p"/>
                          <a:cs typeface="M PLUS 1p"/>
                          <a:sym typeface="M PLUS 1p"/>
                        </a:rPr>
                        <a:t>掲載</a:t>
                      </a:r>
                      <a:endParaRPr sz="1000">
                        <a:latin typeface="M PLUS 1p"/>
                        <a:ea typeface="M PLUS 1p"/>
                        <a:cs typeface="M PLUS 1p"/>
                        <a:sym typeface="M PLUS 1p"/>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7E1CD"/>
                    </a:solidFill>
                  </a:tcPr>
                </a:tc>
                <a:tc>
                  <a:txBody>
                    <a:bodyPr/>
                    <a:lstStyle/>
                    <a:p>
                      <a:pPr indent="0" lvl="0" marL="0" rtl="0" algn="ctr">
                        <a:lnSpc>
                          <a:spcPct val="115000"/>
                        </a:lnSpc>
                        <a:spcBef>
                          <a:spcPts val="0"/>
                        </a:spcBef>
                        <a:spcAft>
                          <a:spcPts val="0"/>
                        </a:spcAft>
                        <a:buNone/>
                      </a:pPr>
                      <a:r>
                        <a:rPr lang="ja" sz="1000">
                          <a:latin typeface="M PLUS 1p"/>
                          <a:ea typeface="M PLUS 1p"/>
                          <a:cs typeface="M PLUS 1p"/>
                          <a:sym typeface="M PLUS 1p"/>
                        </a:rPr>
                        <a:t>離脱</a:t>
                      </a:r>
                      <a:endParaRPr sz="1000">
                        <a:latin typeface="M PLUS 1p"/>
                        <a:ea typeface="M PLUS 1p"/>
                        <a:cs typeface="M PLUS 1p"/>
                        <a:sym typeface="M PLUS 1p"/>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4CCCC"/>
                    </a:solidFill>
                  </a:tcPr>
                </a:tc>
                <a:tc>
                  <a:txBody>
                    <a:bodyPr/>
                    <a:lstStyle/>
                    <a:p>
                      <a:pPr indent="0" lvl="0" marL="0" rtl="0" algn="ctr">
                        <a:lnSpc>
                          <a:spcPct val="115000"/>
                        </a:lnSpc>
                        <a:spcBef>
                          <a:spcPts val="0"/>
                        </a:spcBef>
                        <a:spcAft>
                          <a:spcPts val="0"/>
                        </a:spcAft>
                        <a:buNone/>
                      </a:pPr>
                      <a:r>
                        <a:rPr lang="ja" sz="1000">
                          <a:latin typeface="M PLUS 1p"/>
                          <a:ea typeface="M PLUS 1p"/>
                          <a:cs typeface="M PLUS 1p"/>
                          <a:sym typeface="M PLUS 1p"/>
                        </a:rPr>
                        <a:t>8,840</a:t>
                      </a:r>
                      <a:endParaRPr sz="1000">
                        <a:latin typeface="M PLUS 1p"/>
                        <a:ea typeface="M PLUS 1p"/>
                        <a:cs typeface="M PLUS 1p"/>
                        <a:sym typeface="M PLUS 1p"/>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ja" sz="1000">
                          <a:latin typeface="M PLUS 1p"/>
                          <a:ea typeface="M PLUS 1p"/>
                          <a:cs typeface="M PLUS 1p"/>
                          <a:sym typeface="M PLUS 1p"/>
                        </a:rPr>
                        <a:t>16%</a:t>
                      </a:r>
                      <a:endParaRPr sz="1000">
                        <a:latin typeface="M PLUS 1p"/>
                        <a:ea typeface="M PLUS 1p"/>
                        <a:cs typeface="M PLUS 1p"/>
                        <a:sym typeface="M PLUS 1p"/>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41800">
                <a:tc>
                  <a:txBody>
                    <a:bodyPr/>
                    <a:lstStyle/>
                    <a:p>
                      <a:pPr indent="0" lvl="0" marL="0" rtl="0" algn="l">
                        <a:lnSpc>
                          <a:spcPct val="115000"/>
                        </a:lnSpc>
                        <a:spcBef>
                          <a:spcPts val="0"/>
                        </a:spcBef>
                        <a:spcAft>
                          <a:spcPts val="0"/>
                        </a:spcAft>
                        <a:buNone/>
                      </a:pPr>
                      <a:r>
                        <a:rPr lang="ja" sz="1000">
                          <a:latin typeface="M PLUS 1p"/>
                          <a:ea typeface="M PLUS 1p"/>
                          <a:cs typeface="M PLUS 1p"/>
                          <a:sym typeface="M PLUS 1p"/>
                        </a:rPr>
                        <a:t>4.初回掲載後2ヶ月離脱</a:t>
                      </a:r>
                      <a:endParaRPr sz="1000">
                        <a:latin typeface="M PLUS 1p"/>
                        <a:ea typeface="M PLUS 1p"/>
                        <a:cs typeface="M PLUS 1p"/>
                        <a:sym typeface="M PLUS 1p"/>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ja" sz="1000">
                          <a:latin typeface="M PLUS 1p"/>
                          <a:ea typeface="M PLUS 1p"/>
                          <a:cs typeface="M PLUS 1p"/>
                          <a:sym typeface="M PLUS 1p"/>
                        </a:rPr>
                        <a:t>掲載</a:t>
                      </a:r>
                      <a:endParaRPr sz="1000">
                        <a:latin typeface="M PLUS 1p"/>
                        <a:ea typeface="M PLUS 1p"/>
                        <a:cs typeface="M PLUS 1p"/>
                        <a:sym typeface="M PLUS 1p"/>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7E1CD"/>
                    </a:solidFill>
                  </a:tcPr>
                </a:tc>
                <a:tc>
                  <a:txBody>
                    <a:bodyPr/>
                    <a:lstStyle/>
                    <a:p>
                      <a:pPr indent="0" lvl="0" marL="0" rtl="0" algn="ctr">
                        <a:lnSpc>
                          <a:spcPct val="115000"/>
                        </a:lnSpc>
                        <a:spcBef>
                          <a:spcPts val="0"/>
                        </a:spcBef>
                        <a:spcAft>
                          <a:spcPts val="0"/>
                        </a:spcAft>
                        <a:buNone/>
                      </a:pPr>
                      <a:r>
                        <a:rPr lang="ja" sz="1000">
                          <a:latin typeface="M PLUS 1p"/>
                          <a:ea typeface="M PLUS 1p"/>
                          <a:cs typeface="M PLUS 1p"/>
                          <a:sym typeface="M PLUS 1p"/>
                        </a:rPr>
                        <a:t>離脱</a:t>
                      </a:r>
                      <a:endParaRPr sz="1000">
                        <a:latin typeface="M PLUS 1p"/>
                        <a:ea typeface="M PLUS 1p"/>
                        <a:cs typeface="M PLUS 1p"/>
                        <a:sym typeface="M PLUS 1p"/>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4CCCC"/>
                    </a:solidFill>
                  </a:tcPr>
                </a:tc>
                <a:tc>
                  <a:txBody>
                    <a:bodyPr/>
                    <a:lstStyle/>
                    <a:p>
                      <a:pPr indent="0" lvl="0" marL="0" rtl="0" algn="ctr">
                        <a:lnSpc>
                          <a:spcPct val="115000"/>
                        </a:lnSpc>
                        <a:spcBef>
                          <a:spcPts val="0"/>
                        </a:spcBef>
                        <a:spcAft>
                          <a:spcPts val="0"/>
                        </a:spcAft>
                        <a:buNone/>
                      </a:pPr>
                      <a:r>
                        <a:rPr lang="ja" sz="1000">
                          <a:latin typeface="M PLUS 1p"/>
                          <a:ea typeface="M PLUS 1p"/>
                          <a:cs typeface="M PLUS 1p"/>
                          <a:sym typeface="M PLUS 1p"/>
                        </a:rPr>
                        <a:t>離脱</a:t>
                      </a:r>
                      <a:endParaRPr sz="1000">
                        <a:latin typeface="M PLUS 1p"/>
                        <a:ea typeface="M PLUS 1p"/>
                        <a:cs typeface="M PLUS 1p"/>
                        <a:sym typeface="M PLUS 1p"/>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4CCCC"/>
                    </a:solidFill>
                  </a:tcPr>
                </a:tc>
                <a:tc>
                  <a:txBody>
                    <a:bodyPr/>
                    <a:lstStyle/>
                    <a:p>
                      <a:pPr indent="0" lvl="0" marL="0" rtl="0" algn="ctr">
                        <a:lnSpc>
                          <a:spcPct val="115000"/>
                        </a:lnSpc>
                        <a:spcBef>
                          <a:spcPts val="0"/>
                        </a:spcBef>
                        <a:spcAft>
                          <a:spcPts val="0"/>
                        </a:spcAft>
                        <a:buNone/>
                      </a:pPr>
                      <a:r>
                        <a:rPr lang="ja" sz="1000">
                          <a:latin typeface="M PLUS 1p"/>
                          <a:ea typeface="M PLUS 1p"/>
                          <a:cs typeface="M PLUS 1p"/>
                          <a:sym typeface="M PLUS 1p"/>
                        </a:rPr>
                        <a:t>20,393</a:t>
                      </a:r>
                      <a:endParaRPr sz="1000">
                        <a:latin typeface="M PLUS 1p"/>
                        <a:ea typeface="M PLUS 1p"/>
                        <a:cs typeface="M PLUS 1p"/>
                        <a:sym typeface="M PLUS 1p"/>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ja" sz="1000">
                          <a:latin typeface="M PLUS 1p"/>
                          <a:ea typeface="M PLUS 1p"/>
                          <a:cs typeface="M PLUS 1p"/>
                          <a:sym typeface="M PLUS 1p"/>
                        </a:rPr>
                        <a:t>37%</a:t>
                      </a:r>
                      <a:endParaRPr sz="1000">
                        <a:latin typeface="M PLUS 1p"/>
                        <a:ea typeface="M PLUS 1p"/>
                        <a:cs typeface="M PLUS 1p"/>
                        <a:sym typeface="M PLUS 1p"/>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242" name="Google Shape;242;p21"/>
          <p:cNvSpPr txBox="1"/>
          <p:nvPr/>
        </p:nvSpPr>
        <p:spPr>
          <a:xfrm>
            <a:off x="630300" y="3763900"/>
            <a:ext cx="7710000" cy="5592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None/>
            </a:pPr>
            <a:r>
              <a:rPr lang="ja" sz="800">
                <a:solidFill>
                  <a:srgbClr val="1F1F1F"/>
                </a:solidFill>
                <a:latin typeface="M PLUS 1p"/>
                <a:ea typeface="M PLUS 1p"/>
                <a:cs typeface="M PLUS 1p"/>
                <a:sym typeface="M PLUS 1p"/>
              </a:rPr>
              <a:t>※1ヶ月目=利用開始月</a:t>
            </a:r>
            <a:endParaRPr sz="800">
              <a:solidFill>
                <a:srgbClr val="1F1F1F"/>
              </a:solidFill>
              <a:latin typeface="M PLUS 1p"/>
              <a:ea typeface="M PLUS 1p"/>
              <a:cs typeface="M PLUS 1p"/>
              <a:sym typeface="M PLUS 1p"/>
            </a:endParaRPr>
          </a:p>
          <a:p>
            <a:pPr indent="0" lvl="0" marL="0" rtl="0" algn="l">
              <a:lnSpc>
                <a:spcPct val="120000"/>
              </a:lnSpc>
              <a:spcBef>
                <a:spcPts val="0"/>
              </a:spcBef>
              <a:spcAft>
                <a:spcPts val="0"/>
              </a:spcAft>
              <a:buNone/>
            </a:pPr>
            <a:r>
              <a:rPr lang="ja" sz="800">
                <a:solidFill>
                  <a:srgbClr val="1F1F1F"/>
                </a:solidFill>
                <a:latin typeface="M PLUS 1p"/>
                <a:ea typeface="M PLUS 1p"/>
                <a:cs typeface="M PLUS 1p"/>
                <a:sym typeface="M PLUS 1p"/>
              </a:rPr>
              <a:t>※2023/05〜2024/05に初回募集を作成した</a:t>
            </a:r>
            <a:r>
              <a:rPr lang="ja" sz="800">
                <a:solidFill>
                  <a:srgbClr val="1F1F1F"/>
                </a:solidFill>
                <a:latin typeface="M PLUS 1p"/>
                <a:ea typeface="M PLUS 1p"/>
                <a:cs typeface="M PLUS 1p"/>
                <a:sym typeface="M PLUS 1p"/>
              </a:rPr>
              <a:t>店舗</a:t>
            </a:r>
            <a:r>
              <a:rPr lang="ja" sz="800">
                <a:solidFill>
                  <a:srgbClr val="1F1F1F"/>
                </a:solidFill>
                <a:latin typeface="M PLUS 1p"/>
                <a:ea typeface="M PLUS 1p"/>
                <a:cs typeface="M PLUS 1p"/>
                <a:sym typeface="M PLUS 1p"/>
              </a:rPr>
              <a:t>に限定</a:t>
            </a:r>
            <a:endParaRPr sz="800">
              <a:solidFill>
                <a:srgbClr val="1F1F1F"/>
              </a:solidFill>
              <a:latin typeface="M PLUS 1p"/>
              <a:ea typeface="M PLUS 1p"/>
              <a:cs typeface="M PLUS 1p"/>
              <a:sym typeface="M PLUS 1p"/>
            </a:endParaRPr>
          </a:p>
          <a:p>
            <a:pPr indent="0" lvl="0" marL="0" rtl="0" algn="l">
              <a:lnSpc>
                <a:spcPct val="120000"/>
              </a:lnSpc>
              <a:spcBef>
                <a:spcPts val="0"/>
              </a:spcBef>
              <a:spcAft>
                <a:spcPts val="0"/>
              </a:spcAft>
              <a:buNone/>
            </a:pPr>
            <a:r>
              <a:rPr lang="ja" sz="800">
                <a:solidFill>
                  <a:srgbClr val="1F1F1F"/>
                </a:solidFill>
                <a:latin typeface="M PLUS 1p"/>
                <a:ea typeface="M PLUS 1p"/>
                <a:cs typeface="M PLUS 1p"/>
                <a:sym typeface="M PLUS 1p"/>
              </a:rPr>
              <a:t>※掲載は募集日をベースに判定</a:t>
            </a:r>
            <a:endParaRPr sz="800">
              <a:solidFill>
                <a:srgbClr val="1F1F1F"/>
              </a:solidFill>
              <a:latin typeface="M PLUS 1p"/>
              <a:ea typeface="M PLUS 1p"/>
              <a:cs typeface="M PLUS 1p"/>
              <a:sym typeface="M PLUS 1p"/>
            </a:endParaRPr>
          </a:p>
        </p:txBody>
      </p:sp>
      <p:sp>
        <p:nvSpPr>
          <p:cNvPr id="243" name="Google Shape;243;p21"/>
          <p:cNvSpPr/>
          <p:nvPr/>
        </p:nvSpPr>
        <p:spPr>
          <a:xfrm>
            <a:off x="342900" y="365275"/>
            <a:ext cx="342900" cy="342900"/>
          </a:xfrm>
          <a:prstGeom prst="ellipse">
            <a:avLst/>
          </a:prstGeom>
          <a:solidFill>
            <a:srgbClr val="5BBB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21"/>
          <p:cNvSpPr txBox="1"/>
          <p:nvPr/>
        </p:nvSpPr>
        <p:spPr>
          <a:xfrm>
            <a:off x="387600" y="335450"/>
            <a:ext cx="298200" cy="30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300">
                <a:solidFill>
                  <a:srgbClr val="FFFFFF"/>
                </a:solidFill>
                <a:latin typeface="Zen Kaku Gothic New"/>
                <a:ea typeface="Zen Kaku Gothic New"/>
                <a:cs typeface="Zen Kaku Gothic New"/>
                <a:sym typeface="Zen Kaku Gothic New"/>
              </a:rPr>
              <a:t>3</a:t>
            </a:r>
            <a:endParaRPr b="1" sz="1300">
              <a:solidFill>
                <a:srgbClr val="FFFFFF"/>
              </a:solidFill>
              <a:latin typeface="Zen Kaku Gothic New"/>
              <a:ea typeface="Zen Kaku Gothic New"/>
              <a:cs typeface="Zen Kaku Gothic New"/>
              <a:sym typeface="Zen Kaku Gothic New"/>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8" name="Shape 248"/>
        <p:cNvGrpSpPr/>
        <p:nvPr/>
      </p:nvGrpSpPr>
      <p:grpSpPr>
        <a:xfrm>
          <a:off x="0" y="0"/>
          <a:ext cx="0" cy="0"/>
          <a:chOff x="0" y="0"/>
          <a:chExt cx="0" cy="0"/>
        </a:xfrm>
      </p:grpSpPr>
      <p:sp>
        <p:nvSpPr>
          <p:cNvPr id="249" name="Google Shape;249;p22"/>
          <p:cNvSpPr txBox="1"/>
          <p:nvPr/>
        </p:nvSpPr>
        <p:spPr>
          <a:xfrm>
            <a:off x="8136000" y="104275"/>
            <a:ext cx="916800" cy="190200"/>
          </a:xfrm>
          <a:prstGeom prst="rect">
            <a:avLst/>
          </a:prstGeom>
          <a:solidFill>
            <a:srgbClr val="DC0451"/>
          </a:solidFill>
          <a:ln>
            <a:noFill/>
          </a:ln>
        </p:spPr>
        <p:txBody>
          <a:bodyPr anchorCtr="0" anchor="t" bIns="91425" lIns="91425" spcFirstLastPara="1" rIns="91425" wrap="square" tIns="91425">
            <a:noAutofit/>
          </a:bodyPr>
          <a:lstStyle/>
          <a:p>
            <a:pPr indent="0" lvl="0" marL="0" rtl="0" algn="ctr">
              <a:lnSpc>
                <a:spcPct val="50000"/>
              </a:lnSpc>
              <a:spcBef>
                <a:spcPts val="0"/>
              </a:spcBef>
              <a:spcAft>
                <a:spcPts val="0"/>
              </a:spcAft>
              <a:buNone/>
            </a:pPr>
            <a:r>
              <a:rPr b="1" lang="ja" sz="700">
                <a:solidFill>
                  <a:srgbClr val="FFFFFF"/>
                </a:solidFill>
                <a:latin typeface="M PLUS 1p"/>
                <a:ea typeface="M PLUS 1p"/>
                <a:cs typeface="M PLUS 1p"/>
                <a:sym typeface="M PLUS 1p"/>
              </a:rPr>
              <a:t>CONFIDENTIAL</a:t>
            </a:r>
            <a:endParaRPr b="1" sz="700">
              <a:solidFill>
                <a:srgbClr val="FFFFFF"/>
              </a:solidFill>
              <a:latin typeface="M PLUS 1p"/>
              <a:ea typeface="M PLUS 1p"/>
              <a:cs typeface="M PLUS 1p"/>
              <a:sym typeface="M PLUS 1p"/>
            </a:endParaRPr>
          </a:p>
        </p:txBody>
      </p:sp>
      <p:sp>
        <p:nvSpPr>
          <p:cNvPr id="250" name="Google Shape;250;p2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251" name="Google Shape;251;p22"/>
          <p:cNvSpPr txBox="1"/>
          <p:nvPr/>
        </p:nvSpPr>
        <p:spPr>
          <a:xfrm>
            <a:off x="712300" y="294475"/>
            <a:ext cx="7710000" cy="48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2000">
                <a:solidFill>
                  <a:srgbClr val="1F1F1F"/>
                </a:solidFill>
                <a:latin typeface="M PLUS 1p"/>
                <a:ea typeface="M PLUS 1p"/>
                <a:cs typeface="M PLUS 1p"/>
                <a:sym typeface="M PLUS 1p"/>
              </a:rPr>
              <a:t>全体像の把握(結果と解釈)</a:t>
            </a:r>
            <a:endParaRPr b="1" sz="2000">
              <a:solidFill>
                <a:srgbClr val="1F1F1F"/>
              </a:solidFill>
              <a:latin typeface="M PLUS 1p"/>
              <a:ea typeface="M PLUS 1p"/>
              <a:cs typeface="M PLUS 1p"/>
              <a:sym typeface="M PLUS 1p"/>
            </a:endParaRPr>
          </a:p>
        </p:txBody>
      </p:sp>
      <p:sp>
        <p:nvSpPr>
          <p:cNvPr id="252" name="Google Shape;252;p22"/>
          <p:cNvSpPr txBox="1"/>
          <p:nvPr/>
        </p:nvSpPr>
        <p:spPr>
          <a:xfrm>
            <a:off x="342900" y="778975"/>
            <a:ext cx="8620500" cy="648300"/>
          </a:xfrm>
          <a:prstGeom prst="rect">
            <a:avLst/>
          </a:prstGeom>
          <a:noFill/>
          <a:ln>
            <a:noFill/>
          </a:ln>
        </p:spPr>
        <p:txBody>
          <a:bodyPr anchorCtr="0" anchor="t" bIns="91425" lIns="91425" spcFirstLastPara="1" rIns="91425" wrap="square" tIns="91425">
            <a:noAutofit/>
          </a:bodyPr>
          <a:lstStyle/>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セグメントごとの</a:t>
            </a:r>
            <a:r>
              <a:rPr lang="ja" sz="1600">
                <a:solidFill>
                  <a:srgbClr val="1F1F1F"/>
                </a:solidFill>
                <a:latin typeface="M PLUS 1p"/>
                <a:ea typeface="M PLUS 1p"/>
                <a:cs typeface="M PLUS 1p"/>
                <a:sym typeface="M PLUS 1p"/>
              </a:rPr>
              <a:t>4〜12ヶ月目</a:t>
            </a:r>
            <a:r>
              <a:rPr lang="ja" sz="1600">
                <a:solidFill>
                  <a:srgbClr val="1F1F1F"/>
                </a:solidFill>
                <a:latin typeface="M PLUS 1p"/>
                <a:ea typeface="M PLUS 1p"/>
                <a:cs typeface="M PLUS 1p"/>
                <a:sym typeface="M PLUS 1p"/>
              </a:rPr>
              <a:t>の9ヶ月間におけるAA月数の店舗構成比を可視化</a:t>
            </a:r>
            <a:endParaRPr sz="1600">
              <a:solidFill>
                <a:srgbClr val="1F1F1F"/>
              </a:solidFill>
              <a:latin typeface="M PLUS 1p"/>
              <a:ea typeface="M PLUS 1p"/>
              <a:cs typeface="M PLUS 1p"/>
              <a:sym typeface="M PLUS 1p"/>
            </a:endParaRPr>
          </a:p>
        </p:txBody>
      </p:sp>
      <p:sp>
        <p:nvSpPr>
          <p:cNvPr id="253" name="Google Shape;253;p22"/>
          <p:cNvSpPr txBox="1"/>
          <p:nvPr/>
        </p:nvSpPr>
        <p:spPr>
          <a:xfrm>
            <a:off x="6067025" y="2046300"/>
            <a:ext cx="15957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sp>
        <p:nvSpPr>
          <p:cNvPr id="254" name="Google Shape;254;p22"/>
          <p:cNvSpPr txBox="1"/>
          <p:nvPr/>
        </p:nvSpPr>
        <p:spPr>
          <a:xfrm>
            <a:off x="4862925" y="2199775"/>
            <a:ext cx="5051700" cy="3936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None/>
            </a:pPr>
            <a:r>
              <a:rPr lang="ja" sz="1200">
                <a:solidFill>
                  <a:srgbClr val="1F1F1F"/>
                </a:solidFill>
                <a:latin typeface="M PLUS 1p"/>
                <a:ea typeface="M PLUS 1p"/>
                <a:cs typeface="M PLUS 1p"/>
                <a:sym typeface="M PLUS 1p"/>
              </a:rPr>
              <a:t>9ヶ月利用の割合が最も多い。理想的なAA継続</a:t>
            </a:r>
            <a:endParaRPr sz="1200">
              <a:solidFill>
                <a:srgbClr val="1F1F1F"/>
              </a:solidFill>
              <a:latin typeface="M PLUS 1p"/>
              <a:ea typeface="M PLUS 1p"/>
              <a:cs typeface="M PLUS 1p"/>
              <a:sym typeface="M PLUS 1p"/>
            </a:endParaRPr>
          </a:p>
        </p:txBody>
      </p:sp>
      <p:sp>
        <p:nvSpPr>
          <p:cNvPr id="255" name="Google Shape;255;p22"/>
          <p:cNvSpPr txBox="1"/>
          <p:nvPr/>
        </p:nvSpPr>
        <p:spPr>
          <a:xfrm>
            <a:off x="4880850" y="3260675"/>
            <a:ext cx="5051700" cy="3936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None/>
            </a:pPr>
            <a:r>
              <a:rPr lang="ja" sz="1200">
                <a:solidFill>
                  <a:srgbClr val="1F1F1F"/>
                </a:solidFill>
                <a:latin typeface="M PLUS 1p"/>
                <a:ea typeface="M PLUS 1p"/>
                <a:cs typeface="M PLUS 1p"/>
                <a:sym typeface="M PLUS 1p"/>
              </a:rPr>
              <a:t>4ヶ月以降は離脱する傾向が強い</a:t>
            </a:r>
            <a:endParaRPr sz="1200">
              <a:solidFill>
                <a:srgbClr val="1F1F1F"/>
              </a:solidFill>
              <a:latin typeface="M PLUS 1p"/>
              <a:ea typeface="M PLUS 1p"/>
              <a:cs typeface="M PLUS 1p"/>
              <a:sym typeface="M PLUS 1p"/>
            </a:endParaRPr>
          </a:p>
        </p:txBody>
      </p:sp>
      <p:sp>
        <p:nvSpPr>
          <p:cNvPr id="256" name="Google Shape;256;p22"/>
          <p:cNvSpPr txBox="1"/>
          <p:nvPr/>
        </p:nvSpPr>
        <p:spPr>
          <a:xfrm>
            <a:off x="4862925" y="2730213"/>
            <a:ext cx="5051700" cy="3936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None/>
            </a:pPr>
            <a:r>
              <a:rPr lang="ja" sz="1200">
                <a:solidFill>
                  <a:srgbClr val="1F1F1F"/>
                </a:solidFill>
                <a:latin typeface="M PLUS 1p"/>
                <a:ea typeface="M PLUS 1p"/>
                <a:cs typeface="M PLUS 1p"/>
                <a:sym typeface="M PLUS 1p"/>
              </a:rPr>
              <a:t>AA月数にばらつきがある。スポット利用の可能性あり</a:t>
            </a:r>
            <a:endParaRPr sz="1200">
              <a:solidFill>
                <a:srgbClr val="1F1F1F"/>
              </a:solidFill>
              <a:latin typeface="M PLUS 1p"/>
              <a:ea typeface="M PLUS 1p"/>
              <a:cs typeface="M PLUS 1p"/>
              <a:sym typeface="M PLUS 1p"/>
            </a:endParaRPr>
          </a:p>
        </p:txBody>
      </p:sp>
      <p:sp>
        <p:nvSpPr>
          <p:cNvPr id="257" name="Google Shape;257;p22"/>
          <p:cNvSpPr txBox="1"/>
          <p:nvPr/>
        </p:nvSpPr>
        <p:spPr>
          <a:xfrm>
            <a:off x="4862925" y="3807725"/>
            <a:ext cx="5051700" cy="3936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None/>
            </a:pPr>
            <a:r>
              <a:rPr lang="ja" sz="1200">
                <a:solidFill>
                  <a:srgbClr val="1F1F1F"/>
                </a:solidFill>
                <a:latin typeface="M PLUS 1p"/>
                <a:ea typeface="M PLUS 1p"/>
                <a:cs typeface="M PLUS 1p"/>
                <a:sym typeface="M PLUS 1p"/>
              </a:rPr>
              <a:t>2ヶ月離脱した後は7割戻ってこない。一番避けたいパターン</a:t>
            </a:r>
            <a:endParaRPr sz="1200">
              <a:solidFill>
                <a:srgbClr val="1F1F1F"/>
              </a:solidFill>
              <a:latin typeface="M PLUS 1p"/>
              <a:ea typeface="M PLUS 1p"/>
              <a:cs typeface="M PLUS 1p"/>
              <a:sym typeface="M PLUS 1p"/>
            </a:endParaRPr>
          </a:p>
        </p:txBody>
      </p:sp>
      <p:sp>
        <p:nvSpPr>
          <p:cNvPr id="258" name="Google Shape;258;p22"/>
          <p:cNvSpPr/>
          <p:nvPr/>
        </p:nvSpPr>
        <p:spPr>
          <a:xfrm>
            <a:off x="4469325" y="2314275"/>
            <a:ext cx="393600" cy="1902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9" name="Google Shape;259;p22"/>
          <p:cNvSpPr/>
          <p:nvPr/>
        </p:nvSpPr>
        <p:spPr>
          <a:xfrm>
            <a:off x="4469325" y="3355225"/>
            <a:ext cx="393600" cy="1902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0" name="Google Shape;260;p22"/>
          <p:cNvSpPr/>
          <p:nvPr/>
        </p:nvSpPr>
        <p:spPr>
          <a:xfrm>
            <a:off x="4469325" y="2804825"/>
            <a:ext cx="393600" cy="1902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1" name="Google Shape;261;p22"/>
          <p:cNvSpPr/>
          <p:nvPr/>
        </p:nvSpPr>
        <p:spPr>
          <a:xfrm>
            <a:off x="4469325" y="3902275"/>
            <a:ext cx="393600" cy="1902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62" name="Google Shape;262;p22" title="グラフ"/>
          <p:cNvPicPr preferRelativeResize="0"/>
          <p:nvPr/>
        </p:nvPicPr>
        <p:blipFill>
          <a:blip r:embed="rId3">
            <a:alphaModFix/>
          </a:blip>
          <a:stretch>
            <a:fillRect/>
          </a:stretch>
        </p:blipFill>
        <p:spPr>
          <a:xfrm>
            <a:off x="203738" y="1498075"/>
            <a:ext cx="4164525" cy="3097580"/>
          </a:xfrm>
          <a:prstGeom prst="rect">
            <a:avLst/>
          </a:prstGeom>
          <a:noFill/>
          <a:ln>
            <a:noFill/>
          </a:ln>
        </p:spPr>
      </p:pic>
      <p:sp>
        <p:nvSpPr>
          <p:cNvPr id="263" name="Google Shape;263;p22"/>
          <p:cNvSpPr txBox="1"/>
          <p:nvPr/>
        </p:nvSpPr>
        <p:spPr>
          <a:xfrm>
            <a:off x="387600" y="4396175"/>
            <a:ext cx="7710000" cy="5592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None/>
            </a:pPr>
            <a:r>
              <a:rPr lang="ja" sz="800">
                <a:solidFill>
                  <a:srgbClr val="1F1F1F"/>
                </a:solidFill>
                <a:latin typeface="M PLUS 1p"/>
                <a:ea typeface="M PLUS 1p"/>
                <a:cs typeface="M PLUS 1p"/>
                <a:sym typeface="M PLUS 1p"/>
              </a:rPr>
              <a:t>※2023/05〜2024/05に初回の仕事開始した</a:t>
            </a:r>
            <a:r>
              <a:rPr lang="ja" sz="800">
                <a:solidFill>
                  <a:srgbClr val="1F1F1F"/>
                </a:solidFill>
                <a:latin typeface="M PLUS 1p"/>
                <a:ea typeface="M PLUS 1p"/>
                <a:cs typeface="M PLUS 1p"/>
                <a:sym typeface="M PLUS 1p"/>
              </a:rPr>
              <a:t>店舗</a:t>
            </a:r>
            <a:r>
              <a:rPr lang="ja" sz="800">
                <a:solidFill>
                  <a:srgbClr val="1F1F1F"/>
                </a:solidFill>
                <a:latin typeface="M PLUS 1p"/>
                <a:ea typeface="M PLUS 1p"/>
                <a:cs typeface="M PLUS 1p"/>
                <a:sym typeface="M PLUS 1p"/>
              </a:rPr>
              <a:t>に限定</a:t>
            </a:r>
            <a:endParaRPr sz="800">
              <a:solidFill>
                <a:srgbClr val="1F1F1F"/>
              </a:solidFill>
              <a:latin typeface="M PLUS 1p"/>
              <a:ea typeface="M PLUS 1p"/>
              <a:cs typeface="M PLUS 1p"/>
              <a:sym typeface="M PLUS 1p"/>
            </a:endParaRPr>
          </a:p>
        </p:txBody>
      </p:sp>
      <p:sp>
        <p:nvSpPr>
          <p:cNvPr id="264" name="Google Shape;264;p22"/>
          <p:cNvSpPr/>
          <p:nvPr/>
        </p:nvSpPr>
        <p:spPr>
          <a:xfrm>
            <a:off x="342900" y="365275"/>
            <a:ext cx="342900" cy="342900"/>
          </a:xfrm>
          <a:prstGeom prst="ellipse">
            <a:avLst/>
          </a:prstGeom>
          <a:solidFill>
            <a:srgbClr val="5BBBB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22"/>
          <p:cNvSpPr txBox="1"/>
          <p:nvPr/>
        </p:nvSpPr>
        <p:spPr>
          <a:xfrm>
            <a:off x="387600" y="335450"/>
            <a:ext cx="298200" cy="30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300">
                <a:solidFill>
                  <a:srgbClr val="FFFFFF"/>
                </a:solidFill>
                <a:latin typeface="Zen Kaku Gothic New"/>
                <a:ea typeface="Zen Kaku Gothic New"/>
                <a:cs typeface="Zen Kaku Gothic New"/>
                <a:sym typeface="Zen Kaku Gothic New"/>
              </a:rPr>
              <a:t>4</a:t>
            </a:r>
            <a:endParaRPr b="1" sz="1300">
              <a:solidFill>
                <a:srgbClr val="FFFFFF"/>
              </a:solidFill>
              <a:latin typeface="Zen Kaku Gothic New"/>
              <a:ea typeface="Zen Kaku Gothic New"/>
              <a:cs typeface="Zen Kaku Gothic New"/>
              <a:sym typeface="Zen Kaku Gothic New"/>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C0451"/>
        </a:solidFill>
      </p:bgPr>
    </p:bg>
    <p:spTree>
      <p:nvGrpSpPr>
        <p:cNvPr id="269" name="Shape 269"/>
        <p:cNvGrpSpPr/>
        <p:nvPr/>
      </p:nvGrpSpPr>
      <p:grpSpPr>
        <a:xfrm>
          <a:off x="0" y="0"/>
          <a:ext cx="0" cy="0"/>
          <a:chOff x="0" y="0"/>
          <a:chExt cx="0" cy="0"/>
        </a:xfrm>
      </p:grpSpPr>
      <p:sp>
        <p:nvSpPr>
          <p:cNvPr id="270" name="Google Shape;270;p23"/>
          <p:cNvSpPr txBox="1"/>
          <p:nvPr/>
        </p:nvSpPr>
        <p:spPr>
          <a:xfrm>
            <a:off x="656400" y="2066175"/>
            <a:ext cx="7831200" cy="742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ja" sz="3200">
                <a:solidFill>
                  <a:schemeClr val="lt1"/>
                </a:solidFill>
                <a:latin typeface="M PLUS 1p"/>
                <a:ea typeface="M PLUS 1p"/>
                <a:cs typeface="M PLUS 1p"/>
                <a:sym typeface="M PLUS 1p"/>
              </a:rPr>
              <a:t>今回実施した分析</a:t>
            </a:r>
            <a:endParaRPr b="1" sz="3200">
              <a:solidFill>
                <a:schemeClr val="lt1"/>
              </a:solidFill>
              <a:latin typeface="M PLUS 1p"/>
              <a:ea typeface="M PLUS 1p"/>
              <a:cs typeface="M PLUS 1p"/>
              <a:sym typeface="M PLUS 1p"/>
            </a:endParaRPr>
          </a:p>
        </p:txBody>
      </p:sp>
      <p:sp>
        <p:nvSpPr>
          <p:cNvPr id="271" name="Google Shape;271;p2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5" name="Shape 275"/>
        <p:cNvGrpSpPr/>
        <p:nvPr/>
      </p:nvGrpSpPr>
      <p:grpSpPr>
        <a:xfrm>
          <a:off x="0" y="0"/>
          <a:ext cx="0" cy="0"/>
          <a:chOff x="0" y="0"/>
          <a:chExt cx="0" cy="0"/>
        </a:xfrm>
      </p:grpSpPr>
      <p:sp>
        <p:nvSpPr>
          <p:cNvPr id="276" name="Google Shape;276;p24"/>
          <p:cNvSpPr/>
          <p:nvPr/>
        </p:nvSpPr>
        <p:spPr>
          <a:xfrm>
            <a:off x="342900" y="365275"/>
            <a:ext cx="342900" cy="342900"/>
          </a:xfrm>
          <a:prstGeom prst="ellipse">
            <a:avLst/>
          </a:prstGeom>
          <a:solidFill>
            <a:srgbClr val="DC04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24"/>
          <p:cNvSpPr txBox="1"/>
          <p:nvPr/>
        </p:nvSpPr>
        <p:spPr>
          <a:xfrm>
            <a:off x="387600" y="335450"/>
            <a:ext cx="298200" cy="30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300">
                <a:solidFill>
                  <a:srgbClr val="FFFFFF"/>
                </a:solidFill>
                <a:latin typeface="Zen Kaku Gothic New"/>
                <a:ea typeface="Zen Kaku Gothic New"/>
                <a:cs typeface="Zen Kaku Gothic New"/>
                <a:sym typeface="Zen Kaku Gothic New"/>
              </a:rPr>
              <a:t>1</a:t>
            </a:r>
            <a:endParaRPr b="1" sz="1300">
              <a:solidFill>
                <a:srgbClr val="FFFFFF"/>
              </a:solidFill>
              <a:latin typeface="Zen Kaku Gothic New"/>
              <a:ea typeface="Zen Kaku Gothic New"/>
              <a:cs typeface="Zen Kaku Gothic New"/>
              <a:sym typeface="Zen Kaku Gothic New"/>
            </a:endParaRPr>
          </a:p>
        </p:txBody>
      </p:sp>
      <p:sp>
        <p:nvSpPr>
          <p:cNvPr id="278" name="Google Shape;278;p24"/>
          <p:cNvSpPr txBox="1"/>
          <p:nvPr/>
        </p:nvSpPr>
        <p:spPr>
          <a:xfrm>
            <a:off x="712300" y="294475"/>
            <a:ext cx="7710000" cy="48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2000">
                <a:solidFill>
                  <a:srgbClr val="1F1F1F"/>
                </a:solidFill>
                <a:latin typeface="M PLUS 1p"/>
                <a:ea typeface="M PLUS 1p"/>
                <a:cs typeface="M PLUS 1p"/>
                <a:sym typeface="M PLUS 1p"/>
              </a:rPr>
              <a:t>「3ヶ月連続掲載」に関する現象の全体像（データは</a:t>
            </a:r>
            <a:r>
              <a:rPr b="1" lang="ja" sz="2000" u="sng">
                <a:solidFill>
                  <a:schemeClr val="hlink"/>
                </a:solidFill>
                <a:latin typeface="M PLUS 1p"/>
                <a:ea typeface="M PLUS 1p"/>
                <a:cs typeface="M PLUS 1p"/>
                <a:sym typeface="M PLUS 1p"/>
                <a:hlinkClick action="ppaction://hlinksldjump" r:id="rId3"/>
              </a:rPr>
              <a:t>後述</a:t>
            </a:r>
            <a:r>
              <a:rPr b="1" lang="ja" sz="2000">
                <a:solidFill>
                  <a:srgbClr val="1F1F1F"/>
                </a:solidFill>
                <a:latin typeface="M PLUS 1p"/>
                <a:ea typeface="M PLUS 1p"/>
                <a:cs typeface="M PLUS 1p"/>
                <a:sym typeface="M PLUS 1p"/>
              </a:rPr>
              <a:t>）</a:t>
            </a:r>
            <a:endParaRPr b="1" sz="2000">
              <a:solidFill>
                <a:srgbClr val="1F1F1F"/>
              </a:solidFill>
              <a:latin typeface="M PLUS 1p"/>
              <a:ea typeface="M PLUS 1p"/>
              <a:cs typeface="M PLUS 1p"/>
              <a:sym typeface="M PLUS 1p"/>
            </a:endParaRPr>
          </a:p>
        </p:txBody>
      </p:sp>
      <p:sp>
        <p:nvSpPr>
          <p:cNvPr id="279" name="Google Shape;279;p24"/>
          <p:cNvSpPr txBox="1"/>
          <p:nvPr/>
        </p:nvSpPr>
        <p:spPr>
          <a:xfrm>
            <a:off x="8136000" y="104275"/>
            <a:ext cx="916800" cy="190200"/>
          </a:xfrm>
          <a:prstGeom prst="rect">
            <a:avLst/>
          </a:prstGeom>
          <a:solidFill>
            <a:srgbClr val="DC0451"/>
          </a:solidFill>
          <a:ln>
            <a:noFill/>
          </a:ln>
        </p:spPr>
        <p:txBody>
          <a:bodyPr anchorCtr="0" anchor="t" bIns="91425" lIns="91425" spcFirstLastPara="1" rIns="91425" wrap="square" tIns="91425">
            <a:noAutofit/>
          </a:bodyPr>
          <a:lstStyle/>
          <a:p>
            <a:pPr indent="0" lvl="0" marL="0" rtl="0" algn="ctr">
              <a:lnSpc>
                <a:spcPct val="50000"/>
              </a:lnSpc>
              <a:spcBef>
                <a:spcPts val="0"/>
              </a:spcBef>
              <a:spcAft>
                <a:spcPts val="0"/>
              </a:spcAft>
              <a:buNone/>
            </a:pPr>
            <a:r>
              <a:rPr b="1" lang="ja" sz="700">
                <a:solidFill>
                  <a:srgbClr val="FFFFFF"/>
                </a:solidFill>
                <a:latin typeface="M PLUS 1p"/>
                <a:ea typeface="M PLUS 1p"/>
                <a:cs typeface="M PLUS 1p"/>
                <a:sym typeface="M PLUS 1p"/>
              </a:rPr>
              <a:t>CONFIDENTIAL</a:t>
            </a:r>
            <a:endParaRPr b="1" sz="700">
              <a:solidFill>
                <a:srgbClr val="FFFFFF"/>
              </a:solidFill>
              <a:latin typeface="M PLUS 1p"/>
              <a:ea typeface="M PLUS 1p"/>
              <a:cs typeface="M PLUS 1p"/>
              <a:sym typeface="M PLUS 1p"/>
            </a:endParaRPr>
          </a:p>
        </p:txBody>
      </p:sp>
      <p:sp>
        <p:nvSpPr>
          <p:cNvPr id="280" name="Google Shape;280;p2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281" name="Google Shape;281;p24"/>
          <p:cNvSpPr txBox="1"/>
          <p:nvPr/>
        </p:nvSpPr>
        <p:spPr>
          <a:xfrm>
            <a:off x="506525" y="2601663"/>
            <a:ext cx="1551900" cy="7650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1200">
                <a:solidFill>
                  <a:srgbClr val="1F1F1F"/>
                </a:solidFill>
                <a:latin typeface="M PLUS 1p"/>
                <a:ea typeface="M PLUS 1p"/>
                <a:cs typeface="M PLUS 1p"/>
                <a:sym typeface="M PLUS 1p"/>
              </a:rPr>
              <a:t>利用開始</a:t>
            </a:r>
            <a:endParaRPr sz="1200">
              <a:solidFill>
                <a:srgbClr val="1F1F1F"/>
              </a:solidFill>
              <a:latin typeface="M PLUS 1p"/>
              <a:ea typeface="M PLUS 1p"/>
              <a:cs typeface="M PLUS 1p"/>
              <a:sym typeface="M PLUS 1p"/>
            </a:endParaRPr>
          </a:p>
        </p:txBody>
      </p:sp>
      <p:sp>
        <p:nvSpPr>
          <p:cNvPr id="282" name="Google Shape;282;p24"/>
          <p:cNvSpPr txBox="1"/>
          <p:nvPr/>
        </p:nvSpPr>
        <p:spPr>
          <a:xfrm>
            <a:off x="2768272" y="1562088"/>
            <a:ext cx="1551900" cy="7650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1200">
                <a:solidFill>
                  <a:srgbClr val="1F1F1F"/>
                </a:solidFill>
                <a:latin typeface="M PLUS 1p"/>
                <a:ea typeface="M PLUS 1p"/>
                <a:cs typeface="M PLUS 1p"/>
                <a:sym typeface="M PLUS 1p"/>
              </a:rPr>
              <a:t>3ヶ月連続</a:t>
            </a:r>
            <a:endParaRPr sz="1200">
              <a:solidFill>
                <a:srgbClr val="1F1F1F"/>
              </a:solidFill>
              <a:latin typeface="M PLUS 1p"/>
              <a:ea typeface="M PLUS 1p"/>
              <a:cs typeface="M PLUS 1p"/>
              <a:sym typeface="M PLUS 1p"/>
            </a:endParaRPr>
          </a:p>
          <a:p>
            <a:pPr indent="0" lvl="0" marL="0" rtl="0" algn="ctr">
              <a:spcBef>
                <a:spcPts val="0"/>
              </a:spcBef>
              <a:spcAft>
                <a:spcPts val="0"/>
              </a:spcAft>
              <a:buNone/>
            </a:pPr>
            <a:r>
              <a:rPr lang="ja" sz="1200">
                <a:solidFill>
                  <a:srgbClr val="1F1F1F"/>
                </a:solidFill>
                <a:latin typeface="M PLUS 1p"/>
                <a:ea typeface="M PLUS 1p"/>
                <a:cs typeface="M PLUS 1p"/>
                <a:sym typeface="M PLUS 1p"/>
              </a:rPr>
              <a:t>掲載する</a:t>
            </a:r>
            <a:endParaRPr sz="1200">
              <a:solidFill>
                <a:srgbClr val="1F1F1F"/>
              </a:solidFill>
              <a:latin typeface="M PLUS 1p"/>
              <a:ea typeface="M PLUS 1p"/>
              <a:cs typeface="M PLUS 1p"/>
              <a:sym typeface="M PLUS 1p"/>
            </a:endParaRPr>
          </a:p>
        </p:txBody>
      </p:sp>
      <p:sp>
        <p:nvSpPr>
          <p:cNvPr id="283" name="Google Shape;283;p24"/>
          <p:cNvSpPr txBox="1"/>
          <p:nvPr/>
        </p:nvSpPr>
        <p:spPr>
          <a:xfrm>
            <a:off x="2768266" y="3615463"/>
            <a:ext cx="1551900" cy="7650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ja" sz="1200">
                <a:solidFill>
                  <a:srgbClr val="1F1F1F"/>
                </a:solidFill>
                <a:latin typeface="M PLUS 1p"/>
                <a:ea typeface="M PLUS 1p"/>
                <a:cs typeface="M PLUS 1p"/>
                <a:sym typeface="M PLUS 1p"/>
              </a:rPr>
              <a:t>3ヶ月連続掲載せず</a:t>
            </a:r>
            <a:endParaRPr sz="1200">
              <a:solidFill>
                <a:srgbClr val="1F1F1F"/>
              </a:solidFill>
              <a:latin typeface="M PLUS 1p"/>
              <a:ea typeface="M PLUS 1p"/>
              <a:cs typeface="M PLUS 1p"/>
              <a:sym typeface="M PLUS 1p"/>
            </a:endParaRPr>
          </a:p>
          <a:p>
            <a:pPr indent="0" lvl="0" marL="0" rtl="0" algn="ctr">
              <a:spcBef>
                <a:spcPts val="0"/>
              </a:spcBef>
              <a:spcAft>
                <a:spcPts val="0"/>
              </a:spcAft>
              <a:buNone/>
            </a:pPr>
            <a:r>
              <a:rPr lang="ja" sz="1200">
                <a:solidFill>
                  <a:srgbClr val="1F1F1F"/>
                </a:solidFill>
                <a:latin typeface="M PLUS 1p"/>
                <a:ea typeface="M PLUS 1p"/>
                <a:cs typeface="M PLUS 1p"/>
                <a:sym typeface="M PLUS 1p"/>
              </a:rPr>
              <a:t>離脱する</a:t>
            </a:r>
            <a:endParaRPr sz="1200">
              <a:solidFill>
                <a:srgbClr val="1F1F1F"/>
              </a:solidFill>
              <a:latin typeface="M PLUS 1p"/>
              <a:ea typeface="M PLUS 1p"/>
              <a:cs typeface="M PLUS 1p"/>
              <a:sym typeface="M PLUS 1p"/>
            </a:endParaRPr>
          </a:p>
        </p:txBody>
      </p:sp>
      <p:sp>
        <p:nvSpPr>
          <p:cNvPr id="284" name="Google Shape;284;p24"/>
          <p:cNvSpPr txBox="1"/>
          <p:nvPr/>
        </p:nvSpPr>
        <p:spPr>
          <a:xfrm>
            <a:off x="5030015" y="3185263"/>
            <a:ext cx="1551900" cy="7650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1200">
                <a:solidFill>
                  <a:srgbClr val="1F1F1F"/>
                </a:solidFill>
                <a:latin typeface="M PLUS 1p"/>
                <a:ea typeface="M PLUS 1p"/>
                <a:cs typeface="M PLUS 1p"/>
                <a:sym typeface="M PLUS 1p"/>
              </a:rPr>
              <a:t>復活する</a:t>
            </a:r>
            <a:endParaRPr sz="1200">
              <a:solidFill>
                <a:srgbClr val="1F1F1F"/>
              </a:solidFill>
              <a:latin typeface="M PLUS 1p"/>
              <a:ea typeface="M PLUS 1p"/>
              <a:cs typeface="M PLUS 1p"/>
              <a:sym typeface="M PLUS 1p"/>
            </a:endParaRPr>
          </a:p>
        </p:txBody>
      </p:sp>
      <p:sp>
        <p:nvSpPr>
          <p:cNvPr id="285" name="Google Shape;285;p24"/>
          <p:cNvSpPr txBox="1"/>
          <p:nvPr/>
        </p:nvSpPr>
        <p:spPr>
          <a:xfrm>
            <a:off x="5030015" y="4145438"/>
            <a:ext cx="1551900" cy="7650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1200">
                <a:solidFill>
                  <a:srgbClr val="1F1F1F"/>
                </a:solidFill>
                <a:latin typeface="M PLUS 1p"/>
                <a:ea typeface="M PLUS 1p"/>
                <a:cs typeface="M PLUS 1p"/>
                <a:sym typeface="M PLUS 1p"/>
              </a:rPr>
              <a:t>復活しない</a:t>
            </a:r>
            <a:endParaRPr sz="1200">
              <a:solidFill>
                <a:srgbClr val="1F1F1F"/>
              </a:solidFill>
              <a:latin typeface="M PLUS 1p"/>
              <a:ea typeface="M PLUS 1p"/>
              <a:cs typeface="M PLUS 1p"/>
              <a:sym typeface="M PLUS 1p"/>
            </a:endParaRPr>
          </a:p>
        </p:txBody>
      </p:sp>
      <p:sp>
        <p:nvSpPr>
          <p:cNvPr id="286" name="Google Shape;286;p24"/>
          <p:cNvSpPr txBox="1"/>
          <p:nvPr/>
        </p:nvSpPr>
        <p:spPr>
          <a:xfrm>
            <a:off x="5030018" y="1084663"/>
            <a:ext cx="1551900" cy="7650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1200">
                <a:solidFill>
                  <a:srgbClr val="1F1F1F"/>
                </a:solidFill>
                <a:latin typeface="M PLUS 1p"/>
                <a:ea typeface="M PLUS 1p"/>
                <a:cs typeface="M PLUS 1p"/>
                <a:sym typeface="M PLUS 1p"/>
              </a:rPr>
              <a:t>中長期的に</a:t>
            </a:r>
            <a:endParaRPr sz="1200">
              <a:solidFill>
                <a:srgbClr val="1F1F1F"/>
              </a:solidFill>
              <a:latin typeface="M PLUS 1p"/>
              <a:ea typeface="M PLUS 1p"/>
              <a:cs typeface="M PLUS 1p"/>
              <a:sym typeface="M PLUS 1p"/>
            </a:endParaRPr>
          </a:p>
          <a:p>
            <a:pPr indent="0" lvl="0" marL="0" rtl="0" algn="ctr">
              <a:spcBef>
                <a:spcPts val="0"/>
              </a:spcBef>
              <a:spcAft>
                <a:spcPts val="0"/>
              </a:spcAft>
              <a:buNone/>
            </a:pPr>
            <a:r>
              <a:rPr lang="ja" sz="1200">
                <a:solidFill>
                  <a:srgbClr val="1F1F1F"/>
                </a:solidFill>
                <a:latin typeface="M PLUS 1p"/>
                <a:ea typeface="M PLUS 1p"/>
                <a:cs typeface="M PLUS 1p"/>
                <a:sym typeface="M PLUS 1p"/>
              </a:rPr>
              <a:t>継続する</a:t>
            </a:r>
            <a:endParaRPr sz="1200">
              <a:solidFill>
                <a:srgbClr val="1F1F1F"/>
              </a:solidFill>
              <a:latin typeface="M PLUS 1p"/>
              <a:ea typeface="M PLUS 1p"/>
              <a:cs typeface="M PLUS 1p"/>
              <a:sym typeface="M PLUS 1p"/>
            </a:endParaRPr>
          </a:p>
        </p:txBody>
      </p:sp>
      <p:sp>
        <p:nvSpPr>
          <p:cNvPr id="287" name="Google Shape;287;p24"/>
          <p:cNvSpPr txBox="1"/>
          <p:nvPr/>
        </p:nvSpPr>
        <p:spPr>
          <a:xfrm>
            <a:off x="5030015" y="2071588"/>
            <a:ext cx="1551900" cy="7650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ja" sz="1200">
                <a:solidFill>
                  <a:srgbClr val="1F1F1F"/>
                </a:solidFill>
                <a:latin typeface="M PLUS 1p"/>
                <a:ea typeface="M PLUS 1p"/>
                <a:cs typeface="M PLUS 1p"/>
                <a:sym typeface="M PLUS 1p"/>
              </a:rPr>
              <a:t>中長期的に</a:t>
            </a:r>
            <a:endParaRPr sz="1200">
              <a:solidFill>
                <a:srgbClr val="1F1F1F"/>
              </a:solidFill>
              <a:latin typeface="M PLUS 1p"/>
              <a:ea typeface="M PLUS 1p"/>
              <a:cs typeface="M PLUS 1p"/>
              <a:sym typeface="M PLUS 1p"/>
            </a:endParaRPr>
          </a:p>
          <a:p>
            <a:pPr indent="0" lvl="0" marL="0" rtl="0" algn="ctr">
              <a:spcBef>
                <a:spcPts val="0"/>
              </a:spcBef>
              <a:spcAft>
                <a:spcPts val="0"/>
              </a:spcAft>
              <a:buNone/>
            </a:pPr>
            <a:r>
              <a:rPr lang="ja" sz="1200">
                <a:solidFill>
                  <a:srgbClr val="1F1F1F"/>
                </a:solidFill>
                <a:latin typeface="M PLUS 1p"/>
                <a:ea typeface="M PLUS 1p"/>
                <a:cs typeface="M PLUS 1p"/>
                <a:sym typeface="M PLUS 1p"/>
              </a:rPr>
              <a:t>継続しない</a:t>
            </a:r>
            <a:endParaRPr sz="1200">
              <a:solidFill>
                <a:srgbClr val="1F1F1F"/>
              </a:solidFill>
              <a:latin typeface="M PLUS 1p"/>
              <a:ea typeface="M PLUS 1p"/>
              <a:cs typeface="M PLUS 1p"/>
              <a:sym typeface="M PLUS 1p"/>
            </a:endParaRPr>
          </a:p>
        </p:txBody>
      </p:sp>
      <p:sp>
        <p:nvSpPr>
          <p:cNvPr id="288" name="Google Shape;288;p24"/>
          <p:cNvSpPr txBox="1"/>
          <p:nvPr/>
        </p:nvSpPr>
        <p:spPr>
          <a:xfrm>
            <a:off x="7291765" y="1562088"/>
            <a:ext cx="1551900" cy="7650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1200">
                <a:solidFill>
                  <a:srgbClr val="1F1F1F"/>
                </a:solidFill>
                <a:latin typeface="M PLUS 1p"/>
                <a:ea typeface="M PLUS 1p"/>
                <a:cs typeface="M PLUS 1p"/>
                <a:sym typeface="M PLUS 1p"/>
              </a:rPr>
              <a:t>復活する</a:t>
            </a:r>
            <a:endParaRPr sz="1200">
              <a:solidFill>
                <a:srgbClr val="1F1F1F"/>
              </a:solidFill>
              <a:latin typeface="M PLUS 1p"/>
              <a:ea typeface="M PLUS 1p"/>
              <a:cs typeface="M PLUS 1p"/>
              <a:sym typeface="M PLUS 1p"/>
            </a:endParaRPr>
          </a:p>
        </p:txBody>
      </p:sp>
      <p:sp>
        <p:nvSpPr>
          <p:cNvPr id="289" name="Google Shape;289;p24"/>
          <p:cNvSpPr txBox="1"/>
          <p:nvPr/>
        </p:nvSpPr>
        <p:spPr>
          <a:xfrm>
            <a:off x="7291765" y="2522263"/>
            <a:ext cx="1551900" cy="7650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1200">
                <a:solidFill>
                  <a:srgbClr val="1F1F1F"/>
                </a:solidFill>
                <a:latin typeface="M PLUS 1p"/>
                <a:ea typeface="M PLUS 1p"/>
                <a:cs typeface="M PLUS 1p"/>
                <a:sym typeface="M PLUS 1p"/>
              </a:rPr>
              <a:t>復活しない</a:t>
            </a:r>
            <a:endParaRPr sz="1200">
              <a:solidFill>
                <a:srgbClr val="1F1F1F"/>
              </a:solidFill>
              <a:latin typeface="M PLUS 1p"/>
              <a:ea typeface="M PLUS 1p"/>
              <a:cs typeface="M PLUS 1p"/>
              <a:sym typeface="M PLUS 1p"/>
            </a:endParaRPr>
          </a:p>
        </p:txBody>
      </p:sp>
      <p:cxnSp>
        <p:nvCxnSpPr>
          <p:cNvPr id="290" name="Google Shape;290;p24"/>
          <p:cNvCxnSpPr>
            <a:stCxn id="281" idx="3"/>
            <a:endCxn id="282" idx="1"/>
          </p:cNvCxnSpPr>
          <p:nvPr/>
        </p:nvCxnSpPr>
        <p:spPr>
          <a:xfrm flipH="1" rot="10800000">
            <a:off x="2058425" y="1944663"/>
            <a:ext cx="709800" cy="1039500"/>
          </a:xfrm>
          <a:prstGeom prst="curvedConnector3">
            <a:avLst>
              <a:gd fmla="val 50003" name="adj1"/>
            </a:avLst>
          </a:prstGeom>
          <a:noFill/>
          <a:ln cap="flat" cmpd="sng" w="9525">
            <a:solidFill>
              <a:schemeClr val="dk2"/>
            </a:solidFill>
            <a:prstDash val="solid"/>
            <a:round/>
            <a:headEnd len="med" w="med" type="none"/>
            <a:tailEnd len="med" w="med" type="triangle"/>
          </a:ln>
        </p:spPr>
      </p:cxnSp>
      <p:cxnSp>
        <p:nvCxnSpPr>
          <p:cNvPr id="291" name="Google Shape;291;p24"/>
          <p:cNvCxnSpPr>
            <a:stCxn id="281" idx="3"/>
            <a:endCxn id="283" idx="1"/>
          </p:cNvCxnSpPr>
          <p:nvPr/>
        </p:nvCxnSpPr>
        <p:spPr>
          <a:xfrm>
            <a:off x="2058425" y="2984163"/>
            <a:ext cx="709800" cy="1013700"/>
          </a:xfrm>
          <a:prstGeom prst="curvedConnector3">
            <a:avLst>
              <a:gd fmla="val 50003" name="adj1"/>
            </a:avLst>
          </a:prstGeom>
          <a:noFill/>
          <a:ln cap="flat" cmpd="sng" w="38100">
            <a:solidFill>
              <a:schemeClr val="dk2"/>
            </a:solidFill>
            <a:prstDash val="solid"/>
            <a:round/>
            <a:headEnd len="med" w="med" type="none"/>
            <a:tailEnd len="med" w="med" type="triangle"/>
          </a:ln>
        </p:spPr>
      </p:cxnSp>
      <p:cxnSp>
        <p:nvCxnSpPr>
          <p:cNvPr id="292" name="Google Shape;292;p24"/>
          <p:cNvCxnSpPr>
            <a:stCxn id="283" idx="3"/>
            <a:endCxn id="285" idx="1"/>
          </p:cNvCxnSpPr>
          <p:nvPr/>
        </p:nvCxnSpPr>
        <p:spPr>
          <a:xfrm>
            <a:off x="4320166" y="3997963"/>
            <a:ext cx="709800" cy="530100"/>
          </a:xfrm>
          <a:prstGeom prst="curvedConnector3">
            <a:avLst>
              <a:gd fmla="val 50003" name="adj1"/>
            </a:avLst>
          </a:prstGeom>
          <a:noFill/>
          <a:ln cap="flat" cmpd="sng" w="38100">
            <a:solidFill>
              <a:schemeClr val="dk2"/>
            </a:solidFill>
            <a:prstDash val="solid"/>
            <a:round/>
            <a:headEnd len="med" w="med" type="none"/>
            <a:tailEnd len="med" w="med" type="triangle"/>
          </a:ln>
        </p:spPr>
      </p:cxnSp>
      <p:cxnSp>
        <p:nvCxnSpPr>
          <p:cNvPr id="293" name="Google Shape;293;p24"/>
          <p:cNvCxnSpPr>
            <a:stCxn id="283" idx="3"/>
            <a:endCxn id="284" idx="1"/>
          </p:cNvCxnSpPr>
          <p:nvPr/>
        </p:nvCxnSpPr>
        <p:spPr>
          <a:xfrm flipH="1" rot="10800000">
            <a:off x="4320166" y="3567763"/>
            <a:ext cx="709800" cy="430200"/>
          </a:xfrm>
          <a:prstGeom prst="curvedConnector3">
            <a:avLst>
              <a:gd fmla="val 50003" name="adj1"/>
            </a:avLst>
          </a:prstGeom>
          <a:noFill/>
          <a:ln cap="flat" cmpd="sng" w="9525">
            <a:solidFill>
              <a:schemeClr val="dk2"/>
            </a:solidFill>
            <a:prstDash val="solid"/>
            <a:round/>
            <a:headEnd len="med" w="med" type="none"/>
            <a:tailEnd len="med" w="med" type="triangle"/>
          </a:ln>
        </p:spPr>
      </p:cxnSp>
      <p:cxnSp>
        <p:nvCxnSpPr>
          <p:cNvPr id="294" name="Google Shape;294;p24"/>
          <p:cNvCxnSpPr>
            <a:stCxn id="282" idx="3"/>
            <a:endCxn id="286" idx="1"/>
          </p:cNvCxnSpPr>
          <p:nvPr/>
        </p:nvCxnSpPr>
        <p:spPr>
          <a:xfrm flipH="1" rot="10800000">
            <a:off x="4320172" y="1467288"/>
            <a:ext cx="709800" cy="477300"/>
          </a:xfrm>
          <a:prstGeom prst="curvedConnector3">
            <a:avLst>
              <a:gd fmla="val 50003" name="adj1"/>
            </a:avLst>
          </a:prstGeom>
          <a:noFill/>
          <a:ln cap="flat" cmpd="sng" w="38100">
            <a:solidFill>
              <a:schemeClr val="dk2"/>
            </a:solidFill>
            <a:prstDash val="solid"/>
            <a:round/>
            <a:headEnd len="med" w="med" type="none"/>
            <a:tailEnd len="med" w="med" type="triangle"/>
          </a:ln>
        </p:spPr>
      </p:cxnSp>
      <p:cxnSp>
        <p:nvCxnSpPr>
          <p:cNvPr id="295" name="Google Shape;295;p24"/>
          <p:cNvCxnSpPr>
            <a:stCxn id="282" idx="3"/>
            <a:endCxn id="287" idx="1"/>
          </p:cNvCxnSpPr>
          <p:nvPr/>
        </p:nvCxnSpPr>
        <p:spPr>
          <a:xfrm>
            <a:off x="4320172" y="1944588"/>
            <a:ext cx="709800" cy="509400"/>
          </a:xfrm>
          <a:prstGeom prst="curvedConnector3">
            <a:avLst>
              <a:gd fmla="val 50003" name="adj1"/>
            </a:avLst>
          </a:prstGeom>
          <a:noFill/>
          <a:ln cap="flat" cmpd="sng" w="9525">
            <a:solidFill>
              <a:schemeClr val="dk2"/>
            </a:solidFill>
            <a:prstDash val="solid"/>
            <a:round/>
            <a:headEnd len="med" w="med" type="none"/>
            <a:tailEnd len="med" w="med" type="triangle"/>
          </a:ln>
        </p:spPr>
      </p:cxnSp>
      <p:cxnSp>
        <p:nvCxnSpPr>
          <p:cNvPr id="296" name="Google Shape;296;p24"/>
          <p:cNvCxnSpPr>
            <a:stCxn id="287" idx="3"/>
            <a:endCxn id="288" idx="1"/>
          </p:cNvCxnSpPr>
          <p:nvPr/>
        </p:nvCxnSpPr>
        <p:spPr>
          <a:xfrm flipH="1" rot="10800000">
            <a:off x="6581915" y="1944688"/>
            <a:ext cx="709800" cy="509400"/>
          </a:xfrm>
          <a:prstGeom prst="curvedConnector3">
            <a:avLst>
              <a:gd fmla="val 50004" name="adj1"/>
            </a:avLst>
          </a:prstGeom>
          <a:noFill/>
          <a:ln cap="flat" cmpd="sng" w="38100">
            <a:solidFill>
              <a:schemeClr val="dk2"/>
            </a:solidFill>
            <a:prstDash val="solid"/>
            <a:round/>
            <a:headEnd len="med" w="med" type="none"/>
            <a:tailEnd len="med" w="med" type="triangle"/>
          </a:ln>
        </p:spPr>
      </p:cxnSp>
      <p:cxnSp>
        <p:nvCxnSpPr>
          <p:cNvPr id="297" name="Google Shape;297;p24"/>
          <p:cNvCxnSpPr>
            <a:stCxn id="287" idx="3"/>
            <a:endCxn id="289" idx="1"/>
          </p:cNvCxnSpPr>
          <p:nvPr/>
        </p:nvCxnSpPr>
        <p:spPr>
          <a:xfrm>
            <a:off x="6581915" y="2454088"/>
            <a:ext cx="709800" cy="450600"/>
          </a:xfrm>
          <a:prstGeom prst="curvedConnector3">
            <a:avLst>
              <a:gd fmla="val 50004" name="adj1"/>
            </a:avLst>
          </a:prstGeom>
          <a:noFill/>
          <a:ln cap="flat" cmpd="sng" w="9525">
            <a:solidFill>
              <a:schemeClr val="dk2"/>
            </a:solidFill>
            <a:prstDash val="solid"/>
            <a:round/>
            <a:headEnd len="med" w="med" type="none"/>
            <a:tailEnd len="med" w="med" type="triangle"/>
          </a:ln>
        </p:spPr>
      </p:cxnSp>
      <p:sp>
        <p:nvSpPr>
          <p:cNvPr id="298" name="Google Shape;298;p24"/>
          <p:cNvSpPr txBox="1"/>
          <p:nvPr/>
        </p:nvSpPr>
        <p:spPr>
          <a:xfrm>
            <a:off x="820075" y="728034"/>
            <a:ext cx="7710000" cy="3057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None/>
            </a:pPr>
            <a:r>
              <a:rPr lang="ja" sz="800">
                <a:solidFill>
                  <a:srgbClr val="1F1F1F"/>
                </a:solidFill>
                <a:latin typeface="M PLUS 1p"/>
                <a:ea typeface="M PLUS 1p"/>
                <a:cs typeface="M PLUS 1p"/>
                <a:sym typeface="M PLUS 1p"/>
              </a:rPr>
              <a:t>※</a:t>
            </a:r>
            <a:r>
              <a:rPr lang="ja" sz="800">
                <a:solidFill>
                  <a:srgbClr val="1F1F1F"/>
                </a:solidFill>
                <a:latin typeface="M PLUS 1p"/>
                <a:ea typeface="M PLUS 1p"/>
                <a:cs typeface="M PLUS 1p"/>
                <a:sym typeface="M PLUS 1p"/>
              </a:rPr>
              <a:t>線の太さは、そのルートを辿る</a:t>
            </a:r>
            <a:r>
              <a:rPr lang="ja" sz="800">
                <a:solidFill>
                  <a:srgbClr val="1F1F1F"/>
                </a:solidFill>
                <a:latin typeface="M PLUS 1p"/>
                <a:ea typeface="M PLUS 1p"/>
                <a:cs typeface="M PLUS 1p"/>
                <a:sym typeface="M PLUS 1p"/>
              </a:rPr>
              <a:t>店舗</a:t>
            </a:r>
            <a:r>
              <a:rPr lang="ja" sz="800">
                <a:solidFill>
                  <a:srgbClr val="1F1F1F"/>
                </a:solidFill>
                <a:latin typeface="M PLUS 1p"/>
                <a:ea typeface="M PLUS 1p"/>
                <a:cs typeface="M PLUS 1p"/>
                <a:sym typeface="M PLUS 1p"/>
              </a:rPr>
              <a:t>の多</a:t>
            </a:r>
            <a:r>
              <a:rPr lang="ja" sz="800">
                <a:solidFill>
                  <a:srgbClr val="1F1F1F"/>
                </a:solidFill>
                <a:latin typeface="M PLUS 1p"/>
                <a:ea typeface="M PLUS 1p"/>
                <a:cs typeface="M PLUS 1p"/>
                <a:sym typeface="M PLUS 1p"/>
              </a:rPr>
              <a:t>い</a:t>
            </a:r>
            <a:r>
              <a:rPr lang="ja" sz="800">
                <a:solidFill>
                  <a:srgbClr val="1F1F1F"/>
                </a:solidFill>
                <a:latin typeface="M PLUS 1p"/>
                <a:ea typeface="M PLUS 1p"/>
                <a:cs typeface="M PLUS 1p"/>
                <a:sym typeface="M PLUS 1p"/>
              </a:rPr>
              <a:t>/少ないを表現</a:t>
            </a:r>
            <a:endParaRPr sz="800">
              <a:solidFill>
                <a:srgbClr val="1F1F1F"/>
              </a:solidFill>
              <a:latin typeface="M PLUS 1p"/>
              <a:ea typeface="M PLUS 1p"/>
              <a:cs typeface="M PLUS 1p"/>
              <a:sym typeface="M PLUS 1p"/>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2" name="Shape 302"/>
        <p:cNvGrpSpPr/>
        <p:nvPr/>
      </p:nvGrpSpPr>
      <p:grpSpPr>
        <a:xfrm>
          <a:off x="0" y="0"/>
          <a:ext cx="0" cy="0"/>
          <a:chOff x="0" y="0"/>
          <a:chExt cx="0" cy="0"/>
        </a:xfrm>
      </p:grpSpPr>
      <p:sp>
        <p:nvSpPr>
          <p:cNvPr id="303" name="Google Shape;303;p25"/>
          <p:cNvSpPr/>
          <p:nvPr/>
        </p:nvSpPr>
        <p:spPr>
          <a:xfrm>
            <a:off x="342900" y="1096200"/>
            <a:ext cx="8581200" cy="4003500"/>
          </a:xfrm>
          <a:prstGeom prst="roundRect">
            <a:avLst>
              <a:gd fmla="val 16667" name="adj"/>
            </a:avLst>
          </a:prstGeom>
          <a:noFill/>
          <a:ln cap="flat" cmpd="sng" w="28575">
            <a:solidFill>
              <a:srgbClr val="FF79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4" name="Google Shape;304;p25"/>
          <p:cNvSpPr/>
          <p:nvPr/>
        </p:nvSpPr>
        <p:spPr>
          <a:xfrm>
            <a:off x="2164950" y="1794525"/>
            <a:ext cx="548700" cy="2443200"/>
          </a:xfrm>
          <a:prstGeom prst="roundRect">
            <a:avLst>
              <a:gd fmla="val 16667" name="adj"/>
            </a:avLst>
          </a:prstGeom>
          <a:noFill/>
          <a:ln cap="flat" cmpd="sng" w="28575">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5" name="Google Shape;305;p25"/>
          <p:cNvSpPr/>
          <p:nvPr/>
        </p:nvSpPr>
        <p:spPr>
          <a:xfrm>
            <a:off x="4428075" y="3459075"/>
            <a:ext cx="548700" cy="1422600"/>
          </a:xfrm>
          <a:prstGeom prst="roundRect">
            <a:avLst>
              <a:gd fmla="val 16667" name="adj"/>
            </a:avLst>
          </a:prstGeom>
          <a:noFill/>
          <a:ln cap="flat" cmpd="sng" w="28575">
            <a:solidFill>
              <a:srgbClr val="FFD7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6" name="Google Shape;306;p25"/>
          <p:cNvSpPr/>
          <p:nvPr/>
        </p:nvSpPr>
        <p:spPr>
          <a:xfrm>
            <a:off x="342900" y="365275"/>
            <a:ext cx="342900" cy="342900"/>
          </a:xfrm>
          <a:prstGeom prst="ellipse">
            <a:avLst/>
          </a:prstGeom>
          <a:solidFill>
            <a:srgbClr val="DC04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25"/>
          <p:cNvSpPr txBox="1"/>
          <p:nvPr/>
        </p:nvSpPr>
        <p:spPr>
          <a:xfrm>
            <a:off x="387600" y="335450"/>
            <a:ext cx="298200" cy="30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300">
                <a:solidFill>
                  <a:srgbClr val="FFFFFF"/>
                </a:solidFill>
                <a:latin typeface="Zen Kaku Gothic New"/>
                <a:ea typeface="Zen Kaku Gothic New"/>
                <a:cs typeface="Zen Kaku Gothic New"/>
                <a:sym typeface="Zen Kaku Gothic New"/>
              </a:rPr>
              <a:t>2</a:t>
            </a:r>
            <a:endParaRPr b="1" sz="1300">
              <a:solidFill>
                <a:srgbClr val="FFFFFF"/>
              </a:solidFill>
              <a:latin typeface="Zen Kaku Gothic New"/>
              <a:ea typeface="Zen Kaku Gothic New"/>
              <a:cs typeface="Zen Kaku Gothic New"/>
              <a:sym typeface="Zen Kaku Gothic New"/>
            </a:endParaRPr>
          </a:p>
        </p:txBody>
      </p:sp>
      <p:sp>
        <p:nvSpPr>
          <p:cNvPr id="308" name="Google Shape;308;p25"/>
          <p:cNvSpPr txBox="1"/>
          <p:nvPr/>
        </p:nvSpPr>
        <p:spPr>
          <a:xfrm>
            <a:off x="712300" y="294475"/>
            <a:ext cx="7710000" cy="48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2000">
                <a:solidFill>
                  <a:srgbClr val="1F1F1F"/>
                </a:solidFill>
                <a:latin typeface="M PLUS 1p"/>
                <a:ea typeface="M PLUS 1p"/>
                <a:cs typeface="M PLUS 1p"/>
                <a:sym typeface="M PLUS 1p"/>
              </a:rPr>
              <a:t>今回の分析</a:t>
            </a:r>
            <a:endParaRPr b="1" sz="2000">
              <a:solidFill>
                <a:srgbClr val="1F1F1F"/>
              </a:solidFill>
              <a:latin typeface="M PLUS 1p"/>
              <a:ea typeface="M PLUS 1p"/>
              <a:cs typeface="M PLUS 1p"/>
              <a:sym typeface="M PLUS 1p"/>
            </a:endParaRPr>
          </a:p>
        </p:txBody>
      </p:sp>
      <p:sp>
        <p:nvSpPr>
          <p:cNvPr id="309" name="Google Shape;309;p25"/>
          <p:cNvSpPr txBox="1"/>
          <p:nvPr/>
        </p:nvSpPr>
        <p:spPr>
          <a:xfrm>
            <a:off x="8136000" y="104275"/>
            <a:ext cx="916800" cy="190200"/>
          </a:xfrm>
          <a:prstGeom prst="rect">
            <a:avLst/>
          </a:prstGeom>
          <a:solidFill>
            <a:srgbClr val="DC0451"/>
          </a:solidFill>
          <a:ln>
            <a:noFill/>
          </a:ln>
        </p:spPr>
        <p:txBody>
          <a:bodyPr anchorCtr="0" anchor="t" bIns="91425" lIns="91425" spcFirstLastPara="1" rIns="91425" wrap="square" tIns="91425">
            <a:noAutofit/>
          </a:bodyPr>
          <a:lstStyle/>
          <a:p>
            <a:pPr indent="0" lvl="0" marL="0" rtl="0" algn="ctr">
              <a:lnSpc>
                <a:spcPct val="50000"/>
              </a:lnSpc>
              <a:spcBef>
                <a:spcPts val="0"/>
              </a:spcBef>
              <a:spcAft>
                <a:spcPts val="0"/>
              </a:spcAft>
              <a:buNone/>
            </a:pPr>
            <a:r>
              <a:rPr b="1" lang="ja" sz="700">
                <a:solidFill>
                  <a:srgbClr val="FFFFFF"/>
                </a:solidFill>
                <a:latin typeface="M PLUS 1p"/>
                <a:ea typeface="M PLUS 1p"/>
                <a:cs typeface="M PLUS 1p"/>
                <a:sym typeface="M PLUS 1p"/>
              </a:rPr>
              <a:t>CONFIDENTIAL</a:t>
            </a:r>
            <a:endParaRPr b="1" sz="700">
              <a:solidFill>
                <a:srgbClr val="FFFFFF"/>
              </a:solidFill>
              <a:latin typeface="M PLUS 1p"/>
              <a:ea typeface="M PLUS 1p"/>
              <a:cs typeface="M PLUS 1p"/>
              <a:sym typeface="M PLUS 1p"/>
            </a:endParaRPr>
          </a:p>
        </p:txBody>
      </p:sp>
      <p:sp>
        <p:nvSpPr>
          <p:cNvPr id="310" name="Google Shape;310;p2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311" name="Google Shape;311;p25"/>
          <p:cNvSpPr txBox="1"/>
          <p:nvPr/>
        </p:nvSpPr>
        <p:spPr>
          <a:xfrm>
            <a:off x="506550" y="2694063"/>
            <a:ext cx="1551900" cy="7650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1200">
                <a:solidFill>
                  <a:srgbClr val="1F1F1F"/>
                </a:solidFill>
                <a:latin typeface="M PLUS 1p"/>
                <a:ea typeface="M PLUS 1p"/>
                <a:cs typeface="M PLUS 1p"/>
                <a:sym typeface="M PLUS 1p"/>
              </a:rPr>
              <a:t>利用開始</a:t>
            </a:r>
            <a:endParaRPr sz="1200">
              <a:solidFill>
                <a:srgbClr val="1F1F1F"/>
              </a:solidFill>
              <a:latin typeface="M PLUS 1p"/>
              <a:ea typeface="M PLUS 1p"/>
              <a:cs typeface="M PLUS 1p"/>
              <a:sym typeface="M PLUS 1p"/>
            </a:endParaRPr>
          </a:p>
        </p:txBody>
      </p:sp>
      <p:sp>
        <p:nvSpPr>
          <p:cNvPr id="312" name="Google Shape;312;p25"/>
          <p:cNvSpPr txBox="1"/>
          <p:nvPr/>
        </p:nvSpPr>
        <p:spPr>
          <a:xfrm>
            <a:off x="2768297" y="1654488"/>
            <a:ext cx="1551900" cy="7650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1200">
                <a:solidFill>
                  <a:srgbClr val="1F1F1F"/>
                </a:solidFill>
                <a:latin typeface="M PLUS 1p"/>
                <a:ea typeface="M PLUS 1p"/>
                <a:cs typeface="M PLUS 1p"/>
                <a:sym typeface="M PLUS 1p"/>
              </a:rPr>
              <a:t>3ヶ月連続</a:t>
            </a:r>
            <a:endParaRPr sz="1200">
              <a:solidFill>
                <a:srgbClr val="1F1F1F"/>
              </a:solidFill>
              <a:latin typeface="M PLUS 1p"/>
              <a:ea typeface="M PLUS 1p"/>
              <a:cs typeface="M PLUS 1p"/>
              <a:sym typeface="M PLUS 1p"/>
            </a:endParaRPr>
          </a:p>
          <a:p>
            <a:pPr indent="0" lvl="0" marL="0" rtl="0" algn="ctr">
              <a:spcBef>
                <a:spcPts val="0"/>
              </a:spcBef>
              <a:spcAft>
                <a:spcPts val="0"/>
              </a:spcAft>
              <a:buNone/>
            </a:pPr>
            <a:r>
              <a:rPr lang="ja" sz="1200">
                <a:solidFill>
                  <a:srgbClr val="1F1F1F"/>
                </a:solidFill>
                <a:latin typeface="M PLUS 1p"/>
                <a:ea typeface="M PLUS 1p"/>
                <a:cs typeface="M PLUS 1p"/>
                <a:sym typeface="M PLUS 1p"/>
              </a:rPr>
              <a:t>掲載する</a:t>
            </a:r>
            <a:endParaRPr sz="1200">
              <a:solidFill>
                <a:srgbClr val="1F1F1F"/>
              </a:solidFill>
              <a:latin typeface="M PLUS 1p"/>
              <a:ea typeface="M PLUS 1p"/>
              <a:cs typeface="M PLUS 1p"/>
              <a:sym typeface="M PLUS 1p"/>
            </a:endParaRPr>
          </a:p>
        </p:txBody>
      </p:sp>
      <p:sp>
        <p:nvSpPr>
          <p:cNvPr id="313" name="Google Shape;313;p25"/>
          <p:cNvSpPr txBox="1"/>
          <p:nvPr/>
        </p:nvSpPr>
        <p:spPr>
          <a:xfrm>
            <a:off x="2768291" y="3707863"/>
            <a:ext cx="1551900" cy="7650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1200">
                <a:solidFill>
                  <a:srgbClr val="1F1F1F"/>
                </a:solidFill>
                <a:latin typeface="M PLUS 1p"/>
                <a:ea typeface="M PLUS 1p"/>
                <a:cs typeface="M PLUS 1p"/>
                <a:sym typeface="M PLUS 1p"/>
              </a:rPr>
              <a:t>3ヶ月連続掲載せず</a:t>
            </a:r>
            <a:endParaRPr sz="1200">
              <a:solidFill>
                <a:srgbClr val="1F1F1F"/>
              </a:solidFill>
              <a:latin typeface="M PLUS 1p"/>
              <a:ea typeface="M PLUS 1p"/>
              <a:cs typeface="M PLUS 1p"/>
              <a:sym typeface="M PLUS 1p"/>
            </a:endParaRPr>
          </a:p>
          <a:p>
            <a:pPr indent="0" lvl="0" marL="0" rtl="0" algn="ctr">
              <a:spcBef>
                <a:spcPts val="0"/>
              </a:spcBef>
              <a:spcAft>
                <a:spcPts val="0"/>
              </a:spcAft>
              <a:buNone/>
            </a:pPr>
            <a:r>
              <a:rPr lang="ja" sz="1200">
                <a:solidFill>
                  <a:srgbClr val="1F1F1F"/>
                </a:solidFill>
                <a:latin typeface="M PLUS 1p"/>
                <a:ea typeface="M PLUS 1p"/>
                <a:cs typeface="M PLUS 1p"/>
                <a:sym typeface="M PLUS 1p"/>
              </a:rPr>
              <a:t>離脱する</a:t>
            </a:r>
            <a:endParaRPr sz="1200">
              <a:solidFill>
                <a:srgbClr val="1F1F1F"/>
              </a:solidFill>
              <a:latin typeface="M PLUS 1p"/>
              <a:ea typeface="M PLUS 1p"/>
              <a:cs typeface="M PLUS 1p"/>
              <a:sym typeface="M PLUS 1p"/>
            </a:endParaRPr>
          </a:p>
        </p:txBody>
      </p:sp>
      <p:sp>
        <p:nvSpPr>
          <p:cNvPr id="314" name="Google Shape;314;p25"/>
          <p:cNvSpPr txBox="1"/>
          <p:nvPr/>
        </p:nvSpPr>
        <p:spPr>
          <a:xfrm>
            <a:off x="5030040" y="3277663"/>
            <a:ext cx="1551900" cy="7650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1200">
                <a:solidFill>
                  <a:srgbClr val="1F1F1F"/>
                </a:solidFill>
                <a:latin typeface="M PLUS 1p"/>
                <a:ea typeface="M PLUS 1p"/>
                <a:cs typeface="M PLUS 1p"/>
                <a:sym typeface="M PLUS 1p"/>
              </a:rPr>
              <a:t>復活する</a:t>
            </a:r>
            <a:endParaRPr sz="1200">
              <a:solidFill>
                <a:srgbClr val="1F1F1F"/>
              </a:solidFill>
              <a:latin typeface="M PLUS 1p"/>
              <a:ea typeface="M PLUS 1p"/>
              <a:cs typeface="M PLUS 1p"/>
              <a:sym typeface="M PLUS 1p"/>
            </a:endParaRPr>
          </a:p>
        </p:txBody>
      </p:sp>
      <p:sp>
        <p:nvSpPr>
          <p:cNvPr id="315" name="Google Shape;315;p25"/>
          <p:cNvSpPr txBox="1"/>
          <p:nvPr/>
        </p:nvSpPr>
        <p:spPr>
          <a:xfrm>
            <a:off x="5030040" y="4237838"/>
            <a:ext cx="1551900" cy="7650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1200">
                <a:solidFill>
                  <a:srgbClr val="1F1F1F"/>
                </a:solidFill>
                <a:latin typeface="M PLUS 1p"/>
                <a:ea typeface="M PLUS 1p"/>
                <a:cs typeface="M PLUS 1p"/>
                <a:sym typeface="M PLUS 1p"/>
              </a:rPr>
              <a:t>復活しない</a:t>
            </a:r>
            <a:endParaRPr sz="1200">
              <a:solidFill>
                <a:srgbClr val="1F1F1F"/>
              </a:solidFill>
              <a:latin typeface="M PLUS 1p"/>
              <a:ea typeface="M PLUS 1p"/>
              <a:cs typeface="M PLUS 1p"/>
              <a:sym typeface="M PLUS 1p"/>
            </a:endParaRPr>
          </a:p>
        </p:txBody>
      </p:sp>
      <p:sp>
        <p:nvSpPr>
          <p:cNvPr id="316" name="Google Shape;316;p25"/>
          <p:cNvSpPr txBox="1"/>
          <p:nvPr/>
        </p:nvSpPr>
        <p:spPr>
          <a:xfrm>
            <a:off x="5030043" y="1177063"/>
            <a:ext cx="1551900" cy="7650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1200">
                <a:solidFill>
                  <a:srgbClr val="1F1F1F"/>
                </a:solidFill>
                <a:latin typeface="M PLUS 1p"/>
                <a:ea typeface="M PLUS 1p"/>
                <a:cs typeface="M PLUS 1p"/>
                <a:sym typeface="M PLUS 1p"/>
              </a:rPr>
              <a:t>中長期的に</a:t>
            </a:r>
            <a:endParaRPr sz="1200">
              <a:solidFill>
                <a:srgbClr val="1F1F1F"/>
              </a:solidFill>
              <a:latin typeface="M PLUS 1p"/>
              <a:ea typeface="M PLUS 1p"/>
              <a:cs typeface="M PLUS 1p"/>
              <a:sym typeface="M PLUS 1p"/>
            </a:endParaRPr>
          </a:p>
          <a:p>
            <a:pPr indent="0" lvl="0" marL="0" rtl="0" algn="ctr">
              <a:spcBef>
                <a:spcPts val="0"/>
              </a:spcBef>
              <a:spcAft>
                <a:spcPts val="0"/>
              </a:spcAft>
              <a:buNone/>
            </a:pPr>
            <a:r>
              <a:rPr lang="ja" sz="1200">
                <a:solidFill>
                  <a:srgbClr val="1F1F1F"/>
                </a:solidFill>
                <a:latin typeface="M PLUS 1p"/>
                <a:ea typeface="M PLUS 1p"/>
                <a:cs typeface="M PLUS 1p"/>
                <a:sym typeface="M PLUS 1p"/>
              </a:rPr>
              <a:t>継続する</a:t>
            </a:r>
            <a:endParaRPr sz="1200">
              <a:solidFill>
                <a:srgbClr val="1F1F1F"/>
              </a:solidFill>
              <a:latin typeface="M PLUS 1p"/>
              <a:ea typeface="M PLUS 1p"/>
              <a:cs typeface="M PLUS 1p"/>
              <a:sym typeface="M PLUS 1p"/>
            </a:endParaRPr>
          </a:p>
        </p:txBody>
      </p:sp>
      <p:sp>
        <p:nvSpPr>
          <p:cNvPr id="317" name="Google Shape;317;p25"/>
          <p:cNvSpPr txBox="1"/>
          <p:nvPr/>
        </p:nvSpPr>
        <p:spPr>
          <a:xfrm>
            <a:off x="5030040" y="2163988"/>
            <a:ext cx="1551900" cy="7650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1200">
                <a:solidFill>
                  <a:srgbClr val="1F1F1F"/>
                </a:solidFill>
                <a:latin typeface="M PLUS 1p"/>
                <a:ea typeface="M PLUS 1p"/>
                <a:cs typeface="M PLUS 1p"/>
                <a:sym typeface="M PLUS 1p"/>
              </a:rPr>
              <a:t>中長期的に</a:t>
            </a:r>
            <a:endParaRPr sz="1200">
              <a:solidFill>
                <a:srgbClr val="1F1F1F"/>
              </a:solidFill>
              <a:latin typeface="M PLUS 1p"/>
              <a:ea typeface="M PLUS 1p"/>
              <a:cs typeface="M PLUS 1p"/>
              <a:sym typeface="M PLUS 1p"/>
            </a:endParaRPr>
          </a:p>
          <a:p>
            <a:pPr indent="0" lvl="0" marL="0" rtl="0" algn="ctr">
              <a:spcBef>
                <a:spcPts val="0"/>
              </a:spcBef>
              <a:spcAft>
                <a:spcPts val="0"/>
              </a:spcAft>
              <a:buNone/>
            </a:pPr>
            <a:r>
              <a:rPr lang="ja" sz="1200">
                <a:solidFill>
                  <a:srgbClr val="1F1F1F"/>
                </a:solidFill>
                <a:latin typeface="M PLUS 1p"/>
                <a:ea typeface="M PLUS 1p"/>
                <a:cs typeface="M PLUS 1p"/>
                <a:sym typeface="M PLUS 1p"/>
              </a:rPr>
              <a:t>継続しない</a:t>
            </a:r>
            <a:endParaRPr sz="1200">
              <a:solidFill>
                <a:srgbClr val="1F1F1F"/>
              </a:solidFill>
              <a:latin typeface="M PLUS 1p"/>
              <a:ea typeface="M PLUS 1p"/>
              <a:cs typeface="M PLUS 1p"/>
              <a:sym typeface="M PLUS 1p"/>
            </a:endParaRPr>
          </a:p>
        </p:txBody>
      </p:sp>
      <p:sp>
        <p:nvSpPr>
          <p:cNvPr id="318" name="Google Shape;318;p25"/>
          <p:cNvSpPr txBox="1"/>
          <p:nvPr/>
        </p:nvSpPr>
        <p:spPr>
          <a:xfrm>
            <a:off x="7291790" y="1654488"/>
            <a:ext cx="1551900" cy="7650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1200">
                <a:solidFill>
                  <a:srgbClr val="1F1F1F"/>
                </a:solidFill>
                <a:latin typeface="M PLUS 1p"/>
                <a:ea typeface="M PLUS 1p"/>
                <a:cs typeface="M PLUS 1p"/>
                <a:sym typeface="M PLUS 1p"/>
              </a:rPr>
              <a:t>復活する</a:t>
            </a:r>
            <a:endParaRPr sz="1200">
              <a:solidFill>
                <a:srgbClr val="1F1F1F"/>
              </a:solidFill>
              <a:latin typeface="M PLUS 1p"/>
              <a:ea typeface="M PLUS 1p"/>
              <a:cs typeface="M PLUS 1p"/>
              <a:sym typeface="M PLUS 1p"/>
            </a:endParaRPr>
          </a:p>
        </p:txBody>
      </p:sp>
      <p:sp>
        <p:nvSpPr>
          <p:cNvPr id="319" name="Google Shape;319;p25"/>
          <p:cNvSpPr txBox="1"/>
          <p:nvPr/>
        </p:nvSpPr>
        <p:spPr>
          <a:xfrm>
            <a:off x="7291790" y="2614663"/>
            <a:ext cx="1551900" cy="7650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1200">
                <a:solidFill>
                  <a:srgbClr val="1F1F1F"/>
                </a:solidFill>
                <a:latin typeface="M PLUS 1p"/>
                <a:ea typeface="M PLUS 1p"/>
                <a:cs typeface="M PLUS 1p"/>
                <a:sym typeface="M PLUS 1p"/>
              </a:rPr>
              <a:t>復活しない</a:t>
            </a:r>
            <a:endParaRPr sz="1200">
              <a:solidFill>
                <a:srgbClr val="1F1F1F"/>
              </a:solidFill>
              <a:latin typeface="M PLUS 1p"/>
              <a:ea typeface="M PLUS 1p"/>
              <a:cs typeface="M PLUS 1p"/>
              <a:sym typeface="M PLUS 1p"/>
            </a:endParaRPr>
          </a:p>
        </p:txBody>
      </p:sp>
      <p:cxnSp>
        <p:nvCxnSpPr>
          <p:cNvPr id="320" name="Google Shape;320;p25"/>
          <p:cNvCxnSpPr>
            <a:stCxn id="311" idx="3"/>
            <a:endCxn id="312" idx="1"/>
          </p:cNvCxnSpPr>
          <p:nvPr/>
        </p:nvCxnSpPr>
        <p:spPr>
          <a:xfrm flipH="1" rot="10800000">
            <a:off x="2058450" y="2037063"/>
            <a:ext cx="709800" cy="1039500"/>
          </a:xfrm>
          <a:prstGeom prst="curvedConnector3">
            <a:avLst>
              <a:gd fmla="val 50003" name="adj1"/>
            </a:avLst>
          </a:prstGeom>
          <a:noFill/>
          <a:ln cap="flat" cmpd="sng" w="9525">
            <a:solidFill>
              <a:schemeClr val="dk2"/>
            </a:solidFill>
            <a:prstDash val="solid"/>
            <a:round/>
            <a:headEnd len="med" w="med" type="none"/>
            <a:tailEnd len="med" w="med" type="triangle"/>
          </a:ln>
        </p:spPr>
      </p:cxnSp>
      <p:cxnSp>
        <p:nvCxnSpPr>
          <p:cNvPr id="321" name="Google Shape;321;p25"/>
          <p:cNvCxnSpPr>
            <a:stCxn id="311" idx="3"/>
            <a:endCxn id="313" idx="1"/>
          </p:cNvCxnSpPr>
          <p:nvPr/>
        </p:nvCxnSpPr>
        <p:spPr>
          <a:xfrm>
            <a:off x="2058450" y="3076563"/>
            <a:ext cx="709800" cy="1013700"/>
          </a:xfrm>
          <a:prstGeom prst="curvedConnector3">
            <a:avLst>
              <a:gd fmla="val 50003" name="adj1"/>
            </a:avLst>
          </a:prstGeom>
          <a:noFill/>
          <a:ln cap="flat" cmpd="sng" w="38100">
            <a:solidFill>
              <a:schemeClr val="dk2"/>
            </a:solidFill>
            <a:prstDash val="solid"/>
            <a:round/>
            <a:headEnd len="med" w="med" type="none"/>
            <a:tailEnd len="med" w="med" type="triangle"/>
          </a:ln>
        </p:spPr>
      </p:cxnSp>
      <p:cxnSp>
        <p:nvCxnSpPr>
          <p:cNvPr id="322" name="Google Shape;322;p25"/>
          <p:cNvCxnSpPr>
            <a:stCxn id="313" idx="3"/>
            <a:endCxn id="315" idx="1"/>
          </p:cNvCxnSpPr>
          <p:nvPr/>
        </p:nvCxnSpPr>
        <p:spPr>
          <a:xfrm>
            <a:off x="4320191" y="4090363"/>
            <a:ext cx="709800" cy="530100"/>
          </a:xfrm>
          <a:prstGeom prst="curvedConnector3">
            <a:avLst>
              <a:gd fmla="val 50003" name="adj1"/>
            </a:avLst>
          </a:prstGeom>
          <a:noFill/>
          <a:ln cap="flat" cmpd="sng" w="38100">
            <a:solidFill>
              <a:schemeClr val="dk2"/>
            </a:solidFill>
            <a:prstDash val="solid"/>
            <a:round/>
            <a:headEnd len="med" w="med" type="none"/>
            <a:tailEnd len="med" w="med" type="triangle"/>
          </a:ln>
        </p:spPr>
      </p:cxnSp>
      <p:cxnSp>
        <p:nvCxnSpPr>
          <p:cNvPr id="323" name="Google Shape;323;p25"/>
          <p:cNvCxnSpPr>
            <a:stCxn id="313" idx="3"/>
            <a:endCxn id="314" idx="1"/>
          </p:cNvCxnSpPr>
          <p:nvPr/>
        </p:nvCxnSpPr>
        <p:spPr>
          <a:xfrm flipH="1" rot="10800000">
            <a:off x="4320191" y="3660163"/>
            <a:ext cx="709800" cy="430200"/>
          </a:xfrm>
          <a:prstGeom prst="curvedConnector3">
            <a:avLst>
              <a:gd fmla="val 50003" name="adj1"/>
            </a:avLst>
          </a:prstGeom>
          <a:noFill/>
          <a:ln cap="flat" cmpd="sng" w="9525">
            <a:solidFill>
              <a:schemeClr val="dk2"/>
            </a:solidFill>
            <a:prstDash val="solid"/>
            <a:round/>
            <a:headEnd len="med" w="med" type="none"/>
            <a:tailEnd len="med" w="med" type="triangle"/>
          </a:ln>
        </p:spPr>
      </p:cxnSp>
      <p:cxnSp>
        <p:nvCxnSpPr>
          <p:cNvPr id="324" name="Google Shape;324;p25"/>
          <p:cNvCxnSpPr>
            <a:stCxn id="312" idx="3"/>
            <a:endCxn id="316" idx="1"/>
          </p:cNvCxnSpPr>
          <p:nvPr/>
        </p:nvCxnSpPr>
        <p:spPr>
          <a:xfrm flipH="1" rot="10800000">
            <a:off x="4320197" y="1559688"/>
            <a:ext cx="709800" cy="477300"/>
          </a:xfrm>
          <a:prstGeom prst="curvedConnector3">
            <a:avLst>
              <a:gd fmla="val 50003" name="adj1"/>
            </a:avLst>
          </a:prstGeom>
          <a:noFill/>
          <a:ln cap="flat" cmpd="sng" w="38100">
            <a:solidFill>
              <a:schemeClr val="dk2"/>
            </a:solidFill>
            <a:prstDash val="solid"/>
            <a:round/>
            <a:headEnd len="med" w="med" type="none"/>
            <a:tailEnd len="med" w="med" type="triangle"/>
          </a:ln>
        </p:spPr>
      </p:cxnSp>
      <p:cxnSp>
        <p:nvCxnSpPr>
          <p:cNvPr id="325" name="Google Shape;325;p25"/>
          <p:cNvCxnSpPr>
            <a:stCxn id="312" idx="3"/>
            <a:endCxn id="317" idx="1"/>
          </p:cNvCxnSpPr>
          <p:nvPr/>
        </p:nvCxnSpPr>
        <p:spPr>
          <a:xfrm>
            <a:off x="4320197" y="2036988"/>
            <a:ext cx="709800" cy="509400"/>
          </a:xfrm>
          <a:prstGeom prst="curvedConnector3">
            <a:avLst>
              <a:gd fmla="val 50003" name="adj1"/>
            </a:avLst>
          </a:prstGeom>
          <a:noFill/>
          <a:ln cap="flat" cmpd="sng" w="9525">
            <a:solidFill>
              <a:schemeClr val="dk2"/>
            </a:solidFill>
            <a:prstDash val="solid"/>
            <a:round/>
            <a:headEnd len="med" w="med" type="none"/>
            <a:tailEnd len="med" w="med" type="triangle"/>
          </a:ln>
        </p:spPr>
      </p:cxnSp>
      <p:cxnSp>
        <p:nvCxnSpPr>
          <p:cNvPr id="326" name="Google Shape;326;p25"/>
          <p:cNvCxnSpPr>
            <a:stCxn id="317" idx="3"/>
            <a:endCxn id="318" idx="1"/>
          </p:cNvCxnSpPr>
          <p:nvPr/>
        </p:nvCxnSpPr>
        <p:spPr>
          <a:xfrm flipH="1" rot="10800000">
            <a:off x="6581940" y="2037088"/>
            <a:ext cx="709800" cy="509400"/>
          </a:xfrm>
          <a:prstGeom prst="curvedConnector3">
            <a:avLst>
              <a:gd fmla="val 50004" name="adj1"/>
            </a:avLst>
          </a:prstGeom>
          <a:noFill/>
          <a:ln cap="flat" cmpd="sng" w="38100">
            <a:solidFill>
              <a:schemeClr val="dk2"/>
            </a:solidFill>
            <a:prstDash val="solid"/>
            <a:round/>
            <a:headEnd len="med" w="med" type="none"/>
            <a:tailEnd len="med" w="med" type="triangle"/>
          </a:ln>
        </p:spPr>
      </p:cxnSp>
      <p:cxnSp>
        <p:nvCxnSpPr>
          <p:cNvPr id="327" name="Google Shape;327;p25"/>
          <p:cNvCxnSpPr>
            <a:stCxn id="317" idx="3"/>
            <a:endCxn id="319" idx="1"/>
          </p:cNvCxnSpPr>
          <p:nvPr/>
        </p:nvCxnSpPr>
        <p:spPr>
          <a:xfrm>
            <a:off x="6581940" y="2546488"/>
            <a:ext cx="709800" cy="450600"/>
          </a:xfrm>
          <a:prstGeom prst="curvedConnector3">
            <a:avLst>
              <a:gd fmla="val 50004" name="adj1"/>
            </a:avLst>
          </a:prstGeom>
          <a:noFill/>
          <a:ln cap="flat" cmpd="sng" w="9525">
            <a:solidFill>
              <a:schemeClr val="dk2"/>
            </a:solidFill>
            <a:prstDash val="solid"/>
            <a:round/>
            <a:headEnd len="med" w="med" type="none"/>
            <a:tailEnd len="med" w="med" type="triangle"/>
          </a:ln>
        </p:spPr>
      </p:cxnSp>
      <p:sp>
        <p:nvSpPr>
          <p:cNvPr id="328" name="Google Shape;328;p25"/>
          <p:cNvSpPr txBox="1"/>
          <p:nvPr/>
        </p:nvSpPr>
        <p:spPr>
          <a:xfrm>
            <a:off x="575400" y="1348800"/>
            <a:ext cx="1414200" cy="305700"/>
          </a:xfrm>
          <a:prstGeom prst="rect">
            <a:avLst/>
          </a:prstGeom>
          <a:solidFill>
            <a:srgbClr val="FF7900"/>
          </a:solidFill>
          <a:ln>
            <a:noFill/>
          </a:ln>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rPr lang="ja" sz="1200">
                <a:solidFill>
                  <a:schemeClr val="lt1"/>
                </a:solidFill>
                <a:latin typeface="M PLUS 1p"/>
                <a:ea typeface="M PLUS 1p"/>
                <a:cs typeface="M PLUS 1p"/>
                <a:sym typeface="M PLUS 1p"/>
              </a:rPr>
              <a:t>①全体像を捉える</a:t>
            </a:r>
            <a:endParaRPr sz="1200">
              <a:solidFill>
                <a:schemeClr val="lt1"/>
              </a:solidFill>
              <a:latin typeface="M PLUS 1p"/>
              <a:ea typeface="M PLUS 1p"/>
              <a:cs typeface="M PLUS 1p"/>
              <a:sym typeface="M PLUS 1p"/>
            </a:endParaRPr>
          </a:p>
        </p:txBody>
      </p:sp>
      <p:sp>
        <p:nvSpPr>
          <p:cNvPr id="329" name="Google Shape;329;p25"/>
          <p:cNvSpPr txBox="1"/>
          <p:nvPr/>
        </p:nvSpPr>
        <p:spPr>
          <a:xfrm>
            <a:off x="6636600" y="3848125"/>
            <a:ext cx="1499400" cy="484500"/>
          </a:xfrm>
          <a:prstGeom prst="rect">
            <a:avLst/>
          </a:prstGeom>
          <a:solidFill>
            <a:srgbClr val="FFD700"/>
          </a:solidFill>
          <a:ln>
            <a:noFill/>
          </a:ln>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rPr lang="ja" sz="1200">
                <a:solidFill>
                  <a:schemeClr val="dk1"/>
                </a:solidFill>
                <a:latin typeface="M PLUS 1p"/>
                <a:ea typeface="M PLUS 1p"/>
                <a:cs typeface="M PLUS 1p"/>
                <a:sym typeface="M PLUS 1p"/>
              </a:rPr>
              <a:t>③離脱後の復活の</a:t>
            </a:r>
            <a:endParaRPr sz="1200">
              <a:solidFill>
                <a:schemeClr val="dk1"/>
              </a:solidFill>
              <a:latin typeface="M PLUS 1p"/>
              <a:ea typeface="M PLUS 1p"/>
              <a:cs typeface="M PLUS 1p"/>
              <a:sym typeface="M PLUS 1p"/>
            </a:endParaRPr>
          </a:p>
          <a:p>
            <a:pPr indent="0" lvl="0" marL="0" rtl="0" algn="l">
              <a:lnSpc>
                <a:spcPct val="120000"/>
              </a:lnSpc>
              <a:spcBef>
                <a:spcPts val="0"/>
              </a:spcBef>
              <a:spcAft>
                <a:spcPts val="0"/>
              </a:spcAft>
              <a:buNone/>
            </a:pPr>
            <a:r>
              <a:rPr lang="ja" sz="1200">
                <a:solidFill>
                  <a:schemeClr val="dk1"/>
                </a:solidFill>
                <a:latin typeface="M PLUS 1p"/>
                <a:ea typeface="M PLUS 1p"/>
                <a:cs typeface="M PLUS 1p"/>
                <a:sym typeface="M PLUS 1p"/>
              </a:rPr>
              <a:t>レバーを探す</a:t>
            </a:r>
            <a:endParaRPr sz="1200">
              <a:solidFill>
                <a:schemeClr val="dk1"/>
              </a:solidFill>
              <a:latin typeface="M PLUS 1p"/>
              <a:ea typeface="M PLUS 1p"/>
              <a:cs typeface="M PLUS 1p"/>
              <a:sym typeface="M PLUS 1p"/>
            </a:endParaRPr>
          </a:p>
        </p:txBody>
      </p:sp>
      <p:sp>
        <p:nvSpPr>
          <p:cNvPr id="330" name="Google Shape;330;p25"/>
          <p:cNvSpPr txBox="1"/>
          <p:nvPr/>
        </p:nvSpPr>
        <p:spPr>
          <a:xfrm>
            <a:off x="2794550" y="2929000"/>
            <a:ext cx="1499400" cy="484500"/>
          </a:xfrm>
          <a:prstGeom prst="rect">
            <a:avLst/>
          </a:prstGeom>
          <a:solidFill>
            <a:srgbClr val="0B5394"/>
          </a:solidFill>
          <a:ln>
            <a:noFill/>
          </a:ln>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rPr lang="ja" sz="1200">
                <a:solidFill>
                  <a:schemeClr val="lt1"/>
                </a:solidFill>
                <a:latin typeface="M PLUS 1p"/>
                <a:ea typeface="M PLUS 1p"/>
                <a:cs typeface="M PLUS 1p"/>
                <a:sym typeface="M PLUS 1p"/>
              </a:rPr>
              <a:t>②3ヶ月連続掲載のレバーを探す</a:t>
            </a:r>
            <a:endParaRPr sz="1200">
              <a:solidFill>
                <a:schemeClr val="lt1"/>
              </a:solidFill>
              <a:latin typeface="M PLUS 1p"/>
              <a:ea typeface="M PLUS 1p"/>
              <a:cs typeface="M PLUS 1p"/>
              <a:sym typeface="M PLUS 1p"/>
            </a:endParaRPr>
          </a:p>
        </p:txBody>
      </p:sp>
      <p:sp>
        <p:nvSpPr>
          <p:cNvPr id="331" name="Google Shape;331;p25"/>
          <p:cNvSpPr/>
          <p:nvPr/>
        </p:nvSpPr>
        <p:spPr>
          <a:xfrm>
            <a:off x="2359500" y="2812325"/>
            <a:ext cx="159600" cy="423300"/>
          </a:xfrm>
          <a:prstGeom prst="upArrow">
            <a:avLst>
              <a:gd fmla="val 50000" name="adj1"/>
              <a:gd fmla="val 50000" name="adj2"/>
            </a:avLst>
          </a:prstGeom>
          <a:solidFill>
            <a:srgbClr val="0B539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2" name="Google Shape;332;p25"/>
          <p:cNvSpPr/>
          <p:nvPr/>
        </p:nvSpPr>
        <p:spPr>
          <a:xfrm>
            <a:off x="4622625" y="3878725"/>
            <a:ext cx="159600" cy="423300"/>
          </a:xfrm>
          <a:prstGeom prst="upArrow">
            <a:avLst>
              <a:gd fmla="val 50000" name="adj1"/>
              <a:gd fmla="val 50000" name="adj2"/>
            </a:avLst>
          </a:prstGeom>
          <a:solidFill>
            <a:srgbClr val="FFD7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3" name="Google Shape;333;p25"/>
          <p:cNvSpPr txBox="1"/>
          <p:nvPr/>
        </p:nvSpPr>
        <p:spPr>
          <a:xfrm>
            <a:off x="820075" y="728034"/>
            <a:ext cx="7710000" cy="3057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None/>
            </a:pPr>
            <a:r>
              <a:rPr lang="ja" sz="800">
                <a:solidFill>
                  <a:srgbClr val="1F1F1F"/>
                </a:solidFill>
                <a:latin typeface="M PLUS 1p"/>
                <a:ea typeface="M PLUS 1p"/>
                <a:cs typeface="M PLUS 1p"/>
                <a:sym typeface="M PLUS 1p"/>
              </a:rPr>
              <a:t>※線の太さは、そのルートを辿る店舗の多</a:t>
            </a:r>
            <a:r>
              <a:rPr lang="ja" sz="800">
                <a:solidFill>
                  <a:srgbClr val="1F1F1F"/>
                </a:solidFill>
                <a:latin typeface="M PLUS 1p"/>
                <a:ea typeface="M PLUS 1p"/>
                <a:cs typeface="M PLUS 1p"/>
                <a:sym typeface="M PLUS 1p"/>
              </a:rPr>
              <a:t>い</a:t>
            </a:r>
            <a:r>
              <a:rPr lang="ja" sz="800">
                <a:solidFill>
                  <a:srgbClr val="1F1F1F"/>
                </a:solidFill>
                <a:latin typeface="M PLUS 1p"/>
                <a:ea typeface="M PLUS 1p"/>
                <a:cs typeface="M PLUS 1p"/>
                <a:sym typeface="M PLUS 1p"/>
              </a:rPr>
              <a:t>/少ないを表現</a:t>
            </a:r>
            <a:endParaRPr sz="800">
              <a:solidFill>
                <a:srgbClr val="1F1F1F"/>
              </a:solidFill>
              <a:latin typeface="M PLUS 1p"/>
              <a:ea typeface="M PLUS 1p"/>
              <a:cs typeface="M PLUS 1p"/>
              <a:sym typeface="M PLUS 1p"/>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7900"/>
        </a:solidFill>
      </p:bgPr>
    </p:bg>
    <p:spTree>
      <p:nvGrpSpPr>
        <p:cNvPr id="337" name="Shape 337"/>
        <p:cNvGrpSpPr/>
        <p:nvPr/>
      </p:nvGrpSpPr>
      <p:grpSpPr>
        <a:xfrm>
          <a:off x="0" y="0"/>
          <a:ext cx="0" cy="0"/>
          <a:chOff x="0" y="0"/>
          <a:chExt cx="0" cy="0"/>
        </a:xfrm>
      </p:grpSpPr>
      <p:sp>
        <p:nvSpPr>
          <p:cNvPr id="338" name="Google Shape;338;p26"/>
          <p:cNvSpPr txBox="1"/>
          <p:nvPr/>
        </p:nvSpPr>
        <p:spPr>
          <a:xfrm>
            <a:off x="1028250" y="2200650"/>
            <a:ext cx="7087500" cy="742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ja" sz="3200">
                <a:solidFill>
                  <a:srgbClr val="FFFFFF"/>
                </a:solidFill>
                <a:latin typeface="M PLUS 1p"/>
                <a:ea typeface="M PLUS 1p"/>
                <a:cs typeface="M PLUS 1p"/>
                <a:sym typeface="M PLUS 1p"/>
              </a:rPr>
              <a:t>なぜ「3ヶ月連続」掲載なのか</a:t>
            </a:r>
            <a:endParaRPr b="1" sz="3200">
              <a:solidFill>
                <a:srgbClr val="FFFFFF"/>
              </a:solidFill>
              <a:latin typeface="M PLUS 1p"/>
              <a:ea typeface="M PLUS 1p"/>
              <a:cs typeface="M PLUS 1p"/>
              <a:sym typeface="M PLUS 1p"/>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2" name="Shape 342"/>
        <p:cNvGrpSpPr/>
        <p:nvPr/>
      </p:nvGrpSpPr>
      <p:grpSpPr>
        <a:xfrm>
          <a:off x="0" y="0"/>
          <a:ext cx="0" cy="0"/>
          <a:chOff x="0" y="0"/>
          <a:chExt cx="0" cy="0"/>
        </a:xfrm>
      </p:grpSpPr>
      <p:sp>
        <p:nvSpPr>
          <p:cNvPr id="343" name="Google Shape;343;p27"/>
          <p:cNvSpPr txBox="1"/>
          <p:nvPr/>
        </p:nvSpPr>
        <p:spPr>
          <a:xfrm>
            <a:off x="432350" y="860575"/>
            <a:ext cx="8620500" cy="39558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None/>
            </a:pPr>
            <a:r>
              <a:rPr b="1" lang="ja" sz="1600">
                <a:solidFill>
                  <a:schemeClr val="dk1"/>
                </a:solidFill>
                <a:latin typeface="M PLUS 1p"/>
                <a:ea typeface="M PLUS 1p"/>
                <a:cs typeface="M PLUS 1p"/>
                <a:sym typeface="M PLUS 1p"/>
              </a:rPr>
              <a:t>[分析の目的]</a:t>
            </a:r>
            <a:endParaRPr b="1" sz="1600">
              <a:solidFill>
                <a:schemeClr val="dk1"/>
              </a:solidFill>
              <a:latin typeface="M PLUS 1p"/>
              <a:ea typeface="M PLUS 1p"/>
              <a:cs typeface="M PLUS 1p"/>
              <a:sym typeface="M PLUS 1p"/>
            </a:endParaRPr>
          </a:p>
          <a:p>
            <a:pPr indent="-330200" lvl="0" marL="457200" rtl="0" algn="l">
              <a:lnSpc>
                <a:spcPct val="120000"/>
              </a:lnSpc>
              <a:spcBef>
                <a:spcPts val="0"/>
              </a:spcBef>
              <a:spcAft>
                <a:spcPts val="0"/>
              </a:spcAft>
              <a:buClr>
                <a:schemeClr val="dk1"/>
              </a:buClr>
              <a:buSzPts val="1600"/>
              <a:buFont typeface="M PLUS 1p"/>
              <a:buChar char="●"/>
            </a:pPr>
            <a:r>
              <a:rPr lang="ja" sz="1600">
                <a:solidFill>
                  <a:schemeClr val="dk1"/>
                </a:solidFill>
                <a:latin typeface="M PLUS 1p"/>
                <a:ea typeface="M PLUS 1p"/>
                <a:cs typeface="M PLUS 1p"/>
                <a:sym typeface="M PLUS 1p"/>
              </a:rPr>
              <a:t>「中長期的な継続」を実現するために、中長期の全体感を把握し、</a:t>
            </a:r>
            <a:r>
              <a:rPr lang="ja" sz="1600">
                <a:solidFill>
                  <a:schemeClr val="dk1"/>
                </a:solidFill>
                <a:latin typeface="M PLUS 1p"/>
                <a:ea typeface="M PLUS 1p"/>
                <a:cs typeface="M PLUS 1p"/>
                <a:sym typeface="M PLUS 1p"/>
              </a:rPr>
              <a:t>あるべき掲載パターン</a:t>
            </a:r>
            <a:r>
              <a:rPr lang="ja" sz="1600">
                <a:solidFill>
                  <a:schemeClr val="dk1"/>
                </a:solidFill>
                <a:latin typeface="M PLUS 1p"/>
                <a:ea typeface="M PLUS 1p"/>
                <a:cs typeface="M PLUS 1p"/>
                <a:sym typeface="M PLUS 1p"/>
              </a:rPr>
              <a:t>を考えるため</a:t>
            </a:r>
            <a:endParaRPr sz="1600">
              <a:solidFill>
                <a:schemeClr val="dk1"/>
              </a:solidFill>
              <a:latin typeface="M PLUS 1p"/>
              <a:ea typeface="M PLUS 1p"/>
              <a:cs typeface="M PLUS 1p"/>
              <a:sym typeface="M PLUS 1p"/>
            </a:endParaRPr>
          </a:p>
          <a:p>
            <a:pPr indent="0" lvl="0" marL="0" rtl="0" algn="l">
              <a:lnSpc>
                <a:spcPct val="120000"/>
              </a:lnSpc>
              <a:spcBef>
                <a:spcPts val="0"/>
              </a:spcBef>
              <a:spcAft>
                <a:spcPts val="0"/>
              </a:spcAft>
              <a:buNone/>
            </a:pPr>
            <a:r>
              <a:rPr b="1" lang="ja" sz="1600">
                <a:solidFill>
                  <a:schemeClr val="dk1"/>
                </a:solidFill>
                <a:latin typeface="M PLUS 1p"/>
                <a:ea typeface="M PLUS 1p"/>
                <a:cs typeface="M PLUS 1p"/>
                <a:sym typeface="M PLUS 1p"/>
              </a:rPr>
              <a:t>[行った分析]</a:t>
            </a:r>
            <a:endParaRPr b="1" sz="1600">
              <a:solidFill>
                <a:schemeClr val="dk1"/>
              </a:solidFill>
              <a:latin typeface="M PLUS 1p"/>
              <a:ea typeface="M PLUS 1p"/>
              <a:cs typeface="M PLUS 1p"/>
              <a:sym typeface="M PLUS 1p"/>
            </a:endParaRPr>
          </a:p>
          <a:p>
            <a:pPr indent="-330200" lvl="0" marL="457200" rtl="0" algn="l">
              <a:lnSpc>
                <a:spcPct val="120000"/>
              </a:lnSpc>
              <a:spcBef>
                <a:spcPts val="0"/>
              </a:spcBef>
              <a:spcAft>
                <a:spcPts val="0"/>
              </a:spcAft>
              <a:buClr>
                <a:schemeClr val="dk1"/>
              </a:buClr>
              <a:buSzPts val="1600"/>
              <a:buFont typeface="M PLUS 1p"/>
              <a:buChar char="●"/>
            </a:pPr>
            <a:r>
              <a:rPr lang="ja" sz="1600">
                <a:solidFill>
                  <a:schemeClr val="dk1"/>
                </a:solidFill>
                <a:latin typeface="M PLUS 1p"/>
                <a:ea typeface="M PLUS 1p"/>
                <a:cs typeface="M PLUS 1p"/>
                <a:sym typeface="M PLUS 1p"/>
              </a:rPr>
              <a:t>掲載初月</a:t>
            </a:r>
            <a:r>
              <a:rPr lang="ja" sz="1600">
                <a:solidFill>
                  <a:schemeClr val="dk1"/>
                </a:solidFill>
                <a:latin typeface="M PLUS 1p"/>
                <a:ea typeface="M PLUS 1p"/>
                <a:cs typeface="M PLUS 1p"/>
                <a:sym typeface="M PLUS 1p"/>
              </a:rPr>
              <a:t>から</a:t>
            </a:r>
            <a:r>
              <a:rPr lang="ja" sz="1600">
                <a:solidFill>
                  <a:schemeClr val="dk1"/>
                </a:solidFill>
                <a:latin typeface="M PLUS 1p"/>
                <a:ea typeface="M PLUS 1p"/>
                <a:cs typeface="M PLUS 1p"/>
                <a:sym typeface="M PLUS 1p"/>
              </a:rPr>
              <a:t>の連続掲載月数とその後の</a:t>
            </a:r>
            <a:r>
              <a:rPr lang="ja" sz="1600">
                <a:solidFill>
                  <a:schemeClr val="dk1"/>
                </a:solidFill>
                <a:latin typeface="M PLUS 1p"/>
                <a:ea typeface="M PLUS 1p"/>
                <a:cs typeface="M PLUS 1p"/>
                <a:sym typeface="M PLUS 1p"/>
              </a:rPr>
              <a:t>AA率</a:t>
            </a:r>
            <a:r>
              <a:rPr lang="ja" sz="1600">
                <a:solidFill>
                  <a:schemeClr val="dk1"/>
                </a:solidFill>
                <a:latin typeface="M PLUS 1p"/>
                <a:ea typeface="M PLUS 1p"/>
                <a:cs typeface="M PLUS 1p"/>
                <a:sym typeface="M PLUS 1p"/>
              </a:rPr>
              <a:t>の関係を確認した</a:t>
            </a:r>
            <a:endParaRPr sz="1600">
              <a:solidFill>
                <a:schemeClr val="dk1"/>
              </a:solidFill>
              <a:latin typeface="M PLUS 1p"/>
              <a:ea typeface="M PLUS 1p"/>
              <a:cs typeface="M PLUS 1p"/>
              <a:sym typeface="M PLUS 1p"/>
            </a:endParaRPr>
          </a:p>
          <a:p>
            <a:pPr indent="-330200" lvl="0" marL="457200" rtl="0" algn="l">
              <a:lnSpc>
                <a:spcPct val="120000"/>
              </a:lnSpc>
              <a:spcBef>
                <a:spcPts val="0"/>
              </a:spcBef>
              <a:spcAft>
                <a:spcPts val="0"/>
              </a:spcAft>
              <a:buClr>
                <a:schemeClr val="dk1"/>
              </a:buClr>
              <a:buSzPts val="1600"/>
              <a:buFont typeface="M PLUS 1p"/>
              <a:buChar char="●"/>
            </a:pPr>
            <a:r>
              <a:rPr lang="ja" sz="1600">
                <a:solidFill>
                  <a:schemeClr val="dk1"/>
                </a:solidFill>
                <a:latin typeface="M PLUS 1p"/>
                <a:ea typeface="M PLUS 1p"/>
                <a:cs typeface="M PLUS 1p"/>
                <a:sym typeface="M PLUS 1p"/>
              </a:rPr>
              <a:t>連続掲載後の離脱とその後のAA率の関係を確認した</a:t>
            </a:r>
            <a:endParaRPr sz="1600">
              <a:solidFill>
                <a:schemeClr val="dk1"/>
              </a:solidFill>
              <a:latin typeface="M PLUS 1p"/>
              <a:ea typeface="M PLUS 1p"/>
              <a:cs typeface="M PLUS 1p"/>
              <a:sym typeface="M PLUS 1p"/>
            </a:endParaRPr>
          </a:p>
          <a:p>
            <a:pPr indent="0" lvl="0" marL="0" rtl="0" algn="l">
              <a:lnSpc>
                <a:spcPct val="120000"/>
              </a:lnSpc>
              <a:spcBef>
                <a:spcPts val="0"/>
              </a:spcBef>
              <a:spcAft>
                <a:spcPts val="0"/>
              </a:spcAft>
              <a:buNone/>
            </a:pPr>
            <a:r>
              <a:rPr b="1" lang="ja" sz="1600">
                <a:solidFill>
                  <a:schemeClr val="dk1"/>
                </a:solidFill>
                <a:latin typeface="M PLUS 1p"/>
                <a:ea typeface="M PLUS 1p"/>
                <a:cs typeface="M PLUS 1p"/>
                <a:sym typeface="M PLUS 1p"/>
              </a:rPr>
              <a:t>[得られた示唆]</a:t>
            </a:r>
            <a:endParaRPr sz="1600">
              <a:solidFill>
                <a:schemeClr val="dk1"/>
              </a:solidFill>
              <a:latin typeface="M PLUS 1p"/>
              <a:ea typeface="M PLUS 1p"/>
              <a:cs typeface="M PLUS 1p"/>
              <a:sym typeface="M PLUS 1p"/>
            </a:endParaRPr>
          </a:p>
          <a:p>
            <a:pPr indent="-330200" lvl="0" marL="457200" rtl="0" algn="l">
              <a:lnSpc>
                <a:spcPct val="120000"/>
              </a:lnSpc>
              <a:spcBef>
                <a:spcPts val="0"/>
              </a:spcBef>
              <a:spcAft>
                <a:spcPts val="0"/>
              </a:spcAft>
              <a:buClr>
                <a:schemeClr val="dk1"/>
              </a:buClr>
              <a:buSzPts val="1600"/>
              <a:buFont typeface="M PLUS 1p"/>
              <a:buChar char="●"/>
            </a:pPr>
            <a:r>
              <a:rPr lang="ja" sz="1600">
                <a:solidFill>
                  <a:schemeClr val="dk1"/>
                </a:solidFill>
                <a:latin typeface="M PLUS 1p"/>
                <a:ea typeface="M PLUS 1p"/>
                <a:cs typeface="M PLUS 1p"/>
                <a:sym typeface="M PLUS 1p"/>
              </a:rPr>
              <a:t>初月から</a:t>
            </a:r>
            <a:r>
              <a:rPr lang="ja" sz="1600">
                <a:solidFill>
                  <a:srgbClr val="FF0000"/>
                </a:solidFill>
                <a:latin typeface="M PLUS 1p"/>
                <a:ea typeface="M PLUS 1p"/>
                <a:cs typeface="M PLUS 1p"/>
                <a:sym typeface="M PLUS 1p"/>
              </a:rPr>
              <a:t>3ヶ月以上連続掲載</a:t>
            </a:r>
            <a:r>
              <a:rPr lang="ja" sz="1600">
                <a:solidFill>
                  <a:schemeClr val="dk1"/>
                </a:solidFill>
                <a:latin typeface="M PLUS 1p"/>
                <a:ea typeface="M PLUS 1p"/>
                <a:cs typeface="M PLUS 1p"/>
                <a:sym typeface="M PLUS 1p"/>
              </a:rPr>
              <a:t>することで、その後のAA率は50%以上で安定する</a:t>
            </a:r>
            <a:endParaRPr sz="1600">
              <a:solidFill>
                <a:schemeClr val="dk1"/>
              </a:solidFill>
              <a:latin typeface="M PLUS 1p"/>
              <a:ea typeface="M PLUS 1p"/>
              <a:cs typeface="M PLUS 1p"/>
              <a:sym typeface="M PLUS 1p"/>
            </a:endParaRPr>
          </a:p>
          <a:p>
            <a:pPr indent="-330200" lvl="0" marL="457200" rtl="0" algn="l">
              <a:lnSpc>
                <a:spcPct val="120000"/>
              </a:lnSpc>
              <a:spcBef>
                <a:spcPts val="0"/>
              </a:spcBef>
              <a:spcAft>
                <a:spcPts val="0"/>
              </a:spcAft>
              <a:buClr>
                <a:schemeClr val="dk1"/>
              </a:buClr>
              <a:buSzPts val="1600"/>
              <a:buFont typeface="M PLUS 1p"/>
              <a:buChar char="●"/>
            </a:pPr>
            <a:r>
              <a:rPr lang="ja" sz="1600">
                <a:solidFill>
                  <a:schemeClr val="dk1"/>
                </a:solidFill>
                <a:latin typeface="M PLUS 1p"/>
                <a:ea typeface="M PLUS 1p"/>
                <a:cs typeface="M PLUS 1p"/>
                <a:sym typeface="M PLUS 1p"/>
              </a:rPr>
              <a:t>初月から</a:t>
            </a:r>
            <a:r>
              <a:rPr lang="ja" sz="1600">
                <a:solidFill>
                  <a:srgbClr val="FF0000"/>
                </a:solidFill>
                <a:latin typeface="M PLUS 1p"/>
                <a:ea typeface="M PLUS 1p"/>
                <a:cs typeface="M PLUS 1p"/>
                <a:sym typeface="M PLUS 1p"/>
              </a:rPr>
              <a:t>3ヶ月以上連続掲載</a:t>
            </a:r>
            <a:r>
              <a:rPr lang="ja" sz="1600">
                <a:solidFill>
                  <a:schemeClr val="dk1"/>
                </a:solidFill>
                <a:latin typeface="M PLUS 1p"/>
                <a:ea typeface="M PLUS 1p"/>
                <a:cs typeface="M PLUS 1p"/>
                <a:sym typeface="M PLUS 1p"/>
              </a:rPr>
              <a:t>していれば一度離脱した場合でもAA率は30%以上になる</a:t>
            </a:r>
            <a:endParaRPr sz="1600">
              <a:solidFill>
                <a:schemeClr val="dk1"/>
              </a:solidFill>
              <a:latin typeface="M PLUS 1p"/>
              <a:ea typeface="M PLUS 1p"/>
              <a:cs typeface="M PLUS 1p"/>
              <a:sym typeface="M PLUS 1p"/>
            </a:endParaRPr>
          </a:p>
          <a:p>
            <a:pPr indent="-330200" lvl="0" marL="457200" rtl="0" algn="l">
              <a:lnSpc>
                <a:spcPct val="120000"/>
              </a:lnSpc>
              <a:spcBef>
                <a:spcPts val="0"/>
              </a:spcBef>
              <a:spcAft>
                <a:spcPts val="0"/>
              </a:spcAft>
              <a:buClr>
                <a:schemeClr val="dk1"/>
              </a:buClr>
              <a:buSzPts val="1600"/>
              <a:buFont typeface="M PLUS 1p"/>
              <a:buChar char="●"/>
            </a:pPr>
            <a:r>
              <a:rPr lang="ja" sz="1600">
                <a:solidFill>
                  <a:schemeClr val="dk1"/>
                </a:solidFill>
                <a:latin typeface="M PLUS 1p"/>
                <a:ea typeface="M PLUS 1p"/>
                <a:cs typeface="M PLUS 1p"/>
                <a:sym typeface="M PLUS 1p"/>
              </a:rPr>
              <a:t>初回掲載の店舗に安定して利用するには初回掲載から3ヶ月以上連続で掲載させるべきである</a:t>
            </a:r>
            <a:endParaRPr sz="1600">
              <a:solidFill>
                <a:schemeClr val="dk1"/>
              </a:solidFill>
              <a:latin typeface="M PLUS 1p"/>
              <a:ea typeface="M PLUS 1p"/>
              <a:cs typeface="M PLUS 1p"/>
              <a:sym typeface="M PLUS 1p"/>
            </a:endParaRPr>
          </a:p>
          <a:p>
            <a:pPr indent="0" lvl="0" marL="0" rtl="0" algn="l">
              <a:lnSpc>
                <a:spcPct val="120000"/>
              </a:lnSpc>
              <a:spcBef>
                <a:spcPts val="0"/>
              </a:spcBef>
              <a:spcAft>
                <a:spcPts val="0"/>
              </a:spcAft>
              <a:buNone/>
            </a:pPr>
            <a:r>
              <a:t/>
            </a:r>
            <a:endParaRPr sz="1600">
              <a:solidFill>
                <a:schemeClr val="dk1"/>
              </a:solidFill>
              <a:latin typeface="M PLUS 1p"/>
              <a:ea typeface="M PLUS 1p"/>
              <a:cs typeface="M PLUS 1p"/>
              <a:sym typeface="M PLUS 1p"/>
            </a:endParaRPr>
          </a:p>
          <a:p>
            <a:pPr indent="0" lvl="0" marL="0" rtl="0" algn="l">
              <a:lnSpc>
                <a:spcPct val="120000"/>
              </a:lnSpc>
              <a:spcBef>
                <a:spcPts val="0"/>
              </a:spcBef>
              <a:spcAft>
                <a:spcPts val="0"/>
              </a:spcAft>
              <a:buNone/>
            </a:pPr>
            <a:r>
              <a:rPr lang="ja" sz="1600">
                <a:solidFill>
                  <a:schemeClr val="dk1"/>
                </a:solidFill>
                <a:latin typeface="M PLUS 1p"/>
                <a:ea typeface="M PLUS 1p"/>
                <a:cs typeface="M PLUS 1p"/>
                <a:sym typeface="M PLUS 1p"/>
              </a:rPr>
              <a:t>（※AA率 = 該当月で掲載した店舗数 ÷ 初回掲載した店舗数)</a:t>
            </a:r>
            <a:endParaRPr sz="1600">
              <a:solidFill>
                <a:schemeClr val="dk1"/>
              </a:solidFill>
              <a:latin typeface="M PLUS 1p"/>
              <a:ea typeface="M PLUS 1p"/>
              <a:cs typeface="M PLUS 1p"/>
              <a:sym typeface="M PLUS 1p"/>
            </a:endParaRPr>
          </a:p>
        </p:txBody>
      </p:sp>
      <p:sp>
        <p:nvSpPr>
          <p:cNvPr id="344" name="Google Shape;344;p27"/>
          <p:cNvSpPr/>
          <p:nvPr/>
        </p:nvSpPr>
        <p:spPr>
          <a:xfrm>
            <a:off x="342900" y="365275"/>
            <a:ext cx="342900" cy="342900"/>
          </a:xfrm>
          <a:prstGeom prst="ellipse">
            <a:avLst/>
          </a:prstGeom>
          <a:solidFill>
            <a:srgbClr val="FF79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27"/>
          <p:cNvSpPr txBox="1"/>
          <p:nvPr/>
        </p:nvSpPr>
        <p:spPr>
          <a:xfrm>
            <a:off x="387600" y="335450"/>
            <a:ext cx="298200" cy="30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300">
                <a:solidFill>
                  <a:srgbClr val="FFFFFF"/>
                </a:solidFill>
                <a:latin typeface="Zen Kaku Gothic New"/>
                <a:ea typeface="Zen Kaku Gothic New"/>
                <a:cs typeface="Zen Kaku Gothic New"/>
                <a:sym typeface="Zen Kaku Gothic New"/>
              </a:rPr>
              <a:t>1</a:t>
            </a:r>
            <a:endParaRPr b="1" sz="1300">
              <a:solidFill>
                <a:srgbClr val="FFFFFF"/>
              </a:solidFill>
              <a:latin typeface="Zen Kaku Gothic New"/>
              <a:ea typeface="Zen Kaku Gothic New"/>
              <a:cs typeface="Zen Kaku Gothic New"/>
              <a:sym typeface="Zen Kaku Gothic New"/>
            </a:endParaRPr>
          </a:p>
        </p:txBody>
      </p:sp>
      <p:sp>
        <p:nvSpPr>
          <p:cNvPr id="346" name="Google Shape;346;p27"/>
          <p:cNvSpPr txBox="1"/>
          <p:nvPr/>
        </p:nvSpPr>
        <p:spPr>
          <a:xfrm>
            <a:off x="8136000" y="104275"/>
            <a:ext cx="916800" cy="190200"/>
          </a:xfrm>
          <a:prstGeom prst="rect">
            <a:avLst/>
          </a:prstGeom>
          <a:solidFill>
            <a:srgbClr val="DC0451"/>
          </a:solidFill>
          <a:ln>
            <a:noFill/>
          </a:ln>
        </p:spPr>
        <p:txBody>
          <a:bodyPr anchorCtr="0" anchor="t" bIns="91425" lIns="91425" spcFirstLastPara="1" rIns="91425" wrap="square" tIns="91425">
            <a:noAutofit/>
          </a:bodyPr>
          <a:lstStyle/>
          <a:p>
            <a:pPr indent="0" lvl="0" marL="0" rtl="0" algn="ctr">
              <a:lnSpc>
                <a:spcPct val="50000"/>
              </a:lnSpc>
              <a:spcBef>
                <a:spcPts val="0"/>
              </a:spcBef>
              <a:spcAft>
                <a:spcPts val="0"/>
              </a:spcAft>
              <a:buNone/>
            </a:pPr>
            <a:r>
              <a:rPr b="1" lang="ja" sz="700">
                <a:solidFill>
                  <a:srgbClr val="FFFFFF"/>
                </a:solidFill>
                <a:latin typeface="M PLUS 1p"/>
                <a:ea typeface="M PLUS 1p"/>
                <a:cs typeface="M PLUS 1p"/>
                <a:sym typeface="M PLUS 1p"/>
              </a:rPr>
              <a:t>CONFIDENTIAL</a:t>
            </a:r>
            <a:endParaRPr b="1" sz="700">
              <a:solidFill>
                <a:srgbClr val="FFFFFF"/>
              </a:solidFill>
              <a:latin typeface="M PLUS 1p"/>
              <a:ea typeface="M PLUS 1p"/>
              <a:cs typeface="M PLUS 1p"/>
              <a:sym typeface="M PLUS 1p"/>
            </a:endParaRPr>
          </a:p>
        </p:txBody>
      </p:sp>
      <p:sp>
        <p:nvSpPr>
          <p:cNvPr id="347" name="Google Shape;347;p2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348" name="Google Shape;348;p27"/>
          <p:cNvSpPr txBox="1"/>
          <p:nvPr/>
        </p:nvSpPr>
        <p:spPr>
          <a:xfrm>
            <a:off x="712300" y="294475"/>
            <a:ext cx="7710000" cy="48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2000">
                <a:solidFill>
                  <a:srgbClr val="1F1F1F"/>
                </a:solidFill>
                <a:latin typeface="M PLUS 1p"/>
                <a:ea typeface="M PLUS 1p"/>
                <a:cs typeface="M PLUS 1p"/>
                <a:sym typeface="M PLUS 1p"/>
              </a:rPr>
              <a:t>分析と示唆のまとめ</a:t>
            </a:r>
            <a:endParaRPr b="1" sz="2000">
              <a:solidFill>
                <a:srgbClr val="1F1F1F"/>
              </a:solidFill>
              <a:latin typeface="M PLUS 1p"/>
              <a:ea typeface="M PLUS 1p"/>
              <a:cs typeface="M PLUS 1p"/>
              <a:sym typeface="M PLUS 1p"/>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52" name="Shape 352"/>
        <p:cNvGrpSpPr/>
        <p:nvPr/>
      </p:nvGrpSpPr>
      <p:grpSpPr>
        <a:xfrm>
          <a:off x="0" y="0"/>
          <a:ext cx="0" cy="0"/>
          <a:chOff x="0" y="0"/>
          <a:chExt cx="0" cy="0"/>
        </a:xfrm>
      </p:grpSpPr>
      <p:sp>
        <p:nvSpPr>
          <p:cNvPr id="353" name="Google Shape;353;p28"/>
          <p:cNvSpPr/>
          <p:nvPr/>
        </p:nvSpPr>
        <p:spPr>
          <a:xfrm>
            <a:off x="342900" y="365275"/>
            <a:ext cx="342900" cy="342900"/>
          </a:xfrm>
          <a:prstGeom prst="ellipse">
            <a:avLst/>
          </a:prstGeom>
          <a:solidFill>
            <a:srgbClr val="FF79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28"/>
          <p:cNvSpPr txBox="1"/>
          <p:nvPr/>
        </p:nvSpPr>
        <p:spPr>
          <a:xfrm>
            <a:off x="387600" y="335450"/>
            <a:ext cx="298200" cy="30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300">
                <a:solidFill>
                  <a:srgbClr val="FFFFFF"/>
                </a:solidFill>
                <a:latin typeface="Zen Kaku Gothic New"/>
                <a:ea typeface="Zen Kaku Gothic New"/>
                <a:cs typeface="Zen Kaku Gothic New"/>
                <a:sym typeface="Zen Kaku Gothic New"/>
              </a:rPr>
              <a:t>2</a:t>
            </a:r>
            <a:endParaRPr b="1" sz="1300">
              <a:solidFill>
                <a:srgbClr val="FFFFFF"/>
              </a:solidFill>
              <a:latin typeface="Zen Kaku Gothic New"/>
              <a:ea typeface="Zen Kaku Gothic New"/>
              <a:cs typeface="Zen Kaku Gothic New"/>
              <a:sym typeface="Zen Kaku Gothic New"/>
            </a:endParaRPr>
          </a:p>
        </p:txBody>
      </p:sp>
      <p:sp>
        <p:nvSpPr>
          <p:cNvPr id="355" name="Google Shape;355;p28"/>
          <p:cNvSpPr txBox="1"/>
          <p:nvPr/>
        </p:nvSpPr>
        <p:spPr>
          <a:xfrm>
            <a:off x="8136000" y="104275"/>
            <a:ext cx="916800" cy="190200"/>
          </a:xfrm>
          <a:prstGeom prst="rect">
            <a:avLst/>
          </a:prstGeom>
          <a:solidFill>
            <a:srgbClr val="DC0451"/>
          </a:solidFill>
          <a:ln>
            <a:noFill/>
          </a:ln>
        </p:spPr>
        <p:txBody>
          <a:bodyPr anchorCtr="0" anchor="t" bIns="91425" lIns="91425" spcFirstLastPara="1" rIns="91425" wrap="square" tIns="91425">
            <a:noAutofit/>
          </a:bodyPr>
          <a:lstStyle/>
          <a:p>
            <a:pPr indent="0" lvl="0" marL="0" rtl="0" algn="ctr">
              <a:lnSpc>
                <a:spcPct val="50000"/>
              </a:lnSpc>
              <a:spcBef>
                <a:spcPts val="0"/>
              </a:spcBef>
              <a:spcAft>
                <a:spcPts val="0"/>
              </a:spcAft>
              <a:buNone/>
            </a:pPr>
            <a:r>
              <a:rPr b="1" lang="ja" sz="700">
                <a:solidFill>
                  <a:srgbClr val="FFFFFF"/>
                </a:solidFill>
                <a:latin typeface="M PLUS 1p"/>
                <a:ea typeface="M PLUS 1p"/>
                <a:cs typeface="M PLUS 1p"/>
                <a:sym typeface="M PLUS 1p"/>
              </a:rPr>
              <a:t>CONFIDENTIAL</a:t>
            </a:r>
            <a:endParaRPr b="1" sz="700">
              <a:solidFill>
                <a:srgbClr val="FFFFFF"/>
              </a:solidFill>
              <a:latin typeface="M PLUS 1p"/>
              <a:ea typeface="M PLUS 1p"/>
              <a:cs typeface="M PLUS 1p"/>
              <a:sym typeface="M PLUS 1p"/>
            </a:endParaRPr>
          </a:p>
        </p:txBody>
      </p:sp>
      <p:sp>
        <p:nvSpPr>
          <p:cNvPr id="356" name="Google Shape;356;p2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357" name="Google Shape;357;p28"/>
          <p:cNvSpPr txBox="1"/>
          <p:nvPr/>
        </p:nvSpPr>
        <p:spPr>
          <a:xfrm>
            <a:off x="712300" y="294475"/>
            <a:ext cx="7710000" cy="48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2000">
                <a:solidFill>
                  <a:srgbClr val="1F1F1F"/>
                </a:solidFill>
                <a:latin typeface="M PLUS 1p"/>
                <a:ea typeface="M PLUS 1p"/>
                <a:cs typeface="M PLUS 1p"/>
                <a:sym typeface="M PLUS 1p"/>
              </a:rPr>
              <a:t>初回から</a:t>
            </a:r>
            <a:r>
              <a:rPr b="1" lang="ja" sz="2000">
                <a:solidFill>
                  <a:srgbClr val="1F1F1F"/>
                </a:solidFill>
                <a:latin typeface="M PLUS 1p"/>
                <a:ea typeface="M PLUS 1p"/>
                <a:cs typeface="M PLUS 1p"/>
                <a:sym typeface="M PLUS 1p"/>
              </a:rPr>
              <a:t>何ヶ月連続で掲載すると、AA率は安定するのか</a:t>
            </a:r>
            <a:endParaRPr b="1" sz="2000">
              <a:solidFill>
                <a:srgbClr val="1F1F1F"/>
              </a:solidFill>
              <a:latin typeface="M PLUS 1p"/>
              <a:ea typeface="M PLUS 1p"/>
              <a:cs typeface="M PLUS 1p"/>
              <a:sym typeface="M PLUS 1p"/>
            </a:endParaRPr>
          </a:p>
        </p:txBody>
      </p:sp>
      <p:sp>
        <p:nvSpPr>
          <p:cNvPr id="358" name="Google Shape;358;p28"/>
          <p:cNvSpPr txBox="1"/>
          <p:nvPr/>
        </p:nvSpPr>
        <p:spPr>
          <a:xfrm>
            <a:off x="432350" y="860575"/>
            <a:ext cx="8620500" cy="1239900"/>
          </a:xfrm>
          <a:prstGeom prst="rect">
            <a:avLst/>
          </a:prstGeom>
          <a:noFill/>
          <a:ln>
            <a:noFill/>
          </a:ln>
        </p:spPr>
        <p:txBody>
          <a:bodyPr anchorCtr="0" anchor="t" bIns="91425" lIns="91425" spcFirstLastPara="1" rIns="91425" wrap="square" tIns="91425">
            <a:noAutofit/>
          </a:bodyPr>
          <a:lstStyle/>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「中長期的な継続」を目指す上で、初回連続掲載月数とAA率の関係を分析し、AA率が安定する掲載月数を明らかにしたい</a:t>
            </a:r>
            <a:endParaRPr sz="1600">
              <a:solidFill>
                <a:srgbClr val="1F1F1F"/>
              </a:solidFill>
              <a:latin typeface="M PLUS 1p"/>
              <a:ea typeface="M PLUS 1p"/>
              <a:cs typeface="M PLUS 1p"/>
              <a:sym typeface="M PLUS 1p"/>
            </a:endParaRPr>
          </a:p>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以下の表の「？」のAA率を計測することで、連続掲載月数とAA率の関係を確認した</a:t>
            </a:r>
            <a:endParaRPr sz="1600">
              <a:solidFill>
                <a:srgbClr val="1F1F1F"/>
              </a:solidFill>
              <a:latin typeface="M PLUS 1p"/>
              <a:ea typeface="M PLUS 1p"/>
              <a:cs typeface="M PLUS 1p"/>
              <a:sym typeface="M PLUS 1p"/>
            </a:endParaRPr>
          </a:p>
        </p:txBody>
      </p:sp>
      <p:pic>
        <p:nvPicPr>
          <p:cNvPr id="359" name="Google Shape;359;p28"/>
          <p:cNvPicPr preferRelativeResize="0"/>
          <p:nvPr/>
        </p:nvPicPr>
        <p:blipFill>
          <a:blip r:embed="rId3">
            <a:alphaModFix/>
          </a:blip>
          <a:stretch>
            <a:fillRect/>
          </a:stretch>
        </p:blipFill>
        <p:spPr>
          <a:xfrm>
            <a:off x="750800" y="2182079"/>
            <a:ext cx="7983601" cy="130592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FFFFF"/>
        </a:solidFill>
      </p:bgPr>
    </p:bg>
    <p:spTree>
      <p:nvGrpSpPr>
        <p:cNvPr id="363" name="Shape 363"/>
        <p:cNvGrpSpPr/>
        <p:nvPr/>
      </p:nvGrpSpPr>
      <p:grpSpPr>
        <a:xfrm>
          <a:off x="0" y="0"/>
          <a:ext cx="0" cy="0"/>
          <a:chOff x="0" y="0"/>
          <a:chExt cx="0" cy="0"/>
        </a:xfrm>
      </p:grpSpPr>
      <p:sp>
        <p:nvSpPr>
          <p:cNvPr id="364" name="Google Shape;364;p29"/>
          <p:cNvSpPr/>
          <p:nvPr/>
        </p:nvSpPr>
        <p:spPr>
          <a:xfrm>
            <a:off x="342900" y="365275"/>
            <a:ext cx="342900" cy="342900"/>
          </a:xfrm>
          <a:prstGeom prst="ellipse">
            <a:avLst/>
          </a:prstGeom>
          <a:solidFill>
            <a:srgbClr val="FF79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29"/>
          <p:cNvSpPr txBox="1"/>
          <p:nvPr/>
        </p:nvSpPr>
        <p:spPr>
          <a:xfrm>
            <a:off x="387600" y="335450"/>
            <a:ext cx="298200" cy="30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300">
                <a:solidFill>
                  <a:srgbClr val="FFFFFF"/>
                </a:solidFill>
                <a:latin typeface="Zen Kaku Gothic New"/>
                <a:ea typeface="Zen Kaku Gothic New"/>
                <a:cs typeface="Zen Kaku Gothic New"/>
                <a:sym typeface="Zen Kaku Gothic New"/>
              </a:rPr>
              <a:t>3</a:t>
            </a:r>
            <a:endParaRPr b="1" sz="1300">
              <a:solidFill>
                <a:srgbClr val="FFFFFF"/>
              </a:solidFill>
              <a:latin typeface="Zen Kaku Gothic New"/>
              <a:ea typeface="Zen Kaku Gothic New"/>
              <a:cs typeface="Zen Kaku Gothic New"/>
              <a:sym typeface="Zen Kaku Gothic New"/>
            </a:endParaRPr>
          </a:p>
        </p:txBody>
      </p:sp>
      <p:sp>
        <p:nvSpPr>
          <p:cNvPr id="366" name="Google Shape;366;p29"/>
          <p:cNvSpPr txBox="1"/>
          <p:nvPr/>
        </p:nvSpPr>
        <p:spPr>
          <a:xfrm>
            <a:off x="8136000" y="104275"/>
            <a:ext cx="916800" cy="190200"/>
          </a:xfrm>
          <a:prstGeom prst="rect">
            <a:avLst/>
          </a:prstGeom>
          <a:solidFill>
            <a:srgbClr val="DC0451"/>
          </a:solidFill>
          <a:ln>
            <a:noFill/>
          </a:ln>
        </p:spPr>
        <p:txBody>
          <a:bodyPr anchorCtr="0" anchor="t" bIns="91425" lIns="91425" spcFirstLastPara="1" rIns="91425" wrap="square" tIns="91425">
            <a:noAutofit/>
          </a:bodyPr>
          <a:lstStyle/>
          <a:p>
            <a:pPr indent="0" lvl="0" marL="0" rtl="0" algn="ctr">
              <a:lnSpc>
                <a:spcPct val="50000"/>
              </a:lnSpc>
              <a:spcBef>
                <a:spcPts val="0"/>
              </a:spcBef>
              <a:spcAft>
                <a:spcPts val="0"/>
              </a:spcAft>
              <a:buNone/>
            </a:pPr>
            <a:r>
              <a:rPr b="1" lang="ja" sz="700">
                <a:solidFill>
                  <a:srgbClr val="FFFFFF"/>
                </a:solidFill>
                <a:latin typeface="M PLUS 1p"/>
                <a:ea typeface="M PLUS 1p"/>
                <a:cs typeface="M PLUS 1p"/>
                <a:sym typeface="M PLUS 1p"/>
              </a:rPr>
              <a:t>CONFIDENTIAL</a:t>
            </a:r>
            <a:endParaRPr b="1" sz="700">
              <a:solidFill>
                <a:srgbClr val="FFFFFF"/>
              </a:solidFill>
              <a:latin typeface="M PLUS 1p"/>
              <a:ea typeface="M PLUS 1p"/>
              <a:cs typeface="M PLUS 1p"/>
              <a:sym typeface="M PLUS 1p"/>
            </a:endParaRPr>
          </a:p>
        </p:txBody>
      </p:sp>
      <p:sp>
        <p:nvSpPr>
          <p:cNvPr id="367" name="Google Shape;367;p2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368" name="Google Shape;368;p29"/>
          <p:cNvSpPr txBox="1"/>
          <p:nvPr/>
        </p:nvSpPr>
        <p:spPr>
          <a:xfrm>
            <a:off x="712300" y="294475"/>
            <a:ext cx="7710000" cy="48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2000">
                <a:solidFill>
                  <a:srgbClr val="1F1F1F"/>
                </a:solidFill>
                <a:latin typeface="M PLUS 1p"/>
                <a:ea typeface="M PLUS 1p"/>
                <a:cs typeface="M PLUS 1p"/>
                <a:sym typeface="M PLUS 1p"/>
              </a:rPr>
              <a:t>3ヶ月</a:t>
            </a:r>
            <a:r>
              <a:rPr b="1" lang="ja" sz="2000">
                <a:solidFill>
                  <a:srgbClr val="1F1F1F"/>
                </a:solidFill>
                <a:latin typeface="M PLUS 1p"/>
                <a:ea typeface="M PLUS 1p"/>
                <a:cs typeface="M PLUS 1p"/>
                <a:sym typeface="M PLUS 1p"/>
              </a:rPr>
              <a:t>連続掲載</a:t>
            </a:r>
            <a:r>
              <a:rPr b="1" lang="ja" sz="2000">
                <a:solidFill>
                  <a:srgbClr val="1F1F1F"/>
                </a:solidFill>
                <a:latin typeface="M PLUS 1p"/>
                <a:ea typeface="M PLUS 1p"/>
                <a:cs typeface="M PLUS 1p"/>
                <a:sym typeface="M PLUS 1p"/>
              </a:rPr>
              <a:t>するとAA率は50%以上で安定する</a:t>
            </a:r>
            <a:endParaRPr b="1" sz="2000">
              <a:solidFill>
                <a:srgbClr val="1F1F1F"/>
              </a:solidFill>
              <a:latin typeface="M PLUS 1p"/>
              <a:ea typeface="M PLUS 1p"/>
              <a:cs typeface="M PLUS 1p"/>
              <a:sym typeface="M PLUS 1p"/>
            </a:endParaRPr>
          </a:p>
        </p:txBody>
      </p:sp>
      <p:sp>
        <p:nvSpPr>
          <p:cNvPr id="369" name="Google Shape;369;p29"/>
          <p:cNvSpPr txBox="1"/>
          <p:nvPr/>
        </p:nvSpPr>
        <p:spPr>
          <a:xfrm>
            <a:off x="432350" y="860575"/>
            <a:ext cx="8620500" cy="1052400"/>
          </a:xfrm>
          <a:prstGeom prst="rect">
            <a:avLst/>
          </a:prstGeom>
          <a:noFill/>
          <a:ln>
            <a:noFill/>
          </a:ln>
        </p:spPr>
        <p:txBody>
          <a:bodyPr anchorCtr="0" anchor="t" bIns="91425" lIns="91425" spcFirstLastPara="1" rIns="91425" wrap="square" tIns="91425">
            <a:noAutofit/>
          </a:bodyPr>
          <a:lstStyle/>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1ヶ月(掲載初月)だけ掲載や2ヶ月連続掲載の場合、12ヶ月後にはAA率は50%を下回る</a:t>
            </a:r>
            <a:endParaRPr sz="1600">
              <a:solidFill>
                <a:srgbClr val="1F1F1F"/>
              </a:solidFill>
              <a:latin typeface="M PLUS 1p"/>
              <a:ea typeface="M PLUS 1p"/>
              <a:cs typeface="M PLUS 1p"/>
              <a:sym typeface="M PLUS 1p"/>
            </a:endParaRPr>
          </a:p>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3ヶ月連続で掲載することで、12ヶ月後でもAA率は50%を超える</a:t>
            </a:r>
            <a:endParaRPr sz="1600">
              <a:solidFill>
                <a:srgbClr val="1F1F1F"/>
              </a:solidFill>
              <a:latin typeface="M PLUS 1p"/>
              <a:ea typeface="M PLUS 1p"/>
              <a:cs typeface="M PLUS 1p"/>
              <a:sym typeface="M PLUS 1p"/>
            </a:endParaRPr>
          </a:p>
        </p:txBody>
      </p:sp>
      <p:pic>
        <p:nvPicPr>
          <p:cNvPr id="370" name="Google Shape;370;p29" title="グラフ"/>
          <p:cNvPicPr preferRelativeResize="0"/>
          <p:nvPr/>
        </p:nvPicPr>
        <p:blipFill rotWithShape="1">
          <a:blip r:embed="rId3">
            <a:alphaModFix/>
          </a:blip>
          <a:srcRect b="-860" l="0" r="0" t="860"/>
          <a:stretch/>
        </p:blipFill>
        <p:spPr>
          <a:xfrm>
            <a:off x="1856627" y="1646250"/>
            <a:ext cx="5522424" cy="3408649"/>
          </a:xfrm>
          <a:prstGeom prst="rect">
            <a:avLst/>
          </a:prstGeom>
          <a:noFill/>
          <a:ln>
            <a:noFill/>
          </a:ln>
        </p:spPr>
      </p:pic>
      <p:cxnSp>
        <p:nvCxnSpPr>
          <p:cNvPr id="371" name="Google Shape;371;p29"/>
          <p:cNvCxnSpPr/>
          <p:nvPr/>
        </p:nvCxnSpPr>
        <p:spPr>
          <a:xfrm rot="10800000">
            <a:off x="6170875" y="3169775"/>
            <a:ext cx="616200" cy="242100"/>
          </a:xfrm>
          <a:prstGeom prst="straightConnector1">
            <a:avLst/>
          </a:prstGeom>
          <a:noFill/>
          <a:ln cap="flat" cmpd="sng" w="38100">
            <a:solidFill>
              <a:srgbClr val="FF0000"/>
            </a:solidFill>
            <a:prstDash val="solid"/>
            <a:round/>
            <a:headEnd len="med" w="med" type="none"/>
            <a:tailEnd len="med" w="med" type="triangle"/>
          </a:ln>
        </p:spPr>
      </p:cxnSp>
      <p:sp>
        <p:nvSpPr>
          <p:cNvPr id="372" name="Google Shape;372;p29"/>
          <p:cNvSpPr txBox="1"/>
          <p:nvPr/>
        </p:nvSpPr>
        <p:spPr>
          <a:xfrm>
            <a:off x="6787075" y="3351750"/>
            <a:ext cx="1714200" cy="625200"/>
          </a:xfrm>
          <a:prstGeom prst="rect">
            <a:avLst/>
          </a:prstGeom>
          <a:solidFill>
            <a:schemeClr val="lt1"/>
          </a:solidFill>
          <a:ln>
            <a:noFill/>
          </a:ln>
        </p:spPr>
        <p:txBody>
          <a:bodyPr anchorCtr="0" anchor="t" bIns="91425" lIns="91425" spcFirstLastPara="1" rIns="91425" wrap="square" tIns="91425">
            <a:noAutofit/>
          </a:bodyPr>
          <a:lstStyle/>
          <a:p>
            <a:pPr indent="0" lvl="0" marL="0" rtl="0" algn="ctr">
              <a:lnSpc>
                <a:spcPct val="120000"/>
              </a:lnSpc>
              <a:spcBef>
                <a:spcPts val="0"/>
              </a:spcBef>
              <a:spcAft>
                <a:spcPts val="0"/>
              </a:spcAft>
              <a:buNone/>
            </a:pPr>
            <a:r>
              <a:rPr lang="ja" sz="1000">
                <a:solidFill>
                  <a:schemeClr val="dk2"/>
                </a:solidFill>
                <a:latin typeface="M PLUS 1p"/>
                <a:ea typeface="M PLUS 1p"/>
                <a:cs typeface="M PLUS 1p"/>
                <a:sym typeface="M PLUS 1p"/>
              </a:rPr>
              <a:t>3ヶ月連続掲載することで</a:t>
            </a:r>
            <a:br>
              <a:rPr lang="ja" sz="1000">
                <a:solidFill>
                  <a:schemeClr val="dk2"/>
                </a:solidFill>
                <a:latin typeface="M PLUS 1p"/>
                <a:ea typeface="M PLUS 1p"/>
                <a:cs typeface="M PLUS 1p"/>
                <a:sym typeface="M PLUS 1p"/>
              </a:rPr>
            </a:br>
            <a:r>
              <a:rPr lang="ja" sz="1000">
                <a:solidFill>
                  <a:schemeClr val="dk2"/>
                </a:solidFill>
                <a:latin typeface="M PLUS 1p"/>
                <a:ea typeface="M PLUS 1p"/>
                <a:cs typeface="M PLUS 1p"/>
                <a:sym typeface="M PLUS 1p"/>
              </a:rPr>
              <a:t>AA率は50%を超える</a:t>
            </a:r>
            <a:endParaRPr sz="1000">
              <a:solidFill>
                <a:schemeClr val="dk2"/>
              </a:solidFill>
              <a:latin typeface="M PLUS 1p"/>
              <a:ea typeface="M PLUS 1p"/>
              <a:cs typeface="M PLUS 1p"/>
              <a:sym typeface="M PLUS 1p"/>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6" name="Shape 376"/>
        <p:cNvGrpSpPr/>
        <p:nvPr/>
      </p:nvGrpSpPr>
      <p:grpSpPr>
        <a:xfrm>
          <a:off x="0" y="0"/>
          <a:ext cx="0" cy="0"/>
          <a:chOff x="0" y="0"/>
          <a:chExt cx="0" cy="0"/>
        </a:xfrm>
      </p:grpSpPr>
      <p:sp>
        <p:nvSpPr>
          <p:cNvPr id="377" name="Google Shape;377;p30"/>
          <p:cNvSpPr/>
          <p:nvPr/>
        </p:nvSpPr>
        <p:spPr>
          <a:xfrm>
            <a:off x="342900" y="365275"/>
            <a:ext cx="342900" cy="342900"/>
          </a:xfrm>
          <a:prstGeom prst="ellipse">
            <a:avLst/>
          </a:prstGeom>
          <a:solidFill>
            <a:srgbClr val="FF79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30"/>
          <p:cNvSpPr txBox="1"/>
          <p:nvPr/>
        </p:nvSpPr>
        <p:spPr>
          <a:xfrm>
            <a:off x="387600" y="335450"/>
            <a:ext cx="298200" cy="30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300">
                <a:solidFill>
                  <a:srgbClr val="FFFFFF"/>
                </a:solidFill>
                <a:latin typeface="Zen Kaku Gothic New"/>
                <a:ea typeface="Zen Kaku Gothic New"/>
                <a:cs typeface="Zen Kaku Gothic New"/>
                <a:sym typeface="Zen Kaku Gothic New"/>
              </a:rPr>
              <a:t>4</a:t>
            </a:r>
            <a:endParaRPr b="1" sz="1300">
              <a:solidFill>
                <a:srgbClr val="FFFFFF"/>
              </a:solidFill>
              <a:latin typeface="Zen Kaku Gothic New"/>
              <a:ea typeface="Zen Kaku Gothic New"/>
              <a:cs typeface="Zen Kaku Gothic New"/>
              <a:sym typeface="Zen Kaku Gothic New"/>
            </a:endParaRPr>
          </a:p>
        </p:txBody>
      </p:sp>
      <p:sp>
        <p:nvSpPr>
          <p:cNvPr id="379" name="Google Shape;379;p30"/>
          <p:cNvSpPr txBox="1"/>
          <p:nvPr/>
        </p:nvSpPr>
        <p:spPr>
          <a:xfrm>
            <a:off x="8136000" y="104275"/>
            <a:ext cx="916800" cy="190200"/>
          </a:xfrm>
          <a:prstGeom prst="rect">
            <a:avLst/>
          </a:prstGeom>
          <a:solidFill>
            <a:srgbClr val="DC0451"/>
          </a:solidFill>
          <a:ln>
            <a:noFill/>
          </a:ln>
        </p:spPr>
        <p:txBody>
          <a:bodyPr anchorCtr="0" anchor="t" bIns="91425" lIns="91425" spcFirstLastPara="1" rIns="91425" wrap="square" tIns="91425">
            <a:noAutofit/>
          </a:bodyPr>
          <a:lstStyle/>
          <a:p>
            <a:pPr indent="0" lvl="0" marL="0" rtl="0" algn="ctr">
              <a:lnSpc>
                <a:spcPct val="50000"/>
              </a:lnSpc>
              <a:spcBef>
                <a:spcPts val="0"/>
              </a:spcBef>
              <a:spcAft>
                <a:spcPts val="0"/>
              </a:spcAft>
              <a:buNone/>
            </a:pPr>
            <a:r>
              <a:rPr b="1" lang="ja" sz="700">
                <a:solidFill>
                  <a:srgbClr val="FFFFFF"/>
                </a:solidFill>
                <a:latin typeface="M PLUS 1p"/>
                <a:ea typeface="M PLUS 1p"/>
                <a:cs typeface="M PLUS 1p"/>
                <a:sym typeface="M PLUS 1p"/>
              </a:rPr>
              <a:t>CONFIDENTIAL</a:t>
            </a:r>
            <a:endParaRPr b="1" sz="700">
              <a:solidFill>
                <a:srgbClr val="FFFFFF"/>
              </a:solidFill>
              <a:latin typeface="M PLUS 1p"/>
              <a:ea typeface="M PLUS 1p"/>
              <a:cs typeface="M PLUS 1p"/>
              <a:sym typeface="M PLUS 1p"/>
            </a:endParaRPr>
          </a:p>
        </p:txBody>
      </p:sp>
      <p:sp>
        <p:nvSpPr>
          <p:cNvPr id="380" name="Google Shape;380;p3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381" name="Google Shape;381;p30"/>
          <p:cNvSpPr txBox="1"/>
          <p:nvPr/>
        </p:nvSpPr>
        <p:spPr>
          <a:xfrm>
            <a:off x="712300" y="294475"/>
            <a:ext cx="7710000" cy="48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2000">
                <a:solidFill>
                  <a:srgbClr val="1F1F1F"/>
                </a:solidFill>
                <a:latin typeface="M PLUS 1p"/>
                <a:ea typeface="M PLUS 1p"/>
                <a:cs typeface="M PLUS 1p"/>
                <a:sym typeface="M PLUS 1p"/>
              </a:rPr>
              <a:t>離脱した場合、その後のAA率はどのように推移するのか？</a:t>
            </a:r>
            <a:endParaRPr b="1" sz="2000">
              <a:solidFill>
                <a:srgbClr val="1F1F1F"/>
              </a:solidFill>
              <a:latin typeface="M PLUS 1p"/>
              <a:ea typeface="M PLUS 1p"/>
              <a:cs typeface="M PLUS 1p"/>
              <a:sym typeface="M PLUS 1p"/>
            </a:endParaRPr>
          </a:p>
        </p:txBody>
      </p:sp>
      <p:sp>
        <p:nvSpPr>
          <p:cNvPr id="382" name="Google Shape;382;p30"/>
          <p:cNvSpPr txBox="1"/>
          <p:nvPr/>
        </p:nvSpPr>
        <p:spPr>
          <a:xfrm>
            <a:off x="432350" y="860575"/>
            <a:ext cx="8620500" cy="1239900"/>
          </a:xfrm>
          <a:prstGeom prst="rect">
            <a:avLst/>
          </a:prstGeom>
          <a:noFill/>
          <a:ln>
            <a:noFill/>
          </a:ln>
        </p:spPr>
        <p:txBody>
          <a:bodyPr anchorCtr="0" anchor="t" bIns="91425" lIns="91425" spcFirstLastPara="1" rIns="91425" wrap="square" tIns="91425">
            <a:noAutofit/>
          </a:bodyPr>
          <a:lstStyle/>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「3ヶ月継続」を目標としても、途中での離脱は発生してしまう</a:t>
            </a:r>
            <a:endParaRPr sz="1600">
              <a:solidFill>
                <a:srgbClr val="1F1F1F"/>
              </a:solidFill>
              <a:latin typeface="M PLUS 1p"/>
              <a:ea typeface="M PLUS 1p"/>
              <a:cs typeface="M PLUS 1p"/>
              <a:sym typeface="M PLUS 1p"/>
            </a:endParaRPr>
          </a:p>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初回連続掲載月数と離脱後のAA率を確認することで、掲載と離脱のパターンとAA率の関係性を可視化した</a:t>
            </a:r>
            <a:endParaRPr sz="1600">
              <a:solidFill>
                <a:srgbClr val="1F1F1F"/>
              </a:solidFill>
              <a:latin typeface="M PLUS 1p"/>
              <a:ea typeface="M PLUS 1p"/>
              <a:cs typeface="M PLUS 1p"/>
              <a:sym typeface="M PLUS 1p"/>
            </a:endParaRPr>
          </a:p>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以下の表の「？」のAA率を計測</a:t>
            </a:r>
            <a:r>
              <a:rPr lang="ja" sz="1600">
                <a:solidFill>
                  <a:srgbClr val="1F1F1F"/>
                </a:solidFill>
                <a:latin typeface="M PLUS 1p"/>
                <a:ea typeface="M PLUS 1p"/>
                <a:cs typeface="M PLUS 1p"/>
                <a:sym typeface="M PLUS 1p"/>
              </a:rPr>
              <a:t>した</a:t>
            </a:r>
            <a:endParaRPr sz="1600">
              <a:solidFill>
                <a:srgbClr val="1F1F1F"/>
              </a:solidFill>
              <a:latin typeface="M PLUS 1p"/>
              <a:ea typeface="M PLUS 1p"/>
              <a:cs typeface="M PLUS 1p"/>
              <a:sym typeface="M PLUS 1p"/>
            </a:endParaRPr>
          </a:p>
        </p:txBody>
      </p:sp>
      <p:pic>
        <p:nvPicPr>
          <p:cNvPr id="383" name="Google Shape;383;p30"/>
          <p:cNvPicPr preferRelativeResize="0"/>
          <p:nvPr/>
        </p:nvPicPr>
        <p:blipFill>
          <a:blip r:embed="rId3">
            <a:alphaModFix/>
          </a:blip>
          <a:stretch>
            <a:fillRect/>
          </a:stretch>
        </p:blipFill>
        <p:spPr>
          <a:xfrm>
            <a:off x="827250" y="2347826"/>
            <a:ext cx="7830676" cy="11788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7" name="Shape 387"/>
        <p:cNvGrpSpPr/>
        <p:nvPr/>
      </p:nvGrpSpPr>
      <p:grpSpPr>
        <a:xfrm>
          <a:off x="0" y="0"/>
          <a:ext cx="0" cy="0"/>
          <a:chOff x="0" y="0"/>
          <a:chExt cx="0" cy="0"/>
        </a:xfrm>
      </p:grpSpPr>
      <p:sp>
        <p:nvSpPr>
          <p:cNvPr id="388" name="Google Shape;388;p31"/>
          <p:cNvSpPr/>
          <p:nvPr/>
        </p:nvSpPr>
        <p:spPr>
          <a:xfrm>
            <a:off x="342900" y="365275"/>
            <a:ext cx="342900" cy="342900"/>
          </a:xfrm>
          <a:prstGeom prst="ellipse">
            <a:avLst/>
          </a:prstGeom>
          <a:solidFill>
            <a:srgbClr val="FF79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31"/>
          <p:cNvSpPr txBox="1"/>
          <p:nvPr/>
        </p:nvSpPr>
        <p:spPr>
          <a:xfrm>
            <a:off x="387600" y="335450"/>
            <a:ext cx="298200" cy="30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300">
                <a:solidFill>
                  <a:srgbClr val="FFFFFF"/>
                </a:solidFill>
                <a:latin typeface="Zen Kaku Gothic New"/>
                <a:ea typeface="Zen Kaku Gothic New"/>
                <a:cs typeface="Zen Kaku Gothic New"/>
                <a:sym typeface="Zen Kaku Gothic New"/>
              </a:rPr>
              <a:t>5</a:t>
            </a:r>
            <a:endParaRPr b="1" sz="1300">
              <a:solidFill>
                <a:srgbClr val="FFFFFF"/>
              </a:solidFill>
              <a:latin typeface="Zen Kaku Gothic New"/>
              <a:ea typeface="Zen Kaku Gothic New"/>
              <a:cs typeface="Zen Kaku Gothic New"/>
              <a:sym typeface="Zen Kaku Gothic New"/>
            </a:endParaRPr>
          </a:p>
        </p:txBody>
      </p:sp>
      <p:sp>
        <p:nvSpPr>
          <p:cNvPr id="390" name="Google Shape;390;p31"/>
          <p:cNvSpPr txBox="1"/>
          <p:nvPr/>
        </p:nvSpPr>
        <p:spPr>
          <a:xfrm>
            <a:off x="8136000" y="104275"/>
            <a:ext cx="916800" cy="190200"/>
          </a:xfrm>
          <a:prstGeom prst="rect">
            <a:avLst/>
          </a:prstGeom>
          <a:solidFill>
            <a:srgbClr val="DC0451"/>
          </a:solidFill>
          <a:ln>
            <a:noFill/>
          </a:ln>
        </p:spPr>
        <p:txBody>
          <a:bodyPr anchorCtr="0" anchor="t" bIns="91425" lIns="91425" spcFirstLastPara="1" rIns="91425" wrap="square" tIns="91425">
            <a:noAutofit/>
          </a:bodyPr>
          <a:lstStyle/>
          <a:p>
            <a:pPr indent="0" lvl="0" marL="0" rtl="0" algn="ctr">
              <a:lnSpc>
                <a:spcPct val="50000"/>
              </a:lnSpc>
              <a:spcBef>
                <a:spcPts val="0"/>
              </a:spcBef>
              <a:spcAft>
                <a:spcPts val="0"/>
              </a:spcAft>
              <a:buNone/>
            </a:pPr>
            <a:r>
              <a:rPr b="1" lang="ja" sz="700">
                <a:solidFill>
                  <a:srgbClr val="FFFFFF"/>
                </a:solidFill>
                <a:latin typeface="M PLUS 1p"/>
                <a:ea typeface="M PLUS 1p"/>
                <a:cs typeface="M PLUS 1p"/>
                <a:sym typeface="M PLUS 1p"/>
              </a:rPr>
              <a:t>CONFIDENTIAL</a:t>
            </a:r>
            <a:endParaRPr b="1" sz="700">
              <a:solidFill>
                <a:srgbClr val="FFFFFF"/>
              </a:solidFill>
              <a:latin typeface="M PLUS 1p"/>
              <a:ea typeface="M PLUS 1p"/>
              <a:cs typeface="M PLUS 1p"/>
              <a:sym typeface="M PLUS 1p"/>
            </a:endParaRPr>
          </a:p>
        </p:txBody>
      </p:sp>
      <p:sp>
        <p:nvSpPr>
          <p:cNvPr id="391" name="Google Shape;391;p3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392" name="Google Shape;392;p31"/>
          <p:cNvSpPr txBox="1"/>
          <p:nvPr/>
        </p:nvSpPr>
        <p:spPr>
          <a:xfrm>
            <a:off x="712300" y="294475"/>
            <a:ext cx="7710000" cy="48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2000">
                <a:solidFill>
                  <a:srgbClr val="1F1F1F"/>
                </a:solidFill>
                <a:latin typeface="M PLUS 1p"/>
                <a:ea typeface="M PLUS 1p"/>
                <a:cs typeface="M PLUS 1p"/>
                <a:sym typeface="M PLUS 1p"/>
              </a:rPr>
              <a:t>3ヶ月</a:t>
            </a:r>
            <a:r>
              <a:rPr b="1" lang="ja" sz="2000">
                <a:solidFill>
                  <a:srgbClr val="1F1F1F"/>
                </a:solidFill>
                <a:latin typeface="M PLUS 1p"/>
                <a:ea typeface="M PLUS 1p"/>
                <a:cs typeface="M PLUS 1p"/>
                <a:sym typeface="M PLUS 1p"/>
              </a:rPr>
              <a:t>連続掲載</a:t>
            </a:r>
            <a:r>
              <a:rPr b="1" lang="ja" sz="2000">
                <a:solidFill>
                  <a:srgbClr val="1F1F1F"/>
                </a:solidFill>
                <a:latin typeface="M PLUS 1p"/>
                <a:ea typeface="M PLUS 1p"/>
                <a:cs typeface="M PLUS 1p"/>
                <a:sym typeface="M PLUS 1p"/>
              </a:rPr>
              <a:t>すると、離脱した後も復活しやすい</a:t>
            </a:r>
            <a:endParaRPr b="1" sz="2000">
              <a:solidFill>
                <a:srgbClr val="1F1F1F"/>
              </a:solidFill>
              <a:latin typeface="M PLUS 1p"/>
              <a:ea typeface="M PLUS 1p"/>
              <a:cs typeface="M PLUS 1p"/>
              <a:sym typeface="M PLUS 1p"/>
            </a:endParaRPr>
          </a:p>
          <a:p>
            <a:pPr indent="0" lvl="0" marL="0" rtl="0" algn="l">
              <a:spcBef>
                <a:spcPts val="0"/>
              </a:spcBef>
              <a:spcAft>
                <a:spcPts val="0"/>
              </a:spcAft>
              <a:buNone/>
            </a:pPr>
            <a:r>
              <a:t/>
            </a:r>
            <a:endParaRPr b="1" sz="2000">
              <a:solidFill>
                <a:srgbClr val="1F1F1F"/>
              </a:solidFill>
              <a:latin typeface="M PLUS 1p"/>
              <a:ea typeface="M PLUS 1p"/>
              <a:cs typeface="M PLUS 1p"/>
              <a:sym typeface="M PLUS 1p"/>
            </a:endParaRPr>
          </a:p>
        </p:txBody>
      </p:sp>
      <p:sp>
        <p:nvSpPr>
          <p:cNvPr id="393" name="Google Shape;393;p31"/>
          <p:cNvSpPr txBox="1"/>
          <p:nvPr/>
        </p:nvSpPr>
        <p:spPr>
          <a:xfrm>
            <a:off x="432350" y="860575"/>
            <a:ext cx="8620500" cy="1052400"/>
          </a:xfrm>
          <a:prstGeom prst="rect">
            <a:avLst/>
          </a:prstGeom>
          <a:noFill/>
          <a:ln>
            <a:noFill/>
          </a:ln>
        </p:spPr>
        <p:txBody>
          <a:bodyPr anchorCtr="0" anchor="t" bIns="91425" lIns="91425" spcFirstLastPara="1" rIns="91425" wrap="square" tIns="91425">
            <a:noAutofit/>
          </a:bodyPr>
          <a:lstStyle/>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初回連続掲載が3ヶ月を超えるとその後12ヶ月のAA率も30%を超える</a:t>
            </a:r>
            <a:endParaRPr sz="1600">
              <a:solidFill>
                <a:srgbClr val="1F1F1F"/>
              </a:solidFill>
              <a:latin typeface="M PLUS 1p"/>
              <a:ea typeface="M PLUS 1p"/>
              <a:cs typeface="M PLUS 1p"/>
              <a:sym typeface="M PLUS 1p"/>
            </a:endParaRPr>
          </a:p>
          <a:p>
            <a:pPr indent="-330200" lvl="0" marL="457200" rtl="0" algn="l">
              <a:lnSpc>
                <a:spcPct val="120000"/>
              </a:lnSpc>
              <a:spcBef>
                <a:spcPts val="0"/>
              </a:spcBef>
              <a:spcAft>
                <a:spcPts val="0"/>
              </a:spcAft>
              <a:buClr>
                <a:srgbClr val="1F1F1F"/>
              </a:buClr>
              <a:buSzPts val="1600"/>
              <a:buFont typeface="M PLUS 1p"/>
              <a:buChar char="●"/>
            </a:pPr>
            <a:r>
              <a:rPr lang="ja" sz="1600">
                <a:solidFill>
                  <a:schemeClr val="dk1"/>
                </a:solidFill>
                <a:latin typeface="M PLUS 1p"/>
                <a:ea typeface="M PLUS 1p"/>
                <a:cs typeface="M PLUS 1p"/>
                <a:sym typeface="M PLUS 1p"/>
              </a:rPr>
              <a:t>「中長期的な継続」を実現するためには「3ヶ月以上連続掲載」することが重要</a:t>
            </a:r>
            <a:endParaRPr sz="1600">
              <a:solidFill>
                <a:srgbClr val="1F1F1F"/>
              </a:solidFill>
              <a:latin typeface="M PLUS 1p"/>
              <a:ea typeface="M PLUS 1p"/>
              <a:cs typeface="M PLUS 1p"/>
              <a:sym typeface="M PLUS 1p"/>
            </a:endParaRPr>
          </a:p>
        </p:txBody>
      </p:sp>
      <p:pic>
        <p:nvPicPr>
          <p:cNvPr id="394" name="Google Shape;394;p31" title="グラフ"/>
          <p:cNvPicPr preferRelativeResize="0"/>
          <p:nvPr/>
        </p:nvPicPr>
        <p:blipFill>
          <a:blip r:embed="rId3">
            <a:alphaModFix/>
          </a:blip>
          <a:stretch>
            <a:fillRect/>
          </a:stretch>
        </p:blipFill>
        <p:spPr>
          <a:xfrm>
            <a:off x="2016100" y="1779225"/>
            <a:ext cx="4738474" cy="2925724"/>
          </a:xfrm>
          <a:prstGeom prst="rect">
            <a:avLst/>
          </a:prstGeom>
          <a:noFill/>
          <a:ln>
            <a:noFill/>
          </a:ln>
        </p:spPr>
      </p:pic>
      <p:cxnSp>
        <p:nvCxnSpPr>
          <p:cNvPr id="395" name="Google Shape;395;p31"/>
          <p:cNvCxnSpPr/>
          <p:nvPr/>
        </p:nvCxnSpPr>
        <p:spPr>
          <a:xfrm rot="10800000">
            <a:off x="5470725" y="2980700"/>
            <a:ext cx="817800" cy="563400"/>
          </a:xfrm>
          <a:prstGeom prst="straightConnector1">
            <a:avLst/>
          </a:prstGeom>
          <a:noFill/>
          <a:ln cap="flat" cmpd="sng" w="38100">
            <a:solidFill>
              <a:srgbClr val="FF0000"/>
            </a:solidFill>
            <a:prstDash val="solid"/>
            <a:round/>
            <a:headEnd len="med" w="med" type="none"/>
            <a:tailEnd len="med" w="med" type="triangle"/>
          </a:ln>
        </p:spPr>
      </p:cxnSp>
      <p:sp>
        <p:nvSpPr>
          <p:cNvPr id="396" name="Google Shape;396;p31"/>
          <p:cNvSpPr txBox="1"/>
          <p:nvPr/>
        </p:nvSpPr>
        <p:spPr>
          <a:xfrm>
            <a:off x="6288525" y="3544100"/>
            <a:ext cx="1714200" cy="625200"/>
          </a:xfrm>
          <a:prstGeom prst="rect">
            <a:avLst/>
          </a:prstGeom>
          <a:solidFill>
            <a:schemeClr val="lt1"/>
          </a:solidFill>
          <a:ln>
            <a:noFill/>
          </a:ln>
        </p:spPr>
        <p:txBody>
          <a:bodyPr anchorCtr="0" anchor="t" bIns="91425" lIns="91425" spcFirstLastPara="1" rIns="91425" wrap="square" tIns="91425">
            <a:noAutofit/>
          </a:bodyPr>
          <a:lstStyle/>
          <a:p>
            <a:pPr indent="0" lvl="0" marL="0" rtl="0" algn="ctr">
              <a:lnSpc>
                <a:spcPct val="120000"/>
              </a:lnSpc>
              <a:spcBef>
                <a:spcPts val="0"/>
              </a:spcBef>
              <a:spcAft>
                <a:spcPts val="0"/>
              </a:spcAft>
              <a:buNone/>
            </a:pPr>
            <a:r>
              <a:rPr lang="ja" sz="1000">
                <a:solidFill>
                  <a:schemeClr val="dk2"/>
                </a:solidFill>
                <a:latin typeface="M PLUS 1p"/>
                <a:ea typeface="M PLUS 1p"/>
                <a:cs typeface="M PLUS 1p"/>
                <a:sym typeface="M PLUS 1p"/>
              </a:rPr>
              <a:t>3ヶ月連続掲載することで</a:t>
            </a:r>
            <a:br>
              <a:rPr lang="ja" sz="1000">
                <a:solidFill>
                  <a:schemeClr val="dk2"/>
                </a:solidFill>
                <a:latin typeface="M PLUS 1p"/>
                <a:ea typeface="M PLUS 1p"/>
                <a:cs typeface="M PLUS 1p"/>
                <a:sym typeface="M PLUS 1p"/>
              </a:rPr>
            </a:br>
            <a:r>
              <a:rPr lang="ja" sz="1000">
                <a:solidFill>
                  <a:schemeClr val="dk2"/>
                </a:solidFill>
                <a:latin typeface="M PLUS 1p"/>
                <a:ea typeface="M PLUS 1p"/>
                <a:cs typeface="M PLUS 1p"/>
                <a:sym typeface="M PLUS 1p"/>
              </a:rPr>
              <a:t>AA率は30%を超える</a:t>
            </a:r>
            <a:endParaRPr sz="1000">
              <a:solidFill>
                <a:schemeClr val="dk2"/>
              </a:solidFill>
              <a:latin typeface="M PLUS 1p"/>
              <a:ea typeface="M PLUS 1p"/>
              <a:cs typeface="M PLUS 1p"/>
              <a:sym typeface="M PLUS 1p"/>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00" name="Shape 400"/>
        <p:cNvGrpSpPr/>
        <p:nvPr/>
      </p:nvGrpSpPr>
      <p:grpSpPr>
        <a:xfrm>
          <a:off x="0" y="0"/>
          <a:ext cx="0" cy="0"/>
          <a:chOff x="0" y="0"/>
          <a:chExt cx="0" cy="0"/>
        </a:xfrm>
      </p:grpSpPr>
      <p:sp>
        <p:nvSpPr>
          <p:cNvPr id="401" name="Google Shape;401;p32"/>
          <p:cNvSpPr/>
          <p:nvPr/>
        </p:nvSpPr>
        <p:spPr>
          <a:xfrm>
            <a:off x="342900" y="365275"/>
            <a:ext cx="342900" cy="342900"/>
          </a:xfrm>
          <a:prstGeom prst="ellipse">
            <a:avLst/>
          </a:prstGeom>
          <a:solidFill>
            <a:srgbClr val="FF79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32"/>
          <p:cNvSpPr txBox="1"/>
          <p:nvPr/>
        </p:nvSpPr>
        <p:spPr>
          <a:xfrm>
            <a:off x="387600" y="335450"/>
            <a:ext cx="298200" cy="30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300">
                <a:solidFill>
                  <a:srgbClr val="FFFFFF"/>
                </a:solidFill>
                <a:latin typeface="Zen Kaku Gothic New"/>
                <a:ea typeface="Zen Kaku Gothic New"/>
                <a:cs typeface="Zen Kaku Gothic New"/>
                <a:sym typeface="Zen Kaku Gothic New"/>
              </a:rPr>
              <a:t>6</a:t>
            </a:r>
            <a:endParaRPr b="1" sz="1300">
              <a:solidFill>
                <a:srgbClr val="FFFFFF"/>
              </a:solidFill>
              <a:latin typeface="Zen Kaku Gothic New"/>
              <a:ea typeface="Zen Kaku Gothic New"/>
              <a:cs typeface="Zen Kaku Gothic New"/>
              <a:sym typeface="Zen Kaku Gothic New"/>
            </a:endParaRPr>
          </a:p>
        </p:txBody>
      </p:sp>
      <p:sp>
        <p:nvSpPr>
          <p:cNvPr id="403" name="Google Shape;403;p32"/>
          <p:cNvSpPr txBox="1"/>
          <p:nvPr/>
        </p:nvSpPr>
        <p:spPr>
          <a:xfrm>
            <a:off x="8136000" y="104275"/>
            <a:ext cx="916800" cy="190200"/>
          </a:xfrm>
          <a:prstGeom prst="rect">
            <a:avLst/>
          </a:prstGeom>
          <a:solidFill>
            <a:srgbClr val="DC0451"/>
          </a:solidFill>
          <a:ln>
            <a:noFill/>
          </a:ln>
        </p:spPr>
        <p:txBody>
          <a:bodyPr anchorCtr="0" anchor="t" bIns="91425" lIns="91425" spcFirstLastPara="1" rIns="91425" wrap="square" tIns="91425">
            <a:noAutofit/>
          </a:bodyPr>
          <a:lstStyle/>
          <a:p>
            <a:pPr indent="0" lvl="0" marL="0" rtl="0" algn="ctr">
              <a:lnSpc>
                <a:spcPct val="50000"/>
              </a:lnSpc>
              <a:spcBef>
                <a:spcPts val="0"/>
              </a:spcBef>
              <a:spcAft>
                <a:spcPts val="0"/>
              </a:spcAft>
              <a:buNone/>
            </a:pPr>
            <a:r>
              <a:rPr b="1" lang="ja" sz="700">
                <a:solidFill>
                  <a:srgbClr val="FFFFFF"/>
                </a:solidFill>
                <a:latin typeface="M PLUS 1p"/>
                <a:ea typeface="M PLUS 1p"/>
                <a:cs typeface="M PLUS 1p"/>
                <a:sym typeface="M PLUS 1p"/>
              </a:rPr>
              <a:t>CONFIDENTIAL</a:t>
            </a:r>
            <a:endParaRPr b="1" sz="700">
              <a:solidFill>
                <a:srgbClr val="FFFFFF"/>
              </a:solidFill>
              <a:latin typeface="M PLUS 1p"/>
              <a:ea typeface="M PLUS 1p"/>
              <a:cs typeface="M PLUS 1p"/>
              <a:sym typeface="M PLUS 1p"/>
            </a:endParaRPr>
          </a:p>
        </p:txBody>
      </p:sp>
      <p:sp>
        <p:nvSpPr>
          <p:cNvPr id="404" name="Google Shape;404;p3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405" name="Google Shape;405;p32"/>
          <p:cNvSpPr txBox="1"/>
          <p:nvPr/>
        </p:nvSpPr>
        <p:spPr>
          <a:xfrm>
            <a:off x="712300" y="294475"/>
            <a:ext cx="8008500" cy="48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2000">
                <a:solidFill>
                  <a:srgbClr val="1F1F1F"/>
                </a:solidFill>
                <a:latin typeface="M PLUS 1p"/>
                <a:ea typeface="M PLUS 1p"/>
                <a:cs typeface="M PLUS 1p"/>
                <a:sym typeface="M PLUS 1p"/>
              </a:rPr>
              <a:t>Appendix:</a:t>
            </a:r>
            <a:r>
              <a:rPr b="1" lang="ja" sz="2000">
                <a:solidFill>
                  <a:srgbClr val="1F1F1F"/>
                </a:solidFill>
                <a:latin typeface="M PLUS 1p"/>
                <a:ea typeface="M PLUS 1p"/>
                <a:cs typeface="M PLUS 1p"/>
                <a:sym typeface="M PLUS 1p"/>
              </a:rPr>
              <a:t>本部別①_初回掲載からの連続掲載月数とその後のAA率</a:t>
            </a:r>
            <a:endParaRPr b="1" sz="2000">
              <a:solidFill>
                <a:srgbClr val="1F1F1F"/>
              </a:solidFill>
              <a:latin typeface="M PLUS 1p"/>
              <a:ea typeface="M PLUS 1p"/>
              <a:cs typeface="M PLUS 1p"/>
              <a:sym typeface="M PLUS 1p"/>
            </a:endParaRPr>
          </a:p>
        </p:txBody>
      </p:sp>
      <p:sp>
        <p:nvSpPr>
          <p:cNvPr id="406" name="Google Shape;406;p32"/>
          <p:cNvSpPr txBox="1"/>
          <p:nvPr/>
        </p:nvSpPr>
        <p:spPr>
          <a:xfrm>
            <a:off x="342900" y="778975"/>
            <a:ext cx="8620500" cy="648300"/>
          </a:xfrm>
          <a:prstGeom prst="rect">
            <a:avLst/>
          </a:prstGeom>
          <a:noFill/>
          <a:ln>
            <a:noFill/>
          </a:ln>
        </p:spPr>
        <p:txBody>
          <a:bodyPr anchorCtr="0" anchor="t" bIns="91425" lIns="91425" spcFirstLastPara="1" rIns="91425" wrap="square" tIns="91425">
            <a:noAutofit/>
          </a:bodyPr>
          <a:lstStyle/>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飲食・流通：傾向は全体と同じだが、全体的にややAA率が低い</a:t>
            </a:r>
            <a:endParaRPr sz="1600">
              <a:solidFill>
                <a:srgbClr val="1F1F1F"/>
              </a:solidFill>
              <a:latin typeface="M PLUS 1p"/>
              <a:ea typeface="M PLUS 1p"/>
              <a:cs typeface="M PLUS 1p"/>
              <a:sym typeface="M PLUS 1p"/>
            </a:endParaRPr>
          </a:p>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物流・製造：同様に傾向は同じだが、AA率が高め</a:t>
            </a:r>
            <a:endParaRPr sz="1600">
              <a:solidFill>
                <a:srgbClr val="1F1F1F"/>
              </a:solidFill>
              <a:latin typeface="M PLUS 1p"/>
              <a:ea typeface="M PLUS 1p"/>
              <a:cs typeface="M PLUS 1p"/>
              <a:sym typeface="M PLUS 1p"/>
            </a:endParaRPr>
          </a:p>
        </p:txBody>
      </p:sp>
      <p:pic>
        <p:nvPicPr>
          <p:cNvPr id="407" name="Google Shape;407;p32" title="グラフ"/>
          <p:cNvPicPr preferRelativeResize="0"/>
          <p:nvPr/>
        </p:nvPicPr>
        <p:blipFill>
          <a:blip r:embed="rId3">
            <a:alphaModFix/>
          </a:blip>
          <a:stretch>
            <a:fillRect/>
          </a:stretch>
        </p:blipFill>
        <p:spPr>
          <a:xfrm>
            <a:off x="257526" y="1865925"/>
            <a:ext cx="4148901" cy="2560868"/>
          </a:xfrm>
          <a:prstGeom prst="rect">
            <a:avLst/>
          </a:prstGeom>
          <a:noFill/>
          <a:ln>
            <a:noFill/>
          </a:ln>
        </p:spPr>
      </p:pic>
      <p:pic>
        <p:nvPicPr>
          <p:cNvPr id="408" name="Google Shape;408;p32" title="グラフ"/>
          <p:cNvPicPr preferRelativeResize="0"/>
          <p:nvPr/>
        </p:nvPicPr>
        <p:blipFill>
          <a:blip r:embed="rId4">
            <a:alphaModFix/>
          </a:blip>
          <a:stretch>
            <a:fillRect/>
          </a:stretch>
        </p:blipFill>
        <p:spPr>
          <a:xfrm>
            <a:off x="4571901" y="1865924"/>
            <a:ext cx="4148901" cy="256087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12" name="Shape 412"/>
        <p:cNvGrpSpPr/>
        <p:nvPr/>
      </p:nvGrpSpPr>
      <p:grpSpPr>
        <a:xfrm>
          <a:off x="0" y="0"/>
          <a:ext cx="0" cy="0"/>
          <a:chOff x="0" y="0"/>
          <a:chExt cx="0" cy="0"/>
        </a:xfrm>
      </p:grpSpPr>
      <p:sp>
        <p:nvSpPr>
          <p:cNvPr id="413" name="Google Shape;413;p33"/>
          <p:cNvSpPr/>
          <p:nvPr/>
        </p:nvSpPr>
        <p:spPr>
          <a:xfrm>
            <a:off x="342900" y="365275"/>
            <a:ext cx="342900" cy="342900"/>
          </a:xfrm>
          <a:prstGeom prst="ellipse">
            <a:avLst/>
          </a:prstGeom>
          <a:solidFill>
            <a:srgbClr val="FF79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33"/>
          <p:cNvSpPr txBox="1"/>
          <p:nvPr/>
        </p:nvSpPr>
        <p:spPr>
          <a:xfrm>
            <a:off x="387600" y="335450"/>
            <a:ext cx="298200" cy="30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300">
                <a:solidFill>
                  <a:srgbClr val="FFFFFF"/>
                </a:solidFill>
                <a:latin typeface="Zen Kaku Gothic New"/>
                <a:ea typeface="Zen Kaku Gothic New"/>
                <a:cs typeface="Zen Kaku Gothic New"/>
                <a:sym typeface="Zen Kaku Gothic New"/>
              </a:rPr>
              <a:t>7</a:t>
            </a:r>
            <a:endParaRPr b="1" sz="1300">
              <a:solidFill>
                <a:srgbClr val="FFFFFF"/>
              </a:solidFill>
              <a:latin typeface="Zen Kaku Gothic New"/>
              <a:ea typeface="Zen Kaku Gothic New"/>
              <a:cs typeface="Zen Kaku Gothic New"/>
              <a:sym typeface="Zen Kaku Gothic New"/>
            </a:endParaRPr>
          </a:p>
        </p:txBody>
      </p:sp>
      <p:sp>
        <p:nvSpPr>
          <p:cNvPr id="415" name="Google Shape;415;p33"/>
          <p:cNvSpPr txBox="1"/>
          <p:nvPr/>
        </p:nvSpPr>
        <p:spPr>
          <a:xfrm>
            <a:off x="8136000" y="104275"/>
            <a:ext cx="916800" cy="190200"/>
          </a:xfrm>
          <a:prstGeom prst="rect">
            <a:avLst/>
          </a:prstGeom>
          <a:solidFill>
            <a:srgbClr val="DC0451"/>
          </a:solidFill>
          <a:ln>
            <a:noFill/>
          </a:ln>
        </p:spPr>
        <p:txBody>
          <a:bodyPr anchorCtr="0" anchor="t" bIns="91425" lIns="91425" spcFirstLastPara="1" rIns="91425" wrap="square" tIns="91425">
            <a:noAutofit/>
          </a:bodyPr>
          <a:lstStyle/>
          <a:p>
            <a:pPr indent="0" lvl="0" marL="0" rtl="0" algn="ctr">
              <a:lnSpc>
                <a:spcPct val="50000"/>
              </a:lnSpc>
              <a:spcBef>
                <a:spcPts val="0"/>
              </a:spcBef>
              <a:spcAft>
                <a:spcPts val="0"/>
              </a:spcAft>
              <a:buNone/>
            </a:pPr>
            <a:r>
              <a:rPr b="1" lang="ja" sz="700">
                <a:solidFill>
                  <a:srgbClr val="FFFFFF"/>
                </a:solidFill>
                <a:latin typeface="M PLUS 1p"/>
                <a:ea typeface="M PLUS 1p"/>
                <a:cs typeface="M PLUS 1p"/>
                <a:sym typeface="M PLUS 1p"/>
              </a:rPr>
              <a:t>CONFIDENTIAL</a:t>
            </a:r>
            <a:endParaRPr b="1" sz="700">
              <a:solidFill>
                <a:srgbClr val="FFFFFF"/>
              </a:solidFill>
              <a:latin typeface="M PLUS 1p"/>
              <a:ea typeface="M PLUS 1p"/>
              <a:cs typeface="M PLUS 1p"/>
              <a:sym typeface="M PLUS 1p"/>
            </a:endParaRPr>
          </a:p>
        </p:txBody>
      </p:sp>
      <p:sp>
        <p:nvSpPr>
          <p:cNvPr id="416" name="Google Shape;416;p3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417" name="Google Shape;417;p33"/>
          <p:cNvSpPr txBox="1"/>
          <p:nvPr/>
        </p:nvSpPr>
        <p:spPr>
          <a:xfrm>
            <a:off x="712300" y="294475"/>
            <a:ext cx="8008500" cy="48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2000">
                <a:solidFill>
                  <a:srgbClr val="1F1F1F"/>
                </a:solidFill>
                <a:latin typeface="M PLUS 1p"/>
                <a:ea typeface="M PLUS 1p"/>
                <a:cs typeface="M PLUS 1p"/>
                <a:sym typeface="M PLUS 1p"/>
              </a:rPr>
              <a:t>Appendix:本部別②_初回掲載からの連続掲載月数とその後のAA率</a:t>
            </a:r>
            <a:endParaRPr b="1" sz="2000">
              <a:solidFill>
                <a:srgbClr val="1F1F1F"/>
              </a:solidFill>
              <a:latin typeface="M PLUS 1p"/>
              <a:ea typeface="M PLUS 1p"/>
              <a:cs typeface="M PLUS 1p"/>
              <a:sym typeface="M PLUS 1p"/>
            </a:endParaRPr>
          </a:p>
        </p:txBody>
      </p:sp>
      <p:sp>
        <p:nvSpPr>
          <p:cNvPr id="418" name="Google Shape;418;p33"/>
          <p:cNvSpPr txBox="1"/>
          <p:nvPr/>
        </p:nvSpPr>
        <p:spPr>
          <a:xfrm>
            <a:off x="342900" y="778975"/>
            <a:ext cx="8620500" cy="648300"/>
          </a:xfrm>
          <a:prstGeom prst="rect">
            <a:avLst/>
          </a:prstGeom>
          <a:noFill/>
          <a:ln>
            <a:noFill/>
          </a:ln>
        </p:spPr>
        <p:txBody>
          <a:bodyPr anchorCtr="0" anchor="t" bIns="91425" lIns="91425" spcFirstLastPara="1" rIns="91425" wrap="square" tIns="91425">
            <a:noAutofit/>
          </a:bodyPr>
          <a:lstStyle/>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市場開発</a:t>
            </a:r>
            <a:r>
              <a:rPr lang="ja" sz="1600">
                <a:solidFill>
                  <a:srgbClr val="1F1F1F"/>
                </a:solidFill>
                <a:latin typeface="M PLUS 1p"/>
                <a:ea typeface="M PLUS 1p"/>
                <a:cs typeface="M PLUS 1p"/>
                <a:sym typeface="M PLUS 1p"/>
              </a:rPr>
              <a:t>：</a:t>
            </a:r>
            <a:r>
              <a:rPr lang="ja" sz="1600">
                <a:solidFill>
                  <a:srgbClr val="1F1F1F"/>
                </a:solidFill>
                <a:latin typeface="M PLUS 1p"/>
                <a:ea typeface="M PLUS 1p"/>
                <a:cs typeface="M PLUS 1p"/>
                <a:sym typeface="M PLUS 1p"/>
              </a:rPr>
              <a:t>全体と比較して傾向に大きな違いはない</a:t>
            </a:r>
            <a:endParaRPr sz="1600">
              <a:solidFill>
                <a:srgbClr val="1F1F1F"/>
              </a:solidFill>
              <a:latin typeface="M PLUS 1p"/>
              <a:ea typeface="M PLUS 1p"/>
              <a:cs typeface="M PLUS 1p"/>
              <a:sym typeface="M PLUS 1p"/>
            </a:endParaRPr>
          </a:p>
        </p:txBody>
      </p:sp>
      <p:pic>
        <p:nvPicPr>
          <p:cNvPr id="419" name="Google Shape;419;p33" title="グラフ"/>
          <p:cNvPicPr preferRelativeResize="0"/>
          <p:nvPr/>
        </p:nvPicPr>
        <p:blipFill>
          <a:blip r:embed="rId3">
            <a:alphaModFix/>
          </a:blip>
          <a:stretch>
            <a:fillRect/>
          </a:stretch>
        </p:blipFill>
        <p:spPr>
          <a:xfrm>
            <a:off x="2057100" y="1532100"/>
            <a:ext cx="4898775" cy="30237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23" name="Shape 423"/>
        <p:cNvGrpSpPr/>
        <p:nvPr/>
      </p:nvGrpSpPr>
      <p:grpSpPr>
        <a:xfrm>
          <a:off x="0" y="0"/>
          <a:ext cx="0" cy="0"/>
          <a:chOff x="0" y="0"/>
          <a:chExt cx="0" cy="0"/>
        </a:xfrm>
      </p:grpSpPr>
      <p:sp>
        <p:nvSpPr>
          <p:cNvPr id="424" name="Google Shape;424;p34"/>
          <p:cNvSpPr/>
          <p:nvPr/>
        </p:nvSpPr>
        <p:spPr>
          <a:xfrm>
            <a:off x="342900" y="365275"/>
            <a:ext cx="342900" cy="342900"/>
          </a:xfrm>
          <a:prstGeom prst="ellipse">
            <a:avLst/>
          </a:prstGeom>
          <a:solidFill>
            <a:srgbClr val="FF79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34"/>
          <p:cNvSpPr txBox="1"/>
          <p:nvPr/>
        </p:nvSpPr>
        <p:spPr>
          <a:xfrm>
            <a:off x="387600" y="335450"/>
            <a:ext cx="298200" cy="30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300">
                <a:solidFill>
                  <a:srgbClr val="FFFFFF"/>
                </a:solidFill>
                <a:latin typeface="Zen Kaku Gothic New"/>
                <a:ea typeface="Zen Kaku Gothic New"/>
                <a:cs typeface="Zen Kaku Gothic New"/>
                <a:sym typeface="Zen Kaku Gothic New"/>
              </a:rPr>
              <a:t>8</a:t>
            </a:r>
            <a:endParaRPr b="1" sz="1300">
              <a:solidFill>
                <a:srgbClr val="FFFFFF"/>
              </a:solidFill>
              <a:latin typeface="Zen Kaku Gothic New"/>
              <a:ea typeface="Zen Kaku Gothic New"/>
              <a:cs typeface="Zen Kaku Gothic New"/>
              <a:sym typeface="Zen Kaku Gothic New"/>
            </a:endParaRPr>
          </a:p>
        </p:txBody>
      </p:sp>
      <p:sp>
        <p:nvSpPr>
          <p:cNvPr id="426" name="Google Shape;426;p34"/>
          <p:cNvSpPr txBox="1"/>
          <p:nvPr/>
        </p:nvSpPr>
        <p:spPr>
          <a:xfrm>
            <a:off x="8136000" y="104275"/>
            <a:ext cx="916800" cy="190200"/>
          </a:xfrm>
          <a:prstGeom prst="rect">
            <a:avLst/>
          </a:prstGeom>
          <a:solidFill>
            <a:srgbClr val="DC0451"/>
          </a:solidFill>
          <a:ln>
            <a:noFill/>
          </a:ln>
        </p:spPr>
        <p:txBody>
          <a:bodyPr anchorCtr="0" anchor="t" bIns="91425" lIns="91425" spcFirstLastPara="1" rIns="91425" wrap="square" tIns="91425">
            <a:noAutofit/>
          </a:bodyPr>
          <a:lstStyle/>
          <a:p>
            <a:pPr indent="0" lvl="0" marL="0" rtl="0" algn="ctr">
              <a:lnSpc>
                <a:spcPct val="50000"/>
              </a:lnSpc>
              <a:spcBef>
                <a:spcPts val="0"/>
              </a:spcBef>
              <a:spcAft>
                <a:spcPts val="0"/>
              </a:spcAft>
              <a:buNone/>
            </a:pPr>
            <a:r>
              <a:rPr b="1" lang="ja" sz="700">
                <a:solidFill>
                  <a:srgbClr val="FFFFFF"/>
                </a:solidFill>
                <a:latin typeface="M PLUS 1p"/>
                <a:ea typeface="M PLUS 1p"/>
                <a:cs typeface="M PLUS 1p"/>
                <a:sym typeface="M PLUS 1p"/>
              </a:rPr>
              <a:t>CONFIDENTIAL</a:t>
            </a:r>
            <a:endParaRPr b="1" sz="700">
              <a:solidFill>
                <a:srgbClr val="FFFFFF"/>
              </a:solidFill>
              <a:latin typeface="M PLUS 1p"/>
              <a:ea typeface="M PLUS 1p"/>
              <a:cs typeface="M PLUS 1p"/>
              <a:sym typeface="M PLUS 1p"/>
            </a:endParaRPr>
          </a:p>
        </p:txBody>
      </p:sp>
      <p:sp>
        <p:nvSpPr>
          <p:cNvPr id="427" name="Google Shape;427;p3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428" name="Google Shape;428;p34"/>
          <p:cNvSpPr txBox="1"/>
          <p:nvPr/>
        </p:nvSpPr>
        <p:spPr>
          <a:xfrm>
            <a:off x="712300" y="294475"/>
            <a:ext cx="8008500" cy="48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2000">
                <a:solidFill>
                  <a:srgbClr val="1F1F1F"/>
                </a:solidFill>
                <a:latin typeface="M PLUS 1p"/>
                <a:ea typeface="M PLUS 1p"/>
                <a:cs typeface="M PLUS 1p"/>
                <a:sym typeface="M PLUS 1p"/>
              </a:rPr>
              <a:t>Appendix:本部別③_初回掲載からの連続掲載月数とその後のAA率</a:t>
            </a:r>
            <a:endParaRPr b="1" sz="2000">
              <a:solidFill>
                <a:srgbClr val="1F1F1F"/>
              </a:solidFill>
              <a:latin typeface="M PLUS 1p"/>
              <a:ea typeface="M PLUS 1p"/>
              <a:cs typeface="M PLUS 1p"/>
              <a:sym typeface="M PLUS 1p"/>
            </a:endParaRPr>
          </a:p>
        </p:txBody>
      </p:sp>
      <p:sp>
        <p:nvSpPr>
          <p:cNvPr id="429" name="Google Shape;429;p34"/>
          <p:cNvSpPr txBox="1"/>
          <p:nvPr/>
        </p:nvSpPr>
        <p:spPr>
          <a:xfrm>
            <a:off x="342900" y="778975"/>
            <a:ext cx="8620500" cy="648300"/>
          </a:xfrm>
          <a:prstGeom prst="rect">
            <a:avLst/>
          </a:prstGeom>
          <a:noFill/>
          <a:ln>
            <a:noFill/>
          </a:ln>
        </p:spPr>
        <p:txBody>
          <a:bodyPr anchorCtr="0" anchor="t" bIns="91425" lIns="91425" spcFirstLastPara="1" rIns="91425" wrap="square" tIns="91425">
            <a:noAutofit/>
          </a:bodyPr>
          <a:lstStyle/>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SMB_high：全体的にAA率が高くなっている</a:t>
            </a:r>
            <a:endParaRPr sz="1600">
              <a:solidFill>
                <a:srgbClr val="1F1F1F"/>
              </a:solidFill>
              <a:latin typeface="M PLUS 1p"/>
              <a:ea typeface="M PLUS 1p"/>
              <a:cs typeface="M PLUS 1p"/>
              <a:sym typeface="M PLUS 1p"/>
            </a:endParaRPr>
          </a:p>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SMB_low：全体的にAA率が低い。特に1ヶ月掲載の事業所AA率は低い</a:t>
            </a:r>
            <a:endParaRPr sz="1600">
              <a:solidFill>
                <a:srgbClr val="1F1F1F"/>
              </a:solidFill>
              <a:latin typeface="M PLUS 1p"/>
              <a:ea typeface="M PLUS 1p"/>
              <a:cs typeface="M PLUS 1p"/>
              <a:sym typeface="M PLUS 1p"/>
            </a:endParaRPr>
          </a:p>
        </p:txBody>
      </p:sp>
      <p:pic>
        <p:nvPicPr>
          <p:cNvPr id="430" name="Google Shape;430;p34" title="グラフ"/>
          <p:cNvPicPr preferRelativeResize="0"/>
          <p:nvPr/>
        </p:nvPicPr>
        <p:blipFill>
          <a:blip r:embed="rId3">
            <a:alphaModFix/>
          </a:blip>
          <a:stretch>
            <a:fillRect/>
          </a:stretch>
        </p:blipFill>
        <p:spPr>
          <a:xfrm>
            <a:off x="387600" y="1886186"/>
            <a:ext cx="4148803" cy="2560799"/>
          </a:xfrm>
          <a:prstGeom prst="rect">
            <a:avLst/>
          </a:prstGeom>
          <a:noFill/>
          <a:ln>
            <a:noFill/>
          </a:ln>
        </p:spPr>
      </p:pic>
      <p:pic>
        <p:nvPicPr>
          <p:cNvPr id="431" name="Google Shape;431;p34" title="グラフ"/>
          <p:cNvPicPr preferRelativeResize="0"/>
          <p:nvPr/>
        </p:nvPicPr>
        <p:blipFill>
          <a:blip r:embed="rId4">
            <a:alphaModFix/>
          </a:blip>
          <a:stretch>
            <a:fillRect/>
          </a:stretch>
        </p:blipFill>
        <p:spPr>
          <a:xfrm>
            <a:off x="4572000" y="1886178"/>
            <a:ext cx="4148799" cy="2560799"/>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35" name="Shape 435"/>
        <p:cNvGrpSpPr/>
        <p:nvPr/>
      </p:nvGrpSpPr>
      <p:grpSpPr>
        <a:xfrm>
          <a:off x="0" y="0"/>
          <a:ext cx="0" cy="0"/>
          <a:chOff x="0" y="0"/>
          <a:chExt cx="0" cy="0"/>
        </a:xfrm>
      </p:grpSpPr>
      <p:sp>
        <p:nvSpPr>
          <p:cNvPr id="436" name="Google Shape;436;p35"/>
          <p:cNvSpPr/>
          <p:nvPr/>
        </p:nvSpPr>
        <p:spPr>
          <a:xfrm>
            <a:off x="342900" y="365275"/>
            <a:ext cx="342900" cy="342900"/>
          </a:xfrm>
          <a:prstGeom prst="ellipse">
            <a:avLst/>
          </a:prstGeom>
          <a:solidFill>
            <a:srgbClr val="FF79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35"/>
          <p:cNvSpPr txBox="1"/>
          <p:nvPr/>
        </p:nvSpPr>
        <p:spPr>
          <a:xfrm>
            <a:off x="387600" y="335450"/>
            <a:ext cx="298200" cy="30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300">
                <a:solidFill>
                  <a:srgbClr val="FFFFFF"/>
                </a:solidFill>
                <a:latin typeface="Zen Kaku Gothic New"/>
                <a:ea typeface="Zen Kaku Gothic New"/>
                <a:cs typeface="Zen Kaku Gothic New"/>
                <a:sym typeface="Zen Kaku Gothic New"/>
              </a:rPr>
              <a:t>9</a:t>
            </a:r>
            <a:endParaRPr b="1" sz="1300">
              <a:solidFill>
                <a:srgbClr val="FFFFFF"/>
              </a:solidFill>
              <a:latin typeface="Zen Kaku Gothic New"/>
              <a:ea typeface="Zen Kaku Gothic New"/>
              <a:cs typeface="Zen Kaku Gothic New"/>
              <a:sym typeface="Zen Kaku Gothic New"/>
            </a:endParaRPr>
          </a:p>
        </p:txBody>
      </p:sp>
      <p:sp>
        <p:nvSpPr>
          <p:cNvPr id="438" name="Google Shape;438;p35"/>
          <p:cNvSpPr txBox="1"/>
          <p:nvPr/>
        </p:nvSpPr>
        <p:spPr>
          <a:xfrm>
            <a:off x="8136000" y="104275"/>
            <a:ext cx="916800" cy="190200"/>
          </a:xfrm>
          <a:prstGeom prst="rect">
            <a:avLst/>
          </a:prstGeom>
          <a:solidFill>
            <a:srgbClr val="DC0451"/>
          </a:solidFill>
          <a:ln>
            <a:noFill/>
          </a:ln>
        </p:spPr>
        <p:txBody>
          <a:bodyPr anchorCtr="0" anchor="t" bIns="91425" lIns="91425" spcFirstLastPara="1" rIns="91425" wrap="square" tIns="91425">
            <a:noAutofit/>
          </a:bodyPr>
          <a:lstStyle/>
          <a:p>
            <a:pPr indent="0" lvl="0" marL="0" rtl="0" algn="ctr">
              <a:lnSpc>
                <a:spcPct val="50000"/>
              </a:lnSpc>
              <a:spcBef>
                <a:spcPts val="0"/>
              </a:spcBef>
              <a:spcAft>
                <a:spcPts val="0"/>
              </a:spcAft>
              <a:buNone/>
            </a:pPr>
            <a:r>
              <a:rPr b="1" lang="ja" sz="700">
                <a:solidFill>
                  <a:srgbClr val="FFFFFF"/>
                </a:solidFill>
                <a:latin typeface="M PLUS 1p"/>
                <a:ea typeface="M PLUS 1p"/>
                <a:cs typeface="M PLUS 1p"/>
                <a:sym typeface="M PLUS 1p"/>
              </a:rPr>
              <a:t>CONFIDENTIAL</a:t>
            </a:r>
            <a:endParaRPr b="1" sz="700">
              <a:solidFill>
                <a:srgbClr val="FFFFFF"/>
              </a:solidFill>
              <a:latin typeface="M PLUS 1p"/>
              <a:ea typeface="M PLUS 1p"/>
              <a:cs typeface="M PLUS 1p"/>
              <a:sym typeface="M PLUS 1p"/>
            </a:endParaRPr>
          </a:p>
        </p:txBody>
      </p:sp>
      <p:sp>
        <p:nvSpPr>
          <p:cNvPr id="439" name="Google Shape;439;p3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440" name="Google Shape;440;p35"/>
          <p:cNvSpPr txBox="1"/>
          <p:nvPr/>
        </p:nvSpPr>
        <p:spPr>
          <a:xfrm>
            <a:off x="712300" y="294475"/>
            <a:ext cx="8008500" cy="48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2000">
                <a:solidFill>
                  <a:srgbClr val="1F1F1F"/>
                </a:solidFill>
                <a:latin typeface="M PLUS 1p"/>
                <a:ea typeface="M PLUS 1p"/>
                <a:cs typeface="M PLUS 1p"/>
                <a:sym typeface="M PLUS 1p"/>
              </a:rPr>
              <a:t>Appendix:本部別①_</a:t>
            </a:r>
            <a:r>
              <a:rPr b="1" lang="ja" sz="2000">
                <a:solidFill>
                  <a:srgbClr val="1F1F1F"/>
                </a:solidFill>
                <a:latin typeface="M PLUS 1p"/>
                <a:ea typeface="M PLUS 1p"/>
                <a:cs typeface="M PLUS 1p"/>
                <a:sym typeface="M PLUS 1p"/>
              </a:rPr>
              <a:t>初回連続掲載月数と離脱後のAA率</a:t>
            </a:r>
            <a:endParaRPr b="1" sz="2000">
              <a:solidFill>
                <a:srgbClr val="1F1F1F"/>
              </a:solidFill>
              <a:latin typeface="M PLUS 1p"/>
              <a:ea typeface="M PLUS 1p"/>
              <a:cs typeface="M PLUS 1p"/>
              <a:sym typeface="M PLUS 1p"/>
            </a:endParaRPr>
          </a:p>
        </p:txBody>
      </p:sp>
      <p:sp>
        <p:nvSpPr>
          <p:cNvPr id="441" name="Google Shape;441;p35"/>
          <p:cNvSpPr txBox="1"/>
          <p:nvPr/>
        </p:nvSpPr>
        <p:spPr>
          <a:xfrm>
            <a:off x="342900" y="778975"/>
            <a:ext cx="8620500" cy="648300"/>
          </a:xfrm>
          <a:prstGeom prst="rect">
            <a:avLst/>
          </a:prstGeom>
          <a:noFill/>
          <a:ln>
            <a:noFill/>
          </a:ln>
        </p:spPr>
        <p:txBody>
          <a:bodyPr anchorCtr="0" anchor="t" bIns="91425" lIns="91425" spcFirstLastPara="1" rIns="91425" wrap="square" tIns="91425">
            <a:noAutofit/>
          </a:bodyPr>
          <a:lstStyle/>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飲食・流通：傾向は全体と同じだが、3</a:t>
            </a:r>
            <a:r>
              <a:rPr lang="ja" sz="1600">
                <a:solidFill>
                  <a:srgbClr val="1F1F1F"/>
                </a:solidFill>
                <a:latin typeface="M PLUS 1p"/>
                <a:ea typeface="M PLUS 1p"/>
                <a:cs typeface="M PLUS 1p"/>
                <a:sym typeface="M PLUS 1p"/>
              </a:rPr>
              <a:t>ヶ月連続掲載では</a:t>
            </a:r>
            <a:r>
              <a:rPr lang="ja" sz="1600">
                <a:solidFill>
                  <a:srgbClr val="1F1F1F"/>
                </a:solidFill>
                <a:latin typeface="M PLUS 1p"/>
                <a:ea typeface="M PLUS 1p"/>
                <a:cs typeface="M PLUS 1p"/>
                <a:sym typeface="M PLUS 1p"/>
              </a:rPr>
              <a:t>AA率が</a:t>
            </a:r>
            <a:r>
              <a:rPr lang="ja" sz="1600">
                <a:solidFill>
                  <a:srgbClr val="1F1F1F"/>
                </a:solidFill>
                <a:latin typeface="M PLUS 1p"/>
                <a:ea typeface="M PLUS 1p"/>
                <a:cs typeface="M PLUS 1p"/>
                <a:sym typeface="M PLUS 1p"/>
              </a:rPr>
              <a:t>6ヶ月目以降低下する</a:t>
            </a:r>
            <a:endParaRPr sz="1600">
              <a:solidFill>
                <a:srgbClr val="1F1F1F"/>
              </a:solidFill>
              <a:latin typeface="M PLUS 1p"/>
              <a:ea typeface="M PLUS 1p"/>
              <a:cs typeface="M PLUS 1p"/>
              <a:sym typeface="M PLUS 1p"/>
            </a:endParaRPr>
          </a:p>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物流・製造：同様に傾向は同じだが、AA率が高め</a:t>
            </a:r>
            <a:endParaRPr sz="1600">
              <a:solidFill>
                <a:srgbClr val="1F1F1F"/>
              </a:solidFill>
              <a:latin typeface="M PLUS 1p"/>
              <a:ea typeface="M PLUS 1p"/>
              <a:cs typeface="M PLUS 1p"/>
              <a:sym typeface="M PLUS 1p"/>
            </a:endParaRPr>
          </a:p>
        </p:txBody>
      </p:sp>
      <p:pic>
        <p:nvPicPr>
          <p:cNvPr id="442" name="Google Shape;442;p35" title="グラフ"/>
          <p:cNvPicPr preferRelativeResize="0"/>
          <p:nvPr/>
        </p:nvPicPr>
        <p:blipFill>
          <a:blip r:embed="rId3">
            <a:alphaModFix/>
          </a:blip>
          <a:stretch>
            <a:fillRect/>
          </a:stretch>
        </p:blipFill>
        <p:spPr>
          <a:xfrm>
            <a:off x="342900" y="1725825"/>
            <a:ext cx="4160424" cy="2568826"/>
          </a:xfrm>
          <a:prstGeom prst="rect">
            <a:avLst/>
          </a:prstGeom>
          <a:noFill/>
          <a:ln>
            <a:noFill/>
          </a:ln>
        </p:spPr>
      </p:pic>
      <p:pic>
        <p:nvPicPr>
          <p:cNvPr id="443" name="Google Shape;443;p35" title="グラフ"/>
          <p:cNvPicPr preferRelativeResize="0"/>
          <p:nvPr/>
        </p:nvPicPr>
        <p:blipFill>
          <a:blip r:embed="rId4">
            <a:alphaModFix/>
          </a:blip>
          <a:stretch>
            <a:fillRect/>
          </a:stretch>
        </p:blipFill>
        <p:spPr>
          <a:xfrm>
            <a:off x="4703050" y="1725825"/>
            <a:ext cx="4160424" cy="2568819"/>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7" name="Shape 447"/>
        <p:cNvGrpSpPr/>
        <p:nvPr/>
      </p:nvGrpSpPr>
      <p:grpSpPr>
        <a:xfrm>
          <a:off x="0" y="0"/>
          <a:ext cx="0" cy="0"/>
          <a:chOff x="0" y="0"/>
          <a:chExt cx="0" cy="0"/>
        </a:xfrm>
      </p:grpSpPr>
      <p:sp>
        <p:nvSpPr>
          <p:cNvPr id="448" name="Google Shape;448;p36"/>
          <p:cNvSpPr/>
          <p:nvPr/>
        </p:nvSpPr>
        <p:spPr>
          <a:xfrm>
            <a:off x="342900" y="365275"/>
            <a:ext cx="342900" cy="342900"/>
          </a:xfrm>
          <a:prstGeom prst="ellipse">
            <a:avLst/>
          </a:prstGeom>
          <a:solidFill>
            <a:srgbClr val="FF79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36"/>
          <p:cNvSpPr txBox="1"/>
          <p:nvPr/>
        </p:nvSpPr>
        <p:spPr>
          <a:xfrm>
            <a:off x="342900" y="335450"/>
            <a:ext cx="342900" cy="30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300">
                <a:solidFill>
                  <a:srgbClr val="FFFFFF"/>
                </a:solidFill>
                <a:latin typeface="Zen Kaku Gothic New"/>
                <a:ea typeface="Zen Kaku Gothic New"/>
                <a:cs typeface="Zen Kaku Gothic New"/>
                <a:sym typeface="Zen Kaku Gothic New"/>
              </a:rPr>
              <a:t>10</a:t>
            </a:r>
            <a:endParaRPr b="1" sz="1300">
              <a:solidFill>
                <a:srgbClr val="FFFFFF"/>
              </a:solidFill>
              <a:latin typeface="Zen Kaku Gothic New"/>
              <a:ea typeface="Zen Kaku Gothic New"/>
              <a:cs typeface="Zen Kaku Gothic New"/>
              <a:sym typeface="Zen Kaku Gothic New"/>
            </a:endParaRPr>
          </a:p>
        </p:txBody>
      </p:sp>
      <p:sp>
        <p:nvSpPr>
          <p:cNvPr id="450" name="Google Shape;450;p36"/>
          <p:cNvSpPr txBox="1"/>
          <p:nvPr/>
        </p:nvSpPr>
        <p:spPr>
          <a:xfrm>
            <a:off x="8136000" y="104275"/>
            <a:ext cx="916800" cy="190200"/>
          </a:xfrm>
          <a:prstGeom prst="rect">
            <a:avLst/>
          </a:prstGeom>
          <a:solidFill>
            <a:srgbClr val="DC0451"/>
          </a:solidFill>
          <a:ln>
            <a:noFill/>
          </a:ln>
        </p:spPr>
        <p:txBody>
          <a:bodyPr anchorCtr="0" anchor="t" bIns="91425" lIns="91425" spcFirstLastPara="1" rIns="91425" wrap="square" tIns="91425">
            <a:noAutofit/>
          </a:bodyPr>
          <a:lstStyle/>
          <a:p>
            <a:pPr indent="0" lvl="0" marL="0" rtl="0" algn="ctr">
              <a:lnSpc>
                <a:spcPct val="50000"/>
              </a:lnSpc>
              <a:spcBef>
                <a:spcPts val="0"/>
              </a:spcBef>
              <a:spcAft>
                <a:spcPts val="0"/>
              </a:spcAft>
              <a:buNone/>
            </a:pPr>
            <a:r>
              <a:rPr b="1" lang="ja" sz="700">
                <a:solidFill>
                  <a:srgbClr val="FFFFFF"/>
                </a:solidFill>
                <a:latin typeface="M PLUS 1p"/>
                <a:ea typeface="M PLUS 1p"/>
                <a:cs typeface="M PLUS 1p"/>
                <a:sym typeface="M PLUS 1p"/>
              </a:rPr>
              <a:t>CONFIDENTIAL</a:t>
            </a:r>
            <a:endParaRPr b="1" sz="700">
              <a:solidFill>
                <a:srgbClr val="FFFFFF"/>
              </a:solidFill>
              <a:latin typeface="M PLUS 1p"/>
              <a:ea typeface="M PLUS 1p"/>
              <a:cs typeface="M PLUS 1p"/>
              <a:sym typeface="M PLUS 1p"/>
            </a:endParaRPr>
          </a:p>
        </p:txBody>
      </p:sp>
      <p:sp>
        <p:nvSpPr>
          <p:cNvPr id="451" name="Google Shape;451;p3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452" name="Google Shape;452;p36"/>
          <p:cNvSpPr txBox="1"/>
          <p:nvPr/>
        </p:nvSpPr>
        <p:spPr>
          <a:xfrm>
            <a:off x="712300" y="294475"/>
            <a:ext cx="8008500" cy="48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2000">
                <a:solidFill>
                  <a:srgbClr val="1F1F1F"/>
                </a:solidFill>
                <a:latin typeface="M PLUS 1p"/>
                <a:ea typeface="M PLUS 1p"/>
                <a:cs typeface="M PLUS 1p"/>
                <a:sym typeface="M PLUS 1p"/>
              </a:rPr>
              <a:t>Appendix:本部別②_初回連続掲載月数と離脱後のAA率</a:t>
            </a:r>
            <a:endParaRPr b="1" sz="2000">
              <a:solidFill>
                <a:srgbClr val="1F1F1F"/>
              </a:solidFill>
              <a:latin typeface="M PLUS 1p"/>
              <a:ea typeface="M PLUS 1p"/>
              <a:cs typeface="M PLUS 1p"/>
              <a:sym typeface="M PLUS 1p"/>
            </a:endParaRPr>
          </a:p>
        </p:txBody>
      </p:sp>
      <p:sp>
        <p:nvSpPr>
          <p:cNvPr id="453" name="Google Shape;453;p36"/>
          <p:cNvSpPr txBox="1"/>
          <p:nvPr/>
        </p:nvSpPr>
        <p:spPr>
          <a:xfrm>
            <a:off x="342900" y="778975"/>
            <a:ext cx="8620500" cy="648300"/>
          </a:xfrm>
          <a:prstGeom prst="rect">
            <a:avLst/>
          </a:prstGeom>
          <a:noFill/>
          <a:ln>
            <a:noFill/>
          </a:ln>
        </p:spPr>
        <p:txBody>
          <a:bodyPr anchorCtr="0" anchor="t" bIns="91425" lIns="91425" spcFirstLastPara="1" rIns="91425" wrap="square" tIns="91425">
            <a:noAutofit/>
          </a:bodyPr>
          <a:lstStyle/>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市場開発：全体と比較して傾向に大きな違いはない</a:t>
            </a:r>
            <a:endParaRPr sz="1600">
              <a:solidFill>
                <a:srgbClr val="1F1F1F"/>
              </a:solidFill>
              <a:latin typeface="M PLUS 1p"/>
              <a:ea typeface="M PLUS 1p"/>
              <a:cs typeface="M PLUS 1p"/>
              <a:sym typeface="M PLUS 1p"/>
            </a:endParaRPr>
          </a:p>
        </p:txBody>
      </p:sp>
      <p:pic>
        <p:nvPicPr>
          <p:cNvPr id="454" name="Google Shape;454;p36" title="グラフ"/>
          <p:cNvPicPr preferRelativeResize="0"/>
          <p:nvPr/>
        </p:nvPicPr>
        <p:blipFill>
          <a:blip r:embed="rId3">
            <a:alphaModFix/>
          </a:blip>
          <a:stretch>
            <a:fillRect/>
          </a:stretch>
        </p:blipFill>
        <p:spPr>
          <a:xfrm>
            <a:off x="1809450" y="1311175"/>
            <a:ext cx="5525110" cy="341142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58" name="Shape 458"/>
        <p:cNvGrpSpPr/>
        <p:nvPr/>
      </p:nvGrpSpPr>
      <p:grpSpPr>
        <a:xfrm>
          <a:off x="0" y="0"/>
          <a:ext cx="0" cy="0"/>
          <a:chOff x="0" y="0"/>
          <a:chExt cx="0" cy="0"/>
        </a:xfrm>
      </p:grpSpPr>
      <p:sp>
        <p:nvSpPr>
          <p:cNvPr id="459" name="Google Shape;459;p37"/>
          <p:cNvSpPr/>
          <p:nvPr/>
        </p:nvSpPr>
        <p:spPr>
          <a:xfrm>
            <a:off x="342900" y="365275"/>
            <a:ext cx="342900" cy="342900"/>
          </a:xfrm>
          <a:prstGeom prst="ellipse">
            <a:avLst/>
          </a:prstGeom>
          <a:solidFill>
            <a:srgbClr val="FF79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37"/>
          <p:cNvSpPr txBox="1"/>
          <p:nvPr/>
        </p:nvSpPr>
        <p:spPr>
          <a:xfrm>
            <a:off x="342900" y="335450"/>
            <a:ext cx="342900" cy="30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300">
                <a:solidFill>
                  <a:srgbClr val="FFFFFF"/>
                </a:solidFill>
                <a:latin typeface="Zen Kaku Gothic New"/>
                <a:ea typeface="Zen Kaku Gothic New"/>
                <a:cs typeface="Zen Kaku Gothic New"/>
                <a:sym typeface="Zen Kaku Gothic New"/>
              </a:rPr>
              <a:t>11</a:t>
            </a:r>
            <a:endParaRPr b="1" sz="1300">
              <a:solidFill>
                <a:srgbClr val="FFFFFF"/>
              </a:solidFill>
              <a:latin typeface="Zen Kaku Gothic New"/>
              <a:ea typeface="Zen Kaku Gothic New"/>
              <a:cs typeface="Zen Kaku Gothic New"/>
              <a:sym typeface="Zen Kaku Gothic New"/>
            </a:endParaRPr>
          </a:p>
        </p:txBody>
      </p:sp>
      <p:sp>
        <p:nvSpPr>
          <p:cNvPr id="461" name="Google Shape;461;p37"/>
          <p:cNvSpPr txBox="1"/>
          <p:nvPr/>
        </p:nvSpPr>
        <p:spPr>
          <a:xfrm>
            <a:off x="8136000" y="104275"/>
            <a:ext cx="916800" cy="190200"/>
          </a:xfrm>
          <a:prstGeom prst="rect">
            <a:avLst/>
          </a:prstGeom>
          <a:solidFill>
            <a:srgbClr val="DC0451"/>
          </a:solidFill>
          <a:ln>
            <a:noFill/>
          </a:ln>
        </p:spPr>
        <p:txBody>
          <a:bodyPr anchorCtr="0" anchor="t" bIns="91425" lIns="91425" spcFirstLastPara="1" rIns="91425" wrap="square" tIns="91425">
            <a:noAutofit/>
          </a:bodyPr>
          <a:lstStyle/>
          <a:p>
            <a:pPr indent="0" lvl="0" marL="0" rtl="0" algn="ctr">
              <a:lnSpc>
                <a:spcPct val="50000"/>
              </a:lnSpc>
              <a:spcBef>
                <a:spcPts val="0"/>
              </a:spcBef>
              <a:spcAft>
                <a:spcPts val="0"/>
              </a:spcAft>
              <a:buNone/>
            </a:pPr>
            <a:r>
              <a:rPr b="1" lang="ja" sz="700">
                <a:solidFill>
                  <a:srgbClr val="FFFFFF"/>
                </a:solidFill>
                <a:latin typeface="M PLUS 1p"/>
                <a:ea typeface="M PLUS 1p"/>
                <a:cs typeface="M PLUS 1p"/>
                <a:sym typeface="M PLUS 1p"/>
              </a:rPr>
              <a:t>CONFIDENTIAL</a:t>
            </a:r>
            <a:endParaRPr b="1" sz="700">
              <a:solidFill>
                <a:srgbClr val="FFFFFF"/>
              </a:solidFill>
              <a:latin typeface="M PLUS 1p"/>
              <a:ea typeface="M PLUS 1p"/>
              <a:cs typeface="M PLUS 1p"/>
              <a:sym typeface="M PLUS 1p"/>
            </a:endParaRPr>
          </a:p>
        </p:txBody>
      </p:sp>
      <p:sp>
        <p:nvSpPr>
          <p:cNvPr id="462" name="Google Shape;462;p3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463" name="Google Shape;463;p37"/>
          <p:cNvSpPr txBox="1"/>
          <p:nvPr/>
        </p:nvSpPr>
        <p:spPr>
          <a:xfrm>
            <a:off x="712300" y="294475"/>
            <a:ext cx="8008500" cy="48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2000">
                <a:solidFill>
                  <a:srgbClr val="1F1F1F"/>
                </a:solidFill>
                <a:latin typeface="M PLUS 1p"/>
                <a:ea typeface="M PLUS 1p"/>
                <a:cs typeface="M PLUS 1p"/>
                <a:sym typeface="M PLUS 1p"/>
              </a:rPr>
              <a:t>Appendix:本部別③_初回連続掲載月数と離脱後のAA率</a:t>
            </a:r>
            <a:endParaRPr b="1" sz="2000">
              <a:solidFill>
                <a:srgbClr val="1F1F1F"/>
              </a:solidFill>
              <a:latin typeface="M PLUS 1p"/>
              <a:ea typeface="M PLUS 1p"/>
              <a:cs typeface="M PLUS 1p"/>
              <a:sym typeface="M PLUS 1p"/>
            </a:endParaRPr>
          </a:p>
        </p:txBody>
      </p:sp>
      <p:sp>
        <p:nvSpPr>
          <p:cNvPr id="464" name="Google Shape;464;p37"/>
          <p:cNvSpPr txBox="1"/>
          <p:nvPr/>
        </p:nvSpPr>
        <p:spPr>
          <a:xfrm>
            <a:off x="342900" y="778975"/>
            <a:ext cx="8620500" cy="648300"/>
          </a:xfrm>
          <a:prstGeom prst="rect">
            <a:avLst/>
          </a:prstGeom>
          <a:noFill/>
          <a:ln>
            <a:noFill/>
          </a:ln>
        </p:spPr>
        <p:txBody>
          <a:bodyPr anchorCtr="0" anchor="t" bIns="91425" lIns="91425" spcFirstLastPara="1" rIns="91425" wrap="square" tIns="91425">
            <a:noAutofit/>
          </a:bodyPr>
          <a:lstStyle/>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SMB_high：全体的にAA率</a:t>
            </a:r>
            <a:r>
              <a:rPr lang="ja" sz="1600">
                <a:solidFill>
                  <a:srgbClr val="1F1F1F"/>
                </a:solidFill>
                <a:latin typeface="M PLUS 1p"/>
                <a:ea typeface="M PLUS 1p"/>
                <a:cs typeface="M PLUS 1p"/>
                <a:sym typeface="M PLUS 1p"/>
              </a:rPr>
              <a:t>はやや</a:t>
            </a:r>
            <a:r>
              <a:rPr lang="ja" sz="1600">
                <a:solidFill>
                  <a:srgbClr val="1F1F1F"/>
                </a:solidFill>
                <a:latin typeface="M PLUS 1p"/>
                <a:ea typeface="M PLUS 1p"/>
                <a:cs typeface="M PLUS 1p"/>
                <a:sym typeface="M PLUS 1p"/>
              </a:rPr>
              <a:t>高くなっている</a:t>
            </a:r>
            <a:endParaRPr sz="1600">
              <a:solidFill>
                <a:srgbClr val="1F1F1F"/>
              </a:solidFill>
              <a:latin typeface="M PLUS 1p"/>
              <a:ea typeface="M PLUS 1p"/>
              <a:cs typeface="M PLUS 1p"/>
              <a:sym typeface="M PLUS 1p"/>
            </a:endParaRPr>
          </a:p>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SMB_low：</a:t>
            </a:r>
            <a:r>
              <a:rPr lang="ja" sz="1600">
                <a:solidFill>
                  <a:srgbClr val="1F1F1F"/>
                </a:solidFill>
                <a:latin typeface="M PLUS 1p"/>
                <a:ea typeface="M PLUS 1p"/>
                <a:cs typeface="M PLUS 1p"/>
                <a:sym typeface="M PLUS 1p"/>
              </a:rPr>
              <a:t>傾向は全体と同じだが、</a:t>
            </a:r>
            <a:r>
              <a:rPr lang="ja" sz="1600">
                <a:solidFill>
                  <a:srgbClr val="1F1F1F"/>
                </a:solidFill>
                <a:latin typeface="M PLUS 1p"/>
                <a:ea typeface="M PLUS 1p"/>
                <a:cs typeface="M PLUS 1p"/>
                <a:sym typeface="M PLUS 1p"/>
              </a:rPr>
              <a:t>1ヶ月掲載の事業所AA率は低い</a:t>
            </a:r>
            <a:endParaRPr sz="1600">
              <a:solidFill>
                <a:srgbClr val="1F1F1F"/>
              </a:solidFill>
              <a:latin typeface="M PLUS 1p"/>
              <a:ea typeface="M PLUS 1p"/>
              <a:cs typeface="M PLUS 1p"/>
              <a:sym typeface="M PLUS 1p"/>
            </a:endParaRPr>
          </a:p>
        </p:txBody>
      </p:sp>
      <p:pic>
        <p:nvPicPr>
          <p:cNvPr id="465" name="Google Shape;465;p37" title="グラフ"/>
          <p:cNvPicPr preferRelativeResize="0"/>
          <p:nvPr/>
        </p:nvPicPr>
        <p:blipFill>
          <a:blip r:embed="rId3">
            <a:alphaModFix/>
          </a:blip>
          <a:stretch>
            <a:fillRect/>
          </a:stretch>
        </p:blipFill>
        <p:spPr>
          <a:xfrm>
            <a:off x="342900" y="1854350"/>
            <a:ext cx="4158376" cy="2567551"/>
          </a:xfrm>
          <a:prstGeom prst="rect">
            <a:avLst/>
          </a:prstGeom>
          <a:noFill/>
          <a:ln>
            <a:noFill/>
          </a:ln>
        </p:spPr>
      </p:pic>
      <p:pic>
        <p:nvPicPr>
          <p:cNvPr id="466" name="Google Shape;466;p37" title="グラフ"/>
          <p:cNvPicPr preferRelativeResize="0"/>
          <p:nvPr/>
        </p:nvPicPr>
        <p:blipFill>
          <a:blip r:embed="rId4">
            <a:alphaModFix/>
          </a:blip>
          <a:stretch>
            <a:fillRect/>
          </a:stretch>
        </p:blipFill>
        <p:spPr>
          <a:xfrm>
            <a:off x="4572000" y="1854350"/>
            <a:ext cx="4103999" cy="2533976"/>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5394"/>
        </a:solidFill>
      </p:bgPr>
    </p:bg>
    <p:spTree>
      <p:nvGrpSpPr>
        <p:cNvPr id="470" name="Shape 470"/>
        <p:cNvGrpSpPr/>
        <p:nvPr/>
      </p:nvGrpSpPr>
      <p:grpSpPr>
        <a:xfrm>
          <a:off x="0" y="0"/>
          <a:ext cx="0" cy="0"/>
          <a:chOff x="0" y="0"/>
          <a:chExt cx="0" cy="0"/>
        </a:xfrm>
      </p:grpSpPr>
      <p:sp>
        <p:nvSpPr>
          <p:cNvPr id="471" name="Google Shape;471;p38"/>
          <p:cNvSpPr txBox="1"/>
          <p:nvPr/>
        </p:nvSpPr>
        <p:spPr>
          <a:xfrm>
            <a:off x="1066950" y="2017650"/>
            <a:ext cx="7010100" cy="1108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ja" sz="3200">
                <a:solidFill>
                  <a:schemeClr val="lt1"/>
                </a:solidFill>
                <a:latin typeface="M PLUS 1p"/>
                <a:ea typeface="M PLUS 1p"/>
                <a:cs typeface="M PLUS 1p"/>
                <a:sym typeface="M PLUS 1p"/>
              </a:rPr>
              <a:t>3ヶ月連続掲載を</a:t>
            </a:r>
            <a:endParaRPr b="1" sz="3200">
              <a:solidFill>
                <a:schemeClr val="lt1"/>
              </a:solidFill>
              <a:latin typeface="M PLUS 1p"/>
              <a:ea typeface="M PLUS 1p"/>
              <a:cs typeface="M PLUS 1p"/>
              <a:sym typeface="M PLUS 1p"/>
            </a:endParaRPr>
          </a:p>
          <a:p>
            <a:pPr indent="0" lvl="0" marL="0" rtl="0" algn="ctr">
              <a:spcBef>
                <a:spcPts val="0"/>
              </a:spcBef>
              <a:spcAft>
                <a:spcPts val="0"/>
              </a:spcAft>
              <a:buNone/>
            </a:pPr>
            <a:r>
              <a:rPr b="1" lang="ja" sz="3200">
                <a:solidFill>
                  <a:schemeClr val="lt1"/>
                </a:solidFill>
                <a:latin typeface="M PLUS 1p"/>
                <a:ea typeface="M PLUS 1p"/>
                <a:cs typeface="M PLUS 1p"/>
                <a:sym typeface="M PLUS 1p"/>
              </a:rPr>
              <a:t>増やすためのレバーとは</a:t>
            </a:r>
            <a:endParaRPr b="1" sz="3200">
              <a:solidFill>
                <a:schemeClr val="lt1"/>
              </a:solidFill>
              <a:latin typeface="M PLUS 1p"/>
              <a:ea typeface="M PLUS 1p"/>
              <a:cs typeface="M PLUS 1p"/>
              <a:sym typeface="M PLUS 1p"/>
            </a:endParaRPr>
          </a:p>
        </p:txBody>
      </p:sp>
      <p:sp>
        <p:nvSpPr>
          <p:cNvPr id="472" name="Google Shape;472;p3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76" name="Shape 476"/>
        <p:cNvGrpSpPr/>
        <p:nvPr/>
      </p:nvGrpSpPr>
      <p:grpSpPr>
        <a:xfrm>
          <a:off x="0" y="0"/>
          <a:ext cx="0" cy="0"/>
          <a:chOff x="0" y="0"/>
          <a:chExt cx="0" cy="0"/>
        </a:xfrm>
      </p:grpSpPr>
      <p:sp>
        <p:nvSpPr>
          <p:cNvPr id="477" name="Google Shape;477;p39"/>
          <p:cNvSpPr/>
          <p:nvPr/>
        </p:nvSpPr>
        <p:spPr>
          <a:xfrm>
            <a:off x="342900" y="1096200"/>
            <a:ext cx="8581200" cy="4003500"/>
          </a:xfrm>
          <a:prstGeom prst="roundRect">
            <a:avLst>
              <a:gd fmla="val 16667" name="adj"/>
            </a:avLst>
          </a:prstGeom>
          <a:noFill/>
          <a:ln cap="flat" cmpd="sng" w="28575">
            <a:solidFill>
              <a:srgbClr val="FCE5C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8" name="Google Shape;478;p39"/>
          <p:cNvSpPr/>
          <p:nvPr/>
        </p:nvSpPr>
        <p:spPr>
          <a:xfrm>
            <a:off x="2164950" y="1794525"/>
            <a:ext cx="548700" cy="2443200"/>
          </a:xfrm>
          <a:prstGeom prst="roundRect">
            <a:avLst>
              <a:gd fmla="val 16667" name="adj"/>
            </a:avLst>
          </a:prstGeom>
          <a:noFill/>
          <a:ln cap="flat" cmpd="sng" w="28575">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9" name="Google Shape;479;p39"/>
          <p:cNvSpPr/>
          <p:nvPr/>
        </p:nvSpPr>
        <p:spPr>
          <a:xfrm>
            <a:off x="4428075" y="3459075"/>
            <a:ext cx="548700" cy="1422600"/>
          </a:xfrm>
          <a:prstGeom prst="roundRect">
            <a:avLst>
              <a:gd fmla="val 16667" name="adj"/>
            </a:avLst>
          </a:prstGeom>
          <a:noFill/>
          <a:ln cap="flat" cmpd="sng" w="28575">
            <a:solidFill>
              <a:srgbClr val="FFF2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0" name="Google Shape;480;p39"/>
          <p:cNvSpPr/>
          <p:nvPr/>
        </p:nvSpPr>
        <p:spPr>
          <a:xfrm>
            <a:off x="342900" y="365275"/>
            <a:ext cx="342900" cy="342900"/>
          </a:xfrm>
          <a:prstGeom prst="ellipse">
            <a:avLst/>
          </a:prstGeom>
          <a:solidFill>
            <a:srgbClr val="DC04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39"/>
          <p:cNvSpPr txBox="1"/>
          <p:nvPr/>
        </p:nvSpPr>
        <p:spPr>
          <a:xfrm>
            <a:off x="387600" y="335450"/>
            <a:ext cx="298200" cy="30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300">
                <a:solidFill>
                  <a:srgbClr val="FFFFFF"/>
                </a:solidFill>
                <a:latin typeface="Zen Kaku Gothic New"/>
                <a:ea typeface="Zen Kaku Gothic New"/>
                <a:cs typeface="Zen Kaku Gothic New"/>
                <a:sym typeface="Zen Kaku Gothic New"/>
              </a:rPr>
              <a:t>2</a:t>
            </a:r>
            <a:endParaRPr b="1" sz="1300">
              <a:solidFill>
                <a:srgbClr val="FFFFFF"/>
              </a:solidFill>
              <a:latin typeface="Zen Kaku Gothic New"/>
              <a:ea typeface="Zen Kaku Gothic New"/>
              <a:cs typeface="Zen Kaku Gothic New"/>
              <a:sym typeface="Zen Kaku Gothic New"/>
            </a:endParaRPr>
          </a:p>
        </p:txBody>
      </p:sp>
      <p:sp>
        <p:nvSpPr>
          <p:cNvPr id="482" name="Google Shape;482;p39"/>
          <p:cNvSpPr txBox="1"/>
          <p:nvPr/>
        </p:nvSpPr>
        <p:spPr>
          <a:xfrm>
            <a:off x="712300" y="294475"/>
            <a:ext cx="7710000" cy="48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2000">
                <a:solidFill>
                  <a:srgbClr val="1F1F1F"/>
                </a:solidFill>
                <a:latin typeface="M PLUS 1p"/>
                <a:ea typeface="M PLUS 1p"/>
                <a:cs typeface="M PLUS 1p"/>
                <a:sym typeface="M PLUS 1p"/>
              </a:rPr>
              <a:t>今回の分析</a:t>
            </a:r>
            <a:endParaRPr b="1" sz="2000">
              <a:solidFill>
                <a:srgbClr val="1F1F1F"/>
              </a:solidFill>
              <a:latin typeface="M PLUS 1p"/>
              <a:ea typeface="M PLUS 1p"/>
              <a:cs typeface="M PLUS 1p"/>
              <a:sym typeface="M PLUS 1p"/>
            </a:endParaRPr>
          </a:p>
        </p:txBody>
      </p:sp>
      <p:sp>
        <p:nvSpPr>
          <p:cNvPr id="483" name="Google Shape;483;p39"/>
          <p:cNvSpPr txBox="1"/>
          <p:nvPr/>
        </p:nvSpPr>
        <p:spPr>
          <a:xfrm>
            <a:off x="8136000" y="104275"/>
            <a:ext cx="916800" cy="190200"/>
          </a:xfrm>
          <a:prstGeom prst="rect">
            <a:avLst/>
          </a:prstGeom>
          <a:solidFill>
            <a:srgbClr val="DC0451"/>
          </a:solidFill>
          <a:ln>
            <a:noFill/>
          </a:ln>
        </p:spPr>
        <p:txBody>
          <a:bodyPr anchorCtr="0" anchor="t" bIns="91425" lIns="91425" spcFirstLastPara="1" rIns="91425" wrap="square" tIns="91425">
            <a:noAutofit/>
          </a:bodyPr>
          <a:lstStyle/>
          <a:p>
            <a:pPr indent="0" lvl="0" marL="0" rtl="0" algn="ctr">
              <a:lnSpc>
                <a:spcPct val="50000"/>
              </a:lnSpc>
              <a:spcBef>
                <a:spcPts val="0"/>
              </a:spcBef>
              <a:spcAft>
                <a:spcPts val="0"/>
              </a:spcAft>
              <a:buNone/>
            </a:pPr>
            <a:r>
              <a:rPr b="1" lang="ja" sz="700">
                <a:solidFill>
                  <a:srgbClr val="FFFFFF"/>
                </a:solidFill>
                <a:latin typeface="M PLUS 1p"/>
                <a:ea typeface="M PLUS 1p"/>
                <a:cs typeface="M PLUS 1p"/>
                <a:sym typeface="M PLUS 1p"/>
              </a:rPr>
              <a:t>CONFIDENTIAL</a:t>
            </a:r>
            <a:endParaRPr b="1" sz="700">
              <a:solidFill>
                <a:srgbClr val="FFFFFF"/>
              </a:solidFill>
              <a:latin typeface="M PLUS 1p"/>
              <a:ea typeface="M PLUS 1p"/>
              <a:cs typeface="M PLUS 1p"/>
              <a:sym typeface="M PLUS 1p"/>
            </a:endParaRPr>
          </a:p>
        </p:txBody>
      </p:sp>
      <p:sp>
        <p:nvSpPr>
          <p:cNvPr id="484" name="Google Shape;484;p3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485" name="Google Shape;485;p39"/>
          <p:cNvSpPr txBox="1"/>
          <p:nvPr/>
        </p:nvSpPr>
        <p:spPr>
          <a:xfrm>
            <a:off x="506550" y="2694063"/>
            <a:ext cx="1551900" cy="7650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1200">
                <a:solidFill>
                  <a:srgbClr val="1F1F1F"/>
                </a:solidFill>
                <a:latin typeface="M PLUS 1p"/>
                <a:ea typeface="M PLUS 1p"/>
                <a:cs typeface="M PLUS 1p"/>
                <a:sym typeface="M PLUS 1p"/>
              </a:rPr>
              <a:t>利用開始</a:t>
            </a:r>
            <a:endParaRPr sz="1200">
              <a:solidFill>
                <a:srgbClr val="1F1F1F"/>
              </a:solidFill>
              <a:latin typeface="M PLUS 1p"/>
              <a:ea typeface="M PLUS 1p"/>
              <a:cs typeface="M PLUS 1p"/>
              <a:sym typeface="M PLUS 1p"/>
            </a:endParaRPr>
          </a:p>
        </p:txBody>
      </p:sp>
      <p:sp>
        <p:nvSpPr>
          <p:cNvPr id="486" name="Google Shape;486;p39"/>
          <p:cNvSpPr txBox="1"/>
          <p:nvPr/>
        </p:nvSpPr>
        <p:spPr>
          <a:xfrm>
            <a:off x="2768297" y="1654488"/>
            <a:ext cx="1551900" cy="7650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1200">
                <a:solidFill>
                  <a:srgbClr val="1F1F1F"/>
                </a:solidFill>
                <a:latin typeface="M PLUS 1p"/>
                <a:ea typeface="M PLUS 1p"/>
                <a:cs typeface="M PLUS 1p"/>
                <a:sym typeface="M PLUS 1p"/>
              </a:rPr>
              <a:t>3ヶ月連続</a:t>
            </a:r>
            <a:endParaRPr sz="1200">
              <a:solidFill>
                <a:srgbClr val="1F1F1F"/>
              </a:solidFill>
              <a:latin typeface="M PLUS 1p"/>
              <a:ea typeface="M PLUS 1p"/>
              <a:cs typeface="M PLUS 1p"/>
              <a:sym typeface="M PLUS 1p"/>
            </a:endParaRPr>
          </a:p>
          <a:p>
            <a:pPr indent="0" lvl="0" marL="0" rtl="0" algn="ctr">
              <a:spcBef>
                <a:spcPts val="0"/>
              </a:spcBef>
              <a:spcAft>
                <a:spcPts val="0"/>
              </a:spcAft>
              <a:buNone/>
            </a:pPr>
            <a:r>
              <a:rPr lang="ja" sz="1200">
                <a:solidFill>
                  <a:srgbClr val="1F1F1F"/>
                </a:solidFill>
                <a:latin typeface="M PLUS 1p"/>
                <a:ea typeface="M PLUS 1p"/>
                <a:cs typeface="M PLUS 1p"/>
                <a:sym typeface="M PLUS 1p"/>
              </a:rPr>
              <a:t>掲載する</a:t>
            </a:r>
            <a:endParaRPr sz="1200">
              <a:solidFill>
                <a:srgbClr val="1F1F1F"/>
              </a:solidFill>
              <a:latin typeface="M PLUS 1p"/>
              <a:ea typeface="M PLUS 1p"/>
              <a:cs typeface="M PLUS 1p"/>
              <a:sym typeface="M PLUS 1p"/>
            </a:endParaRPr>
          </a:p>
        </p:txBody>
      </p:sp>
      <p:sp>
        <p:nvSpPr>
          <p:cNvPr id="487" name="Google Shape;487;p39"/>
          <p:cNvSpPr txBox="1"/>
          <p:nvPr/>
        </p:nvSpPr>
        <p:spPr>
          <a:xfrm>
            <a:off x="2768291" y="3707863"/>
            <a:ext cx="1551900" cy="7650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1200">
                <a:solidFill>
                  <a:srgbClr val="1F1F1F"/>
                </a:solidFill>
                <a:latin typeface="M PLUS 1p"/>
                <a:ea typeface="M PLUS 1p"/>
                <a:cs typeface="M PLUS 1p"/>
                <a:sym typeface="M PLUS 1p"/>
              </a:rPr>
              <a:t>3ヶ月連続掲載せず</a:t>
            </a:r>
            <a:endParaRPr sz="1200">
              <a:solidFill>
                <a:srgbClr val="1F1F1F"/>
              </a:solidFill>
              <a:latin typeface="M PLUS 1p"/>
              <a:ea typeface="M PLUS 1p"/>
              <a:cs typeface="M PLUS 1p"/>
              <a:sym typeface="M PLUS 1p"/>
            </a:endParaRPr>
          </a:p>
          <a:p>
            <a:pPr indent="0" lvl="0" marL="0" rtl="0" algn="ctr">
              <a:spcBef>
                <a:spcPts val="0"/>
              </a:spcBef>
              <a:spcAft>
                <a:spcPts val="0"/>
              </a:spcAft>
              <a:buNone/>
            </a:pPr>
            <a:r>
              <a:rPr lang="ja" sz="1200">
                <a:solidFill>
                  <a:srgbClr val="1F1F1F"/>
                </a:solidFill>
                <a:latin typeface="M PLUS 1p"/>
                <a:ea typeface="M PLUS 1p"/>
                <a:cs typeface="M PLUS 1p"/>
                <a:sym typeface="M PLUS 1p"/>
              </a:rPr>
              <a:t>離脱する</a:t>
            </a:r>
            <a:endParaRPr sz="1200">
              <a:solidFill>
                <a:srgbClr val="1F1F1F"/>
              </a:solidFill>
              <a:latin typeface="M PLUS 1p"/>
              <a:ea typeface="M PLUS 1p"/>
              <a:cs typeface="M PLUS 1p"/>
              <a:sym typeface="M PLUS 1p"/>
            </a:endParaRPr>
          </a:p>
        </p:txBody>
      </p:sp>
      <p:sp>
        <p:nvSpPr>
          <p:cNvPr id="488" name="Google Shape;488;p39"/>
          <p:cNvSpPr txBox="1"/>
          <p:nvPr/>
        </p:nvSpPr>
        <p:spPr>
          <a:xfrm>
            <a:off x="5030040" y="3277663"/>
            <a:ext cx="1551900" cy="7650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1200">
                <a:solidFill>
                  <a:srgbClr val="1F1F1F"/>
                </a:solidFill>
                <a:latin typeface="M PLUS 1p"/>
                <a:ea typeface="M PLUS 1p"/>
                <a:cs typeface="M PLUS 1p"/>
                <a:sym typeface="M PLUS 1p"/>
              </a:rPr>
              <a:t>復活する</a:t>
            </a:r>
            <a:endParaRPr sz="1200">
              <a:solidFill>
                <a:srgbClr val="1F1F1F"/>
              </a:solidFill>
              <a:latin typeface="M PLUS 1p"/>
              <a:ea typeface="M PLUS 1p"/>
              <a:cs typeface="M PLUS 1p"/>
              <a:sym typeface="M PLUS 1p"/>
            </a:endParaRPr>
          </a:p>
        </p:txBody>
      </p:sp>
      <p:sp>
        <p:nvSpPr>
          <p:cNvPr id="489" name="Google Shape;489;p39"/>
          <p:cNvSpPr txBox="1"/>
          <p:nvPr/>
        </p:nvSpPr>
        <p:spPr>
          <a:xfrm>
            <a:off x="5030040" y="4237838"/>
            <a:ext cx="1551900" cy="7650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1200">
                <a:solidFill>
                  <a:srgbClr val="1F1F1F"/>
                </a:solidFill>
                <a:latin typeface="M PLUS 1p"/>
                <a:ea typeface="M PLUS 1p"/>
                <a:cs typeface="M PLUS 1p"/>
                <a:sym typeface="M PLUS 1p"/>
              </a:rPr>
              <a:t>復活しない</a:t>
            </a:r>
            <a:endParaRPr sz="1200">
              <a:solidFill>
                <a:srgbClr val="1F1F1F"/>
              </a:solidFill>
              <a:latin typeface="M PLUS 1p"/>
              <a:ea typeface="M PLUS 1p"/>
              <a:cs typeface="M PLUS 1p"/>
              <a:sym typeface="M PLUS 1p"/>
            </a:endParaRPr>
          </a:p>
        </p:txBody>
      </p:sp>
      <p:sp>
        <p:nvSpPr>
          <p:cNvPr id="490" name="Google Shape;490;p39"/>
          <p:cNvSpPr txBox="1"/>
          <p:nvPr/>
        </p:nvSpPr>
        <p:spPr>
          <a:xfrm>
            <a:off x="5030043" y="1177063"/>
            <a:ext cx="1551900" cy="7650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1200">
                <a:solidFill>
                  <a:srgbClr val="1F1F1F"/>
                </a:solidFill>
                <a:latin typeface="M PLUS 1p"/>
                <a:ea typeface="M PLUS 1p"/>
                <a:cs typeface="M PLUS 1p"/>
                <a:sym typeface="M PLUS 1p"/>
              </a:rPr>
              <a:t>中長期的に</a:t>
            </a:r>
            <a:endParaRPr sz="1200">
              <a:solidFill>
                <a:srgbClr val="1F1F1F"/>
              </a:solidFill>
              <a:latin typeface="M PLUS 1p"/>
              <a:ea typeface="M PLUS 1p"/>
              <a:cs typeface="M PLUS 1p"/>
              <a:sym typeface="M PLUS 1p"/>
            </a:endParaRPr>
          </a:p>
          <a:p>
            <a:pPr indent="0" lvl="0" marL="0" rtl="0" algn="ctr">
              <a:spcBef>
                <a:spcPts val="0"/>
              </a:spcBef>
              <a:spcAft>
                <a:spcPts val="0"/>
              </a:spcAft>
              <a:buNone/>
            </a:pPr>
            <a:r>
              <a:rPr lang="ja" sz="1200">
                <a:solidFill>
                  <a:srgbClr val="1F1F1F"/>
                </a:solidFill>
                <a:latin typeface="M PLUS 1p"/>
                <a:ea typeface="M PLUS 1p"/>
                <a:cs typeface="M PLUS 1p"/>
                <a:sym typeface="M PLUS 1p"/>
              </a:rPr>
              <a:t>継続する</a:t>
            </a:r>
            <a:endParaRPr sz="1200">
              <a:solidFill>
                <a:srgbClr val="1F1F1F"/>
              </a:solidFill>
              <a:latin typeface="M PLUS 1p"/>
              <a:ea typeface="M PLUS 1p"/>
              <a:cs typeface="M PLUS 1p"/>
              <a:sym typeface="M PLUS 1p"/>
            </a:endParaRPr>
          </a:p>
        </p:txBody>
      </p:sp>
      <p:sp>
        <p:nvSpPr>
          <p:cNvPr id="491" name="Google Shape;491;p39"/>
          <p:cNvSpPr txBox="1"/>
          <p:nvPr/>
        </p:nvSpPr>
        <p:spPr>
          <a:xfrm>
            <a:off x="5030040" y="2163988"/>
            <a:ext cx="1551900" cy="7650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1200">
                <a:solidFill>
                  <a:srgbClr val="1F1F1F"/>
                </a:solidFill>
                <a:latin typeface="M PLUS 1p"/>
                <a:ea typeface="M PLUS 1p"/>
                <a:cs typeface="M PLUS 1p"/>
                <a:sym typeface="M PLUS 1p"/>
              </a:rPr>
              <a:t>中長期的に</a:t>
            </a:r>
            <a:endParaRPr sz="1200">
              <a:solidFill>
                <a:srgbClr val="1F1F1F"/>
              </a:solidFill>
              <a:latin typeface="M PLUS 1p"/>
              <a:ea typeface="M PLUS 1p"/>
              <a:cs typeface="M PLUS 1p"/>
              <a:sym typeface="M PLUS 1p"/>
            </a:endParaRPr>
          </a:p>
          <a:p>
            <a:pPr indent="0" lvl="0" marL="0" rtl="0" algn="ctr">
              <a:spcBef>
                <a:spcPts val="0"/>
              </a:spcBef>
              <a:spcAft>
                <a:spcPts val="0"/>
              </a:spcAft>
              <a:buNone/>
            </a:pPr>
            <a:r>
              <a:rPr lang="ja" sz="1200">
                <a:solidFill>
                  <a:srgbClr val="1F1F1F"/>
                </a:solidFill>
                <a:latin typeface="M PLUS 1p"/>
                <a:ea typeface="M PLUS 1p"/>
                <a:cs typeface="M PLUS 1p"/>
                <a:sym typeface="M PLUS 1p"/>
              </a:rPr>
              <a:t>継続しない</a:t>
            </a:r>
            <a:endParaRPr sz="1200">
              <a:solidFill>
                <a:srgbClr val="1F1F1F"/>
              </a:solidFill>
              <a:latin typeface="M PLUS 1p"/>
              <a:ea typeface="M PLUS 1p"/>
              <a:cs typeface="M PLUS 1p"/>
              <a:sym typeface="M PLUS 1p"/>
            </a:endParaRPr>
          </a:p>
        </p:txBody>
      </p:sp>
      <p:sp>
        <p:nvSpPr>
          <p:cNvPr id="492" name="Google Shape;492;p39"/>
          <p:cNvSpPr txBox="1"/>
          <p:nvPr/>
        </p:nvSpPr>
        <p:spPr>
          <a:xfrm>
            <a:off x="7291790" y="1654488"/>
            <a:ext cx="1551900" cy="7650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1200">
                <a:solidFill>
                  <a:srgbClr val="1F1F1F"/>
                </a:solidFill>
                <a:latin typeface="M PLUS 1p"/>
                <a:ea typeface="M PLUS 1p"/>
                <a:cs typeface="M PLUS 1p"/>
                <a:sym typeface="M PLUS 1p"/>
              </a:rPr>
              <a:t>復活する</a:t>
            </a:r>
            <a:endParaRPr sz="1200">
              <a:solidFill>
                <a:srgbClr val="1F1F1F"/>
              </a:solidFill>
              <a:latin typeface="M PLUS 1p"/>
              <a:ea typeface="M PLUS 1p"/>
              <a:cs typeface="M PLUS 1p"/>
              <a:sym typeface="M PLUS 1p"/>
            </a:endParaRPr>
          </a:p>
        </p:txBody>
      </p:sp>
      <p:sp>
        <p:nvSpPr>
          <p:cNvPr id="493" name="Google Shape;493;p39"/>
          <p:cNvSpPr txBox="1"/>
          <p:nvPr/>
        </p:nvSpPr>
        <p:spPr>
          <a:xfrm>
            <a:off x="7291790" y="2614663"/>
            <a:ext cx="1551900" cy="7650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1200">
                <a:solidFill>
                  <a:srgbClr val="1F1F1F"/>
                </a:solidFill>
                <a:latin typeface="M PLUS 1p"/>
                <a:ea typeface="M PLUS 1p"/>
                <a:cs typeface="M PLUS 1p"/>
                <a:sym typeface="M PLUS 1p"/>
              </a:rPr>
              <a:t>復活しない</a:t>
            </a:r>
            <a:endParaRPr sz="1200">
              <a:solidFill>
                <a:srgbClr val="1F1F1F"/>
              </a:solidFill>
              <a:latin typeface="M PLUS 1p"/>
              <a:ea typeface="M PLUS 1p"/>
              <a:cs typeface="M PLUS 1p"/>
              <a:sym typeface="M PLUS 1p"/>
            </a:endParaRPr>
          </a:p>
        </p:txBody>
      </p:sp>
      <p:cxnSp>
        <p:nvCxnSpPr>
          <p:cNvPr id="494" name="Google Shape;494;p39"/>
          <p:cNvCxnSpPr>
            <a:stCxn id="485" idx="3"/>
            <a:endCxn id="486" idx="1"/>
          </p:cNvCxnSpPr>
          <p:nvPr/>
        </p:nvCxnSpPr>
        <p:spPr>
          <a:xfrm flipH="1" rot="10800000">
            <a:off x="2058450" y="2037063"/>
            <a:ext cx="709800" cy="1039500"/>
          </a:xfrm>
          <a:prstGeom prst="curvedConnector3">
            <a:avLst>
              <a:gd fmla="val 50003" name="adj1"/>
            </a:avLst>
          </a:prstGeom>
          <a:noFill/>
          <a:ln cap="flat" cmpd="sng" w="9525">
            <a:solidFill>
              <a:schemeClr val="dk2"/>
            </a:solidFill>
            <a:prstDash val="solid"/>
            <a:round/>
            <a:headEnd len="med" w="med" type="none"/>
            <a:tailEnd len="med" w="med" type="triangle"/>
          </a:ln>
        </p:spPr>
      </p:cxnSp>
      <p:cxnSp>
        <p:nvCxnSpPr>
          <p:cNvPr id="495" name="Google Shape;495;p39"/>
          <p:cNvCxnSpPr>
            <a:stCxn id="485" idx="3"/>
            <a:endCxn id="487" idx="1"/>
          </p:cNvCxnSpPr>
          <p:nvPr/>
        </p:nvCxnSpPr>
        <p:spPr>
          <a:xfrm>
            <a:off x="2058450" y="3076563"/>
            <a:ext cx="709800" cy="1013700"/>
          </a:xfrm>
          <a:prstGeom prst="curvedConnector3">
            <a:avLst>
              <a:gd fmla="val 50003" name="adj1"/>
            </a:avLst>
          </a:prstGeom>
          <a:noFill/>
          <a:ln cap="flat" cmpd="sng" w="38100">
            <a:solidFill>
              <a:schemeClr val="dk2"/>
            </a:solidFill>
            <a:prstDash val="solid"/>
            <a:round/>
            <a:headEnd len="med" w="med" type="none"/>
            <a:tailEnd len="med" w="med" type="triangle"/>
          </a:ln>
        </p:spPr>
      </p:cxnSp>
      <p:cxnSp>
        <p:nvCxnSpPr>
          <p:cNvPr id="496" name="Google Shape;496;p39"/>
          <p:cNvCxnSpPr>
            <a:stCxn id="487" idx="3"/>
            <a:endCxn id="489" idx="1"/>
          </p:cNvCxnSpPr>
          <p:nvPr/>
        </p:nvCxnSpPr>
        <p:spPr>
          <a:xfrm>
            <a:off x="4320191" y="4090363"/>
            <a:ext cx="709800" cy="530100"/>
          </a:xfrm>
          <a:prstGeom prst="curvedConnector3">
            <a:avLst>
              <a:gd fmla="val 50003" name="adj1"/>
            </a:avLst>
          </a:prstGeom>
          <a:noFill/>
          <a:ln cap="flat" cmpd="sng" w="38100">
            <a:solidFill>
              <a:schemeClr val="dk2"/>
            </a:solidFill>
            <a:prstDash val="solid"/>
            <a:round/>
            <a:headEnd len="med" w="med" type="none"/>
            <a:tailEnd len="med" w="med" type="triangle"/>
          </a:ln>
        </p:spPr>
      </p:cxnSp>
      <p:cxnSp>
        <p:nvCxnSpPr>
          <p:cNvPr id="497" name="Google Shape;497;p39"/>
          <p:cNvCxnSpPr>
            <a:stCxn id="487" idx="3"/>
            <a:endCxn id="488" idx="1"/>
          </p:cNvCxnSpPr>
          <p:nvPr/>
        </p:nvCxnSpPr>
        <p:spPr>
          <a:xfrm flipH="1" rot="10800000">
            <a:off x="4320191" y="3660163"/>
            <a:ext cx="709800" cy="430200"/>
          </a:xfrm>
          <a:prstGeom prst="curvedConnector3">
            <a:avLst>
              <a:gd fmla="val 50003" name="adj1"/>
            </a:avLst>
          </a:prstGeom>
          <a:noFill/>
          <a:ln cap="flat" cmpd="sng" w="9525">
            <a:solidFill>
              <a:schemeClr val="dk2"/>
            </a:solidFill>
            <a:prstDash val="solid"/>
            <a:round/>
            <a:headEnd len="med" w="med" type="none"/>
            <a:tailEnd len="med" w="med" type="triangle"/>
          </a:ln>
        </p:spPr>
      </p:cxnSp>
      <p:cxnSp>
        <p:nvCxnSpPr>
          <p:cNvPr id="498" name="Google Shape;498;p39"/>
          <p:cNvCxnSpPr>
            <a:stCxn id="486" idx="3"/>
            <a:endCxn id="490" idx="1"/>
          </p:cNvCxnSpPr>
          <p:nvPr/>
        </p:nvCxnSpPr>
        <p:spPr>
          <a:xfrm flipH="1" rot="10800000">
            <a:off x="4320197" y="1559688"/>
            <a:ext cx="709800" cy="477300"/>
          </a:xfrm>
          <a:prstGeom prst="curvedConnector3">
            <a:avLst>
              <a:gd fmla="val 50003" name="adj1"/>
            </a:avLst>
          </a:prstGeom>
          <a:noFill/>
          <a:ln cap="flat" cmpd="sng" w="38100">
            <a:solidFill>
              <a:schemeClr val="dk2"/>
            </a:solidFill>
            <a:prstDash val="solid"/>
            <a:round/>
            <a:headEnd len="med" w="med" type="none"/>
            <a:tailEnd len="med" w="med" type="triangle"/>
          </a:ln>
        </p:spPr>
      </p:cxnSp>
      <p:cxnSp>
        <p:nvCxnSpPr>
          <p:cNvPr id="499" name="Google Shape;499;p39"/>
          <p:cNvCxnSpPr>
            <a:stCxn id="486" idx="3"/>
            <a:endCxn id="491" idx="1"/>
          </p:cNvCxnSpPr>
          <p:nvPr/>
        </p:nvCxnSpPr>
        <p:spPr>
          <a:xfrm>
            <a:off x="4320197" y="2036988"/>
            <a:ext cx="709800" cy="509400"/>
          </a:xfrm>
          <a:prstGeom prst="curvedConnector3">
            <a:avLst>
              <a:gd fmla="val 50003" name="adj1"/>
            </a:avLst>
          </a:prstGeom>
          <a:noFill/>
          <a:ln cap="flat" cmpd="sng" w="9525">
            <a:solidFill>
              <a:schemeClr val="dk2"/>
            </a:solidFill>
            <a:prstDash val="solid"/>
            <a:round/>
            <a:headEnd len="med" w="med" type="none"/>
            <a:tailEnd len="med" w="med" type="triangle"/>
          </a:ln>
        </p:spPr>
      </p:cxnSp>
      <p:cxnSp>
        <p:nvCxnSpPr>
          <p:cNvPr id="500" name="Google Shape;500;p39"/>
          <p:cNvCxnSpPr>
            <a:stCxn id="491" idx="3"/>
            <a:endCxn id="492" idx="1"/>
          </p:cNvCxnSpPr>
          <p:nvPr/>
        </p:nvCxnSpPr>
        <p:spPr>
          <a:xfrm flipH="1" rot="10800000">
            <a:off x="6581940" y="2037088"/>
            <a:ext cx="709800" cy="509400"/>
          </a:xfrm>
          <a:prstGeom prst="curvedConnector3">
            <a:avLst>
              <a:gd fmla="val 50004" name="adj1"/>
            </a:avLst>
          </a:prstGeom>
          <a:noFill/>
          <a:ln cap="flat" cmpd="sng" w="38100">
            <a:solidFill>
              <a:schemeClr val="dk2"/>
            </a:solidFill>
            <a:prstDash val="solid"/>
            <a:round/>
            <a:headEnd len="med" w="med" type="none"/>
            <a:tailEnd len="med" w="med" type="triangle"/>
          </a:ln>
        </p:spPr>
      </p:cxnSp>
      <p:cxnSp>
        <p:nvCxnSpPr>
          <p:cNvPr id="501" name="Google Shape;501;p39"/>
          <p:cNvCxnSpPr>
            <a:stCxn id="491" idx="3"/>
            <a:endCxn id="493" idx="1"/>
          </p:cNvCxnSpPr>
          <p:nvPr/>
        </p:nvCxnSpPr>
        <p:spPr>
          <a:xfrm>
            <a:off x="6581940" y="2546488"/>
            <a:ext cx="709800" cy="450600"/>
          </a:xfrm>
          <a:prstGeom prst="curvedConnector3">
            <a:avLst>
              <a:gd fmla="val 50004" name="adj1"/>
            </a:avLst>
          </a:prstGeom>
          <a:noFill/>
          <a:ln cap="flat" cmpd="sng" w="9525">
            <a:solidFill>
              <a:schemeClr val="dk2"/>
            </a:solidFill>
            <a:prstDash val="solid"/>
            <a:round/>
            <a:headEnd len="med" w="med" type="none"/>
            <a:tailEnd len="med" w="med" type="triangle"/>
          </a:ln>
        </p:spPr>
      </p:cxnSp>
      <p:sp>
        <p:nvSpPr>
          <p:cNvPr id="502" name="Google Shape;502;p39"/>
          <p:cNvSpPr txBox="1"/>
          <p:nvPr/>
        </p:nvSpPr>
        <p:spPr>
          <a:xfrm>
            <a:off x="575400" y="1348800"/>
            <a:ext cx="1414200" cy="305700"/>
          </a:xfrm>
          <a:prstGeom prst="rect">
            <a:avLst/>
          </a:prstGeom>
          <a:solidFill>
            <a:srgbClr val="F4CCCC">
              <a:alpha val="46840"/>
            </a:srgbClr>
          </a:solidFill>
          <a:ln>
            <a:noFill/>
          </a:ln>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rPr lang="ja" sz="1200">
                <a:solidFill>
                  <a:schemeClr val="lt1"/>
                </a:solidFill>
                <a:latin typeface="M PLUS 1p"/>
                <a:ea typeface="M PLUS 1p"/>
                <a:cs typeface="M PLUS 1p"/>
                <a:sym typeface="M PLUS 1p"/>
              </a:rPr>
              <a:t>①全体像を捉える</a:t>
            </a:r>
            <a:endParaRPr sz="1200">
              <a:solidFill>
                <a:schemeClr val="lt1"/>
              </a:solidFill>
              <a:latin typeface="M PLUS 1p"/>
              <a:ea typeface="M PLUS 1p"/>
              <a:cs typeface="M PLUS 1p"/>
              <a:sym typeface="M PLUS 1p"/>
            </a:endParaRPr>
          </a:p>
        </p:txBody>
      </p:sp>
      <p:sp>
        <p:nvSpPr>
          <p:cNvPr id="503" name="Google Shape;503;p39"/>
          <p:cNvSpPr txBox="1"/>
          <p:nvPr/>
        </p:nvSpPr>
        <p:spPr>
          <a:xfrm>
            <a:off x="6636600" y="3848125"/>
            <a:ext cx="1499400" cy="484500"/>
          </a:xfrm>
          <a:prstGeom prst="rect">
            <a:avLst/>
          </a:prstGeom>
          <a:solidFill>
            <a:srgbClr val="FFF2CC">
              <a:alpha val="50000"/>
            </a:srgbClr>
          </a:solidFill>
          <a:ln>
            <a:noFill/>
          </a:ln>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rPr lang="ja" sz="1200">
                <a:solidFill>
                  <a:srgbClr val="B7B7B7"/>
                </a:solidFill>
                <a:latin typeface="M PLUS 1p"/>
                <a:ea typeface="M PLUS 1p"/>
                <a:cs typeface="M PLUS 1p"/>
                <a:sym typeface="M PLUS 1p"/>
              </a:rPr>
              <a:t>③離脱後の復活の</a:t>
            </a:r>
            <a:endParaRPr sz="1200">
              <a:solidFill>
                <a:srgbClr val="B7B7B7"/>
              </a:solidFill>
              <a:latin typeface="M PLUS 1p"/>
              <a:ea typeface="M PLUS 1p"/>
              <a:cs typeface="M PLUS 1p"/>
              <a:sym typeface="M PLUS 1p"/>
            </a:endParaRPr>
          </a:p>
          <a:p>
            <a:pPr indent="0" lvl="0" marL="0" rtl="0" algn="l">
              <a:lnSpc>
                <a:spcPct val="120000"/>
              </a:lnSpc>
              <a:spcBef>
                <a:spcPts val="0"/>
              </a:spcBef>
              <a:spcAft>
                <a:spcPts val="0"/>
              </a:spcAft>
              <a:buNone/>
            </a:pPr>
            <a:r>
              <a:rPr lang="ja" sz="1200">
                <a:solidFill>
                  <a:srgbClr val="B7B7B7"/>
                </a:solidFill>
                <a:latin typeface="M PLUS 1p"/>
                <a:ea typeface="M PLUS 1p"/>
                <a:cs typeface="M PLUS 1p"/>
                <a:sym typeface="M PLUS 1p"/>
              </a:rPr>
              <a:t>レバーを探す</a:t>
            </a:r>
            <a:endParaRPr sz="1200">
              <a:solidFill>
                <a:srgbClr val="B7B7B7"/>
              </a:solidFill>
              <a:latin typeface="M PLUS 1p"/>
              <a:ea typeface="M PLUS 1p"/>
              <a:cs typeface="M PLUS 1p"/>
              <a:sym typeface="M PLUS 1p"/>
            </a:endParaRPr>
          </a:p>
        </p:txBody>
      </p:sp>
      <p:sp>
        <p:nvSpPr>
          <p:cNvPr id="504" name="Google Shape;504;p39"/>
          <p:cNvSpPr txBox="1"/>
          <p:nvPr/>
        </p:nvSpPr>
        <p:spPr>
          <a:xfrm>
            <a:off x="2794550" y="2929000"/>
            <a:ext cx="1499400" cy="484500"/>
          </a:xfrm>
          <a:prstGeom prst="rect">
            <a:avLst/>
          </a:prstGeom>
          <a:solidFill>
            <a:srgbClr val="0B5394"/>
          </a:solidFill>
          <a:ln>
            <a:noFill/>
          </a:ln>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rPr lang="ja" sz="1200">
                <a:solidFill>
                  <a:schemeClr val="lt1"/>
                </a:solidFill>
                <a:latin typeface="M PLUS 1p"/>
                <a:ea typeface="M PLUS 1p"/>
                <a:cs typeface="M PLUS 1p"/>
                <a:sym typeface="M PLUS 1p"/>
              </a:rPr>
              <a:t>②3ヶ月連続掲載のレバーを探す</a:t>
            </a:r>
            <a:endParaRPr sz="1200">
              <a:solidFill>
                <a:schemeClr val="lt1"/>
              </a:solidFill>
              <a:latin typeface="M PLUS 1p"/>
              <a:ea typeface="M PLUS 1p"/>
              <a:cs typeface="M PLUS 1p"/>
              <a:sym typeface="M PLUS 1p"/>
            </a:endParaRPr>
          </a:p>
        </p:txBody>
      </p:sp>
      <p:sp>
        <p:nvSpPr>
          <p:cNvPr id="505" name="Google Shape;505;p39"/>
          <p:cNvSpPr/>
          <p:nvPr/>
        </p:nvSpPr>
        <p:spPr>
          <a:xfrm>
            <a:off x="2359500" y="2812325"/>
            <a:ext cx="159600" cy="423300"/>
          </a:xfrm>
          <a:prstGeom prst="upArrow">
            <a:avLst>
              <a:gd fmla="val 50000" name="adj1"/>
              <a:gd fmla="val 50000" name="adj2"/>
            </a:avLst>
          </a:prstGeom>
          <a:solidFill>
            <a:srgbClr val="0B539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06" name="Google Shape;506;p39"/>
          <p:cNvSpPr/>
          <p:nvPr/>
        </p:nvSpPr>
        <p:spPr>
          <a:xfrm>
            <a:off x="4622625" y="3878725"/>
            <a:ext cx="159600" cy="423300"/>
          </a:xfrm>
          <a:prstGeom prst="upArrow">
            <a:avLst>
              <a:gd fmla="val 50000" name="adj1"/>
              <a:gd fmla="val 50000" name="adj2"/>
            </a:avLst>
          </a:prstGeom>
          <a:solidFill>
            <a:srgbClr val="FFF2CC">
              <a:alpha val="5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07" name="Google Shape;507;p39"/>
          <p:cNvSpPr txBox="1"/>
          <p:nvPr/>
        </p:nvSpPr>
        <p:spPr>
          <a:xfrm>
            <a:off x="820075" y="728034"/>
            <a:ext cx="7710000" cy="3057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None/>
            </a:pPr>
            <a:r>
              <a:rPr lang="ja" sz="800">
                <a:solidFill>
                  <a:srgbClr val="1F1F1F"/>
                </a:solidFill>
                <a:latin typeface="M PLUS 1p"/>
                <a:ea typeface="M PLUS 1p"/>
                <a:cs typeface="M PLUS 1p"/>
                <a:sym typeface="M PLUS 1p"/>
              </a:rPr>
              <a:t>※線の太さは、そのルートを辿る店舗の多</a:t>
            </a:r>
            <a:r>
              <a:rPr lang="ja" sz="800">
                <a:solidFill>
                  <a:srgbClr val="1F1F1F"/>
                </a:solidFill>
                <a:latin typeface="M PLUS 1p"/>
                <a:ea typeface="M PLUS 1p"/>
                <a:cs typeface="M PLUS 1p"/>
                <a:sym typeface="M PLUS 1p"/>
              </a:rPr>
              <a:t>い</a:t>
            </a:r>
            <a:r>
              <a:rPr lang="ja" sz="800">
                <a:solidFill>
                  <a:srgbClr val="1F1F1F"/>
                </a:solidFill>
                <a:latin typeface="M PLUS 1p"/>
                <a:ea typeface="M PLUS 1p"/>
                <a:cs typeface="M PLUS 1p"/>
                <a:sym typeface="M PLUS 1p"/>
              </a:rPr>
              <a:t>/少ないを表現</a:t>
            </a:r>
            <a:endParaRPr sz="800">
              <a:solidFill>
                <a:srgbClr val="1F1F1F"/>
              </a:solidFill>
              <a:latin typeface="M PLUS 1p"/>
              <a:ea typeface="M PLUS 1p"/>
              <a:cs typeface="M PLUS 1p"/>
              <a:sym typeface="M PLUS 1p"/>
            </a:endParaRPr>
          </a:p>
        </p:txBody>
      </p:sp>
      <p:sp>
        <p:nvSpPr>
          <p:cNvPr id="508" name="Google Shape;508;p39"/>
          <p:cNvSpPr/>
          <p:nvPr/>
        </p:nvSpPr>
        <p:spPr>
          <a:xfrm>
            <a:off x="342900" y="365275"/>
            <a:ext cx="342900" cy="342900"/>
          </a:xfrm>
          <a:prstGeom prst="ellipse">
            <a:avLst/>
          </a:prstGeom>
          <a:solidFill>
            <a:srgbClr val="0B539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39"/>
          <p:cNvSpPr txBox="1"/>
          <p:nvPr/>
        </p:nvSpPr>
        <p:spPr>
          <a:xfrm>
            <a:off x="387600" y="335450"/>
            <a:ext cx="298200" cy="30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300">
                <a:solidFill>
                  <a:srgbClr val="FFFFFF"/>
                </a:solidFill>
                <a:latin typeface="Zen Kaku Gothic New"/>
                <a:ea typeface="Zen Kaku Gothic New"/>
                <a:cs typeface="Zen Kaku Gothic New"/>
                <a:sym typeface="Zen Kaku Gothic New"/>
              </a:rPr>
              <a:t>0</a:t>
            </a:r>
            <a:endParaRPr b="1" sz="1300">
              <a:solidFill>
                <a:srgbClr val="FFFFFF"/>
              </a:solidFill>
              <a:latin typeface="Zen Kaku Gothic New"/>
              <a:ea typeface="Zen Kaku Gothic New"/>
              <a:cs typeface="Zen Kaku Gothic New"/>
              <a:sym typeface="Zen Kaku Gothic New"/>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13" name="Shape 513"/>
        <p:cNvGrpSpPr/>
        <p:nvPr/>
      </p:nvGrpSpPr>
      <p:grpSpPr>
        <a:xfrm>
          <a:off x="0" y="0"/>
          <a:ext cx="0" cy="0"/>
          <a:chOff x="0" y="0"/>
          <a:chExt cx="0" cy="0"/>
        </a:xfrm>
      </p:grpSpPr>
      <p:sp>
        <p:nvSpPr>
          <p:cNvPr id="514" name="Google Shape;514;p40"/>
          <p:cNvSpPr txBox="1"/>
          <p:nvPr/>
        </p:nvSpPr>
        <p:spPr>
          <a:xfrm>
            <a:off x="432350" y="860575"/>
            <a:ext cx="8620500" cy="39822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None/>
            </a:pPr>
            <a:r>
              <a:rPr b="1" lang="ja">
                <a:solidFill>
                  <a:srgbClr val="1F1F1F"/>
                </a:solidFill>
                <a:latin typeface="M PLUS 1p"/>
                <a:ea typeface="M PLUS 1p"/>
                <a:cs typeface="M PLUS 1p"/>
                <a:sym typeface="M PLUS 1p"/>
              </a:rPr>
              <a:t>[分析の目的]</a:t>
            </a:r>
            <a:endParaRPr b="1">
              <a:solidFill>
                <a:srgbClr val="1F1F1F"/>
              </a:solidFill>
              <a:latin typeface="M PLUS 1p"/>
              <a:ea typeface="M PLUS 1p"/>
              <a:cs typeface="M PLUS 1p"/>
              <a:sym typeface="M PLUS 1p"/>
            </a:endParaRPr>
          </a:p>
          <a:p>
            <a:pPr indent="-317500" lvl="0" marL="457200" rtl="0" algn="l">
              <a:lnSpc>
                <a:spcPct val="120000"/>
              </a:lnSpc>
              <a:spcBef>
                <a:spcPts val="0"/>
              </a:spcBef>
              <a:spcAft>
                <a:spcPts val="0"/>
              </a:spcAft>
              <a:buClr>
                <a:srgbClr val="1F1F1F"/>
              </a:buClr>
              <a:buSzPts val="1400"/>
              <a:buFont typeface="M PLUS 1p"/>
              <a:buChar char="●"/>
            </a:pPr>
            <a:r>
              <a:rPr lang="ja">
                <a:solidFill>
                  <a:srgbClr val="1F1F1F"/>
                </a:solidFill>
                <a:latin typeface="M PLUS 1p"/>
                <a:ea typeface="M PLUS 1p"/>
                <a:cs typeface="M PLUS 1p"/>
                <a:sym typeface="M PLUS 1p"/>
              </a:rPr>
              <a:t>3ヶ月連続掲載をすると、その後の定着がしやすいことがわかっているので、3ヶ月連続掲載をするためのレバーを知るため</a:t>
            </a:r>
            <a:endParaRPr>
              <a:solidFill>
                <a:srgbClr val="1F1F1F"/>
              </a:solidFill>
              <a:latin typeface="M PLUS 1p"/>
              <a:ea typeface="M PLUS 1p"/>
              <a:cs typeface="M PLUS 1p"/>
              <a:sym typeface="M PLUS 1p"/>
            </a:endParaRPr>
          </a:p>
          <a:p>
            <a:pPr indent="0" lvl="0" marL="0" rtl="0" algn="l">
              <a:lnSpc>
                <a:spcPct val="120000"/>
              </a:lnSpc>
              <a:spcBef>
                <a:spcPts val="0"/>
              </a:spcBef>
              <a:spcAft>
                <a:spcPts val="0"/>
              </a:spcAft>
              <a:buNone/>
            </a:pPr>
            <a:r>
              <a:rPr b="1" lang="ja">
                <a:solidFill>
                  <a:srgbClr val="1F1F1F"/>
                </a:solidFill>
                <a:latin typeface="M PLUS 1p"/>
                <a:ea typeface="M PLUS 1p"/>
                <a:cs typeface="M PLUS 1p"/>
                <a:sym typeface="M PLUS 1p"/>
              </a:rPr>
              <a:t>[行った分析]</a:t>
            </a:r>
            <a:endParaRPr b="1">
              <a:solidFill>
                <a:srgbClr val="1F1F1F"/>
              </a:solidFill>
              <a:latin typeface="M PLUS 1p"/>
              <a:ea typeface="M PLUS 1p"/>
              <a:cs typeface="M PLUS 1p"/>
              <a:sym typeface="M PLUS 1p"/>
            </a:endParaRPr>
          </a:p>
          <a:p>
            <a:pPr indent="-317500" lvl="0" marL="457200" rtl="0" algn="l">
              <a:lnSpc>
                <a:spcPct val="120000"/>
              </a:lnSpc>
              <a:spcBef>
                <a:spcPts val="0"/>
              </a:spcBef>
              <a:spcAft>
                <a:spcPts val="0"/>
              </a:spcAft>
              <a:buClr>
                <a:srgbClr val="1F1F1F"/>
              </a:buClr>
              <a:buSzPts val="1400"/>
              <a:buFont typeface="M PLUS 1p"/>
              <a:buChar char="●"/>
            </a:pPr>
            <a:r>
              <a:rPr lang="ja">
                <a:solidFill>
                  <a:srgbClr val="1F1F1F"/>
                </a:solidFill>
                <a:latin typeface="M PLUS 1p"/>
                <a:ea typeface="M PLUS 1p"/>
                <a:cs typeface="M PLUS 1p"/>
                <a:sym typeface="M PLUS 1p"/>
              </a:rPr>
              <a:t>3ヶ月連続掲載に効く変数を洗い出し、</a:t>
            </a:r>
            <a:r>
              <a:rPr lang="ja">
                <a:solidFill>
                  <a:schemeClr val="dk1"/>
                </a:solidFill>
                <a:latin typeface="M PLUS 1p"/>
                <a:ea typeface="M PLUS 1p"/>
                <a:cs typeface="M PLUS 1p"/>
                <a:sym typeface="M PLUS 1p"/>
              </a:rPr>
              <a:t>初月の募集開始時間帯数の深堀り</a:t>
            </a:r>
            <a:r>
              <a:rPr lang="ja">
                <a:solidFill>
                  <a:srgbClr val="1F1F1F"/>
                </a:solidFill>
                <a:latin typeface="M PLUS 1p"/>
                <a:ea typeface="M PLUS 1p"/>
                <a:cs typeface="M PLUS 1p"/>
                <a:sym typeface="M PLUS 1p"/>
              </a:rPr>
              <a:t>を実施</a:t>
            </a:r>
            <a:endParaRPr>
              <a:solidFill>
                <a:srgbClr val="1F1F1F"/>
              </a:solidFill>
              <a:latin typeface="M PLUS 1p"/>
              <a:ea typeface="M PLUS 1p"/>
              <a:cs typeface="M PLUS 1p"/>
              <a:sym typeface="M PLUS 1p"/>
            </a:endParaRPr>
          </a:p>
          <a:p>
            <a:pPr indent="-317500" lvl="0" marL="457200" rtl="0" algn="l">
              <a:lnSpc>
                <a:spcPct val="120000"/>
              </a:lnSpc>
              <a:spcBef>
                <a:spcPts val="0"/>
              </a:spcBef>
              <a:spcAft>
                <a:spcPts val="0"/>
              </a:spcAft>
              <a:buClr>
                <a:srgbClr val="1F1F1F"/>
              </a:buClr>
              <a:buSzPts val="1400"/>
              <a:buFont typeface="M PLUS 1p"/>
              <a:buChar char="●"/>
            </a:pPr>
            <a:r>
              <a:rPr lang="ja">
                <a:solidFill>
                  <a:srgbClr val="1F1F1F"/>
                </a:solidFill>
                <a:latin typeface="M PLUS 1p"/>
                <a:ea typeface="M PLUS 1p"/>
                <a:cs typeface="M PLUS 1p"/>
                <a:sym typeface="M PLUS 1p"/>
              </a:rPr>
              <a:t>初回掲載後の管理画面にアクセスしている</a:t>
            </a:r>
            <a:r>
              <a:rPr lang="ja">
                <a:solidFill>
                  <a:srgbClr val="1F1F1F"/>
                </a:solidFill>
                <a:latin typeface="M PLUS 1p"/>
                <a:ea typeface="M PLUS 1p"/>
                <a:cs typeface="M PLUS 1p"/>
                <a:sym typeface="M PLUS 1p"/>
              </a:rPr>
              <a:t>店舗</a:t>
            </a:r>
            <a:r>
              <a:rPr lang="ja">
                <a:solidFill>
                  <a:srgbClr val="1F1F1F"/>
                </a:solidFill>
                <a:latin typeface="M PLUS 1p"/>
                <a:ea typeface="M PLUS 1p"/>
                <a:cs typeface="M PLUS 1p"/>
                <a:sym typeface="M PLUS 1p"/>
              </a:rPr>
              <a:t>の行動の深堀りを実施</a:t>
            </a:r>
            <a:endParaRPr>
              <a:solidFill>
                <a:srgbClr val="1F1F1F"/>
              </a:solidFill>
              <a:latin typeface="M PLUS 1p"/>
              <a:ea typeface="M PLUS 1p"/>
              <a:cs typeface="M PLUS 1p"/>
              <a:sym typeface="M PLUS 1p"/>
            </a:endParaRPr>
          </a:p>
          <a:p>
            <a:pPr indent="0" lvl="0" marL="0" rtl="0" algn="l">
              <a:lnSpc>
                <a:spcPct val="120000"/>
              </a:lnSpc>
              <a:spcBef>
                <a:spcPts val="0"/>
              </a:spcBef>
              <a:spcAft>
                <a:spcPts val="0"/>
              </a:spcAft>
              <a:buNone/>
            </a:pPr>
            <a:r>
              <a:rPr b="1" lang="ja">
                <a:solidFill>
                  <a:srgbClr val="1F1F1F"/>
                </a:solidFill>
                <a:latin typeface="M PLUS 1p"/>
                <a:ea typeface="M PLUS 1p"/>
                <a:cs typeface="M PLUS 1p"/>
                <a:sym typeface="M PLUS 1p"/>
              </a:rPr>
              <a:t>[得られた示唆]</a:t>
            </a:r>
            <a:endParaRPr>
              <a:solidFill>
                <a:srgbClr val="1F1F1F"/>
              </a:solidFill>
              <a:latin typeface="M PLUS 1p"/>
              <a:ea typeface="M PLUS 1p"/>
              <a:cs typeface="M PLUS 1p"/>
              <a:sym typeface="M PLUS 1p"/>
            </a:endParaRPr>
          </a:p>
          <a:p>
            <a:pPr indent="-317500" lvl="0" marL="457200" rtl="0" algn="l">
              <a:lnSpc>
                <a:spcPct val="120000"/>
              </a:lnSpc>
              <a:spcBef>
                <a:spcPts val="0"/>
              </a:spcBef>
              <a:spcAft>
                <a:spcPts val="0"/>
              </a:spcAft>
              <a:buClr>
                <a:srgbClr val="1F1F1F"/>
              </a:buClr>
              <a:buSzPts val="1400"/>
              <a:buFont typeface="M PLUS 1p"/>
              <a:buChar char="●"/>
            </a:pPr>
            <a:r>
              <a:rPr lang="ja">
                <a:solidFill>
                  <a:srgbClr val="FF0000"/>
                </a:solidFill>
                <a:latin typeface="M PLUS 1p"/>
                <a:ea typeface="M PLUS 1p"/>
                <a:cs typeface="M PLUS 1p"/>
                <a:sym typeface="M PLUS 1p"/>
              </a:rPr>
              <a:t>幅広く（平日・週末/ いろいろな時間帯）募集を掲載</a:t>
            </a:r>
            <a:r>
              <a:rPr lang="ja">
                <a:solidFill>
                  <a:srgbClr val="1F1F1F"/>
                </a:solidFill>
                <a:latin typeface="M PLUS 1p"/>
                <a:ea typeface="M PLUS 1p"/>
                <a:cs typeface="M PLUS 1p"/>
                <a:sym typeface="M PLUS 1p"/>
              </a:rPr>
              <a:t>することが、３ヶ月継続率が高い。また、特定時間に長時間の募集より、短い時間で様々な時間帯に募集を掲載するほうが</a:t>
            </a:r>
            <a:r>
              <a:rPr lang="ja">
                <a:solidFill>
                  <a:srgbClr val="1F1F1F"/>
                </a:solidFill>
                <a:latin typeface="M PLUS 1p"/>
                <a:ea typeface="M PLUS 1p"/>
                <a:cs typeface="M PLUS 1p"/>
                <a:sym typeface="M PLUS 1p"/>
              </a:rPr>
              <a:t>3ヶ月継続率は高い</a:t>
            </a:r>
            <a:endParaRPr>
              <a:solidFill>
                <a:srgbClr val="1F1F1F"/>
              </a:solidFill>
              <a:latin typeface="M PLUS 1p"/>
              <a:ea typeface="M PLUS 1p"/>
              <a:cs typeface="M PLUS 1p"/>
              <a:sym typeface="M PLUS 1p"/>
            </a:endParaRPr>
          </a:p>
          <a:p>
            <a:pPr indent="-317500" lvl="0" marL="457200" rtl="0" algn="l">
              <a:lnSpc>
                <a:spcPct val="120000"/>
              </a:lnSpc>
              <a:spcBef>
                <a:spcPts val="0"/>
              </a:spcBef>
              <a:spcAft>
                <a:spcPts val="0"/>
              </a:spcAft>
              <a:buClr>
                <a:schemeClr val="dk1"/>
              </a:buClr>
              <a:buSzPts val="1400"/>
              <a:buFont typeface="M PLUS 1p"/>
              <a:buChar char="●"/>
            </a:pPr>
            <a:r>
              <a:rPr lang="ja">
                <a:solidFill>
                  <a:schemeClr val="dk1"/>
                </a:solidFill>
                <a:latin typeface="M PLUS 1p"/>
                <a:ea typeface="M PLUS 1p"/>
                <a:cs typeface="M PLUS 1p"/>
                <a:sym typeface="M PLUS 1p"/>
              </a:rPr>
              <a:t>初回募集後、</a:t>
            </a:r>
            <a:r>
              <a:rPr lang="ja">
                <a:solidFill>
                  <a:srgbClr val="FF0000"/>
                </a:solidFill>
                <a:latin typeface="M PLUS 1p"/>
                <a:ea typeface="M PLUS 1p"/>
                <a:cs typeface="M PLUS 1p"/>
                <a:sym typeface="M PLUS 1p"/>
              </a:rPr>
              <a:t>管理画面にアクセスだけして募集作成しない店舗</a:t>
            </a:r>
            <a:r>
              <a:rPr lang="ja">
                <a:solidFill>
                  <a:schemeClr val="dk1"/>
                </a:solidFill>
                <a:latin typeface="M PLUS 1p"/>
                <a:ea typeface="M PLUS 1p"/>
                <a:cs typeface="M PLUS 1p"/>
                <a:sym typeface="M PLUS 1p"/>
              </a:rPr>
              <a:t>が20%ほど存在していて、中には求人一覧や求人作成画面に訪問している店舗も存在する</a:t>
            </a:r>
            <a:endParaRPr>
              <a:solidFill>
                <a:schemeClr val="dk1"/>
              </a:solidFill>
              <a:latin typeface="M PLUS 1p"/>
              <a:ea typeface="M PLUS 1p"/>
              <a:cs typeface="M PLUS 1p"/>
              <a:sym typeface="M PLUS 1p"/>
            </a:endParaRPr>
          </a:p>
          <a:p>
            <a:pPr indent="0" lvl="0" marL="0" rtl="0" algn="l">
              <a:lnSpc>
                <a:spcPct val="120000"/>
              </a:lnSpc>
              <a:spcBef>
                <a:spcPts val="0"/>
              </a:spcBef>
              <a:spcAft>
                <a:spcPts val="0"/>
              </a:spcAft>
              <a:buNone/>
            </a:pPr>
            <a:r>
              <a:rPr b="1" lang="ja">
                <a:solidFill>
                  <a:srgbClr val="1F1F1F"/>
                </a:solidFill>
                <a:latin typeface="M PLUS 1p"/>
                <a:ea typeface="M PLUS 1p"/>
                <a:cs typeface="M PLUS 1p"/>
                <a:sym typeface="M PLUS 1p"/>
              </a:rPr>
              <a:t>[提案]</a:t>
            </a:r>
            <a:endParaRPr b="1">
              <a:solidFill>
                <a:srgbClr val="1F1F1F"/>
              </a:solidFill>
              <a:latin typeface="M PLUS 1p"/>
              <a:ea typeface="M PLUS 1p"/>
              <a:cs typeface="M PLUS 1p"/>
              <a:sym typeface="M PLUS 1p"/>
            </a:endParaRPr>
          </a:p>
          <a:p>
            <a:pPr indent="-317500" lvl="0" marL="457200" rtl="0" algn="l">
              <a:lnSpc>
                <a:spcPct val="120000"/>
              </a:lnSpc>
              <a:spcBef>
                <a:spcPts val="0"/>
              </a:spcBef>
              <a:spcAft>
                <a:spcPts val="0"/>
              </a:spcAft>
              <a:buClr>
                <a:srgbClr val="1F1F1F"/>
              </a:buClr>
              <a:buSzPts val="1400"/>
              <a:buFont typeface="M PLUS 1p"/>
              <a:buChar char="●"/>
            </a:pPr>
            <a:r>
              <a:rPr lang="ja">
                <a:solidFill>
                  <a:srgbClr val="1F1F1F"/>
                </a:solidFill>
                <a:latin typeface="M PLUS 1p"/>
                <a:ea typeface="M PLUS 1p"/>
                <a:cs typeface="M PLUS 1p"/>
                <a:sym typeface="M PLUS 1p"/>
              </a:rPr>
              <a:t>掲載初月に、特定時間✕長時間募集を出している店舗に分割募集を勧める</a:t>
            </a:r>
            <a:endParaRPr>
              <a:solidFill>
                <a:srgbClr val="1F1F1F"/>
              </a:solidFill>
              <a:latin typeface="M PLUS 1p"/>
              <a:ea typeface="M PLUS 1p"/>
              <a:cs typeface="M PLUS 1p"/>
              <a:sym typeface="M PLUS 1p"/>
            </a:endParaRPr>
          </a:p>
          <a:p>
            <a:pPr indent="-317500" lvl="0" marL="457200" rtl="0" algn="l">
              <a:lnSpc>
                <a:spcPct val="120000"/>
              </a:lnSpc>
              <a:spcBef>
                <a:spcPts val="0"/>
              </a:spcBef>
              <a:spcAft>
                <a:spcPts val="0"/>
              </a:spcAft>
              <a:buClr>
                <a:srgbClr val="1F1F1F"/>
              </a:buClr>
              <a:buSzPts val="1400"/>
              <a:buFont typeface="M PLUS 1p"/>
              <a:buChar char="●"/>
            </a:pPr>
            <a:r>
              <a:rPr lang="ja">
                <a:solidFill>
                  <a:srgbClr val="1F1F1F"/>
                </a:solidFill>
                <a:latin typeface="M PLUS 1p"/>
                <a:ea typeface="M PLUS 1p"/>
                <a:cs typeface="M PLUS 1p"/>
                <a:sym typeface="M PLUS 1p"/>
              </a:rPr>
              <a:t>管理画面内で、テックタッチで募集作成を促すことで継続に寄与できないか</a:t>
            </a:r>
            <a:endParaRPr>
              <a:solidFill>
                <a:srgbClr val="1F1F1F"/>
              </a:solidFill>
              <a:latin typeface="M PLUS 1p"/>
              <a:ea typeface="M PLUS 1p"/>
              <a:cs typeface="M PLUS 1p"/>
              <a:sym typeface="M PLUS 1p"/>
            </a:endParaRPr>
          </a:p>
        </p:txBody>
      </p:sp>
      <p:sp>
        <p:nvSpPr>
          <p:cNvPr id="515" name="Google Shape;515;p40"/>
          <p:cNvSpPr/>
          <p:nvPr/>
        </p:nvSpPr>
        <p:spPr>
          <a:xfrm>
            <a:off x="342900" y="365275"/>
            <a:ext cx="342900" cy="342900"/>
          </a:xfrm>
          <a:prstGeom prst="ellipse">
            <a:avLst/>
          </a:prstGeom>
          <a:solidFill>
            <a:srgbClr val="0B539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40"/>
          <p:cNvSpPr txBox="1"/>
          <p:nvPr/>
        </p:nvSpPr>
        <p:spPr>
          <a:xfrm>
            <a:off x="387600" y="335450"/>
            <a:ext cx="298200" cy="30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300">
                <a:solidFill>
                  <a:srgbClr val="FFFFFF"/>
                </a:solidFill>
                <a:latin typeface="Zen Kaku Gothic New"/>
                <a:ea typeface="Zen Kaku Gothic New"/>
                <a:cs typeface="Zen Kaku Gothic New"/>
                <a:sym typeface="Zen Kaku Gothic New"/>
              </a:rPr>
              <a:t>1</a:t>
            </a:r>
            <a:endParaRPr b="1" sz="1300">
              <a:solidFill>
                <a:srgbClr val="FFFFFF"/>
              </a:solidFill>
              <a:latin typeface="Zen Kaku Gothic New"/>
              <a:ea typeface="Zen Kaku Gothic New"/>
              <a:cs typeface="Zen Kaku Gothic New"/>
              <a:sym typeface="Zen Kaku Gothic New"/>
            </a:endParaRPr>
          </a:p>
        </p:txBody>
      </p:sp>
      <p:sp>
        <p:nvSpPr>
          <p:cNvPr id="517" name="Google Shape;517;p40"/>
          <p:cNvSpPr txBox="1"/>
          <p:nvPr/>
        </p:nvSpPr>
        <p:spPr>
          <a:xfrm>
            <a:off x="8136000" y="104275"/>
            <a:ext cx="916800" cy="190200"/>
          </a:xfrm>
          <a:prstGeom prst="rect">
            <a:avLst/>
          </a:prstGeom>
          <a:solidFill>
            <a:srgbClr val="DC0451"/>
          </a:solidFill>
          <a:ln>
            <a:noFill/>
          </a:ln>
        </p:spPr>
        <p:txBody>
          <a:bodyPr anchorCtr="0" anchor="t" bIns="91425" lIns="91425" spcFirstLastPara="1" rIns="91425" wrap="square" tIns="91425">
            <a:noAutofit/>
          </a:bodyPr>
          <a:lstStyle/>
          <a:p>
            <a:pPr indent="0" lvl="0" marL="0" rtl="0" algn="ctr">
              <a:lnSpc>
                <a:spcPct val="50000"/>
              </a:lnSpc>
              <a:spcBef>
                <a:spcPts val="0"/>
              </a:spcBef>
              <a:spcAft>
                <a:spcPts val="0"/>
              </a:spcAft>
              <a:buNone/>
            </a:pPr>
            <a:r>
              <a:rPr b="1" lang="ja" sz="700">
                <a:solidFill>
                  <a:srgbClr val="FFFFFF"/>
                </a:solidFill>
                <a:latin typeface="M PLUS 1p"/>
                <a:ea typeface="M PLUS 1p"/>
                <a:cs typeface="M PLUS 1p"/>
                <a:sym typeface="M PLUS 1p"/>
              </a:rPr>
              <a:t>CONFIDENTIAL</a:t>
            </a:r>
            <a:endParaRPr b="1" sz="700">
              <a:solidFill>
                <a:srgbClr val="FFFFFF"/>
              </a:solidFill>
              <a:latin typeface="M PLUS 1p"/>
              <a:ea typeface="M PLUS 1p"/>
              <a:cs typeface="M PLUS 1p"/>
              <a:sym typeface="M PLUS 1p"/>
            </a:endParaRPr>
          </a:p>
        </p:txBody>
      </p:sp>
      <p:sp>
        <p:nvSpPr>
          <p:cNvPr id="518" name="Google Shape;518;p4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519" name="Google Shape;519;p40"/>
          <p:cNvSpPr txBox="1"/>
          <p:nvPr/>
        </p:nvSpPr>
        <p:spPr>
          <a:xfrm>
            <a:off x="712300" y="294475"/>
            <a:ext cx="7710000" cy="48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ja" sz="2000">
                <a:solidFill>
                  <a:srgbClr val="1F1F1F"/>
                </a:solidFill>
                <a:latin typeface="M PLUS 1p"/>
                <a:ea typeface="M PLUS 1p"/>
                <a:cs typeface="M PLUS 1p"/>
                <a:sym typeface="M PLUS 1p"/>
              </a:rPr>
              <a:t>分析と示唆のまとめ</a:t>
            </a:r>
            <a:endParaRPr b="1" sz="2000">
              <a:solidFill>
                <a:srgbClr val="1F1F1F"/>
              </a:solidFill>
              <a:latin typeface="M PLUS 1p"/>
              <a:ea typeface="M PLUS 1p"/>
              <a:cs typeface="M PLUS 1p"/>
              <a:sym typeface="M PLUS 1p"/>
            </a:endParaRPr>
          </a:p>
          <a:p>
            <a:pPr indent="0" lvl="0" marL="0" rtl="0" algn="l">
              <a:spcBef>
                <a:spcPts val="0"/>
              </a:spcBef>
              <a:spcAft>
                <a:spcPts val="0"/>
              </a:spcAft>
              <a:buClr>
                <a:schemeClr val="dk1"/>
              </a:buClr>
              <a:buSzPts val="1100"/>
              <a:buFont typeface="Arial"/>
              <a:buNone/>
            </a:pPr>
            <a:r>
              <a:t/>
            </a:r>
            <a:endParaRPr b="1" sz="2000">
              <a:solidFill>
                <a:srgbClr val="1F1F1F"/>
              </a:solidFill>
              <a:latin typeface="M PLUS 1p"/>
              <a:ea typeface="M PLUS 1p"/>
              <a:cs typeface="M PLUS 1p"/>
              <a:sym typeface="M PLUS 1p"/>
            </a:endParaRPr>
          </a:p>
          <a:p>
            <a:pPr indent="0" lvl="0" marL="0" rtl="0" algn="l">
              <a:spcBef>
                <a:spcPts val="0"/>
              </a:spcBef>
              <a:spcAft>
                <a:spcPts val="0"/>
              </a:spcAft>
              <a:buNone/>
            </a:pPr>
            <a:r>
              <a:t/>
            </a:r>
            <a:endParaRPr b="1" sz="2000">
              <a:solidFill>
                <a:srgbClr val="1F1F1F"/>
              </a:solidFill>
              <a:latin typeface="M PLUS 1p"/>
              <a:ea typeface="M PLUS 1p"/>
              <a:cs typeface="M PLUS 1p"/>
              <a:sym typeface="M PLUS 1p"/>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23" name="Shape 523"/>
        <p:cNvGrpSpPr/>
        <p:nvPr/>
      </p:nvGrpSpPr>
      <p:grpSpPr>
        <a:xfrm>
          <a:off x="0" y="0"/>
          <a:ext cx="0" cy="0"/>
          <a:chOff x="0" y="0"/>
          <a:chExt cx="0" cy="0"/>
        </a:xfrm>
      </p:grpSpPr>
      <p:sp>
        <p:nvSpPr>
          <p:cNvPr id="524" name="Google Shape;524;p41"/>
          <p:cNvSpPr/>
          <p:nvPr/>
        </p:nvSpPr>
        <p:spPr>
          <a:xfrm>
            <a:off x="342900" y="365275"/>
            <a:ext cx="342900" cy="342900"/>
          </a:xfrm>
          <a:prstGeom prst="ellipse">
            <a:avLst/>
          </a:prstGeom>
          <a:solidFill>
            <a:srgbClr val="0B539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41"/>
          <p:cNvSpPr txBox="1"/>
          <p:nvPr/>
        </p:nvSpPr>
        <p:spPr>
          <a:xfrm>
            <a:off x="387600" y="335450"/>
            <a:ext cx="298200" cy="30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300">
                <a:solidFill>
                  <a:srgbClr val="FFFFFF"/>
                </a:solidFill>
                <a:latin typeface="Zen Kaku Gothic New"/>
                <a:ea typeface="Zen Kaku Gothic New"/>
                <a:cs typeface="Zen Kaku Gothic New"/>
                <a:sym typeface="Zen Kaku Gothic New"/>
              </a:rPr>
              <a:t>2</a:t>
            </a:r>
            <a:endParaRPr b="1" sz="1300">
              <a:solidFill>
                <a:srgbClr val="FFFFFF"/>
              </a:solidFill>
              <a:latin typeface="Zen Kaku Gothic New"/>
              <a:ea typeface="Zen Kaku Gothic New"/>
              <a:cs typeface="Zen Kaku Gothic New"/>
              <a:sym typeface="Zen Kaku Gothic New"/>
            </a:endParaRPr>
          </a:p>
        </p:txBody>
      </p:sp>
      <p:sp>
        <p:nvSpPr>
          <p:cNvPr id="526" name="Google Shape;526;p41"/>
          <p:cNvSpPr txBox="1"/>
          <p:nvPr/>
        </p:nvSpPr>
        <p:spPr>
          <a:xfrm>
            <a:off x="8136000" y="104275"/>
            <a:ext cx="916800" cy="190200"/>
          </a:xfrm>
          <a:prstGeom prst="rect">
            <a:avLst/>
          </a:prstGeom>
          <a:solidFill>
            <a:srgbClr val="DC0451"/>
          </a:solidFill>
          <a:ln>
            <a:noFill/>
          </a:ln>
        </p:spPr>
        <p:txBody>
          <a:bodyPr anchorCtr="0" anchor="t" bIns="91425" lIns="91425" spcFirstLastPara="1" rIns="91425" wrap="square" tIns="91425">
            <a:noAutofit/>
          </a:bodyPr>
          <a:lstStyle/>
          <a:p>
            <a:pPr indent="0" lvl="0" marL="0" rtl="0" algn="ctr">
              <a:lnSpc>
                <a:spcPct val="50000"/>
              </a:lnSpc>
              <a:spcBef>
                <a:spcPts val="0"/>
              </a:spcBef>
              <a:spcAft>
                <a:spcPts val="0"/>
              </a:spcAft>
              <a:buNone/>
            </a:pPr>
            <a:r>
              <a:rPr b="1" lang="ja" sz="700">
                <a:solidFill>
                  <a:srgbClr val="FFFFFF"/>
                </a:solidFill>
                <a:latin typeface="M PLUS 1p"/>
                <a:ea typeface="M PLUS 1p"/>
                <a:cs typeface="M PLUS 1p"/>
                <a:sym typeface="M PLUS 1p"/>
              </a:rPr>
              <a:t>CONFIDENTIAL</a:t>
            </a:r>
            <a:endParaRPr b="1" sz="700">
              <a:solidFill>
                <a:srgbClr val="FFFFFF"/>
              </a:solidFill>
              <a:latin typeface="M PLUS 1p"/>
              <a:ea typeface="M PLUS 1p"/>
              <a:cs typeface="M PLUS 1p"/>
              <a:sym typeface="M PLUS 1p"/>
            </a:endParaRPr>
          </a:p>
        </p:txBody>
      </p:sp>
      <p:sp>
        <p:nvSpPr>
          <p:cNvPr id="527" name="Google Shape;527;p4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528" name="Google Shape;528;p41"/>
          <p:cNvSpPr/>
          <p:nvPr/>
        </p:nvSpPr>
        <p:spPr>
          <a:xfrm>
            <a:off x="4598475" y="4123000"/>
            <a:ext cx="417900" cy="1878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29" name="Google Shape;529;p41"/>
          <p:cNvSpPr txBox="1"/>
          <p:nvPr/>
        </p:nvSpPr>
        <p:spPr>
          <a:xfrm>
            <a:off x="432300" y="927038"/>
            <a:ext cx="8620500" cy="3450300"/>
          </a:xfrm>
          <a:prstGeom prst="rect">
            <a:avLst/>
          </a:prstGeom>
          <a:noFill/>
          <a:ln>
            <a:noFill/>
          </a:ln>
        </p:spPr>
        <p:txBody>
          <a:bodyPr anchorCtr="0" anchor="t" bIns="91425" lIns="91425" spcFirstLastPara="1" rIns="91425" wrap="square" tIns="91425">
            <a:noAutofit/>
          </a:bodyPr>
          <a:lstStyle/>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3ヶ月連続掲載率は35%前後を推移</a:t>
            </a:r>
            <a:endParaRPr sz="1600">
              <a:solidFill>
                <a:srgbClr val="1F1F1F"/>
              </a:solidFill>
              <a:latin typeface="M PLUS 1p"/>
              <a:ea typeface="M PLUS 1p"/>
              <a:cs typeface="M PLUS 1p"/>
              <a:sym typeface="M PLUS 1p"/>
            </a:endParaRPr>
          </a:p>
        </p:txBody>
      </p:sp>
      <p:sp>
        <p:nvSpPr>
          <p:cNvPr id="530" name="Google Shape;530;p41"/>
          <p:cNvSpPr txBox="1"/>
          <p:nvPr/>
        </p:nvSpPr>
        <p:spPr>
          <a:xfrm>
            <a:off x="712300" y="294475"/>
            <a:ext cx="7710000" cy="48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2000">
                <a:solidFill>
                  <a:srgbClr val="1F1F1F"/>
                </a:solidFill>
                <a:latin typeface="M PLUS 1p"/>
                <a:ea typeface="M PLUS 1p"/>
                <a:cs typeface="M PLUS 1p"/>
                <a:sym typeface="M PLUS 1p"/>
              </a:rPr>
              <a:t>前提の確認</a:t>
            </a:r>
            <a:endParaRPr b="1" sz="2000">
              <a:solidFill>
                <a:srgbClr val="1F1F1F"/>
              </a:solidFill>
              <a:latin typeface="M PLUS 1p"/>
              <a:ea typeface="M PLUS 1p"/>
              <a:cs typeface="M PLUS 1p"/>
              <a:sym typeface="M PLUS 1p"/>
            </a:endParaRPr>
          </a:p>
        </p:txBody>
      </p:sp>
      <p:pic>
        <p:nvPicPr>
          <p:cNvPr id="531" name="Google Shape;531;p41" title="グラフ"/>
          <p:cNvPicPr preferRelativeResize="0"/>
          <p:nvPr/>
        </p:nvPicPr>
        <p:blipFill>
          <a:blip r:embed="rId3">
            <a:alphaModFix/>
          </a:blip>
          <a:stretch>
            <a:fillRect/>
          </a:stretch>
        </p:blipFill>
        <p:spPr>
          <a:xfrm>
            <a:off x="495182" y="1646250"/>
            <a:ext cx="3955424" cy="2707500"/>
          </a:xfrm>
          <a:prstGeom prst="rect">
            <a:avLst/>
          </a:prstGeom>
          <a:noFill/>
          <a:ln>
            <a:noFill/>
          </a:ln>
        </p:spPr>
      </p:pic>
      <p:pic>
        <p:nvPicPr>
          <p:cNvPr id="532" name="Google Shape;532;p41" title="グラフ"/>
          <p:cNvPicPr preferRelativeResize="0"/>
          <p:nvPr/>
        </p:nvPicPr>
        <p:blipFill>
          <a:blip r:embed="rId4">
            <a:alphaModFix/>
          </a:blip>
          <a:stretch>
            <a:fillRect/>
          </a:stretch>
        </p:blipFill>
        <p:spPr>
          <a:xfrm>
            <a:off x="4693387" y="1646250"/>
            <a:ext cx="3955427" cy="27075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36" name="Shape 536"/>
        <p:cNvGrpSpPr/>
        <p:nvPr/>
      </p:nvGrpSpPr>
      <p:grpSpPr>
        <a:xfrm>
          <a:off x="0" y="0"/>
          <a:ext cx="0" cy="0"/>
          <a:chOff x="0" y="0"/>
          <a:chExt cx="0" cy="0"/>
        </a:xfrm>
      </p:grpSpPr>
      <p:sp>
        <p:nvSpPr>
          <p:cNvPr id="537" name="Google Shape;537;p42"/>
          <p:cNvSpPr txBox="1"/>
          <p:nvPr/>
        </p:nvSpPr>
        <p:spPr>
          <a:xfrm>
            <a:off x="7091825" y="3537513"/>
            <a:ext cx="1790400" cy="40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800">
                <a:solidFill>
                  <a:srgbClr val="FF0051"/>
                </a:solidFill>
                <a:latin typeface="M PLUS 1p"/>
                <a:ea typeface="M PLUS 1p"/>
                <a:cs typeface="M PLUS 1p"/>
                <a:sym typeface="M PLUS 1p"/>
              </a:rPr>
              <a:t>赤</a:t>
            </a:r>
            <a:r>
              <a:rPr lang="ja" sz="800">
                <a:solidFill>
                  <a:srgbClr val="1F1F1F"/>
                </a:solidFill>
                <a:latin typeface="M PLUS 1p"/>
                <a:ea typeface="M PLUS 1p"/>
                <a:cs typeface="M PLUS 1p"/>
                <a:sym typeface="M PLUS 1p"/>
              </a:rPr>
              <a:t>と</a:t>
            </a:r>
            <a:r>
              <a:rPr b="1" lang="ja" sz="800">
                <a:solidFill>
                  <a:srgbClr val="0283F8"/>
                </a:solidFill>
                <a:latin typeface="M PLUS 1p"/>
                <a:ea typeface="M PLUS 1p"/>
                <a:cs typeface="M PLUS 1p"/>
                <a:sym typeface="M PLUS 1p"/>
              </a:rPr>
              <a:t>青</a:t>
            </a:r>
            <a:r>
              <a:rPr lang="ja" sz="800">
                <a:solidFill>
                  <a:srgbClr val="1F1F1F"/>
                </a:solidFill>
                <a:latin typeface="M PLUS 1p"/>
                <a:ea typeface="M PLUS 1p"/>
                <a:cs typeface="M PLUS 1p"/>
                <a:sym typeface="M PLUS 1p"/>
              </a:rPr>
              <a:t>がきれいに分かれていると、相関が見られる</a:t>
            </a:r>
            <a:endParaRPr sz="800">
              <a:solidFill>
                <a:srgbClr val="1F1F1F"/>
              </a:solidFill>
              <a:latin typeface="M PLUS 1p"/>
              <a:ea typeface="M PLUS 1p"/>
              <a:cs typeface="M PLUS 1p"/>
              <a:sym typeface="M PLUS 1p"/>
            </a:endParaRPr>
          </a:p>
        </p:txBody>
      </p:sp>
      <p:sp>
        <p:nvSpPr>
          <p:cNvPr id="538" name="Google Shape;538;p42"/>
          <p:cNvSpPr/>
          <p:nvPr/>
        </p:nvSpPr>
        <p:spPr>
          <a:xfrm>
            <a:off x="342900" y="365275"/>
            <a:ext cx="342900" cy="342900"/>
          </a:xfrm>
          <a:prstGeom prst="ellipse">
            <a:avLst/>
          </a:prstGeom>
          <a:solidFill>
            <a:srgbClr val="0B539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42"/>
          <p:cNvSpPr txBox="1"/>
          <p:nvPr/>
        </p:nvSpPr>
        <p:spPr>
          <a:xfrm>
            <a:off x="387600" y="335450"/>
            <a:ext cx="298200" cy="30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300">
                <a:solidFill>
                  <a:srgbClr val="FFFFFF"/>
                </a:solidFill>
                <a:latin typeface="Zen Kaku Gothic New"/>
                <a:ea typeface="Zen Kaku Gothic New"/>
                <a:cs typeface="Zen Kaku Gothic New"/>
                <a:sym typeface="Zen Kaku Gothic New"/>
              </a:rPr>
              <a:t>3</a:t>
            </a:r>
            <a:endParaRPr b="1" sz="1300">
              <a:solidFill>
                <a:srgbClr val="FFFFFF"/>
              </a:solidFill>
              <a:latin typeface="Zen Kaku Gothic New"/>
              <a:ea typeface="Zen Kaku Gothic New"/>
              <a:cs typeface="Zen Kaku Gothic New"/>
              <a:sym typeface="Zen Kaku Gothic New"/>
            </a:endParaRPr>
          </a:p>
        </p:txBody>
      </p:sp>
      <p:sp>
        <p:nvSpPr>
          <p:cNvPr id="540" name="Google Shape;540;p42"/>
          <p:cNvSpPr txBox="1"/>
          <p:nvPr/>
        </p:nvSpPr>
        <p:spPr>
          <a:xfrm>
            <a:off x="8136000" y="104275"/>
            <a:ext cx="916800" cy="190200"/>
          </a:xfrm>
          <a:prstGeom prst="rect">
            <a:avLst/>
          </a:prstGeom>
          <a:solidFill>
            <a:srgbClr val="DC0451"/>
          </a:solidFill>
          <a:ln>
            <a:noFill/>
          </a:ln>
        </p:spPr>
        <p:txBody>
          <a:bodyPr anchorCtr="0" anchor="t" bIns="91425" lIns="91425" spcFirstLastPara="1" rIns="91425" wrap="square" tIns="91425">
            <a:noAutofit/>
          </a:bodyPr>
          <a:lstStyle/>
          <a:p>
            <a:pPr indent="0" lvl="0" marL="0" rtl="0" algn="ctr">
              <a:lnSpc>
                <a:spcPct val="50000"/>
              </a:lnSpc>
              <a:spcBef>
                <a:spcPts val="0"/>
              </a:spcBef>
              <a:spcAft>
                <a:spcPts val="0"/>
              </a:spcAft>
              <a:buNone/>
            </a:pPr>
            <a:r>
              <a:rPr b="1" lang="ja" sz="700">
                <a:solidFill>
                  <a:srgbClr val="FFFFFF"/>
                </a:solidFill>
                <a:latin typeface="M PLUS 1p"/>
                <a:ea typeface="M PLUS 1p"/>
                <a:cs typeface="M PLUS 1p"/>
                <a:sym typeface="M PLUS 1p"/>
              </a:rPr>
              <a:t>CONFIDENTIAL</a:t>
            </a:r>
            <a:endParaRPr b="1" sz="700">
              <a:solidFill>
                <a:srgbClr val="FFFFFF"/>
              </a:solidFill>
              <a:latin typeface="M PLUS 1p"/>
              <a:ea typeface="M PLUS 1p"/>
              <a:cs typeface="M PLUS 1p"/>
              <a:sym typeface="M PLUS 1p"/>
            </a:endParaRPr>
          </a:p>
        </p:txBody>
      </p:sp>
      <p:sp>
        <p:nvSpPr>
          <p:cNvPr id="541" name="Google Shape;541;p4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542" name="Google Shape;542;p42"/>
          <p:cNvSpPr/>
          <p:nvPr/>
        </p:nvSpPr>
        <p:spPr>
          <a:xfrm>
            <a:off x="4598475" y="4123000"/>
            <a:ext cx="417900" cy="1878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43" name="Google Shape;543;p42"/>
          <p:cNvSpPr txBox="1"/>
          <p:nvPr/>
        </p:nvSpPr>
        <p:spPr>
          <a:xfrm>
            <a:off x="432350" y="860575"/>
            <a:ext cx="8620500" cy="1487700"/>
          </a:xfrm>
          <a:prstGeom prst="rect">
            <a:avLst/>
          </a:prstGeom>
          <a:noFill/>
          <a:ln>
            <a:noFill/>
          </a:ln>
        </p:spPr>
        <p:txBody>
          <a:bodyPr anchorCtr="0" anchor="t" bIns="91425" lIns="91425" spcFirstLastPara="1" rIns="91425" wrap="square" tIns="91425">
            <a:noAutofit/>
          </a:bodyPr>
          <a:lstStyle/>
          <a:p>
            <a:pPr indent="-323850" lvl="0" marL="457200" rtl="0" algn="l">
              <a:lnSpc>
                <a:spcPct val="120000"/>
              </a:lnSpc>
              <a:spcBef>
                <a:spcPts val="0"/>
              </a:spcBef>
              <a:spcAft>
                <a:spcPts val="0"/>
              </a:spcAft>
              <a:buClr>
                <a:srgbClr val="1F1F1F"/>
              </a:buClr>
              <a:buSzPts val="1500"/>
              <a:buFont typeface="M PLUS 1p"/>
              <a:buChar char="●"/>
            </a:pPr>
            <a:r>
              <a:rPr lang="ja" sz="1500">
                <a:solidFill>
                  <a:srgbClr val="1F1F1F"/>
                </a:solidFill>
                <a:latin typeface="M PLUS 1p"/>
                <a:ea typeface="M PLUS 1p"/>
                <a:cs typeface="M PLUS 1p"/>
                <a:sym typeface="M PLUS 1p"/>
              </a:rPr>
              <a:t>3ヶ月連続掲載に効く初月の変数の影響度を確認（下図は上位を一部抜粋）</a:t>
            </a:r>
            <a:endParaRPr sz="1500">
              <a:solidFill>
                <a:srgbClr val="1F1F1F"/>
              </a:solidFill>
              <a:latin typeface="M PLUS 1p"/>
              <a:ea typeface="M PLUS 1p"/>
              <a:cs typeface="M PLUS 1p"/>
              <a:sym typeface="M PLUS 1p"/>
            </a:endParaRPr>
          </a:p>
          <a:p>
            <a:pPr indent="-323850" lvl="1" marL="914400" rtl="0" algn="l">
              <a:lnSpc>
                <a:spcPct val="120000"/>
              </a:lnSpc>
              <a:spcBef>
                <a:spcPts val="0"/>
              </a:spcBef>
              <a:spcAft>
                <a:spcPts val="0"/>
              </a:spcAft>
              <a:buClr>
                <a:srgbClr val="1F1F1F"/>
              </a:buClr>
              <a:buSzPts val="1500"/>
              <a:buFont typeface="M PLUS 1p"/>
              <a:buChar char="○"/>
            </a:pPr>
            <a:r>
              <a:rPr lang="ja" sz="1500">
                <a:solidFill>
                  <a:srgbClr val="1F1F1F"/>
                </a:solidFill>
                <a:latin typeface="M PLUS 1p"/>
                <a:ea typeface="M PLUS 1p"/>
                <a:cs typeface="M PLUS 1p"/>
                <a:sym typeface="M PLUS 1p"/>
              </a:rPr>
              <a:t>稼働人数や募集人数、掲載日数（掲載日→開始日の日数）が影響しているのは予想どおり。</a:t>
            </a:r>
            <a:endParaRPr sz="1500">
              <a:solidFill>
                <a:srgbClr val="1F1F1F"/>
              </a:solidFill>
              <a:latin typeface="M PLUS 1p"/>
              <a:ea typeface="M PLUS 1p"/>
              <a:cs typeface="M PLUS 1p"/>
              <a:sym typeface="M PLUS 1p"/>
            </a:endParaRPr>
          </a:p>
          <a:p>
            <a:pPr indent="-323850" lvl="1" marL="914400" rtl="0" algn="l">
              <a:lnSpc>
                <a:spcPct val="120000"/>
              </a:lnSpc>
              <a:spcBef>
                <a:spcPts val="0"/>
              </a:spcBef>
              <a:spcAft>
                <a:spcPts val="0"/>
              </a:spcAft>
              <a:buClr>
                <a:srgbClr val="1F1F1F"/>
              </a:buClr>
              <a:buSzPts val="1500"/>
              <a:buFont typeface="M PLUS 1p"/>
              <a:buChar char="○"/>
            </a:pPr>
            <a:r>
              <a:rPr lang="ja" sz="1500">
                <a:solidFill>
                  <a:srgbClr val="1F1F1F"/>
                </a:solidFill>
                <a:latin typeface="M PLUS 1p"/>
                <a:ea typeface="M PLUS 1p"/>
                <a:cs typeface="M PLUS 1p"/>
                <a:sym typeface="M PLUS 1p"/>
              </a:rPr>
              <a:t>開始時間数（募集開始時間の数）がきれいなプラスの影響が出ているため、ここを深堀りすることにした</a:t>
            </a:r>
            <a:endParaRPr sz="1500">
              <a:solidFill>
                <a:srgbClr val="1F1F1F"/>
              </a:solidFill>
              <a:latin typeface="M PLUS 1p"/>
              <a:ea typeface="M PLUS 1p"/>
              <a:cs typeface="M PLUS 1p"/>
              <a:sym typeface="M PLUS 1p"/>
            </a:endParaRPr>
          </a:p>
        </p:txBody>
      </p:sp>
      <p:sp>
        <p:nvSpPr>
          <p:cNvPr id="544" name="Google Shape;544;p42"/>
          <p:cNvSpPr txBox="1"/>
          <p:nvPr/>
        </p:nvSpPr>
        <p:spPr>
          <a:xfrm>
            <a:off x="712300" y="294475"/>
            <a:ext cx="7710000" cy="48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2000">
                <a:solidFill>
                  <a:srgbClr val="1F1F1F"/>
                </a:solidFill>
                <a:latin typeface="M PLUS 1p"/>
                <a:ea typeface="M PLUS 1p"/>
                <a:cs typeface="M PLUS 1p"/>
                <a:sym typeface="M PLUS 1p"/>
              </a:rPr>
              <a:t>探索する変数を、初月の募集開始時間数としました</a:t>
            </a:r>
            <a:endParaRPr b="1" sz="2000">
              <a:solidFill>
                <a:srgbClr val="1F1F1F"/>
              </a:solidFill>
              <a:latin typeface="M PLUS 1p"/>
              <a:ea typeface="M PLUS 1p"/>
              <a:cs typeface="M PLUS 1p"/>
              <a:sym typeface="M PLUS 1p"/>
            </a:endParaRPr>
          </a:p>
        </p:txBody>
      </p:sp>
      <p:sp>
        <p:nvSpPr>
          <p:cNvPr id="545" name="Google Shape;545;p42"/>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pic>
        <p:nvPicPr>
          <p:cNvPr id="546" name="Google Shape;546;p42"/>
          <p:cNvPicPr preferRelativeResize="0"/>
          <p:nvPr/>
        </p:nvPicPr>
        <p:blipFill>
          <a:blip r:embed="rId3">
            <a:alphaModFix/>
          </a:blip>
          <a:stretch>
            <a:fillRect/>
          </a:stretch>
        </p:blipFill>
        <p:spPr>
          <a:xfrm>
            <a:off x="2391027" y="2449625"/>
            <a:ext cx="4361951" cy="2575976"/>
          </a:xfrm>
          <a:prstGeom prst="rect">
            <a:avLst/>
          </a:prstGeom>
          <a:noFill/>
          <a:ln>
            <a:noFill/>
          </a:ln>
        </p:spPr>
      </p:pic>
      <p:sp>
        <p:nvSpPr>
          <p:cNvPr id="547" name="Google Shape;547;p42"/>
          <p:cNvSpPr/>
          <p:nvPr/>
        </p:nvSpPr>
        <p:spPr>
          <a:xfrm>
            <a:off x="2428675" y="3698025"/>
            <a:ext cx="3822900" cy="1902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48" name="Google Shape;548;p42"/>
          <p:cNvSpPr/>
          <p:nvPr/>
        </p:nvSpPr>
        <p:spPr>
          <a:xfrm rot="-5400000">
            <a:off x="5715800" y="3697650"/>
            <a:ext cx="2413200" cy="242700"/>
          </a:xfrm>
          <a:prstGeom prst="rightArrow">
            <a:avLst>
              <a:gd fmla="val 50000" name="adj1"/>
              <a:gd fmla="val 50000" name="adj2"/>
            </a:avLst>
          </a:prstGeom>
          <a:solidFill>
            <a:srgbClr val="FFD7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49" name="Google Shape;549;p42"/>
          <p:cNvSpPr txBox="1"/>
          <p:nvPr/>
        </p:nvSpPr>
        <p:spPr>
          <a:xfrm>
            <a:off x="7043750" y="2690750"/>
            <a:ext cx="1790400" cy="26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ja" sz="800">
                <a:solidFill>
                  <a:srgbClr val="1F1F1F"/>
                </a:solidFill>
                <a:latin typeface="M PLUS 1p"/>
                <a:ea typeface="M PLUS 1p"/>
                <a:cs typeface="M PLUS 1p"/>
                <a:sym typeface="M PLUS 1p"/>
              </a:rPr>
              <a:t>与える影響：大</a:t>
            </a:r>
            <a:endParaRPr sz="800">
              <a:solidFill>
                <a:srgbClr val="1F1F1F"/>
              </a:solidFill>
              <a:latin typeface="M PLUS 1p"/>
              <a:ea typeface="M PLUS 1p"/>
              <a:cs typeface="M PLUS 1p"/>
              <a:sym typeface="M PLUS 1p"/>
            </a:endParaRPr>
          </a:p>
        </p:txBody>
      </p:sp>
      <p:sp>
        <p:nvSpPr>
          <p:cNvPr id="550" name="Google Shape;550;p42"/>
          <p:cNvSpPr txBox="1"/>
          <p:nvPr/>
        </p:nvSpPr>
        <p:spPr>
          <a:xfrm>
            <a:off x="7043750" y="4729675"/>
            <a:ext cx="1790400" cy="26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ja" sz="800">
                <a:solidFill>
                  <a:srgbClr val="1F1F1F"/>
                </a:solidFill>
                <a:latin typeface="M PLUS 1p"/>
                <a:ea typeface="M PLUS 1p"/>
                <a:cs typeface="M PLUS 1p"/>
                <a:sym typeface="M PLUS 1p"/>
              </a:rPr>
              <a:t>与える影響：小</a:t>
            </a:r>
            <a:endParaRPr sz="800">
              <a:solidFill>
                <a:srgbClr val="1F1F1F"/>
              </a:solidFill>
              <a:latin typeface="M PLUS 1p"/>
              <a:ea typeface="M PLUS 1p"/>
              <a:cs typeface="M PLUS 1p"/>
              <a:sym typeface="M PLUS 1p"/>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54" name="Shape 554"/>
        <p:cNvGrpSpPr/>
        <p:nvPr/>
      </p:nvGrpSpPr>
      <p:grpSpPr>
        <a:xfrm>
          <a:off x="0" y="0"/>
          <a:ext cx="0" cy="0"/>
          <a:chOff x="0" y="0"/>
          <a:chExt cx="0" cy="0"/>
        </a:xfrm>
      </p:grpSpPr>
      <p:sp>
        <p:nvSpPr>
          <p:cNvPr id="555" name="Google Shape;555;p43"/>
          <p:cNvSpPr/>
          <p:nvPr/>
        </p:nvSpPr>
        <p:spPr>
          <a:xfrm>
            <a:off x="342900" y="365275"/>
            <a:ext cx="342900" cy="342900"/>
          </a:xfrm>
          <a:prstGeom prst="ellipse">
            <a:avLst/>
          </a:prstGeom>
          <a:solidFill>
            <a:srgbClr val="0B539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43"/>
          <p:cNvSpPr txBox="1"/>
          <p:nvPr/>
        </p:nvSpPr>
        <p:spPr>
          <a:xfrm>
            <a:off x="387600" y="335450"/>
            <a:ext cx="298200" cy="30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300">
                <a:solidFill>
                  <a:srgbClr val="FFFFFF"/>
                </a:solidFill>
                <a:latin typeface="Zen Kaku Gothic New"/>
                <a:ea typeface="Zen Kaku Gothic New"/>
                <a:cs typeface="Zen Kaku Gothic New"/>
                <a:sym typeface="Zen Kaku Gothic New"/>
              </a:rPr>
              <a:t>4</a:t>
            </a:r>
            <a:endParaRPr b="1" sz="1300">
              <a:solidFill>
                <a:srgbClr val="FFFFFF"/>
              </a:solidFill>
              <a:latin typeface="Zen Kaku Gothic New"/>
              <a:ea typeface="Zen Kaku Gothic New"/>
              <a:cs typeface="Zen Kaku Gothic New"/>
              <a:sym typeface="Zen Kaku Gothic New"/>
            </a:endParaRPr>
          </a:p>
        </p:txBody>
      </p:sp>
      <p:sp>
        <p:nvSpPr>
          <p:cNvPr id="557" name="Google Shape;557;p43"/>
          <p:cNvSpPr txBox="1"/>
          <p:nvPr/>
        </p:nvSpPr>
        <p:spPr>
          <a:xfrm>
            <a:off x="8136000" y="104275"/>
            <a:ext cx="916800" cy="190200"/>
          </a:xfrm>
          <a:prstGeom prst="rect">
            <a:avLst/>
          </a:prstGeom>
          <a:solidFill>
            <a:srgbClr val="DC0451"/>
          </a:solidFill>
          <a:ln>
            <a:noFill/>
          </a:ln>
        </p:spPr>
        <p:txBody>
          <a:bodyPr anchorCtr="0" anchor="t" bIns="91425" lIns="91425" spcFirstLastPara="1" rIns="91425" wrap="square" tIns="91425">
            <a:noAutofit/>
          </a:bodyPr>
          <a:lstStyle/>
          <a:p>
            <a:pPr indent="0" lvl="0" marL="0" rtl="0" algn="ctr">
              <a:lnSpc>
                <a:spcPct val="50000"/>
              </a:lnSpc>
              <a:spcBef>
                <a:spcPts val="0"/>
              </a:spcBef>
              <a:spcAft>
                <a:spcPts val="0"/>
              </a:spcAft>
              <a:buNone/>
            </a:pPr>
            <a:r>
              <a:rPr b="1" lang="ja" sz="700">
                <a:solidFill>
                  <a:srgbClr val="FFFFFF"/>
                </a:solidFill>
                <a:latin typeface="M PLUS 1p"/>
                <a:ea typeface="M PLUS 1p"/>
                <a:cs typeface="M PLUS 1p"/>
                <a:sym typeface="M PLUS 1p"/>
              </a:rPr>
              <a:t>CONFIDENTIAL</a:t>
            </a:r>
            <a:endParaRPr b="1" sz="700">
              <a:solidFill>
                <a:srgbClr val="FFFFFF"/>
              </a:solidFill>
              <a:latin typeface="M PLUS 1p"/>
              <a:ea typeface="M PLUS 1p"/>
              <a:cs typeface="M PLUS 1p"/>
              <a:sym typeface="M PLUS 1p"/>
            </a:endParaRPr>
          </a:p>
        </p:txBody>
      </p:sp>
      <p:sp>
        <p:nvSpPr>
          <p:cNvPr id="558" name="Google Shape;558;p4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559" name="Google Shape;559;p43"/>
          <p:cNvSpPr/>
          <p:nvPr/>
        </p:nvSpPr>
        <p:spPr>
          <a:xfrm>
            <a:off x="4598475" y="4123000"/>
            <a:ext cx="417900" cy="1878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60" name="Google Shape;560;p43"/>
          <p:cNvSpPr txBox="1"/>
          <p:nvPr/>
        </p:nvSpPr>
        <p:spPr>
          <a:xfrm>
            <a:off x="712300" y="294475"/>
            <a:ext cx="7710000" cy="48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2000">
                <a:solidFill>
                  <a:srgbClr val="1F1F1F"/>
                </a:solidFill>
                <a:latin typeface="M PLUS 1p"/>
                <a:ea typeface="M PLUS 1p"/>
                <a:cs typeface="M PLUS 1p"/>
                <a:sym typeface="M PLUS 1p"/>
              </a:rPr>
              <a:t>曜日・時間帯幅広く掲載している方が継続率は高くなる</a:t>
            </a:r>
            <a:endParaRPr b="1" sz="1800">
              <a:solidFill>
                <a:srgbClr val="1F1F1F"/>
              </a:solidFill>
              <a:latin typeface="M PLUS 1p"/>
              <a:ea typeface="M PLUS 1p"/>
              <a:cs typeface="M PLUS 1p"/>
              <a:sym typeface="M PLUS 1p"/>
            </a:endParaRPr>
          </a:p>
        </p:txBody>
      </p:sp>
      <p:sp>
        <p:nvSpPr>
          <p:cNvPr id="561" name="Google Shape;561;p43"/>
          <p:cNvSpPr txBox="1"/>
          <p:nvPr/>
        </p:nvSpPr>
        <p:spPr>
          <a:xfrm>
            <a:off x="432350" y="860575"/>
            <a:ext cx="8620500" cy="885000"/>
          </a:xfrm>
          <a:prstGeom prst="rect">
            <a:avLst/>
          </a:prstGeom>
          <a:noFill/>
          <a:ln>
            <a:noFill/>
          </a:ln>
        </p:spPr>
        <p:txBody>
          <a:bodyPr anchorCtr="0" anchor="t" bIns="91425" lIns="91425" spcFirstLastPara="1" rIns="91425" wrap="square" tIns="91425">
            <a:noAutofit/>
          </a:bodyPr>
          <a:lstStyle/>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掲載している曜日（平日/週末）と時間帯数（朝・昼・夕方・夜）と3ヶ月継続の関係</a:t>
            </a:r>
            <a:endParaRPr sz="1600">
              <a:solidFill>
                <a:srgbClr val="1F1F1F"/>
              </a:solidFill>
              <a:latin typeface="M PLUS 1p"/>
              <a:ea typeface="M PLUS 1p"/>
              <a:cs typeface="M PLUS 1p"/>
              <a:sym typeface="M PLUS 1p"/>
            </a:endParaRPr>
          </a:p>
          <a:p>
            <a:pPr indent="-330200" lvl="1" marL="9144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平日・週末どちらも掲載している/色々な時間帯に掲載している方が継続率が高い</a:t>
            </a:r>
            <a:endParaRPr sz="1600">
              <a:solidFill>
                <a:srgbClr val="1F1F1F"/>
              </a:solidFill>
              <a:latin typeface="M PLUS 1p"/>
              <a:ea typeface="M PLUS 1p"/>
              <a:cs typeface="M PLUS 1p"/>
              <a:sym typeface="M PLUS 1p"/>
            </a:endParaRPr>
          </a:p>
        </p:txBody>
      </p:sp>
      <p:sp>
        <p:nvSpPr>
          <p:cNvPr id="562" name="Google Shape;562;p43"/>
          <p:cNvSpPr txBox="1"/>
          <p:nvPr/>
        </p:nvSpPr>
        <p:spPr>
          <a:xfrm>
            <a:off x="4755988" y="4251175"/>
            <a:ext cx="14967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900">
                <a:solidFill>
                  <a:schemeClr val="dk2"/>
                </a:solidFill>
                <a:latin typeface="M PLUS 1p"/>
                <a:ea typeface="M PLUS 1p"/>
                <a:cs typeface="M PLUS 1p"/>
                <a:sym typeface="M PLUS 1p"/>
              </a:rPr>
              <a:t>※平日:月~金 週末:土日</a:t>
            </a:r>
            <a:endParaRPr sz="900">
              <a:solidFill>
                <a:schemeClr val="dk2"/>
              </a:solidFill>
              <a:latin typeface="M PLUS 1p"/>
              <a:ea typeface="M PLUS 1p"/>
              <a:cs typeface="M PLUS 1p"/>
              <a:sym typeface="M PLUS 1p"/>
            </a:endParaRPr>
          </a:p>
        </p:txBody>
      </p:sp>
      <p:sp>
        <p:nvSpPr>
          <p:cNvPr id="563" name="Google Shape;563;p43"/>
          <p:cNvSpPr txBox="1"/>
          <p:nvPr/>
        </p:nvSpPr>
        <p:spPr>
          <a:xfrm>
            <a:off x="492438" y="4251175"/>
            <a:ext cx="29466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900">
                <a:solidFill>
                  <a:schemeClr val="dk2"/>
                </a:solidFill>
                <a:latin typeface="M PLUS 1p"/>
                <a:ea typeface="M PLUS 1p"/>
                <a:cs typeface="M PLUS 1p"/>
                <a:sym typeface="M PLUS 1p"/>
              </a:rPr>
              <a:t>※朝:6-11時 昼:12-14時 夕方:15-18時 夜:19-翌5時</a:t>
            </a:r>
            <a:endParaRPr sz="900">
              <a:solidFill>
                <a:schemeClr val="dk2"/>
              </a:solidFill>
              <a:latin typeface="M PLUS 1p"/>
              <a:ea typeface="M PLUS 1p"/>
              <a:cs typeface="M PLUS 1p"/>
              <a:sym typeface="M PLUS 1p"/>
            </a:endParaRPr>
          </a:p>
        </p:txBody>
      </p:sp>
      <p:pic>
        <p:nvPicPr>
          <p:cNvPr id="564" name="Google Shape;564;p43" title="グラフ"/>
          <p:cNvPicPr preferRelativeResize="0"/>
          <p:nvPr/>
        </p:nvPicPr>
        <p:blipFill>
          <a:blip r:embed="rId3">
            <a:alphaModFix/>
          </a:blip>
          <a:stretch>
            <a:fillRect/>
          </a:stretch>
        </p:blipFill>
        <p:spPr>
          <a:xfrm>
            <a:off x="4755988" y="1897975"/>
            <a:ext cx="3886182" cy="2402950"/>
          </a:xfrm>
          <a:prstGeom prst="rect">
            <a:avLst/>
          </a:prstGeom>
          <a:noFill/>
          <a:ln>
            <a:noFill/>
          </a:ln>
        </p:spPr>
      </p:pic>
      <p:pic>
        <p:nvPicPr>
          <p:cNvPr id="565" name="Google Shape;565;p43" title="グラフ"/>
          <p:cNvPicPr preferRelativeResize="0"/>
          <p:nvPr/>
        </p:nvPicPr>
        <p:blipFill>
          <a:blip r:embed="rId4">
            <a:alphaModFix/>
          </a:blip>
          <a:stretch>
            <a:fillRect/>
          </a:stretch>
        </p:blipFill>
        <p:spPr>
          <a:xfrm>
            <a:off x="542113" y="1897975"/>
            <a:ext cx="3886176" cy="2402945"/>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69" name="Shape 569"/>
        <p:cNvGrpSpPr/>
        <p:nvPr/>
      </p:nvGrpSpPr>
      <p:grpSpPr>
        <a:xfrm>
          <a:off x="0" y="0"/>
          <a:ext cx="0" cy="0"/>
          <a:chOff x="0" y="0"/>
          <a:chExt cx="0" cy="0"/>
        </a:xfrm>
      </p:grpSpPr>
      <p:sp>
        <p:nvSpPr>
          <p:cNvPr id="570" name="Google Shape;570;p44"/>
          <p:cNvSpPr/>
          <p:nvPr/>
        </p:nvSpPr>
        <p:spPr>
          <a:xfrm>
            <a:off x="342900" y="365275"/>
            <a:ext cx="342900" cy="342900"/>
          </a:xfrm>
          <a:prstGeom prst="ellipse">
            <a:avLst/>
          </a:prstGeom>
          <a:solidFill>
            <a:srgbClr val="0B539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44"/>
          <p:cNvSpPr txBox="1"/>
          <p:nvPr/>
        </p:nvSpPr>
        <p:spPr>
          <a:xfrm>
            <a:off x="387600" y="335450"/>
            <a:ext cx="298200" cy="30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300">
                <a:solidFill>
                  <a:srgbClr val="FFFFFF"/>
                </a:solidFill>
                <a:latin typeface="Zen Kaku Gothic New"/>
                <a:ea typeface="Zen Kaku Gothic New"/>
                <a:cs typeface="Zen Kaku Gothic New"/>
                <a:sym typeface="Zen Kaku Gothic New"/>
              </a:rPr>
              <a:t>5</a:t>
            </a:r>
            <a:endParaRPr b="1" sz="1300">
              <a:solidFill>
                <a:srgbClr val="FFFFFF"/>
              </a:solidFill>
              <a:latin typeface="Zen Kaku Gothic New"/>
              <a:ea typeface="Zen Kaku Gothic New"/>
              <a:cs typeface="Zen Kaku Gothic New"/>
              <a:sym typeface="Zen Kaku Gothic New"/>
            </a:endParaRPr>
          </a:p>
        </p:txBody>
      </p:sp>
      <p:sp>
        <p:nvSpPr>
          <p:cNvPr id="572" name="Google Shape;572;p44"/>
          <p:cNvSpPr txBox="1"/>
          <p:nvPr/>
        </p:nvSpPr>
        <p:spPr>
          <a:xfrm>
            <a:off x="8136000" y="104275"/>
            <a:ext cx="916800" cy="190200"/>
          </a:xfrm>
          <a:prstGeom prst="rect">
            <a:avLst/>
          </a:prstGeom>
          <a:solidFill>
            <a:srgbClr val="DC0451"/>
          </a:solidFill>
          <a:ln>
            <a:noFill/>
          </a:ln>
        </p:spPr>
        <p:txBody>
          <a:bodyPr anchorCtr="0" anchor="t" bIns="91425" lIns="91425" spcFirstLastPara="1" rIns="91425" wrap="square" tIns="91425">
            <a:noAutofit/>
          </a:bodyPr>
          <a:lstStyle/>
          <a:p>
            <a:pPr indent="0" lvl="0" marL="0" rtl="0" algn="ctr">
              <a:lnSpc>
                <a:spcPct val="50000"/>
              </a:lnSpc>
              <a:spcBef>
                <a:spcPts val="0"/>
              </a:spcBef>
              <a:spcAft>
                <a:spcPts val="0"/>
              </a:spcAft>
              <a:buNone/>
            </a:pPr>
            <a:r>
              <a:rPr b="1" lang="ja" sz="700">
                <a:solidFill>
                  <a:srgbClr val="FFFFFF"/>
                </a:solidFill>
                <a:latin typeface="M PLUS 1p"/>
                <a:ea typeface="M PLUS 1p"/>
                <a:cs typeface="M PLUS 1p"/>
                <a:sym typeface="M PLUS 1p"/>
              </a:rPr>
              <a:t>CONFIDENTIAL</a:t>
            </a:r>
            <a:endParaRPr b="1" sz="700">
              <a:solidFill>
                <a:srgbClr val="FFFFFF"/>
              </a:solidFill>
              <a:latin typeface="M PLUS 1p"/>
              <a:ea typeface="M PLUS 1p"/>
              <a:cs typeface="M PLUS 1p"/>
              <a:sym typeface="M PLUS 1p"/>
            </a:endParaRPr>
          </a:p>
        </p:txBody>
      </p:sp>
      <p:sp>
        <p:nvSpPr>
          <p:cNvPr id="573" name="Google Shape;573;p4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574" name="Google Shape;574;p44"/>
          <p:cNvSpPr/>
          <p:nvPr/>
        </p:nvSpPr>
        <p:spPr>
          <a:xfrm>
            <a:off x="4598475" y="4123000"/>
            <a:ext cx="417900" cy="1878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75" name="Google Shape;575;p44"/>
          <p:cNvSpPr txBox="1"/>
          <p:nvPr/>
        </p:nvSpPr>
        <p:spPr>
          <a:xfrm>
            <a:off x="712300" y="294475"/>
            <a:ext cx="9144000" cy="48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2000">
                <a:solidFill>
                  <a:srgbClr val="1F1F1F"/>
                </a:solidFill>
                <a:latin typeface="M PLUS 1p"/>
                <a:ea typeface="M PLUS 1p"/>
                <a:cs typeface="M PLUS 1p"/>
                <a:sym typeface="M PLUS 1p"/>
              </a:rPr>
              <a:t>募集数の大きさごとに見ても、曜日・時間帯幅広く掲載したほうが良い</a:t>
            </a:r>
            <a:endParaRPr b="1" sz="1800">
              <a:solidFill>
                <a:srgbClr val="1F1F1F"/>
              </a:solidFill>
              <a:latin typeface="M PLUS 1p"/>
              <a:ea typeface="M PLUS 1p"/>
              <a:cs typeface="M PLUS 1p"/>
              <a:sym typeface="M PLUS 1p"/>
            </a:endParaRPr>
          </a:p>
        </p:txBody>
      </p:sp>
      <p:sp>
        <p:nvSpPr>
          <p:cNvPr id="576" name="Google Shape;576;p44"/>
          <p:cNvSpPr txBox="1"/>
          <p:nvPr/>
        </p:nvSpPr>
        <p:spPr>
          <a:xfrm>
            <a:off x="432350" y="860575"/>
            <a:ext cx="8620500" cy="674700"/>
          </a:xfrm>
          <a:prstGeom prst="rect">
            <a:avLst/>
          </a:prstGeom>
          <a:noFill/>
          <a:ln>
            <a:noFill/>
          </a:ln>
        </p:spPr>
        <p:txBody>
          <a:bodyPr anchorCtr="0" anchor="t" bIns="91425" lIns="91425" spcFirstLastPara="1" rIns="91425" wrap="square" tIns="91425">
            <a:noAutofit/>
          </a:bodyPr>
          <a:lstStyle/>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初月の募集数の大きさごとに見ても、平日・週末</a:t>
            </a:r>
            <a:r>
              <a:rPr lang="ja" sz="1600">
                <a:solidFill>
                  <a:srgbClr val="1F1F1F"/>
                </a:solidFill>
                <a:latin typeface="M PLUS 1p"/>
                <a:ea typeface="M PLUS 1p"/>
                <a:cs typeface="M PLUS 1p"/>
                <a:sym typeface="M PLUS 1p"/>
              </a:rPr>
              <a:t>掲載しているのと、</a:t>
            </a:r>
            <a:r>
              <a:rPr lang="ja" sz="1600">
                <a:solidFill>
                  <a:srgbClr val="1F1F1F"/>
                </a:solidFill>
                <a:latin typeface="M PLUS 1p"/>
                <a:ea typeface="M PLUS 1p"/>
                <a:cs typeface="M PLUS 1p"/>
                <a:sym typeface="M PLUS 1p"/>
              </a:rPr>
              <a:t>掲載している時間帯が多いほうが、3ヶ月継続率が高いことがわかる</a:t>
            </a:r>
            <a:endParaRPr sz="1600">
              <a:solidFill>
                <a:srgbClr val="1F1F1F"/>
              </a:solidFill>
              <a:latin typeface="M PLUS 1p"/>
              <a:ea typeface="M PLUS 1p"/>
              <a:cs typeface="M PLUS 1p"/>
              <a:sym typeface="M PLUS 1p"/>
            </a:endParaRPr>
          </a:p>
        </p:txBody>
      </p:sp>
      <p:graphicFrame>
        <p:nvGraphicFramePr>
          <p:cNvPr id="577" name="Google Shape;577;p44"/>
          <p:cNvGraphicFramePr/>
          <p:nvPr/>
        </p:nvGraphicFramePr>
        <p:xfrm>
          <a:off x="4667025" y="2221125"/>
          <a:ext cx="3000000" cy="3000000"/>
        </p:xfrm>
        <a:graphic>
          <a:graphicData uri="http://schemas.openxmlformats.org/drawingml/2006/table">
            <a:tbl>
              <a:tblPr>
                <a:noFill/>
                <a:tableStyleId>{717431F7-2294-48B2-AEED-F836AFECFFDB}</a:tableStyleId>
              </a:tblPr>
              <a:tblGrid>
                <a:gridCol w="971775"/>
                <a:gridCol w="1156400"/>
                <a:gridCol w="971775"/>
                <a:gridCol w="971775"/>
              </a:tblGrid>
              <a:tr h="269650">
                <a:tc>
                  <a:txBody>
                    <a:bodyPr/>
                    <a:lstStyle/>
                    <a:p>
                      <a:pPr indent="0" lvl="0" marL="0" rtl="0" algn="l">
                        <a:lnSpc>
                          <a:spcPct val="115000"/>
                        </a:lnSpc>
                        <a:spcBef>
                          <a:spcPts val="0"/>
                        </a:spcBef>
                        <a:spcAft>
                          <a:spcPts val="0"/>
                        </a:spcAft>
                        <a:buNone/>
                      </a:pPr>
                      <a:r>
                        <a:rPr lang="ja" sz="900"/>
                        <a:t>3ヶ月継続率</a:t>
                      </a:r>
                      <a:endParaRPr sz="900"/>
                    </a:p>
                  </a:txBody>
                  <a:tcPr marT="19050" marB="19050" marR="28575" marL="28575" anchor="b">
                    <a:solidFill>
                      <a:srgbClr val="CFE2F3"/>
                    </a:solidFill>
                  </a:tcPr>
                </a:tc>
                <a:tc>
                  <a:txBody>
                    <a:bodyPr/>
                    <a:lstStyle/>
                    <a:p>
                      <a:pPr indent="0" lvl="0" marL="0" rtl="0" algn="l">
                        <a:spcBef>
                          <a:spcPts val="0"/>
                        </a:spcBef>
                        <a:spcAft>
                          <a:spcPts val="0"/>
                        </a:spcAft>
                        <a:buNone/>
                      </a:pPr>
                      <a:r>
                        <a:t/>
                      </a:r>
                      <a:endParaRPr sz="1300"/>
                    </a:p>
                  </a:txBody>
                  <a:tcPr marT="19050" marB="19050" marR="28575" marL="28575" anchor="b">
                    <a:solidFill>
                      <a:srgbClr val="CFE2F3"/>
                    </a:solidFill>
                  </a:tcPr>
                </a:tc>
                <a:tc>
                  <a:txBody>
                    <a:bodyPr/>
                    <a:lstStyle/>
                    <a:p>
                      <a:pPr indent="0" lvl="0" marL="0" rtl="0" algn="l">
                        <a:spcBef>
                          <a:spcPts val="0"/>
                        </a:spcBef>
                        <a:spcAft>
                          <a:spcPts val="0"/>
                        </a:spcAft>
                        <a:buNone/>
                      </a:pPr>
                      <a:r>
                        <a:t/>
                      </a:r>
                      <a:endParaRPr sz="1300"/>
                    </a:p>
                  </a:txBody>
                  <a:tcPr marT="19050" marB="19050" marR="28575" marL="28575" anchor="b">
                    <a:solidFill>
                      <a:srgbClr val="CFE2F3"/>
                    </a:solidFill>
                  </a:tcPr>
                </a:tc>
                <a:tc>
                  <a:txBody>
                    <a:bodyPr/>
                    <a:lstStyle/>
                    <a:p>
                      <a:pPr indent="0" lvl="0" marL="0" rtl="0" algn="l">
                        <a:spcBef>
                          <a:spcPts val="0"/>
                        </a:spcBef>
                        <a:spcAft>
                          <a:spcPts val="0"/>
                        </a:spcAft>
                        <a:buNone/>
                      </a:pPr>
                      <a:r>
                        <a:t/>
                      </a:r>
                      <a:endParaRPr sz="1300"/>
                    </a:p>
                  </a:txBody>
                  <a:tcPr marT="19050" marB="19050" marR="28575" marL="28575" anchor="b">
                    <a:solidFill>
                      <a:srgbClr val="CFE2F3"/>
                    </a:solidFill>
                  </a:tcPr>
                </a:tc>
              </a:tr>
              <a:tr h="348250">
                <a:tc>
                  <a:txBody>
                    <a:bodyPr/>
                    <a:lstStyle/>
                    <a:p>
                      <a:pPr indent="0" lvl="0" marL="0" rtl="0" algn="l">
                        <a:lnSpc>
                          <a:spcPct val="115000"/>
                        </a:lnSpc>
                        <a:spcBef>
                          <a:spcPts val="0"/>
                        </a:spcBef>
                        <a:spcAft>
                          <a:spcPts val="0"/>
                        </a:spcAft>
                        <a:buNone/>
                      </a:pPr>
                      <a:r>
                        <a:rPr lang="ja" sz="900"/>
                        <a:t>初月_募集数</a:t>
                      </a:r>
                      <a:endParaRPr sz="900"/>
                    </a:p>
                  </a:txBody>
                  <a:tcPr marT="19050" marB="19050" marR="28575" marL="28575" anchor="b">
                    <a:lnB cap="flat" cmpd="sng" w="9525">
                      <a:solidFill>
                        <a:srgbClr val="000000"/>
                      </a:solidFill>
                      <a:prstDash val="solid"/>
                      <a:round/>
                      <a:headEnd len="sm" w="sm" type="none"/>
                      <a:tailEnd len="sm" w="sm" type="none"/>
                    </a:lnB>
                    <a:solidFill>
                      <a:srgbClr val="CFE2F3"/>
                    </a:solidFill>
                  </a:tcPr>
                </a:tc>
                <a:tc>
                  <a:txBody>
                    <a:bodyPr/>
                    <a:lstStyle/>
                    <a:p>
                      <a:pPr indent="0" lvl="0" marL="0" rtl="0" algn="l">
                        <a:lnSpc>
                          <a:spcPct val="115000"/>
                        </a:lnSpc>
                        <a:spcBef>
                          <a:spcPts val="0"/>
                        </a:spcBef>
                        <a:spcAft>
                          <a:spcPts val="0"/>
                        </a:spcAft>
                        <a:buNone/>
                      </a:pPr>
                      <a:r>
                        <a:rPr lang="ja" sz="900"/>
                        <a:t>1.週末利用</a:t>
                      </a:r>
                      <a:endParaRPr sz="900"/>
                    </a:p>
                  </a:txBody>
                  <a:tcPr marT="19050" marB="19050" marR="28575" marL="28575" anchor="b">
                    <a:lnB cap="flat" cmpd="sng" w="9525">
                      <a:solidFill>
                        <a:srgbClr val="000000"/>
                      </a:solidFill>
                      <a:prstDash val="solid"/>
                      <a:round/>
                      <a:headEnd len="sm" w="sm" type="none"/>
                      <a:tailEnd len="sm" w="sm" type="none"/>
                    </a:lnB>
                    <a:solidFill>
                      <a:srgbClr val="CFE2F3"/>
                    </a:solidFill>
                  </a:tcPr>
                </a:tc>
                <a:tc>
                  <a:txBody>
                    <a:bodyPr/>
                    <a:lstStyle/>
                    <a:p>
                      <a:pPr indent="0" lvl="0" marL="0" rtl="0" algn="l">
                        <a:lnSpc>
                          <a:spcPct val="115000"/>
                        </a:lnSpc>
                        <a:spcBef>
                          <a:spcPts val="0"/>
                        </a:spcBef>
                        <a:spcAft>
                          <a:spcPts val="0"/>
                        </a:spcAft>
                        <a:buNone/>
                      </a:pPr>
                      <a:r>
                        <a:rPr lang="ja" sz="900"/>
                        <a:t>2.平日利用</a:t>
                      </a:r>
                      <a:endParaRPr sz="900"/>
                    </a:p>
                  </a:txBody>
                  <a:tcPr marT="19050" marB="19050" marR="28575" marL="28575" anchor="b">
                    <a:lnB cap="flat" cmpd="sng" w="9525">
                      <a:solidFill>
                        <a:srgbClr val="000000"/>
                      </a:solidFill>
                      <a:prstDash val="solid"/>
                      <a:round/>
                      <a:headEnd len="sm" w="sm" type="none"/>
                      <a:tailEnd len="sm" w="sm" type="none"/>
                    </a:lnB>
                    <a:solidFill>
                      <a:srgbClr val="CFE2F3"/>
                    </a:solidFill>
                  </a:tcPr>
                </a:tc>
                <a:tc>
                  <a:txBody>
                    <a:bodyPr/>
                    <a:lstStyle/>
                    <a:p>
                      <a:pPr indent="0" lvl="0" marL="0" rtl="0" algn="l">
                        <a:lnSpc>
                          <a:spcPct val="115000"/>
                        </a:lnSpc>
                        <a:spcBef>
                          <a:spcPts val="0"/>
                        </a:spcBef>
                        <a:spcAft>
                          <a:spcPts val="0"/>
                        </a:spcAft>
                        <a:buNone/>
                      </a:pPr>
                      <a:r>
                        <a:rPr lang="ja" sz="900"/>
                        <a:t>3.平日・週末利用</a:t>
                      </a:r>
                      <a:endParaRPr sz="900"/>
                    </a:p>
                  </a:txBody>
                  <a:tcPr marT="19050" marB="19050" marR="28575" marL="28575" anchor="b">
                    <a:lnB cap="flat" cmpd="sng" w="9525">
                      <a:solidFill>
                        <a:srgbClr val="000000"/>
                      </a:solidFill>
                      <a:prstDash val="solid"/>
                      <a:round/>
                      <a:headEnd len="sm" w="sm" type="none"/>
                      <a:tailEnd len="sm" w="sm" type="none"/>
                    </a:lnB>
                    <a:solidFill>
                      <a:srgbClr val="CFE2F3"/>
                    </a:solidFill>
                  </a:tcPr>
                </a:tc>
              </a:tr>
              <a:tr h="267425">
                <a:tc>
                  <a:txBody>
                    <a:bodyPr/>
                    <a:lstStyle/>
                    <a:p>
                      <a:pPr indent="0" lvl="0" marL="0" rtl="0" algn="l">
                        <a:lnSpc>
                          <a:spcPct val="115000"/>
                        </a:lnSpc>
                        <a:spcBef>
                          <a:spcPts val="0"/>
                        </a:spcBef>
                        <a:spcAft>
                          <a:spcPts val="0"/>
                        </a:spcAft>
                        <a:buNone/>
                      </a:pPr>
                      <a:r>
                        <a:rPr lang="ja" sz="900"/>
                        <a:t>a.1</a:t>
                      </a:r>
                      <a:endParaRPr sz="900"/>
                    </a:p>
                  </a:txBody>
                  <a:tcPr marT="19050" marB="19050" marR="28575" marL="28575" anchor="b">
                    <a:lnT cap="flat" cmpd="sng" w="9525">
                      <a:solidFill>
                        <a:srgbClr val="000000"/>
                      </a:solidFill>
                      <a:prstDash val="solid"/>
                      <a:round/>
                      <a:headEnd len="sm" w="sm" type="none"/>
                      <a:tailEnd len="sm" w="sm" type="none"/>
                    </a:lnT>
                  </a:tcPr>
                </a:tc>
                <a:tc>
                  <a:txBody>
                    <a:bodyPr/>
                    <a:lstStyle/>
                    <a:p>
                      <a:pPr indent="0" lvl="0" marL="0" rtl="0" algn="r">
                        <a:spcBef>
                          <a:spcPts val="0"/>
                        </a:spcBef>
                        <a:spcAft>
                          <a:spcPts val="0"/>
                        </a:spcAft>
                        <a:buNone/>
                      </a:pPr>
                      <a:r>
                        <a:rPr lang="ja" sz="900"/>
                        <a:t>9.9%</a:t>
                      </a:r>
                      <a:endParaRPr sz="900"/>
                    </a:p>
                  </a:txBody>
                  <a:tcPr marT="19050" marB="19050" marR="28575" marL="28575" anchor="b">
                    <a:lnT cap="flat" cmpd="sng" w="9525">
                      <a:solidFill>
                        <a:srgbClr val="000000"/>
                      </a:solidFill>
                      <a:prstDash val="solid"/>
                      <a:round/>
                      <a:headEnd len="sm" w="sm" type="none"/>
                      <a:tailEnd len="sm" w="sm" type="none"/>
                    </a:lnT>
                  </a:tcPr>
                </a:tc>
                <a:tc>
                  <a:txBody>
                    <a:bodyPr/>
                    <a:lstStyle/>
                    <a:p>
                      <a:pPr indent="0" lvl="0" marL="0" rtl="0" algn="r">
                        <a:lnSpc>
                          <a:spcPct val="115000"/>
                        </a:lnSpc>
                        <a:spcBef>
                          <a:spcPts val="0"/>
                        </a:spcBef>
                        <a:spcAft>
                          <a:spcPts val="0"/>
                        </a:spcAft>
                        <a:buNone/>
                      </a:pPr>
                      <a:r>
                        <a:rPr lang="ja" sz="900"/>
                        <a:t>9.4%</a:t>
                      </a:r>
                      <a:endParaRPr sz="900"/>
                    </a:p>
                  </a:txBody>
                  <a:tcPr marT="19050" marB="19050" marR="28575" marL="28575" anchor="b">
                    <a:lnT cap="flat" cmpd="sng" w="9525">
                      <a:solidFill>
                        <a:srgbClr val="000000"/>
                      </a:solidFill>
                      <a:prstDash val="solid"/>
                      <a:round/>
                      <a:headEnd len="sm" w="sm" type="none"/>
                      <a:tailEnd len="sm" w="sm" type="none"/>
                    </a:lnT>
                    <a:solidFill>
                      <a:srgbClr val="FEFFFE"/>
                    </a:solidFill>
                  </a:tcPr>
                </a:tc>
                <a:tc>
                  <a:txBody>
                    <a:bodyPr/>
                    <a:lstStyle/>
                    <a:p>
                      <a:pPr indent="0" lvl="0" marL="0" rtl="0" algn="r">
                        <a:lnSpc>
                          <a:spcPct val="115000"/>
                        </a:lnSpc>
                        <a:spcBef>
                          <a:spcPts val="0"/>
                        </a:spcBef>
                        <a:spcAft>
                          <a:spcPts val="0"/>
                        </a:spcAft>
                        <a:buNone/>
                      </a:pPr>
                      <a:r>
                        <a:t/>
                      </a:r>
                      <a:endParaRPr sz="900"/>
                    </a:p>
                  </a:txBody>
                  <a:tcPr marT="19050" marB="19050" marR="28575" marL="28575" anchor="b">
                    <a:lnT cap="flat" cmpd="sng" w="9525">
                      <a:solidFill>
                        <a:srgbClr val="000000"/>
                      </a:solidFill>
                      <a:prstDash val="solid"/>
                      <a:round/>
                      <a:headEnd len="sm" w="sm" type="none"/>
                      <a:tailEnd len="sm" w="sm" type="none"/>
                    </a:lnT>
                    <a:solidFill>
                      <a:srgbClr val="FFFFFF"/>
                    </a:solidFill>
                  </a:tcPr>
                </a:tc>
              </a:tr>
              <a:tr h="226475">
                <a:tc>
                  <a:txBody>
                    <a:bodyPr/>
                    <a:lstStyle/>
                    <a:p>
                      <a:pPr indent="0" lvl="0" marL="0" rtl="0" algn="l">
                        <a:lnSpc>
                          <a:spcPct val="115000"/>
                        </a:lnSpc>
                        <a:spcBef>
                          <a:spcPts val="0"/>
                        </a:spcBef>
                        <a:spcAft>
                          <a:spcPts val="0"/>
                        </a:spcAft>
                        <a:buNone/>
                      </a:pPr>
                      <a:r>
                        <a:rPr lang="ja" sz="900"/>
                        <a:t>b.2</a:t>
                      </a:r>
                      <a:endParaRPr sz="900"/>
                    </a:p>
                  </a:txBody>
                  <a:tcPr marT="19050" marB="19050" marR="28575" marL="28575" anchor="b"/>
                </a:tc>
                <a:tc>
                  <a:txBody>
                    <a:bodyPr/>
                    <a:lstStyle/>
                    <a:p>
                      <a:pPr indent="0" lvl="0" marL="0" rtl="0" algn="r">
                        <a:lnSpc>
                          <a:spcPct val="115000"/>
                        </a:lnSpc>
                        <a:spcBef>
                          <a:spcPts val="0"/>
                        </a:spcBef>
                        <a:spcAft>
                          <a:spcPts val="0"/>
                        </a:spcAft>
                        <a:buNone/>
                      </a:pPr>
                      <a:r>
                        <a:rPr lang="ja" sz="900"/>
                        <a:t>16.2%</a:t>
                      </a:r>
                      <a:endParaRPr sz="900"/>
                    </a:p>
                  </a:txBody>
                  <a:tcPr marT="19050" marB="19050" marR="28575" marL="28575" anchor="b">
                    <a:solidFill>
                      <a:srgbClr val="E4F4EC"/>
                    </a:solidFill>
                  </a:tcPr>
                </a:tc>
                <a:tc>
                  <a:txBody>
                    <a:bodyPr/>
                    <a:lstStyle/>
                    <a:p>
                      <a:pPr indent="0" lvl="0" marL="0" rtl="0" algn="r">
                        <a:lnSpc>
                          <a:spcPct val="115000"/>
                        </a:lnSpc>
                        <a:spcBef>
                          <a:spcPts val="0"/>
                        </a:spcBef>
                        <a:spcAft>
                          <a:spcPts val="0"/>
                        </a:spcAft>
                        <a:buNone/>
                      </a:pPr>
                      <a:r>
                        <a:rPr lang="ja" sz="900"/>
                        <a:t>16.4%</a:t>
                      </a:r>
                      <a:endParaRPr sz="900"/>
                    </a:p>
                  </a:txBody>
                  <a:tcPr marT="19050" marB="19050" marR="28575" marL="28575" anchor="b">
                    <a:solidFill>
                      <a:srgbClr val="ECF7F2"/>
                    </a:solidFill>
                  </a:tcPr>
                </a:tc>
                <a:tc>
                  <a:txBody>
                    <a:bodyPr/>
                    <a:lstStyle/>
                    <a:p>
                      <a:pPr indent="0" lvl="0" marL="0" rtl="0" algn="r">
                        <a:lnSpc>
                          <a:spcPct val="115000"/>
                        </a:lnSpc>
                        <a:spcBef>
                          <a:spcPts val="0"/>
                        </a:spcBef>
                        <a:spcAft>
                          <a:spcPts val="0"/>
                        </a:spcAft>
                        <a:buNone/>
                      </a:pPr>
                      <a:r>
                        <a:rPr lang="ja" sz="900"/>
                        <a:t>18.7%</a:t>
                      </a:r>
                      <a:endParaRPr sz="900"/>
                    </a:p>
                  </a:txBody>
                  <a:tcPr marT="19050" marB="19050" marR="28575" marL="28575" anchor="b">
                    <a:solidFill>
                      <a:srgbClr val="EBF7F1"/>
                    </a:solidFill>
                  </a:tcPr>
                </a:tc>
              </a:tr>
              <a:tr h="226475">
                <a:tc>
                  <a:txBody>
                    <a:bodyPr/>
                    <a:lstStyle/>
                    <a:p>
                      <a:pPr indent="0" lvl="0" marL="0" rtl="0" algn="l">
                        <a:lnSpc>
                          <a:spcPct val="115000"/>
                        </a:lnSpc>
                        <a:spcBef>
                          <a:spcPts val="0"/>
                        </a:spcBef>
                        <a:spcAft>
                          <a:spcPts val="0"/>
                        </a:spcAft>
                        <a:buNone/>
                      </a:pPr>
                      <a:r>
                        <a:rPr lang="ja" sz="900"/>
                        <a:t>c.3-5</a:t>
                      </a:r>
                      <a:endParaRPr sz="900"/>
                    </a:p>
                  </a:txBody>
                  <a:tcPr marT="19050" marB="19050" marR="28575" marL="28575" anchor="b"/>
                </a:tc>
                <a:tc>
                  <a:txBody>
                    <a:bodyPr/>
                    <a:lstStyle/>
                    <a:p>
                      <a:pPr indent="0" lvl="0" marL="0" rtl="0" algn="r">
                        <a:lnSpc>
                          <a:spcPct val="115000"/>
                        </a:lnSpc>
                        <a:spcBef>
                          <a:spcPts val="0"/>
                        </a:spcBef>
                        <a:spcAft>
                          <a:spcPts val="0"/>
                        </a:spcAft>
                        <a:buNone/>
                      </a:pPr>
                      <a:r>
                        <a:rPr lang="ja" sz="900"/>
                        <a:t>33.2%</a:t>
                      </a:r>
                      <a:endParaRPr sz="900"/>
                    </a:p>
                  </a:txBody>
                  <a:tcPr marT="19050" marB="19050" marR="28575" marL="28575" anchor="b">
                    <a:solidFill>
                      <a:srgbClr val="C1E6D4"/>
                    </a:solidFill>
                  </a:tcPr>
                </a:tc>
                <a:tc>
                  <a:txBody>
                    <a:bodyPr/>
                    <a:lstStyle/>
                    <a:p>
                      <a:pPr indent="0" lvl="0" marL="0" rtl="0" algn="r">
                        <a:lnSpc>
                          <a:spcPct val="115000"/>
                        </a:lnSpc>
                        <a:spcBef>
                          <a:spcPts val="0"/>
                        </a:spcBef>
                        <a:spcAft>
                          <a:spcPts val="0"/>
                        </a:spcAft>
                        <a:buNone/>
                      </a:pPr>
                      <a:r>
                        <a:rPr lang="ja" sz="900"/>
                        <a:t>24.7%</a:t>
                      </a:r>
                      <a:endParaRPr sz="900"/>
                    </a:p>
                  </a:txBody>
                  <a:tcPr marT="19050" marB="19050" marR="28575" marL="28575" anchor="b">
                    <a:solidFill>
                      <a:srgbClr val="BAE3CF"/>
                    </a:solidFill>
                  </a:tcPr>
                </a:tc>
                <a:tc>
                  <a:txBody>
                    <a:bodyPr/>
                    <a:lstStyle/>
                    <a:p>
                      <a:pPr indent="0" lvl="0" marL="0" rtl="0" algn="r">
                        <a:lnSpc>
                          <a:spcPct val="115000"/>
                        </a:lnSpc>
                        <a:spcBef>
                          <a:spcPts val="0"/>
                        </a:spcBef>
                        <a:spcAft>
                          <a:spcPts val="0"/>
                        </a:spcAft>
                        <a:buNone/>
                      </a:pPr>
                      <a:r>
                        <a:rPr lang="ja" sz="900"/>
                        <a:t>30.6%</a:t>
                      </a:r>
                      <a:endParaRPr sz="900"/>
                    </a:p>
                  </a:txBody>
                  <a:tcPr marT="19050" marB="19050" marR="28575" marL="28575" anchor="b">
                    <a:solidFill>
                      <a:srgbClr val="D3EDE0"/>
                    </a:solidFill>
                  </a:tcPr>
                </a:tc>
              </a:tr>
              <a:tr h="226475">
                <a:tc>
                  <a:txBody>
                    <a:bodyPr/>
                    <a:lstStyle/>
                    <a:p>
                      <a:pPr indent="0" lvl="0" marL="0" rtl="0" algn="l">
                        <a:lnSpc>
                          <a:spcPct val="115000"/>
                        </a:lnSpc>
                        <a:spcBef>
                          <a:spcPts val="0"/>
                        </a:spcBef>
                        <a:spcAft>
                          <a:spcPts val="0"/>
                        </a:spcAft>
                        <a:buNone/>
                      </a:pPr>
                      <a:r>
                        <a:rPr lang="ja" sz="900"/>
                        <a:t>d.6-10</a:t>
                      </a:r>
                      <a:endParaRPr sz="900"/>
                    </a:p>
                  </a:txBody>
                  <a:tcPr marT="19050" marB="19050" marR="28575" marL="28575" anchor="b"/>
                </a:tc>
                <a:tc>
                  <a:txBody>
                    <a:bodyPr/>
                    <a:lstStyle/>
                    <a:p>
                      <a:pPr indent="0" lvl="0" marL="0" rtl="0" algn="r">
                        <a:lnSpc>
                          <a:spcPct val="115000"/>
                        </a:lnSpc>
                        <a:spcBef>
                          <a:spcPts val="0"/>
                        </a:spcBef>
                        <a:spcAft>
                          <a:spcPts val="0"/>
                        </a:spcAft>
                        <a:buNone/>
                      </a:pPr>
                      <a:r>
                        <a:rPr lang="ja" sz="900"/>
                        <a:t>47.3%</a:t>
                      </a:r>
                      <a:endParaRPr sz="900"/>
                    </a:p>
                  </a:txBody>
                  <a:tcPr marT="19050" marB="19050" marR="28575" marL="28575" anchor="b">
                    <a:solidFill>
                      <a:srgbClr val="99D6B8"/>
                    </a:solidFill>
                  </a:tcPr>
                </a:tc>
                <a:tc>
                  <a:txBody>
                    <a:bodyPr/>
                    <a:lstStyle/>
                    <a:p>
                      <a:pPr indent="0" lvl="0" marL="0" rtl="0" algn="r">
                        <a:lnSpc>
                          <a:spcPct val="115000"/>
                        </a:lnSpc>
                        <a:spcBef>
                          <a:spcPts val="0"/>
                        </a:spcBef>
                        <a:spcAft>
                          <a:spcPts val="0"/>
                        </a:spcAft>
                        <a:buNone/>
                      </a:pPr>
                      <a:r>
                        <a:rPr lang="ja" sz="900"/>
                        <a:t>41.6%</a:t>
                      </a:r>
                      <a:endParaRPr sz="900"/>
                    </a:p>
                  </a:txBody>
                  <a:tcPr marT="19050" marB="19050" marR="28575" marL="28575" anchor="b">
                    <a:solidFill>
                      <a:srgbClr val="91D3B2"/>
                    </a:solidFill>
                  </a:tcPr>
                </a:tc>
                <a:tc>
                  <a:txBody>
                    <a:bodyPr/>
                    <a:lstStyle/>
                    <a:p>
                      <a:pPr indent="0" lvl="0" marL="0" rtl="0" algn="r">
                        <a:lnSpc>
                          <a:spcPct val="115000"/>
                        </a:lnSpc>
                        <a:spcBef>
                          <a:spcPts val="0"/>
                        </a:spcBef>
                        <a:spcAft>
                          <a:spcPts val="0"/>
                        </a:spcAft>
                        <a:buNone/>
                      </a:pPr>
                      <a:r>
                        <a:rPr lang="ja" sz="900"/>
                        <a:t>44.6%</a:t>
                      </a:r>
                      <a:endParaRPr sz="900"/>
                    </a:p>
                  </a:txBody>
                  <a:tcPr marT="19050" marB="19050" marR="28575" marL="28575" anchor="b">
                    <a:solidFill>
                      <a:srgbClr val="A1D9BE"/>
                    </a:solidFill>
                  </a:tcPr>
                </a:tc>
              </a:tr>
              <a:tr h="226475">
                <a:tc>
                  <a:txBody>
                    <a:bodyPr/>
                    <a:lstStyle/>
                    <a:p>
                      <a:pPr indent="0" lvl="0" marL="0" rtl="0" algn="l">
                        <a:lnSpc>
                          <a:spcPct val="115000"/>
                        </a:lnSpc>
                        <a:spcBef>
                          <a:spcPts val="0"/>
                        </a:spcBef>
                        <a:spcAft>
                          <a:spcPts val="0"/>
                        </a:spcAft>
                        <a:buNone/>
                      </a:pPr>
                      <a:r>
                        <a:rPr lang="ja" sz="900"/>
                        <a:t>e.11-</a:t>
                      </a:r>
                      <a:endParaRPr sz="900"/>
                    </a:p>
                  </a:txBody>
                  <a:tcPr marT="19050" marB="19050" marR="28575" marL="28575" anchor="b">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 sz="900"/>
                        <a:t>48.3%</a:t>
                      </a:r>
                      <a:endParaRPr sz="900"/>
                    </a:p>
                  </a:txBody>
                  <a:tcPr marT="19050" marB="19050" marR="28575" marL="28575" anchor="b">
                    <a:lnB cap="flat" cmpd="sng" w="9525">
                      <a:solidFill>
                        <a:srgbClr val="000000"/>
                      </a:solidFill>
                      <a:prstDash val="solid"/>
                      <a:round/>
                      <a:headEnd len="sm" w="sm" type="none"/>
                      <a:tailEnd len="sm" w="sm" type="none"/>
                    </a:lnB>
                    <a:solidFill>
                      <a:srgbClr val="57BB8A"/>
                    </a:solidFill>
                  </a:tcPr>
                </a:tc>
                <a:tc>
                  <a:txBody>
                    <a:bodyPr/>
                    <a:lstStyle/>
                    <a:p>
                      <a:pPr indent="0" lvl="0" marL="0" rtl="0" algn="r">
                        <a:lnSpc>
                          <a:spcPct val="115000"/>
                        </a:lnSpc>
                        <a:spcBef>
                          <a:spcPts val="0"/>
                        </a:spcBef>
                        <a:spcAft>
                          <a:spcPts val="0"/>
                        </a:spcAft>
                        <a:buNone/>
                      </a:pPr>
                      <a:r>
                        <a:rPr lang="ja" sz="900"/>
                        <a:t>58.7%</a:t>
                      </a:r>
                      <a:endParaRPr sz="900"/>
                    </a:p>
                  </a:txBody>
                  <a:tcPr marT="19050" marB="19050" marR="28575" marL="28575" anchor="b">
                    <a:lnB cap="flat" cmpd="sng" w="9525">
                      <a:solidFill>
                        <a:srgbClr val="000000"/>
                      </a:solidFill>
                      <a:prstDash val="solid"/>
                      <a:round/>
                      <a:headEnd len="sm" w="sm" type="none"/>
                      <a:tailEnd len="sm" w="sm" type="none"/>
                    </a:lnB>
                    <a:solidFill>
                      <a:srgbClr val="8ED1B0"/>
                    </a:solidFill>
                  </a:tcPr>
                </a:tc>
                <a:tc>
                  <a:txBody>
                    <a:bodyPr/>
                    <a:lstStyle/>
                    <a:p>
                      <a:pPr indent="0" lvl="0" marL="0" rtl="0" algn="r">
                        <a:lnSpc>
                          <a:spcPct val="115000"/>
                        </a:lnSpc>
                        <a:spcBef>
                          <a:spcPts val="0"/>
                        </a:spcBef>
                        <a:spcAft>
                          <a:spcPts val="0"/>
                        </a:spcAft>
                        <a:buNone/>
                      </a:pPr>
                      <a:r>
                        <a:rPr lang="ja" sz="900"/>
                        <a:t>66.9%</a:t>
                      </a:r>
                      <a:endParaRPr sz="900"/>
                    </a:p>
                  </a:txBody>
                  <a:tcPr marT="19050" marB="19050" marR="28575" marL="28575" anchor="b">
                    <a:lnB cap="flat" cmpd="sng" w="9525">
                      <a:solidFill>
                        <a:srgbClr val="000000"/>
                      </a:solidFill>
                      <a:prstDash val="solid"/>
                      <a:round/>
                      <a:headEnd len="sm" w="sm" type="none"/>
                      <a:tailEnd len="sm" w="sm" type="none"/>
                    </a:lnB>
                    <a:solidFill>
                      <a:srgbClr val="6FC59B"/>
                    </a:solidFill>
                  </a:tcPr>
                </a:tc>
              </a:tr>
            </a:tbl>
          </a:graphicData>
        </a:graphic>
      </p:graphicFrame>
      <p:graphicFrame>
        <p:nvGraphicFramePr>
          <p:cNvPr id="578" name="Google Shape;578;p44"/>
          <p:cNvGraphicFramePr/>
          <p:nvPr/>
        </p:nvGraphicFramePr>
        <p:xfrm>
          <a:off x="712300" y="2221125"/>
          <a:ext cx="3000000" cy="3000000"/>
        </p:xfrm>
        <a:graphic>
          <a:graphicData uri="http://schemas.openxmlformats.org/drawingml/2006/table">
            <a:tbl>
              <a:tblPr>
                <a:noFill/>
                <a:tableStyleId>{717431F7-2294-48B2-AEED-F836AFECFFDB}</a:tableStyleId>
              </a:tblPr>
              <a:tblGrid>
                <a:gridCol w="695950"/>
                <a:gridCol w="695950"/>
                <a:gridCol w="695950"/>
                <a:gridCol w="856025"/>
                <a:gridCol w="695950"/>
              </a:tblGrid>
              <a:tr h="273425">
                <a:tc>
                  <a:txBody>
                    <a:bodyPr/>
                    <a:lstStyle/>
                    <a:p>
                      <a:pPr indent="0" lvl="0" marL="0" rtl="0" algn="l">
                        <a:lnSpc>
                          <a:spcPct val="115000"/>
                        </a:lnSpc>
                        <a:spcBef>
                          <a:spcPts val="0"/>
                        </a:spcBef>
                        <a:spcAft>
                          <a:spcPts val="0"/>
                        </a:spcAft>
                        <a:buNone/>
                      </a:pPr>
                      <a:r>
                        <a:rPr lang="ja" sz="900"/>
                        <a:t>3ヶ月継続率</a:t>
                      </a:r>
                      <a:endParaRPr sz="900"/>
                    </a:p>
                  </a:txBody>
                  <a:tcPr marT="19050" marB="19050" marR="28575" marL="28575" anchor="b">
                    <a:solidFill>
                      <a:srgbClr val="CFE2F3"/>
                    </a:solidFill>
                  </a:tcPr>
                </a:tc>
                <a:tc>
                  <a:txBody>
                    <a:bodyPr/>
                    <a:lstStyle/>
                    <a:p>
                      <a:pPr indent="0" lvl="0" marL="0" rtl="0" algn="l">
                        <a:spcBef>
                          <a:spcPts val="0"/>
                        </a:spcBef>
                        <a:spcAft>
                          <a:spcPts val="0"/>
                        </a:spcAft>
                        <a:buNone/>
                      </a:pPr>
                      <a:r>
                        <a:t/>
                      </a:r>
                      <a:endParaRPr sz="1300"/>
                    </a:p>
                  </a:txBody>
                  <a:tcPr marT="19050" marB="19050" marR="28575" marL="28575" anchor="b">
                    <a:solidFill>
                      <a:srgbClr val="CFE2F3"/>
                    </a:solidFill>
                  </a:tcPr>
                </a:tc>
                <a:tc>
                  <a:txBody>
                    <a:bodyPr/>
                    <a:lstStyle/>
                    <a:p>
                      <a:pPr indent="0" lvl="0" marL="0" rtl="0" algn="l">
                        <a:spcBef>
                          <a:spcPts val="0"/>
                        </a:spcBef>
                        <a:spcAft>
                          <a:spcPts val="0"/>
                        </a:spcAft>
                        <a:buNone/>
                      </a:pPr>
                      <a:r>
                        <a:t/>
                      </a:r>
                      <a:endParaRPr sz="1300"/>
                    </a:p>
                  </a:txBody>
                  <a:tcPr marT="19050" marB="19050" marR="28575" marL="28575" anchor="b">
                    <a:solidFill>
                      <a:srgbClr val="CFE2F3"/>
                    </a:solidFill>
                  </a:tcPr>
                </a:tc>
                <a:tc>
                  <a:txBody>
                    <a:bodyPr/>
                    <a:lstStyle/>
                    <a:p>
                      <a:pPr indent="0" lvl="0" marL="0" rtl="0" algn="l">
                        <a:spcBef>
                          <a:spcPts val="0"/>
                        </a:spcBef>
                        <a:spcAft>
                          <a:spcPts val="0"/>
                        </a:spcAft>
                        <a:buNone/>
                      </a:pPr>
                      <a:r>
                        <a:t/>
                      </a:r>
                      <a:endParaRPr sz="1300"/>
                    </a:p>
                  </a:txBody>
                  <a:tcPr marT="19050" marB="19050" marR="28575" marL="28575" anchor="b">
                    <a:solidFill>
                      <a:srgbClr val="CFE2F3"/>
                    </a:solidFill>
                  </a:tcPr>
                </a:tc>
                <a:tc>
                  <a:txBody>
                    <a:bodyPr/>
                    <a:lstStyle/>
                    <a:p>
                      <a:pPr indent="0" lvl="0" marL="0" rtl="0" algn="l">
                        <a:spcBef>
                          <a:spcPts val="0"/>
                        </a:spcBef>
                        <a:spcAft>
                          <a:spcPts val="0"/>
                        </a:spcAft>
                        <a:buNone/>
                      </a:pPr>
                      <a:r>
                        <a:t/>
                      </a:r>
                      <a:endParaRPr sz="1300"/>
                    </a:p>
                  </a:txBody>
                  <a:tcPr marT="19050" marB="19050" marR="28575" marL="28575" anchor="b">
                    <a:solidFill>
                      <a:srgbClr val="CFE2F3"/>
                    </a:solidFill>
                  </a:tcPr>
                </a:tc>
              </a:tr>
              <a:tr h="284375">
                <a:tc>
                  <a:txBody>
                    <a:bodyPr/>
                    <a:lstStyle/>
                    <a:p>
                      <a:pPr indent="0" lvl="0" marL="0" rtl="0" algn="l">
                        <a:lnSpc>
                          <a:spcPct val="115000"/>
                        </a:lnSpc>
                        <a:spcBef>
                          <a:spcPts val="0"/>
                        </a:spcBef>
                        <a:spcAft>
                          <a:spcPts val="0"/>
                        </a:spcAft>
                        <a:buNone/>
                      </a:pPr>
                      <a:r>
                        <a:rPr lang="ja" sz="900"/>
                        <a:t>初月_募集数</a:t>
                      </a:r>
                      <a:endParaRPr sz="900"/>
                    </a:p>
                  </a:txBody>
                  <a:tcPr marT="19050" marB="19050" marR="28575" marL="28575" anchor="b">
                    <a:lnB cap="flat" cmpd="sng" w="9525">
                      <a:solidFill>
                        <a:srgbClr val="000000"/>
                      </a:solidFill>
                      <a:prstDash val="solid"/>
                      <a:round/>
                      <a:headEnd len="sm" w="sm" type="none"/>
                      <a:tailEnd len="sm" w="sm" type="none"/>
                    </a:lnB>
                    <a:solidFill>
                      <a:srgbClr val="CFE2F3"/>
                    </a:solidFill>
                  </a:tcPr>
                </a:tc>
                <a:tc>
                  <a:txBody>
                    <a:bodyPr/>
                    <a:lstStyle/>
                    <a:p>
                      <a:pPr indent="0" lvl="0" marL="0" rtl="0" algn="l">
                        <a:lnSpc>
                          <a:spcPct val="115000"/>
                        </a:lnSpc>
                        <a:spcBef>
                          <a:spcPts val="0"/>
                        </a:spcBef>
                        <a:spcAft>
                          <a:spcPts val="0"/>
                        </a:spcAft>
                        <a:buNone/>
                      </a:pPr>
                      <a:r>
                        <a:rPr lang="ja" sz="900"/>
                        <a:t>1箇所</a:t>
                      </a:r>
                      <a:endParaRPr sz="900"/>
                    </a:p>
                  </a:txBody>
                  <a:tcPr marT="19050" marB="19050" marR="28575" marL="28575" anchor="b">
                    <a:lnB cap="flat" cmpd="sng" w="9525">
                      <a:solidFill>
                        <a:srgbClr val="000000"/>
                      </a:solidFill>
                      <a:prstDash val="solid"/>
                      <a:round/>
                      <a:headEnd len="sm" w="sm" type="none"/>
                      <a:tailEnd len="sm" w="sm" type="none"/>
                    </a:lnB>
                    <a:solidFill>
                      <a:srgbClr val="CFE2F3"/>
                    </a:solidFill>
                  </a:tcPr>
                </a:tc>
                <a:tc>
                  <a:txBody>
                    <a:bodyPr/>
                    <a:lstStyle/>
                    <a:p>
                      <a:pPr indent="0" lvl="0" marL="0" rtl="0" algn="l">
                        <a:lnSpc>
                          <a:spcPct val="115000"/>
                        </a:lnSpc>
                        <a:spcBef>
                          <a:spcPts val="0"/>
                        </a:spcBef>
                        <a:spcAft>
                          <a:spcPts val="0"/>
                        </a:spcAft>
                        <a:buNone/>
                      </a:pPr>
                      <a:r>
                        <a:rPr lang="ja" sz="900"/>
                        <a:t>2箇所</a:t>
                      </a:r>
                      <a:endParaRPr sz="900"/>
                    </a:p>
                  </a:txBody>
                  <a:tcPr marT="19050" marB="19050" marR="28575" marL="28575" anchor="b">
                    <a:lnB cap="flat" cmpd="sng" w="9525">
                      <a:solidFill>
                        <a:srgbClr val="000000"/>
                      </a:solidFill>
                      <a:prstDash val="solid"/>
                      <a:round/>
                      <a:headEnd len="sm" w="sm" type="none"/>
                      <a:tailEnd len="sm" w="sm" type="none"/>
                    </a:lnB>
                    <a:solidFill>
                      <a:srgbClr val="CFE2F3"/>
                    </a:solidFill>
                  </a:tcPr>
                </a:tc>
                <a:tc>
                  <a:txBody>
                    <a:bodyPr/>
                    <a:lstStyle/>
                    <a:p>
                      <a:pPr indent="0" lvl="0" marL="0" rtl="0" algn="l">
                        <a:lnSpc>
                          <a:spcPct val="115000"/>
                        </a:lnSpc>
                        <a:spcBef>
                          <a:spcPts val="0"/>
                        </a:spcBef>
                        <a:spcAft>
                          <a:spcPts val="0"/>
                        </a:spcAft>
                        <a:buNone/>
                      </a:pPr>
                      <a:r>
                        <a:rPr lang="ja" sz="900"/>
                        <a:t>3箇所</a:t>
                      </a:r>
                      <a:endParaRPr sz="900"/>
                    </a:p>
                  </a:txBody>
                  <a:tcPr marT="19050" marB="19050" marR="28575" marL="28575" anchor="b">
                    <a:lnB cap="flat" cmpd="sng" w="9525">
                      <a:solidFill>
                        <a:srgbClr val="000000"/>
                      </a:solidFill>
                      <a:prstDash val="solid"/>
                      <a:round/>
                      <a:headEnd len="sm" w="sm" type="none"/>
                      <a:tailEnd len="sm" w="sm" type="none"/>
                    </a:lnB>
                    <a:solidFill>
                      <a:srgbClr val="CFE2F3"/>
                    </a:solidFill>
                  </a:tcPr>
                </a:tc>
                <a:tc>
                  <a:txBody>
                    <a:bodyPr/>
                    <a:lstStyle/>
                    <a:p>
                      <a:pPr indent="0" lvl="0" marL="0" rtl="0" algn="l">
                        <a:lnSpc>
                          <a:spcPct val="115000"/>
                        </a:lnSpc>
                        <a:spcBef>
                          <a:spcPts val="0"/>
                        </a:spcBef>
                        <a:spcAft>
                          <a:spcPts val="0"/>
                        </a:spcAft>
                        <a:buNone/>
                      </a:pPr>
                      <a:r>
                        <a:rPr lang="ja" sz="900"/>
                        <a:t>4箇所</a:t>
                      </a:r>
                      <a:endParaRPr sz="900"/>
                    </a:p>
                  </a:txBody>
                  <a:tcPr marT="19050" marB="19050" marR="28575" marL="28575" anchor="b">
                    <a:lnB cap="flat" cmpd="sng" w="9525">
                      <a:solidFill>
                        <a:srgbClr val="000000"/>
                      </a:solidFill>
                      <a:prstDash val="solid"/>
                      <a:round/>
                      <a:headEnd len="sm" w="sm" type="none"/>
                      <a:tailEnd len="sm" w="sm" type="none"/>
                    </a:lnB>
                    <a:solidFill>
                      <a:srgbClr val="CFE2F3"/>
                    </a:solidFill>
                  </a:tcPr>
                </a:tc>
              </a:tr>
              <a:tr h="271650">
                <a:tc>
                  <a:txBody>
                    <a:bodyPr/>
                    <a:lstStyle/>
                    <a:p>
                      <a:pPr indent="0" lvl="0" marL="0" rtl="0" algn="l">
                        <a:lnSpc>
                          <a:spcPct val="115000"/>
                        </a:lnSpc>
                        <a:spcBef>
                          <a:spcPts val="0"/>
                        </a:spcBef>
                        <a:spcAft>
                          <a:spcPts val="0"/>
                        </a:spcAft>
                        <a:buNone/>
                      </a:pPr>
                      <a:r>
                        <a:rPr lang="ja" sz="900"/>
                        <a:t>a.1</a:t>
                      </a:r>
                      <a:endParaRPr sz="900"/>
                    </a:p>
                  </a:txBody>
                  <a:tcPr marT="19050" marB="19050" marR="28575" marL="28575" anchor="b">
                    <a:lnT cap="flat" cmpd="sng" w="9525">
                      <a:solidFill>
                        <a:srgbClr val="000000"/>
                      </a:solidFill>
                      <a:prstDash val="solid"/>
                      <a:round/>
                      <a:headEnd len="sm" w="sm" type="none"/>
                      <a:tailEnd len="sm" w="sm" type="none"/>
                    </a:lnT>
                  </a:tcPr>
                </a:tc>
                <a:tc>
                  <a:txBody>
                    <a:bodyPr/>
                    <a:lstStyle/>
                    <a:p>
                      <a:pPr indent="0" lvl="0" marL="0" rtl="0" algn="r">
                        <a:lnSpc>
                          <a:spcPct val="115000"/>
                        </a:lnSpc>
                        <a:spcBef>
                          <a:spcPts val="0"/>
                        </a:spcBef>
                        <a:spcAft>
                          <a:spcPts val="0"/>
                        </a:spcAft>
                        <a:buNone/>
                      </a:pPr>
                      <a:r>
                        <a:rPr lang="ja" sz="900"/>
                        <a:t>9.5%</a:t>
                      </a:r>
                      <a:endParaRPr sz="900"/>
                    </a:p>
                  </a:txBody>
                  <a:tcPr marT="19050" marB="19050" marR="28575" marL="28575" anchor="b">
                    <a:lnT cap="flat" cmpd="sng" w="9525">
                      <a:solidFill>
                        <a:srgbClr val="000000"/>
                      </a:solidFill>
                      <a:prstDash val="solid"/>
                      <a:round/>
                      <a:headEnd len="sm" w="sm" type="none"/>
                      <a:tailEnd len="sm" w="sm" type="none"/>
                    </a:lnT>
                    <a:solidFill>
                      <a:srgbClr val="FFFFFF"/>
                    </a:solidFill>
                  </a:tcPr>
                </a:tc>
                <a:tc>
                  <a:txBody>
                    <a:bodyPr/>
                    <a:lstStyle/>
                    <a:p>
                      <a:pPr indent="0" lvl="0" marL="0" rtl="0" algn="l">
                        <a:spcBef>
                          <a:spcPts val="0"/>
                        </a:spcBef>
                        <a:spcAft>
                          <a:spcPts val="0"/>
                        </a:spcAft>
                        <a:buNone/>
                      </a:pPr>
                      <a:r>
                        <a:t/>
                      </a:r>
                      <a:endParaRPr sz="1300"/>
                    </a:p>
                  </a:txBody>
                  <a:tcPr marT="19050" marB="19050" marR="28575" marL="28575" anchor="b">
                    <a:lnT cap="flat" cmpd="sng" w="9525">
                      <a:solidFill>
                        <a:srgbClr val="000000"/>
                      </a:solidFill>
                      <a:prstDash val="solid"/>
                      <a:round/>
                      <a:headEnd len="sm" w="sm" type="none"/>
                      <a:tailEnd len="sm" w="sm" type="none"/>
                    </a:lnT>
                  </a:tcPr>
                </a:tc>
                <a:tc>
                  <a:txBody>
                    <a:bodyPr/>
                    <a:lstStyle/>
                    <a:p>
                      <a:pPr indent="0" lvl="0" marL="0" rtl="0" algn="l">
                        <a:spcBef>
                          <a:spcPts val="0"/>
                        </a:spcBef>
                        <a:spcAft>
                          <a:spcPts val="0"/>
                        </a:spcAft>
                        <a:buNone/>
                      </a:pPr>
                      <a:r>
                        <a:t/>
                      </a:r>
                      <a:endParaRPr sz="1300"/>
                    </a:p>
                  </a:txBody>
                  <a:tcPr marT="19050" marB="19050" marR="28575" marL="28575" anchor="b">
                    <a:lnT cap="flat" cmpd="sng" w="9525">
                      <a:solidFill>
                        <a:srgbClr val="000000"/>
                      </a:solidFill>
                      <a:prstDash val="solid"/>
                      <a:round/>
                      <a:headEnd len="sm" w="sm" type="none"/>
                      <a:tailEnd len="sm" w="sm" type="none"/>
                    </a:lnT>
                  </a:tcPr>
                </a:tc>
                <a:tc>
                  <a:txBody>
                    <a:bodyPr/>
                    <a:lstStyle/>
                    <a:p>
                      <a:pPr indent="0" lvl="0" marL="0" rtl="0" algn="l">
                        <a:spcBef>
                          <a:spcPts val="0"/>
                        </a:spcBef>
                        <a:spcAft>
                          <a:spcPts val="0"/>
                        </a:spcAft>
                        <a:buNone/>
                      </a:pPr>
                      <a:r>
                        <a:t/>
                      </a:r>
                      <a:endParaRPr sz="1300"/>
                    </a:p>
                  </a:txBody>
                  <a:tcPr marT="19050" marB="19050" marR="28575" marL="28575" anchor="b">
                    <a:lnT cap="flat" cmpd="sng" w="9525">
                      <a:solidFill>
                        <a:srgbClr val="000000"/>
                      </a:solidFill>
                      <a:prstDash val="solid"/>
                      <a:round/>
                      <a:headEnd len="sm" w="sm" type="none"/>
                      <a:tailEnd len="sm" w="sm" type="none"/>
                    </a:lnT>
                  </a:tcPr>
                </a:tc>
              </a:tr>
              <a:tr h="271650">
                <a:tc>
                  <a:txBody>
                    <a:bodyPr/>
                    <a:lstStyle/>
                    <a:p>
                      <a:pPr indent="0" lvl="0" marL="0" rtl="0" algn="l">
                        <a:lnSpc>
                          <a:spcPct val="115000"/>
                        </a:lnSpc>
                        <a:spcBef>
                          <a:spcPts val="0"/>
                        </a:spcBef>
                        <a:spcAft>
                          <a:spcPts val="0"/>
                        </a:spcAft>
                        <a:buNone/>
                      </a:pPr>
                      <a:r>
                        <a:rPr lang="ja" sz="900"/>
                        <a:t>b.2</a:t>
                      </a:r>
                      <a:endParaRPr sz="900"/>
                    </a:p>
                  </a:txBody>
                  <a:tcPr marT="19050" marB="19050" marR="28575" marL="28575" anchor="b"/>
                </a:tc>
                <a:tc>
                  <a:txBody>
                    <a:bodyPr/>
                    <a:lstStyle/>
                    <a:p>
                      <a:pPr indent="0" lvl="0" marL="0" rtl="0" algn="r">
                        <a:lnSpc>
                          <a:spcPct val="115000"/>
                        </a:lnSpc>
                        <a:spcBef>
                          <a:spcPts val="0"/>
                        </a:spcBef>
                        <a:spcAft>
                          <a:spcPts val="0"/>
                        </a:spcAft>
                        <a:buNone/>
                      </a:pPr>
                      <a:r>
                        <a:rPr lang="ja" sz="900"/>
                        <a:t>16.7%</a:t>
                      </a:r>
                      <a:endParaRPr sz="900"/>
                    </a:p>
                  </a:txBody>
                  <a:tcPr marT="19050" marB="19050" marR="28575" marL="28575" anchor="b">
                    <a:solidFill>
                      <a:srgbClr val="EFF9F4"/>
                    </a:solidFill>
                  </a:tcPr>
                </a:tc>
                <a:tc>
                  <a:txBody>
                    <a:bodyPr/>
                    <a:lstStyle/>
                    <a:p>
                      <a:pPr indent="0" lvl="0" marL="0" rtl="0" algn="r">
                        <a:lnSpc>
                          <a:spcPct val="115000"/>
                        </a:lnSpc>
                        <a:spcBef>
                          <a:spcPts val="0"/>
                        </a:spcBef>
                        <a:spcAft>
                          <a:spcPts val="0"/>
                        </a:spcAft>
                        <a:buNone/>
                      </a:pPr>
                      <a:r>
                        <a:rPr lang="ja" sz="900"/>
                        <a:t>17.4%</a:t>
                      </a:r>
                      <a:endParaRPr sz="900"/>
                    </a:p>
                  </a:txBody>
                  <a:tcPr marT="19050" marB="19050" marR="28575" marL="28575" anchor="b">
                    <a:solidFill>
                      <a:srgbClr val="EDF8F3"/>
                    </a:solidFill>
                  </a:tcPr>
                </a:tc>
                <a:tc>
                  <a:txBody>
                    <a:bodyPr/>
                    <a:lstStyle/>
                    <a:p>
                      <a:pPr indent="0" lvl="0" marL="0" rtl="0" algn="l">
                        <a:spcBef>
                          <a:spcPts val="0"/>
                        </a:spcBef>
                        <a:spcAft>
                          <a:spcPts val="0"/>
                        </a:spcAft>
                        <a:buNone/>
                      </a:pPr>
                      <a:r>
                        <a:t/>
                      </a:r>
                      <a:endParaRPr sz="1300"/>
                    </a:p>
                  </a:txBody>
                  <a:tcPr marT="19050" marB="19050" marR="28575" marL="28575" anchor="b"/>
                </a:tc>
                <a:tc>
                  <a:txBody>
                    <a:bodyPr/>
                    <a:lstStyle/>
                    <a:p>
                      <a:pPr indent="0" lvl="0" marL="0" rtl="0" algn="l">
                        <a:spcBef>
                          <a:spcPts val="0"/>
                        </a:spcBef>
                        <a:spcAft>
                          <a:spcPts val="0"/>
                        </a:spcAft>
                        <a:buNone/>
                      </a:pPr>
                      <a:r>
                        <a:t/>
                      </a:r>
                      <a:endParaRPr sz="1300"/>
                    </a:p>
                  </a:txBody>
                  <a:tcPr marT="19050" marB="19050" marR="28575" marL="28575" anchor="b"/>
                </a:tc>
              </a:tr>
              <a:tr h="230050">
                <a:tc>
                  <a:txBody>
                    <a:bodyPr/>
                    <a:lstStyle/>
                    <a:p>
                      <a:pPr indent="0" lvl="0" marL="0" rtl="0" algn="l">
                        <a:lnSpc>
                          <a:spcPct val="115000"/>
                        </a:lnSpc>
                        <a:spcBef>
                          <a:spcPts val="0"/>
                        </a:spcBef>
                        <a:spcAft>
                          <a:spcPts val="0"/>
                        </a:spcAft>
                        <a:buNone/>
                      </a:pPr>
                      <a:r>
                        <a:rPr lang="ja" sz="900"/>
                        <a:t>c.3-5</a:t>
                      </a:r>
                      <a:endParaRPr sz="900"/>
                    </a:p>
                  </a:txBody>
                  <a:tcPr marT="19050" marB="19050" marR="28575" marL="28575" anchor="b"/>
                </a:tc>
                <a:tc>
                  <a:txBody>
                    <a:bodyPr/>
                    <a:lstStyle/>
                    <a:p>
                      <a:pPr indent="0" lvl="0" marL="0" rtl="0" algn="r">
                        <a:lnSpc>
                          <a:spcPct val="115000"/>
                        </a:lnSpc>
                        <a:spcBef>
                          <a:spcPts val="0"/>
                        </a:spcBef>
                        <a:spcAft>
                          <a:spcPts val="0"/>
                        </a:spcAft>
                        <a:buNone/>
                      </a:pPr>
                      <a:r>
                        <a:rPr lang="ja" sz="900"/>
                        <a:t>26.3%</a:t>
                      </a:r>
                      <a:endParaRPr sz="900"/>
                    </a:p>
                  </a:txBody>
                  <a:tcPr marT="19050" marB="19050" marR="28575" marL="28575" anchor="b">
                    <a:solidFill>
                      <a:srgbClr val="D8F0E4"/>
                    </a:solidFill>
                  </a:tcPr>
                </a:tc>
                <a:tc>
                  <a:txBody>
                    <a:bodyPr/>
                    <a:lstStyle/>
                    <a:p>
                      <a:pPr indent="0" lvl="0" marL="0" rtl="0" algn="r">
                        <a:lnSpc>
                          <a:spcPct val="115000"/>
                        </a:lnSpc>
                        <a:spcBef>
                          <a:spcPts val="0"/>
                        </a:spcBef>
                        <a:spcAft>
                          <a:spcPts val="0"/>
                        </a:spcAft>
                        <a:buNone/>
                      </a:pPr>
                      <a:r>
                        <a:rPr lang="ja" sz="900"/>
                        <a:t>32.3%</a:t>
                      </a:r>
                      <a:endParaRPr sz="900"/>
                    </a:p>
                  </a:txBody>
                  <a:tcPr marT="19050" marB="19050" marR="28575" marL="28575" anchor="b">
                    <a:solidFill>
                      <a:srgbClr val="CBEADB"/>
                    </a:solidFill>
                  </a:tcPr>
                </a:tc>
                <a:tc>
                  <a:txBody>
                    <a:bodyPr/>
                    <a:lstStyle/>
                    <a:p>
                      <a:pPr indent="0" lvl="0" marL="0" rtl="0" algn="r">
                        <a:lnSpc>
                          <a:spcPct val="115000"/>
                        </a:lnSpc>
                        <a:spcBef>
                          <a:spcPts val="0"/>
                        </a:spcBef>
                        <a:spcAft>
                          <a:spcPts val="0"/>
                        </a:spcAft>
                        <a:buNone/>
                      </a:pPr>
                      <a:r>
                        <a:rPr lang="ja" sz="900"/>
                        <a:t>31.4%</a:t>
                      </a:r>
                      <a:endParaRPr sz="900"/>
                    </a:p>
                  </a:txBody>
                  <a:tcPr marT="19050" marB="19050" marR="28575" marL="28575" anchor="b">
                    <a:solidFill>
                      <a:srgbClr val="CDEBDC"/>
                    </a:solidFill>
                  </a:tcPr>
                </a:tc>
                <a:tc>
                  <a:txBody>
                    <a:bodyPr/>
                    <a:lstStyle/>
                    <a:p>
                      <a:pPr indent="0" lvl="0" marL="0" rtl="0" algn="r">
                        <a:lnSpc>
                          <a:spcPct val="115000"/>
                        </a:lnSpc>
                        <a:spcBef>
                          <a:spcPts val="0"/>
                        </a:spcBef>
                        <a:spcAft>
                          <a:spcPts val="0"/>
                        </a:spcAft>
                        <a:buNone/>
                      </a:pPr>
                      <a:r>
                        <a:rPr lang="ja" sz="900"/>
                        <a:t>36.4%</a:t>
                      </a:r>
                      <a:endParaRPr sz="900"/>
                    </a:p>
                  </a:txBody>
                  <a:tcPr marT="19050" marB="19050" marR="28575" marL="28575" anchor="b">
                    <a:solidFill>
                      <a:srgbClr val="C1E6D4"/>
                    </a:solidFill>
                  </a:tcPr>
                </a:tc>
              </a:tr>
              <a:tr h="230050">
                <a:tc>
                  <a:txBody>
                    <a:bodyPr/>
                    <a:lstStyle/>
                    <a:p>
                      <a:pPr indent="0" lvl="0" marL="0" rtl="0" algn="l">
                        <a:lnSpc>
                          <a:spcPct val="115000"/>
                        </a:lnSpc>
                        <a:spcBef>
                          <a:spcPts val="0"/>
                        </a:spcBef>
                        <a:spcAft>
                          <a:spcPts val="0"/>
                        </a:spcAft>
                        <a:buNone/>
                      </a:pPr>
                      <a:r>
                        <a:rPr lang="ja" sz="900"/>
                        <a:t>d.6-10</a:t>
                      </a:r>
                      <a:endParaRPr sz="900"/>
                    </a:p>
                  </a:txBody>
                  <a:tcPr marT="19050" marB="19050" marR="28575" marL="28575" anchor="b"/>
                </a:tc>
                <a:tc>
                  <a:txBody>
                    <a:bodyPr/>
                    <a:lstStyle/>
                    <a:p>
                      <a:pPr indent="0" lvl="0" marL="0" rtl="0" algn="r">
                        <a:lnSpc>
                          <a:spcPct val="115000"/>
                        </a:lnSpc>
                        <a:spcBef>
                          <a:spcPts val="0"/>
                        </a:spcBef>
                        <a:spcAft>
                          <a:spcPts val="0"/>
                        </a:spcAft>
                        <a:buNone/>
                      </a:pPr>
                      <a:r>
                        <a:rPr lang="ja" sz="900"/>
                        <a:t>41.1%</a:t>
                      </a:r>
                      <a:endParaRPr sz="900"/>
                    </a:p>
                  </a:txBody>
                  <a:tcPr marT="19050" marB="19050" marR="28575" marL="28575" anchor="b">
                    <a:solidFill>
                      <a:srgbClr val="B6E2CC"/>
                    </a:solidFill>
                  </a:tcPr>
                </a:tc>
                <a:tc>
                  <a:txBody>
                    <a:bodyPr/>
                    <a:lstStyle/>
                    <a:p>
                      <a:pPr indent="0" lvl="0" marL="0" rtl="0" algn="r">
                        <a:lnSpc>
                          <a:spcPct val="115000"/>
                        </a:lnSpc>
                        <a:spcBef>
                          <a:spcPts val="0"/>
                        </a:spcBef>
                        <a:spcAft>
                          <a:spcPts val="0"/>
                        </a:spcAft>
                        <a:buNone/>
                      </a:pPr>
                      <a:r>
                        <a:rPr lang="ja" sz="900"/>
                        <a:t>45.3%</a:t>
                      </a:r>
                      <a:endParaRPr sz="900"/>
                    </a:p>
                  </a:txBody>
                  <a:tcPr marT="19050" marB="19050" marR="28575" marL="28575" anchor="b">
                    <a:solidFill>
                      <a:srgbClr val="ACDEC5"/>
                    </a:solidFill>
                  </a:tcPr>
                </a:tc>
                <a:tc>
                  <a:txBody>
                    <a:bodyPr/>
                    <a:lstStyle/>
                    <a:p>
                      <a:pPr indent="0" lvl="0" marL="0" rtl="0" algn="r">
                        <a:lnSpc>
                          <a:spcPct val="115000"/>
                        </a:lnSpc>
                        <a:spcBef>
                          <a:spcPts val="0"/>
                        </a:spcBef>
                        <a:spcAft>
                          <a:spcPts val="0"/>
                        </a:spcAft>
                        <a:buNone/>
                      </a:pPr>
                      <a:r>
                        <a:rPr lang="ja" sz="900"/>
                        <a:t>51.8%</a:t>
                      </a:r>
                      <a:endParaRPr sz="900"/>
                    </a:p>
                  </a:txBody>
                  <a:tcPr marT="19050" marB="19050" marR="28575" marL="28575" anchor="b">
                    <a:solidFill>
                      <a:srgbClr val="9DD8BB"/>
                    </a:solidFill>
                  </a:tcPr>
                </a:tc>
                <a:tc>
                  <a:txBody>
                    <a:bodyPr/>
                    <a:lstStyle/>
                    <a:p>
                      <a:pPr indent="0" lvl="0" marL="0" rtl="0" algn="r">
                        <a:lnSpc>
                          <a:spcPct val="115000"/>
                        </a:lnSpc>
                        <a:spcBef>
                          <a:spcPts val="0"/>
                        </a:spcBef>
                        <a:spcAft>
                          <a:spcPts val="0"/>
                        </a:spcAft>
                        <a:buNone/>
                      </a:pPr>
                      <a:r>
                        <a:rPr lang="ja" sz="900"/>
                        <a:t>57.5%</a:t>
                      </a:r>
                      <a:endParaRPr sz="900"/>
                    </a:p>
                  </a:txBody>
                  <a:tcPr marT="19050" marB="19050" marR="28575" marL="28575" anchor="b">
                    <a:solidFill>
                      <a:srgbClr val="90D2B2"/>
                    </a:solidFill>
                  </a:tcPr>
                </a:tc>
              </a:tr>
              <a:tr h="230050">
                <a:tc>
                  <a:txBody>
                    <a:bodyPr/>
                    <a:lstStyle/>
                    <a:p>
                      <a:pPr indent="0" lvl="0" marL="0" rtl="0" algn="l">
                        <a:lnSpc>
                          <a:spcPct val="115000"/>
                        </a:lnSpc>
                        <a:spcBef>
                          <a:spcPts val="0"/>
                        </a:spcBef>
                        <a:spcAft>
                          <a:spcPts val="0"/>
                        </a:spcAft>
                        <a:buNone/>
                      </a:pPr>
                      <a:r>
                        <a:rPr lang="ja" sz="900"/>
                        <a:t>e.11-</a:t>
                      </a:r>
                      <a:endParaRPr sz="900"/>
                    </a:p>
                  </a:txBody>
                  <a:tcPr marT="19050" marB="19050" marR="28575" marL="28575" anchor="b">
                    <a:lnB cap="flat" cmpd="sng" w="9525">
                      <a:solidFill>
                        <a:srgbClr val="000000"/>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ja" sz="900"/>
                        <a:t>59.1%</a:t>
                      </a:r>
                      <a:endParaRPr sz="900"/>
                    </a:p>
                  </a:txBody>
                  <a:tcPr marT="19050" marB="19050" marR="28575" marL="28575" anchor="b">
                    <a:lnB cap="flat" cmpd="sng" w="9525">
                      <a:solidFill>
                        <a:srgbClr val="000000"/>
                      </a:solidFill>
                      <a:prstDash val="solid"/>
                      <a:round/>
                      <a:headEnd len="sm" w="sm" type="none"/>
                      <a:tailEnd len="sm" w="sm" type="none"/>
                    </a:lnB>
                    <a:solidFill>
                      <a:srgbClr val="8CD1AF"/>
                    </a:solidFill>
                  </a:tcPr>
                </a:tc>
                <a:tc>
                  <a:txBody>
                    <a:bodyPr/>
                    <a:lstStyle/>
                    <a:p>
                      <a:pPr indent="0" lvl="0" marL="0" rtl="0" algn="r">
                        <a:lnSpc>
                          <a:spcPct val="115000"/>
                        </a:lnSpc>
                        <a:spcBef>
                          <a:spcPts val="0"/>
                        </a:spcBef>
                        <a:spcAft>
                          <a:spcPts val="0"/>
                        </a:spcAft>
                        <a:buNone/>
                      </a:pPr>
                      <a:r>
                        <a:rPr lang="ja" sz="900"/>
                        <a:t>65.1%</a:t>
                      </a:r>
                      <a:endParaRPr sz="900"/>
                    </a:p>
                  </a:txBody>
                  <a:tcPr marT="19050" marB="19050" marR="28575" marL="28575" anchor="b">
                    <a:lnB cap="flat" cmpd="sng" w="9525">
                      <a:solidFill>
                        <a:srgbClr val="000000"/>
                      </a:solidFill>
                      <a:prstDash val="solid"/>
                      <a:round/>
                      <a:headEnd len="sm" w="sm" type="none"/>
                      <a:tailEnd len="sm" w="sm" type="none"/>
                    </a:lnB>
                    <a:solidFill>
                      <a:srgbClr val="7ECBA5"/>
                    </a:solidFill>
                  </a:tcPr>
                </a:tc>
                <a:tc>
                  <a:txBody>
                    <a:bodyPr/>
                    <a:lstStyle/>
                    <a:p>
                      <a:pPr indent="0" lvl="0" marL="0" rtl="0" algn="r">
                        <a:lnSpc>
                          <a:spcPct val="115000"/>
                        </a:lnSpc>
                        <a:spcBef>
                          <a:spcPts val="0"/>
                        </a:spcBef>
                        <a:spcAft>
                          <a:spcPts val="0"/>
                        </a:spcAft>
                        <a:buNone/>
                      </a:pPr>
                      <a:r>
                        <a:rPr lang="ja" sz="900"/>
                        <a:t>73.3%</a:t>
                      </a:r>
                      <a:endParaRPr sz="900"/>
                    </a:p>
                  </a:txBody>
                  <a:tcPr marT="19050" marB="19050" marR="28575" marL="28575" anchor="b">
                    <a:lnB cap="flat" cmpd="sng" w="9525">
                      <a:solidFill>
                        <a:srgbClr val="000000"/>
                      </a:solidFill>
                      <a:prstDash val="solid"/>
                      <a:round/>
                      <a:headEnd len="sm" w="sm" type="none"/>
                      <a:tailEnd len="sm" w="sm" type="none"/>
                    </a:lnB>
                    <a:solidFill>
                      <a:srgbClr val="6BC398"/>
                    </a:solidFill>
                  </a:tcPr>
                </a:tc>
                <a:tc>
                  <a:txBody>
                    <a:bodyPr/>
                    <a:lstStyle/>
                    <a:p>
                      <a:pPr indent="0" lvl="0" marL="0" rtl="0" algn="r">
                        <a:lnSpc>
                          <a:spcPct val="115000"/>
                        </a:lnSpc>
                        <a:spcBef>
                          <a:spcPts val="0"/>
                        </a:spcBef>
                        <a:spcAft>
                          <a:spcPts val="0"/>
                        </a:spcAft>
                        <a:buNone/>
                      </a:pPr>
                      <a:r>
                        <a:rPr lang="ja" sz="900"/>
                        <a:t>81.6%</a:t>
                      </a:r>
                      <a:endParaRPr sz="900"/>
                    </a:p>
                  </a:txBody>
                  <a:tcPr marT="19050" marB="19050" marR="28575" marL="28575" anchor="b">
                    <a:lnB cap="flat" cmpd="sng" w="9525">
                      <a:solidFill>
                        <a:srgbClr val="000000"/>
                      </a:solidFill>
                      <a:prstDash val="solid"/>
                      <a:round/>
                      <a:headEnd len="sm" w="sm" type="none"/>
                      <a:tailEnd len="sm" w="sm" type="none"/>
                    </a:lnB>
                    <a:solidFill>
                      <a:srgbClr val="57BB8A"/>
                    </a:solidFill>
                  </a:tcPr>
                </a:tc>
              </a:tr>
            </a:tbl>
          </a:graphicData>
        </a:graphic>
      </p:graphicFrame>
      <p:sp>
        <p:nvSpPr>
          <p:cNvPr id="579" name="Google Shape;579;p44"/>
          <p:cNvSpPr/>
          <p:nvPr/>
        </p:nvSpPr>
        <p:spPr>
          <a:xfrm>
            <a:off x="7766975" y="3785875"/>
            <a:ext cx="971700" cy="2424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80" name="Google Shape;580;p44"/>
          <p:cNvSpPr/>
          <p:nvPr/>
        </p:nvSpPr>
        <p:spPr>
          <a:xfrm>
            <a:off x="1695800" y="3334975"/>
            <a:ext cx="2413200" cy="674700"/>
          </a:xfrm>
          <a:prstGeom prst="rightArrow">
            <a:avLst>
              <a:gd fmla="val 50000" name="adj1"/>
              <a:gd fmla="val 92436" name="adj2"/>
            </a:avLst>
          </a:prstGeom>
          <a:solidFill>
            <a:srgbClr val="FFF2CC">
              <a:alpha val="3038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81" name="Google Shape;581;p44"/>
          <p:cNvSpPr txBox="1"/>
          <p:nvPr/>
        </p:nvSpPr>
        <p:spPr>
          <a:xfrm>
            <a:off x="685800" y="1860175"/>
            <a:ext cx="2049000" cy="3936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None/>
            </a:pPr>
            <a:r>
              <a:rPr lang="ja">
                <a:solidFill>
                  <a:srgbClr val="1F1F1F"/>
                </a:solidFill>
                <a:latin typeface="M PLUS 1p"/>
                <a:ea typeface="M PLUS 1p"/>
                <a:cs typeface="M PLUS 1p"/>
                <a:sym typeface="M PLUS 1p"/>
              </a:rPr>
              <a:t>掲載時間帯数別</a:t>
            </a:r>
            <a:endParaRPr>
              <a:solidFill>
                <a:srgbClr val="1F1F1F"/>
              </a:solidFill>
              <a:latin typeface="M PLUS 1p"/>
              <a:ea typeface="M PLUS 1p"/>
              <a:cs typeface="M PLUS 1p"/>
              <a:sym typeface="M PLUS 1p"/>
            </a:endParaRPr>
          </a:p>
        </p:txBody>
      </p:sp>
      <p:sp>
        <p:nvSpPr>
          <p:cNvPr id="582" name="Google Shape;582;p44"/>
          <p:cNvSpPr txBox="1"/>
          <p:nvPr/>
        </p:nvSpPr>
        <p:spPr>
          <a:xfrm>
            <a:off x="4667025" y="1860175"/>
            <a:ext cx="2049000" cy="3936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None/>
            </a:pPr>
            <a:r>
              <a:rPr lang="ja">
                <a:solidFill>
                  <a:srgbClr val="1F1F1F"/>
                </a:solidFill>
                <a:latin typeface="M PLUS 1p"/>
                <a:ea typeface="M PLUS 1p"/>
                <a:cs typeface="M PLUS 1p"/>
                <a:sym typeface="M PLUS 1p"/>
              </a:rPr>
              <a:t>掲載</a:t>
            </a:r>
            <a:r>
              <a:rPr lang="ja">
                <a:solidFill>
                  <a:srgbClr val="1F1F1F"/>
                </a:solidFill>
                <a:latin typeface="M PLUS 1p"/>
                <a:ea typeface="M PLUS 1p"/>
                <a:cs typeface="M PLUS 1p"/>
                <a:sym typeface="M PLUS 1p"/>
              </a:rPr>
              <a:t>曜日</a:t>
            </a:r>
            <a:r>
              <a:rPr lang="ja">
                <a:solidFill>
                  <a:srgbClr val="1F1F1F"/>
                </a:solidFill>
                <a:latin typeface="M PLUS 1p"/>
                <a:ea typeface="M PLUS 1p"/>
                <a:cs typeface="M PLUS 1p"/>
                <a:sym typeface="M PLUS 1p"/>
              </a:rPr>
              <a:t>別</a:t>
            </a:r>
            <a:endParaRPr>
              <a:solidFill>
                <a:srgbClr val="1F1F1F"/>
              </a:solidFill>
              <a:latin typeface="M PLUS 1p"/>
              <a:ea typeface="M PLUS 1p"/>
              <a:cs typeface="M PLUS 1p"/>
              <a:sym typeface="M PLUS 1p"/>
            </a:endParaRPr>
          </a:p>
        </p:txBody>
      </p:sp>
      <p:sp>
        <p:nvSpPr>
          <p:cNvPr id="583" name="Google Shape;583;p44"/>
          <p:cNvSpPr/>
          <p:nvPr/>
        </p:nvSpPr>
        <p:spPr>
          <a:xfrm>
            <a:off x="6059250" y="3274600"/>
            <a:ext cx="2413200" cy="674700"/>
          </a:xfrm>
          <a:prstGeom prst="rightArrow">
            <a:avLst>
              <a:gd fmla="val 50000" name="adj1"/>
              <a:gd fmla="val 92436" name="adj2"/>
            </a:avLst>
          </a:prstGeom>
          <a:solidFill>
            <a:srgbClr val="FFF2CC">
              <a:alpha val="3038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87" name="Shape 587"/>
        <p:cNvGrpSpPr/>
        <p:nvPr/>
      </p:nvGrpSpPr>
      <p:grpSpPr>
        <a:xfrm>
          <a:off x="0" y="0"/>
          <a:ext cx="0" cy="0"/>
          <a:chOff x="0" y="0"/>
          <a:chExt cx="0" cy="0"/>
        </a:xfrm>
      </p:grpSpPr>
      <p:sp>
        <p:nvSpPr>
          <p:cNvPr id="588" name="Google Shape;588;p45"/>
          <p:cNvSpPr/>
          <p:nvPr/>
        </p:nvSpPr>
        <p:spPr>
          <a:xfrm>
            <a:off x="342900" y="365275"/>
            <a:ext cx="342900" cy="342900"/>
          </a:xfrm>
          <a:prstGeom prst="ellipse">
            <a:avLst/>
          </a:prstGeom>
          <a:solidFill>
            <a:srgbClr val="0B539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45"/>
          <p:cNvSpPr txBox="1"/>
          <p:nvPr/>
        </p:nvSpPr>
        <p:spPr>
          <a:xfrm>
            <a:off x="387600" y="335450"/>
            <a:ext cx="298200" cy="30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300">
                <a:solidFill>
                  <a:srgbClr val="FFFFFF"/>
                </a:solidFill>
                <a:latin typeface="Zen Kaku Gothic New"/>
                <a:ea typeface="Zen Kaku Gothic New"/>
                <a:cs typeface="Zen Kaku Gothic New"/>
                <a:sym typeface="Zen Kaku Gothic New"/>
              </a:rPr>
              <a:t>6</a:t>
            </a:r>
            <a:endParaRPr b="1" sz="1300">
              <a:solidFill>
                <a:srgbClr val="FFFFFF"/>
              </a:solidFill>
              <a:latin typeface="Zen Kaku Gothic New"/>
              <a:ea typeface="Zen Kaku Gothic New"/>
              <a:cs typeface="Zen Kaku Gothic New"/>
              <a:sym typeface="Zen Kaku Gothic New"/>
            </a:endParaRPr>
          </a:p>
        </p:txBody>
      </p:sp>
      <p:sp>
        <p:nvSpPr>
          <p:cNvPr id="590" name="Google Shape;590;p45"/>
          <p:cNvSpPr txBox="1"/>
          <p:nvPr/>
        </p:nvSpPr>
        <p:spPr>
          <a:xfrm>
            <a:off x="8136000" y="104275"/>
            <a:ext cx="916800" cy="190200"/>
          </a:xfrm>
          <a:prstGeom prst="rect">
            <a:avLst/>
          </a:prstGeom>
          <a:solidFill>
            <a:srgbClr val="DC0451"/>
          </a:solidFill>
          <a:ln>
            <a:noFill/>
          </a:ln>
        </p:spPr>
        <p:txBody>
          <a:bodyPr anchorCtr="0" anchor="t" bIns="91425" lIns="91425" spcFirstLastPara="1" rIns="91425" wrap="square" tIns="91425">
            <a:noAutofit/>
          </a:bodyPr>
          <a:lstStyle/>
          <a:p>
            <a:pPr indent="0" lvl="0" marL="0" rtl="0" algn="ctr">
              <a:lnSpc>
                <a:spcPct val="50000"/>
              </a:lnSpc>
              <a:spcBef>
                <a:spcPts val="0"/>
              </a:spcBef>
              <a:spcAft>
                <a:spcPts val="0"/>
              </a:spcAft>
              <a:buNone/>
            </a:pPr>
            <a:r>
              <a:rPr b="1" lang="ja" sz="700">
                <a:solidFill>
                  <a:srgbClr val="FFFFFF"/>
                </a:solidFill>
                <a:latin typeface="M PLUS 1p"/>
                <a:ea typeface="M PLUS 1p"/>
                <a:cs typeface="M PLUS 1p"/>
                <a:sym typeface="M PLUS 1p"/>
              </a:rPr>
              <a:t>CONFIDENTIAL</a:t>
            </a:r>
            <a:endParaRPr b="1" sz="700">
              <a:solidFill>
                <a:srgbClr val="FFFFFF"/>
              </a:solidFill>
              <a:latin typeface="M PLUS 1p"/>
              <a:ea typeface="M PLUS 1p"/>
              <a:cs typeface="M PLUS 1p"/>
              <a:sym typeface="M PLUS 1p"/>
            </a:endParaRPr>
          </a:p>
        </p:txBody>
      </p:sp>
      <p:sp>
        <p:nvSpPr>
          <p:cNvPr id="591" name="Google Shape;591;p4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592" name="Google Shape;592;p45"/>
          <p:cNvSpPr/>
          <p:nvPr/>
        </p:nvSpPr>
        <p:spPr>
          <a:xfrm>
            <a:off x="4598475" y="4123000"/>
            <a:ext cx="417900" cy="1878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93" name="Google Shape;593;p45"/>
          <p:cNvSpPr txBox="1"/>
          <p:nvPr/>
        </p:nvSpPr>
        <p:spPr>
          <a:xfrm>
            <a:off x="712300" y="294475"/>
            <a:ext cx="9144000" cy="48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2000">
                <a:solidFill>
                  <a:srgbClr val="1F1F1F"/>
                </a:solidFill>
                <a:latin typeface="M PLUS 1p"/>
                <a:ea typeface="M PLUS 1p"/>
                <a:cs typeface="M PLUS 1p"/>
                <a:sym typeface="M PLUS 1p"/>
              </a:rPr>
              <a:t>決まった時間帯に長時間掲載 ＜ 細かく複数時間帯に募集するのが良い</a:t>
            </a:r>
            <a:endParaRPr b="1" sz="1800">
              <a:solidFill>
                <a:srgbClr val="1F1F1F"/>
              </a:solidFill>
              <a:latin typeface="M PLUS 1p"/>
              <a:ea typeface="M PLUS 1p"/>
              <a:cs typeface="M PLUS 1p"/>
              <a:sym typeface="M PLUS 1p"/>
            </a:endParaRPr>
          </a:p>
        </p:txBody>
      </p:sp>
      <p:sp>
        <p:nvSpPr>
          <p:cNvPr id="594" name="Google Shape;594;p45"/>
          <p:cNvSpPr txBox="1"/>
          <p:nvPr/>
        </p:nvSpPr>
        <p:spPr>
          <a:xfrm>
            <a:off x="432350" y="860575"/>
            <a:ext cx="8620500" cy="1083600"/>
          </a:xfrm>
          <a:prstGeom prst="rect">
            <a:avLst/>
          </a:prstGeom>
          <a:noFill/>
          <a:ln>
            <a:noFill/>
          </a:ln>
        </p:spPr>
        <p:txBody>
          <a:bodyPr anchorCtr="0" anchor="t" bIns="91425" lIns="91425" spcFirstLastPara="1" rIns="91425" wrap="square" tIns="91425">
            <a:noAutofit/>
          </a:bodyPr>
          <a:lstStyle/>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決まった時間帯に長時間の募集を掲載するより、短い時間帯で複数の時間帯に募集を掲載するほうが、３ヶ月継続率は高くなる</a:t>
            </a:r>
            <a:endParaRPr sz="1600">
              <a:solidFill>
                <a:srgbClr val="1F1F1F"/>
              </a:solidFill>
              <a:latin typeface="M PLUS 1p"/>
              <a:ea typeface="M PLUS 1p"/>
              <a:cs typeface="M PLUS 1p"/>
              <a:sym typeface="M PLUS 1p"/>
            </a:endParaRPr>
          </a:p>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稼働率や、初月に稼働するワーカー数（経験者ワーカー）も後者のほうが良く</a:t>
            </a:r>
            <a:r>
              <a:rPr lang="ja" sz="1600">
                <a:solidFill>
                  <a:srgbClr val="1F1F1F"/>
                </a:solidFill>
                <a:latin typeface="M PLUS 1p"/>
                <a:ea typeface="M PLUS 1p"/>
                <a:cs typeface="M PLUS 1p"/>
                <a:sym typeface="M PLUS 1p"/>
              </a:rPr>
              <a:t>店舗</a:t>
            </a:r>
            <a:r>
              <a:rPr lang="ja" sz="1600">
                <a:solidFill>
                  <a:srgbClr val="1F1F1F"/>
                </a:solidFill>
                <a:latin typeface="M PLUS 1p"/>
                <a:ea typeface="M PLUS 1p"/>
                <a:cs typeface="M PLUS 1p"/>
                <a:sym typeface="M PLUS 1p"/>
              </a:rPr>
              <a:t>にとってもプラスに働く（</a:t>
            </a:r>
            <a:r>
              <a:rPr lang="ja" sz="1600" u="sng">
                <a:solidFill>
                  <a:schemeClr val="hlink"/>
                </a:solidFill>
                <a:latin typeface="M PLUS 1p"/>
                <a:ea typeface="M PLUS 1p"/>
                <a:cs typeface="M PLUS 1p"/>
                <a:sym typeface="M PLUS 1p"/>
                <a:hlinkClick action="ppaction://hlinksldjump" r:id="rId3"/>
              </a:rPr>
              <a:t>Appendix</a:t>
            </a:r>
            <a:r>
              <a:rPr lang="ja" sz="1600">
                <a:solidFill>
                  <a:srgbClr val="1F1F1F"/>
                </a:solidFill>
                <a:latin typeface="M PLUS 1p"/>
                <a:ea typeface="M PLUS 1p"/>
                <a:cs typeface="M PLUS 1p"/>
                <a:sym typeface="M PLUS 1p"/>
              </a:rPr>
              <a:t>）</a:t>
            </a:r>
            <a:endParaRPr sz="1600">
              <a:solidFill>
                <a:srgbClr val="1F1F1F"/>
              </a:solidFill>
              <a:latin typeface="M PLUS 1p"/>
              <a:ea typeface="M PLUS 1p"/>
              <a:cs typeface="M PLUS 1p"/>
              <a:sym typeface="M PLUS 1p"/>
            </a:endParaRPr>
          </a:p>
        </p:txBody>
      </p:sp>
      <p:sp>
        <p:nvSpPr>
          <p:cNvPr id="595" name="Google Shape;595;p45"/>
          <p:cNvSpPr txBox="1"/>
          <p:nvPr/>
        </p:nvSpPr>
        <p:spPr>
          <a:xfrm>
            <a:off x="1825350" y="4763075"/>
            <a:ext cx="29073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900">
                <a:solidFill>
                  <a:schemeClr val="dk2"/>
                </a:solidFill>
                <a:latin typeface="M PLUS 1p"/>
                <a:ea typeface="M PLUS 1p"/>
                <a:cs typeface="M PLUS 1p"/>
                <a:sym typeface="M PLUS 1p"/>
              </a:rPr>
              <a:t>※</a:t>
            </a:r>
            <a:r>
              <a:rPr lang="ja" sz="900">
                <a:solidFill>
                  <a:schemeClr val="dk2"/>
                </a:solidFill>
                <a:latin typeface="M PLUS 1p"/>
                <a:ea typeface="M PLUS 1p"/>
                <a:cs typeface="M PLUS 1p"/>
                <a:sym typeface="M PLUS 1p"/>
              </a:rPr>
              <a:t>初月の募集数が6件以上の</a:t>
            </a:r>
            <a:r>
              <a:rPr lang="ja" sz="900">
                <a:solidFill>
                  <a:schemeClr val="dk2"/>
                </a:solidFill>
                <a:latin typeface="M PLUS 1p"/>
                <a:ea typeface="M PLUS 1p"/>
                <a:cs typeface="M PLUS 1p"/>
                <a:sym typeface="M PLUS 1p"/>
              </a:rPr>
              <a:t>店舗</a:t>
            </a:r>
            <a:r>
              <a:rPr lang="ja" sz="900">
                <a:solidFill>
                  <a:schemeClr val="dk2"/>
                </a:solidFill>
                <a:latin typeface="M PLUS 1p"/>
                <a:ea typeface="M PLUS 1p"/>
                <a:cs typeface="M PLUS 1p"/>
                <a:sym typeface="M PLUS 1p"/>
              </a:rPr>
              <a:t>に絞って集計</a:t>
            </a:r>
            <a:endParaRPr sz="900">
              <a:solidFill>
                <a:schemeClr val="dk2"/>
              </a:solidFill>
              <a:latin typeface="M PLUS 1p"/>
              <a:ea typeface="M PLUS 1p"/>
              <a:cs typeface="M PLUS 1p"/>
              <a:sym typeface="M PLUS 1p"/>
            </a:endParaRPr>
          </a:p>
        </p:txBody>
      </p:sp>
      <p:graphicFrame>
        <p:nvGraphicFramePr>
          <p:cNvPr id="596" name="Google Shape;596;p45"/>
          <p:cNvGraphicFramePr/>
          <p:nvPr/>
        </p:nvGraphicFramePr>
        <p:xfrm>
          <a:off x="2100263" y="2304750"/>
          <a:ext cx="3000000" cy="3000000"/>
        </p:xfrm>
        <a:graphic>
          <a:graphicData uri="http://schemas.openxmlformats.org/drawingml/2006/table">
            <a:tbl>
              <a:tblPr>
                <a:noFill/>
                <a:tableStyleId>{717431F7-2294-48B2-AEED-F836AFECFFDB}</a:tableStyleId>
              </a:tblPr>
              <a:tblGrid>
                <a:gridCol w="952500"/>
                <a:gridCol w="1133475"/>
                <a:gridCol w="952500"/>
                <a:gridCol w="952500"/>
                <a:gridCol w="952500"/>
              </a:tblGrid>
              <a:tr h="238125">
                <a:tc>
                  <a:txBody>
                    <a:bodyPr/>
                    <a:lstStyle/>
                    <a:p>
                      <a:pPr indent="0" lvl="0" marL="0" rtl="0" algn="l">
                        <a:lnSpc>
                          <a:spcPct val="115000"/>
                        </a:lnSpc>
                        <a:spcBef>
                          <a:spcPts val="0"/>
                        </a:spcBef>
                        <a:spcAft>
                          <a:spcPts val="0"/>
                        </a:spcAft>
                        <a:buNone/>
                      </a:pPr>
                      <a:r>
                        <a:rPr lang="ja" sz="1000"/>
                        <a:t>3ヶ月継続率</a:t>
                      </a:r>
                      <a:endParaRPr sz="1000"/>
                    </a:p>
                  </a:txBody>
                  <a:tcPr marT="19050" marB="19050" marR="28575" marL="28575" anchor="b">
                    <a:solidFill>
                      <a:srgbClr val="CFE2F3"/>
                    </a:solidFill>
                  </a:tcPr>
                </a:tc>
                <a:tc>
                  <a:txBody>
                    <a:bodyPr/>
                    <a:lstStyle/>
                    <a:p>
                      <a:pPr indent="0" lvl="0" marL="0" rtl="0" algn="l">
                        <a:lnSpc>
                          <a:spcPct val="115000"/>
                        </a:lnSpc>
                        <a:spcBef>
                          <a:spcPts val="0"/>
                        </a:spcBef>
                        <a:spcAft>
                          <a:spcPts val="0"/>
                        </a:spcAft>
                        <a:buNone/>
                      </a:pPr>
                      <a:r>
                        <a:rPr lang="ja" sz="1000"/>
                        <a:t>初月_時間帯数</a:t>
                      </a:r>
                      <a:endParaRPr sz="1000"/>
                    </a:p>
                  </a:txBody>
                  <a:tcPr marT="19050" marB="19050" marR="28575" marL="28575" anchor="b">
                    <a:solidFill>
                      <a:srgbClr val="CFE2F3"/>
                    </a:solidFill>
                  </a:tcPr>
                </a:tc>
                <a:tc>
                  <a:txBody>
                    <a:bodyPr/>
                    <a:lstStyle/>
                    <a:p>
                      <a:pPr indent="0" lvl="0" marL="0" rtl="0" algn="l">
                        <a:spcBef>
                          <a:spcPts val="0"/>
                        </a:spcBef>
                        <a:spcAft>
                          <a:spcPts val="0"/>
                        </a:spcAft>
                        <a:buNone/>
                      </a:pPr>
                      <a:r>
                        <a:t/>
                      </a:r>
                      <a:endParaRPr/>
                    </a:p>
                  </a:txBody>
                  <a:tcPr marT="19050" marB="19050" marR="28575" marL="28575" anchor="b">
                    <a:solidFill>
                      <a:srgbClr val="CFE2F3"/>
                    </a:solidFill>
                  </a:tcPr>
                </a:tc>
                <a:tc>
                  <a:txBody>
                    <a:bodyPr/>
                    <a:lstStyle/>
                    <a:p>
                      <a:pPr indent="0" lvl="0" marL="0" rtl="0" algn="l">
                        <a:spcBef>
                          <a:spcPts val="0"/>
                        </a:spcBef>
                        <a:spcAft>
                          <a:spcPts val="0"/>
                        </a:spcAft>
                        <a:buNone/>
                      </a:pPr>
                      <a:r>
                        <a:t/>
                      </a:r>
                      <a:endParaRPr/>
                    </a:p>
                  </a:txBody>
                  <a:tcPr marT="19050" marB="19050" marR="28575" marL="28575" anchor="b">
                    <a:solidFill>
                      <a:srgbClr val="CFE2F3"/>
                    </a:solidFill>
                  </a:tcPr>
                </a:tc>
                <a:tc>
                  <a:txBody>
                    <a:bodyPr/>
                    <a:lstStyle/>
                    <a:p>
                      <a:pPr indent="0" lvl="0" marL="0" rtl="0" algn="l">
                        <a:spcBef>
                          <a:spcPts val="0"/>
                        </a:spcBef>
                        <a:spcAft>
                          <a:spcPts val="0"/>
                        </a:spcAft>
                        <a:buNone/>
                      </a:pPr>
                      <a:r>
                        <a:t/>
                      </a:r>
                      <a:endParaRPr/>
                    </a:p>
                  </a:txBody>
                  <a:tcPr marT="19050" marB="19050" marR="28575" marL="28575" anchor="b">
                    <a:solidFill>
                      <a:srgbClr val="CFE2F3"/>
                    </a:solidFill>
                  </a:tcPr>
                </a:tc>
              </a:tr>
              <a:tr h="247650">
                <a:tc>
                  <a:txBody>
                    <a:bodyPr/>
                    <a:lstStyle/>
                    <a:p>
                      <a:pPr indent="0" lvl="0" marL="0" rtl="0" algn="l">
                        <a:lnSpc>
                          <a:spcPct val="115000"/>
                        </a:lnSpc>
                        <a:spcBef>
                          <a:spcPts val="0"/>
                        </a:spcBef>
                        <a:spcAft>
                          <a:spcPts val="0"/>
                        </a:spcAft>
                        <a:buNone/>
                      </a:pPr>
                      <a:r>
                        <a:rPr lang="ja" sz="1000"/>
                        <a:t>初月_稼働時間</a:t>
                      </a:r>
                      <a:endParaRPr sz="1000"/>
                    </a:p>
                  </a:txBody>
                  <a:tcPr marT="19050" marB="19050" marR="28575" marL="28575" anchor="b">
                    <a:lnB cap="flat" cmpd="sng" w="9525">
                      <a:solidFill>
                        <a:srgbClr val="000000"/>
                      </a:solidFill>
                      <a:prstDash val="solid"/>
                      <a:round/>
                      <a:headEnd len="sm" w="sm" type="none"/>
                      <a:tailEnd len="sm" w="sm" type="none"/>
                    </a:lnB>
                    <a:solidFill>
                      <a:srgbClr val="CFE2F3"/>
                    </a:solidFill>
                  </a:tcPr>
                </a:tc>
                <a:tc>
                  <a:txBody>
                    <a:bodyPr/>
                    <a:lstStyle/>
                    <a:p>
                      <a:pPr indent="0" lvl="0" marL="0" rtl="0" algn="r">
                        <a:lnSpc>
                          <a:spcPct val="115000"/>
                        </a:lnSpc>
                        <a:spcBef>
                          <a:spcPts val="0"/>
                        </a:spcBef>
                        <a:spcAft>
                          <a:spcPts val="0"/>
                        </a:spcAft>
                        <a:buNone/>
                      </a:pPr>
                      <a:r>
                        <a:rPr lang="ja" sz="1000"/>
                        <a:t>1</a:t>
                      </a:r>
                      <a:endParaRPr sz="1000"/>
                    </a:p>
                  </a:txBody>
                  <a:tcPr marT="19050" marB="19050" marR="28575" marL="28575" anchor="b">
                    <a:lnB cap="flat" cmpd="sng" w="9525">
                      <a:solidFill>
                        <a:srgbClr val="000000"/>
                      </a:solidFill>
                      <a:prstDash val="solid"/>
                      <a:round/>
                      <a:headEnd len="sm" w="sm" type="none"/>
                      <a:tailEnd len="sm" w="sm" type="none"/>
                    </a:lnB>
                    <a:solidFill>
                      <a:srgbClr val="CFE2F3"/>
                    </a:solidFill>
                  </a:tcPr>
                </a:tc>
                <a:tc>
                  <a:txBody>
                    <a:bodyPr/>
                    <a:lstStyle/>
                    <a:p>
                      <a:pPr indent="0" lvl="0" marL="0" rtl="0" algn="r">
                        <a:lnSpc>
                          <a:spcPct val="115000"/>
                        </a:lnSpc>
                        <a:spcBef>
                          <a:spcPts val="0"/>
                        </a:spcBef>
                        <a:spcAft>
                          <a:spcPts val="0"/>
                        </a:spcAft>
                        <a:buNone/>
                      </a:pPr>
                      <a:r>
                        <a:rPr lang="ja" sz="1000"/>
                        <a:t>2</a:t>
                      </a:r>
                      <a:endParaRPr sz="1000"/>
                    </a:p>
                  </a:txBody>
                  <a:tcPr marT="19050" marB="19050" marR="28575" marL="28575" anchor="b">
                    <a:lnB cap="flat" cmpd="sng" w="9525">
                      <a:solidFill>
                        <a:srgbClr val="000000"/>
                      </a:solidFill>
                      <a:prstDash val="solid"/>
                      <a:round/>
                      <a:headEnd len="sm" w="sm" type="none"/>
                      <a:tailEnd len="sm" w="sm" type="none"/>
                    </a:lnB>
                    <a:solidFill>
                      <a:srgbClr val="CFE2F3"/>
                    </a:solidFill>
                  </a:tcPr>
                </a:tc>
                <a:tc>
                  <a:txBody>
                    <a:bodyPr/>
                    <a:lstStyle/>
                    <a:p>
                      <a:pPr indent="0" lvl="0" marL="0" rtl="0" algn="r">
                        <a:lnSpc>
                          <a:spcPct val="115000"/>
                        </a:lnSpc>
                        <a:spcBef>
                          <a:spcPts val="0"/>
                        </a:spcBef>
                        <a:spcAft>
                          <a:spcPts val="0"/>
                        </a:spcAft>
                        <a:buNone/>
                      </a:pPr>
                      <a:r>
                        <a:rPr lang="ja" sz="1000"/>
                        <a:t>3</a:t>
                      </a:r>
                      <a:endParaRPr sz="1000"/>
                    </a:p>
                  </a:txBody>
                  <a:tcPr marT="19050" marB="19050" marR="28575" marL="28575" anchor="b">
                    <a:lnB cap="flat" cmpd="sng" w="9525">
                      <a:solidFill>
                        <a:srgbClr val="000000"/>
                      </a:solidFill>
                      <a:prstDash val="solid"/>
                      <a:round/>
                      <a:headEnd len="sm" w="sm" type="none"/>
                      <a:tailEnd len="sm" w="sm" type="none"/>
                    </a:lnB>
                    <a:solidFill>
                      <a:srgbClr val="CFE2F3"/>
                    </a:solidFill>
                  </a:tcPr>
                </a:tc>
                <a:tc>
                  <a:txBody>
                    <a:bodyPr/>
                    <a:lstStyle/>
                    <a:p>
                      <a:pPr indent="0" lvl="0" marL="0" rtl="0" algn="r">
                        <a:lnSpc>
                          <a:spcPct val="115000"/>
                        </a:lnSpc>
                        <a:spcBef>
                          <a:spcPts val="0"/>
                        </a:spcBef>
                        <a:spcAft>
                          <a:spcPts val="0"/>
                        </a:spcAft>
                        <a:buNone/>
                      </a:pPr>
                      <a:r>
                        <a:rPr lang="ja" sz="1000"/>
                        <a:t>4</a:t>
                      </a:r>
                      <a:endParaRPr sz="1000"/>
                    </a:p>
                  </a:txBody>
                  <a:tcPr marT="19050" marB="19050" marR="28575" marL="28575" anchor="b">
                    <a:lnB cap="flat" cmpd="sng" w="9525">
                      <a:solidFill>
                        <a:srgbClr val="000000"/>
                      </a:solidFill>
                      <a:prstDash val="solid"/>
                      <a:round/>
                      <a:headEnd len="sm" w="sm" type="none"/>
                      <a:tailEnd len="sm" w="sm" type="none"/>
                    </a:lnB>
                    <a:solidFill>
                      <a:srgbClr val="CFE2F3"/>
                    </a:solidFill>
                  </a:tcPr>
                </a:tc>
              </a:tr>
              <a:tr h="200025">
                <a:tc>
                  <a:txBody>
                    <a:bodyPr/>
                    <a:lstStyle/>
                    <a:p>
                      <a:pPr indent="0" lvl="0" marL="0" rtl="0" algn="r">
                        <a:lnSpc>
                          <a:spcPct val="115000"/>
                        </a:lnSpc>
                        <a:spcBef>
                          <a:spcPts val="0"/>
                        </a:spcBef>
                        <a:spcAft>
                          <a:spcPts val="0"/>
                        </a:spcAft>
                        <a:buNone/>
                      </a:pPr>
                      <a:r>
                        <a:rPr lang="ja" sz="1000"/>
                        <a:t>1</a:t>
                      </a:r>
                      <a:endParaRPr sz="1000"/>
                    </a:p>
                  </a:txBody>
                  <a:tcPr marT="19050" marB="19050" marR="28575" marL="28575" anchor="b">
                    <a:lnT cap="flat" cmpd="sng" w="9525">
                      <a:solidFill>
                        <a:srgbClr val="000000"/>
                      </a:solidFill>
                      <a:prstDash val="solid"/>
                      <a:round/>
                      <a:headEnd len="sm" w="sm" type="none"/>
                      <a:tailEnd len="sm" w="sm" type="none"/>
                    </a:lnT>
                  </a:tcPr>
                </a:tc>
                <a:tc>
                  <a:txBody>
                    <a:bodyPr/>
                    <a:lstStyle/>
                    <a:p>
                      <a:pPr indent="0" lvl="0" marL="0" rtl="0" algn="r">
                        <a:lnSpc>
                          <a:spcPct val="115000"/>
                        </a:lnSpc>
                        <a:spcBef>
                          <a:spcPts val="0"/>
                        </a:spcBef>
                        <a:spcAft>
                          <a:spcPts val="0"/>
                        </a:spcAft>
                        <a:buNone/>
                      </a:pPr>
                      <a:r>
                        <a:rPr lang="ja" sz="1000"/>
                        <a:t>40.9%</a:t>
                      </a:r>
                      <a:endParaRPr sz="1000"/>
                    </a:p>
                  </a:txBody>
                  <a:tcPr marT="19050" marB="19050" marR="28575" marL="28575" anchor="b">
                    <a:lnT cap="flat" cmpd="sng" w="9525">
                      <a:solidFill>
                        <a:srgbClr val="000000"/>
                      </a:solidFill>
                      <a:prstDash val="solid"/>
                      <a:round/>
                      <a:headEnd len="sm" w="sm" type="none"/>
                      <a:tailEnd len="sm" w="sm" type="none"/>
                    </a:lnT>
                    <a:solidFill>
                      <a:srgbClr val="AADDC4"/>
                    </a:solidFill>
                  </a:tcPr>
                </a:tc>
                <a:tc>
                  <a:txBody>
                    <a:bodyPr/>
                    <a:lstStyle/>
                    <a:p>
                      <a:pPr indent="0" lvl="0" marL="0" rtl="0" algn="r">
                        <a:lnSpc>
                          <a:spcPct val="115000"/>
                        </a:lnSpc>
                        <a:spcBef>
                          <a:spcPts val="0"/>
                        </a:spcBef>
                        <a:spcAft>
                          <a:spcPts val="0"/>
                        </a:spcAft>
                        <a:buNone/>
                      </a:pPr>
                      <a:r>
                        <a:rPr lang="ja" sz="1000"/>
                        <a:t>35.0%</a:t>
                      </a:r>
                      <a:endParaRPr sz="1000"/>
                    </a:p>
                  </a:txBody>
                  <a:tcPr marT="19050" marB="19050" marR="28575" marL="28575" anchor="b">
                    <a:lnT cap="flat" cmpd="sng" w="9525">
                      <a:solidFill>
                        <a:srgbClr val="000000"/>
                      </a:solidFill>
                      <a:prstDash val="solid"/>
                      <a:round/>
                      <a:headEnd len="sm" w="sm" type="none"/>
                      <a:tailEnd len="sm" w="sm" type="none"/>
                    </a:lnT>
                    <a:solidFill>
                      <a:srgbClr val="B6E2CC"/>
                    </a:solidFill>
                  </a:tcPr>
                </a:tc>
                <a:tc>
                  <a:txBody>
                    <a:bodyPr/>
                    <a:lstStyle/>
                    <a:p>
                      <a:pPr indent="0" lvl="0" marL="0" rtl="0" algn="r">
                        <a:lnSpc>
                          <a:spcPct val="115000"/>
                        </a:lnSpc>
                        <a:spcBef>
                          <a:spcPts val="0"/>
                        </a:spcBef>
                        <a:spcAft>
                          <a:spcPts val="0"/>
                        </a:spcAft>
                        <a:buNone/>
                      </a:pPr>
                      <a:r>
                        <a:rPr lang="ja" sz="1000"/>
                        <a:t>35.1%</a:t>
                      </a:r>
                      <a:endParaRPr sz="1000"/>
                    </a:p>
                  </a:txBody>
                  <a:tcPr marT="19050" marB="19050" marR="28575" marL="28575" anchor="b">
                    <a:lnT cap="flat" cmpd="sng" w="9525">
                      <a:solidFill>
                        <a:srgbClr val="000000"/>
                      </a:solidFill>
                      <a:prstDash val="solid"/>
                      <a:round/>
                      <a:headEnd len="sm" w="sm" type="none"/>
                      <a:tailEnd len="sm" w="sm" type="none"/>
                    </a:lnT>
                    <a:solidFill>
                      <a:srgbClr val="B6E2CC"/>
                    </a:solidFill>
                  </a:tcPr>
                </a:tc>
                <a:tc>
                  <a:txBody>
                    <a:bodyPr/>
                    <a:lstStyle/>
                    <a:p>
                      <a:pPr indent="0" lvl="0" marL="0" rtl="0" algn="r">
                        <a:lnSpc>
                          <a:spcPct val="115000"/>
                        </a:lnSpc>
                        <a:spcBef>
                          <a:spcPts val="0"/>
                        </a:spcBef>
                        <a:spcAft>
                          <a:spcPts val="0"/>
                        </a:spcAft>
                        <a:buNone/>
                      </a:pPr>
                      <a:r>
                        <a:rPr lang="ja" sz="1000"/>
                        <a:t>50.5%</a:t>
                      </a:r>
                      <a:endParaRPr sz="1000"/>
                    </a:p>
                  </a:txBody>
                  <a:tcPr marT="19050" marB="19050" marR="28575" marL="28575" anchor="b">
                    <a:lnT cap="flat" cmpd="sng" w="9525">
                      <a:solidFill>
                        <a:srgbClr val="000000"/>
                      </a:solidFill>
                      <a:prstDash val="solid"/>
                      <a:round/>
                      <a:headEnd len="sm" w="sm" type="none"/>
                      <a:tailEnd len="sm" w="sm" type="none"/>
                    </a:lnT>
                    <a:solidFill>
                      <a:srgbClr val="96D5B6"/>
                    </a:solidFill>
                  </a:tcPr>
                </a:tc>
              </a:tr>
              <a:tr h="200025">
                <a:tc>
                  <a:txBody>
                    <a:bodyPr/>
                    <a:lstStyle/>
                    <a:p>
                      <a:pPr indent="0" lvl="0" marL="0" rtl="0" algn="r">
                        <a:lnSpc>
                          <a:spcPct val="115000"/>
                        </a:lnSpc>
                        <a:spcBef>
                          <a:spcPts val="0"/>
                        </a:spcBef>
                        <a:spcAft>
                          <a:spcPts val="0"/>
                        </a:spcAft>
                        <a:buNone/>
                      </a:pPr>
                      <a:r>
                        <a:rPr lang="ja" sz="1000"/>
                        <a:t>2</a:t>
                      </a:r>
                      <a:endParaRPr sz="1000"/>
                    </a:p>
                  </a:txBody>
                  <a:tcPr marT="19050" marB="19050" marR="28575" marL="28575" anchor="b"/>
                </a:tc>
                <a:tc>
                  <a:txBody>
                    <a:bodyPr/>
                    <a:lstStyle/>
                    <a:p>
                      <a:pPr indent="0" lvl="0" marL="0" rtl="0" algn="r">
                        <a:lnSpc>
                          <a:spcPct val="115000"/>
                        </a:lnSpc>
                        <a:spcBef>
                          <a:spcPts val="0"/>
                        </a:spcBef>
                        <a:spcAft>
                          <a:spcPts val="0"/>
                        </a:spcAft>
                        <a:buNone/>
                      </a:pPr>
                      <a:r>
                        <a:rPr lang="ja" sz="1000"/>
                        <a:t>48.1%</a:t>
                      </a:r>
                      <a:endParaRPr sz="1000"/>
                    </a:p>
                  </a:txBody>
                  <a:tcPr marT="19050" marB="19050" marR="28575" marL="28575" anchor="b">
                    <a:solidFill>
                      <a:srgbClr val="9AD7B9"/>
                    </a:solidFill>
                  </a:tcPr>
                </a:tc>
                <a:tc>
                  <a:txBody>
                    <a:bodyPr/>
                    <a:lstStyle/>
                    <a:p>
                      <a:pPr indent="0" lvl="0" marL="0" rtl="0" algn="r">
                        <a:lnSpc>
                          <a:spcPct val="115000"/>
                        </a:lnSpc>
                        <a:spcBef>
                          <a:spcPts val="0"/>
                        </a:spcBef>
                        <a:spcAft>
                          <a:spcPts val="0"/>
                        </a:spcAft>
                        <a:buNone/>
                      </a:pPr>
                      <a:r>
                        <a:rPr lang="ja" sz="1000"/>
                        <a:t>52.6%</a:t>
                      </a:r>
                      <a:endParaRPr sz="1000"/>
                    </a:p>
                  </a:txBody>
                  <a:tcPr marT="19050" marB="19050" marR="28575" marL="28575" anchor="b">
                    <a:solidFill>
                      <a:srgbClr val="91D3B3"/>
                    </a:solidFill>
                  </a:tcPr>
                </a:tc>
                <a:tc>
                  <a:txBody>
                    <a:bodyPr/>
                    <a:lstStyle/>
                    <a:p>
                      <a:pPr indent="0" lvl="0" marL="0" rtl="0" algn="r">
                        <a:lnSpc>
                          <a:spcPct val="115000"/>
                        </a:lnSpc>
                        <a:spcBef>
                          <a:spcPts val="0"/>
                        </a:spcBef>
                        <a:spcAft>
                          <a:spcPts val="0"/>
                        </a:spcAft>
                        <a:buNone/>
                      </a:pPr>
                      <a:r>
                        <a:rPr lang="ja" sz="1000"/>
                        <a:t>58.5%</a:t>
                      </a:r>
                      <a:endParaRPr sz="1000"/>
                    </a:p>
                  </a:txBody>
                  <a:tcPr marT="19050" marB="19050" marR="28575" marL="28575" anchor="b">
                    <a:solidFill>
                      <a:srgbClr val="85CEAA"/>
                    </a:solidFill>
                  </a:tcPr>
                </a:tc>
                <a:tc>
                  <a:txBody>
                    <a:bodyPr/>
                    <a:lstStyle/>
                    <a:p>
                      <a:pPr indent="0" lvl="0" marL="0" rtl="0" algn="r">
                        <a:lnSpc>
                          <a:spcPct val="115000"/>
                        </a:lnSpc>
                        <a:spcBef>
                          <a:spcPts val="0"/>
                        </a:spcBef>
                        <a:spcAft>
                          <a:spcPts val="0"/>
                        </a:spcAft>
                        <a:buNone/>
                      </a:pPr>
                      <a:r>
                        <a:rPr lang="ja" sz="1000"/>
                        <a:t>71.8%</a:t>
                      </a:r>
                      <a:endParaRPr sz="1000"/>
                    </a:p>
                  </a:txBody>
                  <a:tcPr marT="19050" marB="19050" marR="28575" marL="28575" anchor="b">
                    <a:solidFill>
                      <a:srgbClr val="69C296"/>
                    </a:solidFill>
                  </a:tcPr>
                </a:tc>
              </a:tr>
              <a:tr h="200025">
                <a:tc>
                  <a:txBody>
                    <a:bodyPr/>
                    <a:lstStyle/>
                    <a:p>
                      <a:pPr indent="0" lvl="0" marL="0" rtl="0" algn="r">
                        <a:lnSpc>
                          <a:spcPct val="115000"/>
                        </a:lnSpc>
                        <a:spcBef>
                          <a:spcPts val="0"/>
                        </a:spcBef>
                        <a:spcAft>
                          <a:spcPts val="0"/>
                        </a:spcAft>
                        <a:buNone/>
                      </a:pPr>
                      <a:r>
                        <a:rPr lang="ja" sz="1000"/>
                        <a:t>3</a:t>
                      </a:r>
                      <a:endParaRPr sz="1000"/>
                    </a:p>
                  </a:txBody>
                  <a:tcPr marT="19050" marB="19050" marR="28575" marL="28575" anchor="b"/>
                </a:tc>
                <a:tc>
                  <a:txBody>
                    <a:bodyPr/>
                    <a:lstStyle/>
                    <a:p>
                      <a:pPr indent="0" lvl="0" marL="0" rtl="0" algn="r">
                        <a:lnSpc>
                          <a:spcPct val="115000"/>
                        </a:lnSpc>
                        <a:spcBef>
                          <a:spcPts val="0"/>
                        </a:spcBef>
                        <a:spcAft>
                          <a:spcPts val="0"/>
                        </a:spcAft>
                        <a:buNone/>
                      </a:pPr>
                      <a:r>
                        <a:rPr lang="ja" sz="1000"/>
                        <a:t>50.9%</a:t>
                      </a:r>
                      <a:endParaRPr sz="1000"/>
                    </a:p>
                  </a:txBody>
                  <a:tcPr marT="19050" marB="19050" marR="28575" marL="28575" anchor="b">
                    <a:solidFill>
                      <a:srgbClr val="95D4B5"/>
                    </a:solidFill>
                  </a:tcPr>
                </a:tc>
                <a:tc>
                  <a:txBody>
                    <a:bodyPr/>
                    <a:lstStyle/>
                    <a:p>
                      <a:pPr indent="0" lvl="0" marL="0" rtl="0" algn="r">
                        <a:lnSpc>
                          <a:spcPct val="115000"/>
                        </a:lnSpc>
                        <a:spcBef>
                          <a:spcPts val="0"/>
                        </a:spcBef>
                        <a:spcAft>
                          <a:spcPts val="0"/>
                        </a:spcAft>
                        <a:buNone/>
                      </a:pPr>
                      <a:r>
                        <a:rPr lang="ja" sz="1000"/>
                        <a:t>57.5%</a:t>
                      </a:r>
                      <a:endParaRPr sz="1000"/>
                    </a:p>
                  </a:txBody>
                  <a:tcPr marT="19050" marB="19050" marR="28575" marL="28575" anchor="b">
                    <a:solidFill>
                      <a:srgbClr val="87CFAB"/>
                    </a:solidFill>
                  </a:tcPr>
                </a:tc>
                <a:tc>
                  <a:txBody>
                    <a:bodyPr/>
                    <a:lstStyle/>
                    <a:p>
                      <a:pPr indent="0" lvl="0" marL="0" rtl="0" algn="r">
                        <a:lnSpc>
                          <a:spcPct val="115000"/>
                        </a:lnSpc>
                        <a:spcBef>
                          <a:spcPts val="0"/>
                        </a:spcBef>
                        <a:spcAft>
                          <a:spcPts val="0"/>
                        </a:spcAft>
                        <a:buNone/>
                      </a:pPr>
                      <a:r>
                        <a:rPr lang="ja" sz="1000"/>
                        <a:t>67.2%</a:t>
                      </a:r>
                      <a:endParaRPr sz="1000"/>
                    </a:p>
                  </a:txBody>
                  <a:tcPr marT="19050" marB="19050" marR="28575" marL="28575" anchor="b">
                    <a:solidFill>
                      <a:srgbClr val="72C69D"/>
                    </a:solidFill>
                  </a:tcPr>
                </a:tc>
                <a:tc>
                  <a:txBody>
                    <a:bodyPr/>
                    <a:lstStyle/>
                    <a:p>
                      <a:pPr indent="0" lvl="0" marL="0" rtl="0" algn="r">
                        <a:lnSpc>
                          <a:spcPct val="115000"/>
                        </a:lnSpc>
                        <a:spcBef>
                          <a:spcPts val="0"/>
                        </a:spcBef>
                        <a:spcAft>
                          <a:spcPts val="0"/>
                        </a:spcAft>
                        <a:buNone/>
                      </a:pPr>
                      <a:r>
                        <a:rPr lang="ja" sz="1000"/>
                        <a:t>73.3%</a:t>
                      </a:r>
                      <a:endParaRPr sz="1000"/>
                    </a:p>
                  </a:txBody>
                  <a:tcPr marT="19050" marB="19050" marR="28575" marL="28575" anchor="b">
                    <a:solidFill>
                      <a:srgbClr val="66C194"/>
                    </a:solidFill>
                  </a:tcPr>
                </a:tc>
              </a:tr>
              <a:tr h="200025">
                <a:tc>
                  <a:txBody>
                    <a:bodyPr/>
                    <a:lstStyle/>
                    <a:p>
                      <a:pPr indent="0" lvl="0" marL="0" rtl="0" algn="r">
                        <a:lnSpc>
                          <a:spcPct val="115000"/>
                        </a:lnSpc>
                        <a:spcBef>
                          <a:spcPts val="0"/>
                        </a:spcBef>
                        <a:spcAft>
                          <a:spcPts val="0"/>
                        </a:spcAft>
                        <a:buNone/>
                      </a:pPr>
                      <a:r>
                        <a:rPr lang="ja" sz="1000"/>
                        <a:t>4</a:t>
                      </a:r>
                      <a:endParaRPr sz="1000"/>
                    </a:p>
                  </a:txBody>
                  <a:tcPr marT="19050" marB="19050" marR="28575" marL="28575" anchor="b"/>
                </a:tc>
                <a:tc>
                  <a:txBody>
                    <a:bodyPr/>
                    <a:lstStyle/>
                    <a:p>
                      <a:pPr indent="0" lvl="0" marL="0" rtl="0" algn="r">
                        <a:lnSpc>
                          <a:spcPct val="115000"/>
                        </a:lnSpc>
                        <a:spcBef>
                          <a:spcPts val="0"/>
                        </a:spcBef>
                        <a:spcAft>
                          <a:spcPts val="0"/>
                        </a:spcAft>
                        <a:buNone/>
                      </a:pPr>
                      <a:r>
                        <a:rPr lang="ja" sz="1000"/>
                        <a:t>53.3%</a:t>
                      </a:r>
                      <a:endParaRPr sz="1000"/>
                    </a:p>
                  </a:txBody>
                  <a:tcPr marT="19050" marB="19050" marR="28575" marL="28575" anchor="b">
                    <a:solidFill>
                      <a:srgbClr val="90D2B2"/>
                    </a:solidFill>
                  </a:tcPr>
                </a:tc>
                <a:tc>
                  <a:txBody>
                    <a:bodyPr/>
                    <a:lstStyle/>
                    <a:p>
                      <a:pPr indent="0" lvl="0" marL="0" rtl="0" algn="r">
                        <a:lnSpc>
                          <a:spcPct val="115000"/>
                        </a:lnSpc>
                        <a:spcBef>
                          <a:spcPts val="0"/>
                        </a:spcBef>
                        <a:spcAft>
                          <a:spcPts val="0"/>
                        </a:spcAft>
                        <a:buNone/>
                      </a:pPr>
                      <a:r>
                        <a:rPr lang="ja" sz="1000"/>
                        <a:t>59.9%</a:t>
                      </a:r>
                      <a:endParaRPr sz="1000"/>
                    </a:p>
                  </a:txBody>
                  <a:tcPr marT="19050" marB="19050" marR="28575" marL="28575" anchor="b">
                    <a:solidFill>
                      <a:srgbClr val="82CDA8"/>
                    </a:solidFill>
                  </a:tcPr>
                </a:tc>
                <a:tc>
                  <a:txBody>
                    <a:bodyPr/>
                    <a:lstStyle/>
                    <a:p>
                      <a:pPr indent="0" lvl="0" marL="0" rtl="0" algn="r">
                        <a:lnSpc>
                          <a:spcPct val="115000"/>
                        </a:lnSpc>
                        <a:spcBef>
                          <a:spcPts val="0"/>
                        </a:spcBef>
                        <a:spcAft>
                          <a:spcPts val="0"/>
                        </a:spcAft>
                        <a:buNone/>
                      </a:pPr>
                      <a:r>
                        <a:rPr lang="ja" sz="1000"/>
                        <a:t>71.1%</a:t>
                      </a:r>
                      <a:endParaRPr sz="1000"/>
                    </a:p>
                  </a:txBody>
                  <a:tcPr marT="19050" marB="19050" marR="28575" marL="28575" anchor="b">
                    <a:solidFill>
                      <a:srgbClr val="6AC398"/>
                    </a:solidFill>
                  </a:tcPr>
                </a:tc>
                <a:tc>
                  <a:txBody>
                    <a:bodyPr/>
                    <a:lstStyle/>
                    <a:p>
                      <a:pPr indent="0" lvl="0" marL="0" rtl="0" algn="r">
                        <a:lnSpc>
                          <a:spcPct val="115000"/>
                        </a:lnSpc>
                        <a:spcBef>
                          <a:spcPts val="0"/>
                        </a:spcBef>
                        <a:spcAft>
                          <a:spcPts val="0"/>
                        </a:spcAft>
                        <a:buNone/>
                      </a:pPr>
                      <a:r>
                        <a:rPr lang="ja" sz="1000"/>
                        <a:t>79.0%</a:t>
                      </a:r>
                      <a:endParaRPr sz="1000"/>
                    </a:p>
                  </a:txBody>
                  <a:tcPr marT="19050" marB="19050" marR="28575" marL="28575" anchor="b">
                    <a:solidFill>
                      <a:srgbClr val="5ABC8C"/>
                    </a:solidFill>
                  </a:tcPr>
                </a:tc>
              </a:tr>
              <a:tr h="200025">
                <a:tc>
                  <a:txBody>
                    <a:bodyPr/>
                    <a:lstStyle/>
                    <a:p>
                      <a:pPr indent="0" lvl="0" marL="0" rtl="0" algn="r">
                        <a:lnSpc>
                          <a:spcPct val="115000"/>
                        </a:lnSpc>
                        <a:spcBef>
                          <a:spcPts val="0"/>
                        </a:spcBef>
                        <a:spcAft>
                          <a:spcPts val="0"/>
                        </a:spcAft>
                        <a:buNone/>
                      </a:pPr>
                      <a:r>
                        <a:rPr lang="ja" sz="1000"/>
                        <a:t>5</a:t>
                      </a:r>
                      <a:endParaRPr sz="1000"/>
                    </a:p>
                  </a:txBody>
                  <a:tcPr marT="19050" marB="19050" marR="28575" marL="28575" anchor="b"/>
                </a:tc>
                <a:tc>
                  <a:txBody>
                    <a:bodyPr/>
                    <a:lstStyle/>
                    <a:p>
                      <a:pPr indent="0" lvl="0" marL="0" rtl="0" algn="r">
                        <a:lnSpc>
                          <a:spcPct val="115000"/>
                        </a:lnSpc>
                        <a:spcBef>
                          <a:spcPts val="0"/>
                        </a:spcBef>
                        <a:spcAft>
                          <a:spcPts val="0"/>
                        </a:spcAft>
                        <a:buNone/>
                      </a:pPr>
                      <a:r>
                        <a:rPr lang="ja" sz="1000"/>
                        <a:t>50.0%</a:t>
                      </a:r>
                      <a:endParaRPr sz="1000"/>
                    </a:p>
                  </a:txBody>
                  <a:tcPr marT="19050" marB="19050" marR="28575" marL="28575" anchor="b">
                    <a:solidFill>
                      <a:srgbClr val="97D5B6"/>
                    </a:solidFill>
                  </a:tcPr>
                </a:tc>
                <a:tc>
                  <a:txBody>
                    <a:bodyPr/>
                    <a:lstStyle/>
                    <a:p>
                      <a:pPr indent="0" lvl="0" marL="0" rtl="0" algn="r">
                        <a:lnSpc>
                          <a:spcPct val="115000"/>
                        </a:lnSpc>
                        <a:spcBef>
                          <a:spcPts val="0"/>
                        </a:spcBef>
                        <a:spcAft>
                          <a:spcPts val="0"/>
                        </a:spcAft>
                        <a:buNone/>
                      </a:pPr>
                      <a:r>
                        <a:rPr lang="ja" sz="1000"/>
                        <a:t>56.6%</a:t>
                      </a:r>
                      <a:endParaRPr sz="1000"/>
                    </a:p>
                  </a:txBody>
                  <a:tcPr marT="19050" marB="19050" marR="28575" marL="28575" anchor="b">
                    <a:solidFill>
                      <a:srgbClr val="89CFAD"/>
                    </a:solidFill>
                  </a:tcPr>
                </a:tc>
                <a:tc>
                  <a:txBody>
                    <a:bodyPr/>
                    <a:lstStyle/>
                    <a:p>
                      <a:pPr indent="0" lvl="0" marL="0" rtl="0" algn="r">
                        <a:lnSpc>
                          <a:spcPct val="115000"/>
                        </a:lnSpc>
                        <a:spcBef>
                          <a:spcPts val="0"/>
                        </a:spcBef>
                        <a:spcAft>
                          <a:spcPts val="0"/>
                        </a:spcAft>
                        <a:buNone/>
                      </a:pPr>
                      <a:r>
                        <a:rPr lang="ja" sz="1000"/>
                        <a:t>65.8%</a:t>
                      </a:r>
                      <a:endParaRPr sz="1000"/>
                    </a:p>
                  </a:txBody>
                  <a:tcPr marT="19050" marB="19050" marR="28575" marL="28575" anchor="b">
                    <a:solidFill>
                      <a:srgbClr val="75C89F"/>
                    </a:solidFill>
                  </a:tcPr>
                </a:tc>
                <a:tc>
                  <a:txBody>
                    <a:bodyPr/>
                    <a:lstStyle/>
                    <a:p>
                      <a:pPr indent="0" lvl="0" marL="0" rtl="0" algn="r">
                        <a:lnSpc>
                          <a:spcPct val="115000"/>
                        </a:lnSpc>
                        <a:spcBef>
                          <a:spcPts val="0"/>
                        </a:spcBef>
                        <a:spcAft>
                          <a:spcPts val="0"/>
                        </a:spcAft>
                        <a:buNone/>
                      </a:pPr>
                      <a:r>
                        <a:rPr lang="ja" sz="1000"/>
                        <a:t>76.8%</a:t>
                      </a:r>
                      <a:endParaRPr sz="1000"/>
                    </a:p>
                  </a:txBody>
                  <a:tcPr marT="19050" marB="19050" marR="28575" marL="28575" anchor="b">
                    <a:solidFill>
                      <a:srgbClr val="5EBE8F"/>
                    </a:solidFill>
                  </a:tcPr>
                </a:tc>
              </a:tr>
              <a:tr h="200025">
                <a:tc>
                  <a:txBody>
                    <a:bodyPr/>
                    <a:lstStyle/>
                    <a:p>
                      <a:pPr indent="0" lvl="0" marL="0" rtl="0" algn="r">
                        <a:lnSpc>
                          <a:spcPct val="115000"/>
                        </a:lnSpc>
                        <a:spcBef>
                          <a:spcPts val="0"/>
                        </a:spcBef>
                        <a:spcAft>
                          <a:spcPts val="0"/>
                        </a:spcAft>
                        <a:buNone/>
                      </a:pPr>
                      <a:r>
                        <a:rPr lang="ja" sz="1000"/>
                        <a:t>6</a:t>
                      </a:r>
                      <a:endParaRPr sz="1000"/>
                    </a:p>
                  </a:txBody>
                  <a:tcPr marT="19050" marB="19050" marR="28575" marL="28575" anchor="b"/>
                </a:tc>
                <a:tc>
                  <a:txBody>
                    <a:bodyPr/>
                    <a:lstStyle/>
                    <a:p>
                      <a:pPr indent="0" lvl="0" marL="0" rtl="0" algn="r">
                        <a:lnSpc>
                          <a:spcPct val="115000"/>
                        </a:lnSpc>
                        <a:spcBef>
                          <a:spcPts val="0"/>
                        </a:spcBef>
                        <a:spcAft>
                          <a:spcPts val="0"/>
                        </a:spcAft>
                        <a:buNone/>
                      </a:pPr>
                      <a:r>
                        <a:rPr lang="ja" sz="1000"/>
                        <a:t>47.4%</a:t>
                      </a:r>
                      <a:endParaRPr sz="1000"/>
                    </a:p>
                  </a:txBody>
                  <a:tcPr marT="19050" marB="19050" marR="28575" marL="28575" anchor="b">
                    <a:solidFill>
                      <a:srgbClr val="9CD7BA"/>
                    </a:solidFill>
                  </a:tcPr>
                </a:tc>
                <a:tc>
                  <a:txBody>
                    <a:bodyPr/>
                    <a:lstStyle/>
                    <a:p>
                      <a:pPr indent="0" lvl="0" marL="0" rtl="0" algn="r">
                        <a:lnSpc>
                          <a:spcPct val="115000"/>
                        </a:lnSpc>
                        <a:spcBef>
                          <a:spcPts val="0"/>
                        </a:spcBef>
                        <a:spcAft>
                          <a:spcPts val="0"/>
                        </a:spcAft>
                        <a:buNone/>
                      </a:pPr>
                      <a:r>
                        <a:rPr lang="ja" sz="1000"/>
                        <a:t>55.3%</a:t>
                      </a:r>
                      <a:endParaRPr sz="1000"/>
                    </a:p>
                  </a:txBody>
                  <a:tcPr marT="19050" marB="19050" marR="28575" marL="28575" anchor="b">
                    <a:solidFill>
                      <a:srgbClr val="8BD1AF"/>
                    </a:solidFill>
                  </a:tcPr>
                </a:tc>
                <a:tc>
                  <a:txBody>
                    <a:bodyPr/>
                    <a:lstStyle/>
                    <a:p>
                      <a:pPr indent="0" lvl="0" marL="0" rtl="0" algn="r">
                        <a:lnSpc>
                          <a:spcPct val="115000"/>
                        </a:lnSpc>
                        <a:spcBef>
                          <a:spcPts val="0"/>
                        </a:spcBef>
                        <a:spcAft>
                          <a:spcPts val="0"/>
                        </a:spcAft>
                        <a:buNone/>
                      </a:pPr>
                      <a:r>
                        <a:rPr lang="ja" sz="1000"/>
                        <a:t>60.2%</a:t>
                      </a:r>
                      <a:endParaRPr sz="1000"/>
                    </a:p>
                  </a:txBody>
                  <a:tcPr marT="19050" marB="19050" marR="28575" marL="28575" anchor="b">
                    <a:solidFill>
                      <a:srgbClr val="81CCA7"/>
                    </a:solidFill>
                  </a:tcPr>
                </a:tc>
                <a:tc>
                  <a:txBody>
                    <a:bodyPr/>
                    <a:lstStyle/>
                    <a:p>
                      <a:pPr indent="0" lvl="0" marL="0" rtl="0" algn="r">
                        <a:lnSpc>
                          <a:spcPct val="115000"/>
                        </a:lnSpc>
                        <a:spcBef>
                          <a:spcPts val="0"/>
                        </a:spcBef>
                        <a:spcAft>
                          <a:spcPts val="0"/>
                        </a:spcAft>
                        <a:buNone/>
                      </a:pPr>
                      <a:r>
                        <a:rPr lang="ja" sz="1000"/>
                        <a:t>69.4%</a:t>
                      </a:r>
                      <a:endParaRPr sz="1000"/>
                    </a:p>
                  </a:txBody>
                  <a:tcPr marT="19050" marB="19050" marR="28575" marL="28575" anchor="b">
                    <a:solidFill>
                      <a:srgbClr val="6EC49A"/>
                    </a:solidFill>
                  </a:tcPr>
                </a:tc>
              </a:tr>
              <a:tr h="200025">
                <a:tc>
                  <a:txBody>
                    <a:bodyPr/>
                    <a:lstStyle/>
                    <a:p>
                      <a:pPr indent="0" lvl="0" marL="0" rtl="0" algn="r">
                        <a:lnSpc>
                          <a:spcPct val="115000"/>
                        </a:lnSpc>
                        <a:spcBef>
                          <a:spcPts val="0"/>
                        </a:spcBef>
                        <a:spcAft>
                          <a:spcPts val="0"/>
                        </a:spcAft>
                        <a:buNone/>
                      </a:pPr>
                      <a:r>
                        <a:rPr lang="ja" sz="1000"/>
                        <a:t>7</a:t>
                      </a:r>
                      <a:endParaRPr sz="1000"/>
                    </a:p>
                  </a:txBody>
                  <a:tcPr marT="19050" marB="19050" marR="28575" marL="28575" anchor="b"/>
                </a:tc>
                <a:tc>
                  <a:txBody>
                    <a:bodyPr/>
                    <a:lstStyle/>
                    <a:p>
                      <a:pPr indent="0" lvl="0" marL="0" rtl="0" algn="r">
                        <a:lnSpc>
                          <a:spcPct val="115000"/>
                        </a:lnSpc>
                        <a:spcBef>
                          <a:spcPts val="0"/>
                        </a:spcBef>
                        <a:spcAft>
                          <a:spcPts val="0"/>
                        </a:spcAft>
                        <a:buNone/>
                      </a:pPr>
                      <a:r>
                        <a:rPr lang="ja" sz="1000"/>
                        <a:t>46.1%</a:t>
                      </a:r>
                      <a:endParaRPr sz="1000"/>
                    </a:p>
                  </a:txBody>
                  <a:tcPr marT="19050" marB="19050" marR="28575" marL="28575" anchor="b">
                    <a:solidFill>
                      <a:srgbClr val="9FD8BC"/>
                    </a:solidFill>
                  </a:tcPr>
                </a:tc>
                <a:tc>
                  <a:txBody>
                    <a:bodyPr/>
                    <a:lstStyle/>
                    <a:p>
                      <a:pPr indent="0" lvl="0" marL="0" rtl="0" algn="r">
                        <a:lnSpc>
                          <a:spcPct val="115000"/>
                        </a:lnSpc>
                        <a:spcBef>
                          <a:spcPts val="0"/>
                        </a:spcBef>
                        <a:spcAft>
                          <a:spcPts val="0"/>
                        </a:spcAft>
                        <a:buNone/>
                      </a:pPr>
                      <a:r>
                        <a:rPr lang="ja" sz="1000"/>
                        <a:t>54.7%</a:t>
                      </a:r>
                      <a:endParaRPr sz="1000"/>
                    </a:p>
                  </a:txBody>
                  <a:tcPr marT="19050" marB="19050" marR="28575" marL="28575" anchor="b">
                    <a:solidFill>
                      <a:srgbClr val="8DD1AF"/>
                    </a:solidFill>
                  </a:tcPr>
                </a:tc>
                <a:tc>
                  <a:txBody>
                    <a:bodyPr/>
                    <a:lstStyle/>
                    <a:p>
                      <a:pPr indent="0" lvl="0" marL="0" rtl="0" algn="r">
                        <a:lnSpc>
                          <a:spcPct val="115000"/>
                        </a:lnSpc>
                        <a:spcBef>
                          <a:spcPts val="0"/>
                        </a:spcBef>
                        <a:spcAft>
                          <a:spcPts val="0"/>
                        </a:spcAft>
                        <a:buNone/>
                      </a:pPr>
                      <a:r>
                        <a:rPr lang="ja" sz="1000"/>
                        <a:t>61.9%</a:t>
                      </a:r>
                      <a:endParaRPr sz="1000"/>
                    </a:p>
                  </a:txBody>
                  <a:tcPr marT="19050" marB="19050" marR="28575" marL="28575" anchor="b">
                    <a:solidFill>
                      <a:srgbClr val="7ECBA5"/>
                    </a:solidFill>
                  </a:tcPr>
                </a:tc>
                <a:tc>
                  <a:txBody>
                    <a:bodyPr/>
                    <a:lstStyle/>
                    <a:p>
                      <a:pPr indent="0" lvl="0" marL="0" rtl="0" algn="r">
                        <a:lnSpc>
                          <a:spcPct val="115000"/>
                        </a:lnSpc>
                        <a:spcBef>
                          <a:spcPts val="0"/>
                        </a:spcBef>
                        <a:spcAft>
                          <a:spcPts val="0"/>
                        </a:spcAft>
                        <a:buNone/>
                      </a:pPr>
                      <a:r>
                        <a:rPr lang="ja" sz="1000"/>
                        <a:t>65.5%</a:t>
                      </a:r>
                      <a:endParaRPr sz="1000"/>
                    </a:p>
                  </a:txBody>
                  <a:tcPr marT="19050" marB="19050" marR="28575" marL="28575" anchor="b">
                    <a:solidFill>
                      <a:srgbClr val="76C8A0"/>
                    </a:solidFill>
                  </a:tcPr>
                </a:tc>
              </a:tr>
              <a:tr h="200025">
                <a:tc>
                  <a:txBody>
                    <a:bodyPr/>
                    <a:lstStyle/>
                    <a:p>
                      <a:pPr indent="0" lvl="0" marL="0" rtl="0" algn="r">
                        <a:lnSpc>
                          <a:spcPct val="115000"/>
                        </a:lnSpc>
                        <a:spcBef>
                          <a:spcPts val="0"/>
                        </a:spcBef>
                        <a:spcAft>
                          <a:spcPts val="0"/>
                        </a:spcAft>
                        <a:buNone/>
                      </a:pPr>
                      <a:r>
                        <a:rPr lang="ja" sz="1000"/>
                        <a:t>8</a:t>
                      </a:r>
                      <a:endParaRPr sz="1000"/>
                    </a:p>
                  </a:txBody>
                  <a:tcPr marT="19050" marB="19050" marR="28575" marL="28575" anchor="b"/>
                </a:tc>
                <a:tc>
                  <a:txBody>
                    <a:bodyPr/>
                    <a:lstStyle/>
                    <a:p>
                      <a:pPr indent="0" lvl="0" marL="0" rtl="0" algn="r">
                        <a:lnSpc>
                          <a:spcPct val="115000"/>
                        </a:lnSpc>
                        <a:spcBef>
                          <a:spcPts val="0"/>
                        </a:spcBef>
                        <a:spcAft>
                          <a:spcPts val="0"/>
                        </a:spcAft>
                        <a:buNone/>
                      </a:pPr>
                      <a:r>
                        <a:rPr lang="ja" sz="1000"/>
                        <a:t>47.1%</a:t>
                      </a:r>
                      <a:endParaRPr sz="1000"/>
                    </a:p>
                  </a:txBody>
                  <a:tcPr marT="19050" marB="19050" marR="28575" marL="28575" anchor="b">
                    <a:solidFill>
                      <a:srgbClr val="9DD7BB"/>
                    </a:solidFill>
                  </a:tcPr>
                </a:tc>
                <a:tc>
                  <a:txBody>
                    <a:bodyPr/>
                    <a:lstStyle/>
                    <a:p>
                      <a:pPr indent="0" lvl="0" marL="0" rtl="0" algn="r">
                        <a:lnSpc>
                          <a:spcPct val="115000"/>
                        </a:lnSpc>
                        <a:spcBef>
                          <a:spcPts val="0"/>
                        </a:spcBef>
                        <a:spcAft>
                          <a:spcPts val="0"/>
                        </a:spcAft>
                        <a:buNone/>
                      </a:pPr>
                      <a:r>
                        <a:rPr lang="ja" sz="1000"/>
                        <a:t>52.7%</a:t>
                      </a:r>
                      <a:endParaRPr sz="1000"/>
                    </a:p>
                  </a:txBody>
                  <a:tcPr marT="19050" marB="19050" marR="28575" marL="28575" anchor="b">
                    <a:solidFill>
                      <a:srgbClr val="91D3B2"/>
                    </a:solidFill>
                  </a:tcPr>
                </a:tc>
                <a:tc>
                  <a:txBody>
                    <a:bodyPr/>
                    <a:lstStyle/>
                    <a:p>
                      <a:pPr indent="0" lvl="0" marL="0" rtl="0" algn="r">
                        <a:lnSpc>
                          <a:spcPct val="115000"/>
                        </a:lnSpc>
                        <a:spcBef>
                          <a:spcPts val="0"/>
                        </a:spcBef>
                        <a:spcAft>
                          <a:spcPts val="0"/>
                        </a:spcAft>
                        <a:buNone/>
                      </a:pPr>
                      <a:r>
                        <a:rPr lang="ja" sz="1000"/>
                        <a:t>56.9%</a:t>
                      </a:r>
                      <a:endParaRPr sz="1000"/>
                    </a:p>
                  </a:txBody>
                  <a:tcPr marT="19050" marB="19050" marR="28575" marL="28575" anchor="b">
                    <a:solidFill>
                      <a:srgbClr val="88CFAC"/>
                    </a:solidFill>
                  </a:tcPr>
                </a:tc>
                <a:tc>
                  <a:txBody>
                    <a:bodyPr/>
                    <a:lstStyle/>
                    <a:p>
                      <a:pPr indent="0" lvl="0" marL="0" rtl="0" algn="r">
                        <a:lnSpc>
                          <a:spcPct val="115000"/>
                        </a:lnSpc>
                        <a:spcBef>
                          <a:spcPts val="0"/>
                        </a:spcBef>
                        <a:spcAft>
                          <a:spcPts val="0"/>
                        </a:spcAft>
                        <a:buNone/>
                      </a:pPr>
                      <a:r>
                        <a:rPr lang="ja" sz="1000"/>
                        <a:t>48.1%</a:t>
                      </a:r>
                      <a:endParaRPr sz="1000"/>
                    </a:p>
                  </a:txBody>
                  <a:tcPr marT="19050" marB="19050" marR="28575" marL="28575" anchor="b">
                    <a:solidFill>
                      <a:srgbClr val="9AD7B9"/>
                    </a:solidFill>
                  </a:tcPr>
                </a:tc>
              </a:tr>
              <a:tr h="200025">
                <a:tc>
                  <a:txBody>
                    <a:bodyPr/>
                    <a:lstStyle/>
                    <a:p>
                      <a:pPr indent="0" lvl="0" marL="0" rtl="0" algn="r">
                        <a:lnSpc>
                          <a:spcPct val="115000"/>
                        </a:lnSpc>
                        <a:spcBef>
                          <a:spcPts val="0"/>
                        </a:spcBef>
                        <a:spcAft>
                          <a:spcPts val="0"/>
                        </a:spcAft>
                        <a:buNone/>
                      </a:pPr>
                      <a:r>
                        <a:rPr lang="ja" sz="1000"/>
                        <a:t>9</a:t>
                      </a:r>
                      <a:endParaRPr sz="1000"/>
                    </a:p>
                  </a:txBody>
                  <a:tcPr marT="19050" marB="19050" marR="28575" marL="28575" anchor="b"/>
                </a:tc>
                <a:tc>
                  <a:txBody>
                    <a:bodyPr/>
                    <a:lstStyle/>
                    <a:p>
                      <a:pPr indent="0" lvl="0" marL="0" rtl="0" algn="r">
                        <a:lnSpc>
                          <a:spcPct val="115000"/>
                        </a:lnSpc>
                        <a:spcBef>
                          <a:spcPts val="0"/>
                        </a:spcBef>
                        <a:spcAft>
                          <a:spcPts val="0"/>
                        </a:spcAft>
                        <a:buNone/>
                      </a:pPr>
                      <a:r>
                        <a:rPr lang="ja" sz="1000"/>
                        <a:t>44.9%</a:t>
                      </a:r>
                      <a:endParaRPr sz="1000"/>
                    </a:p>
                  </a:txBody>
                  <a:tcPr marT="19050" marB="19050" marR="28575" marL="28575" anchor="b">
                    <a:solidFill>
                      <a:srgbClr val="A1D9BE"/>
                    </a:solidFill>
                  </a:tcPr>
                </a:tc>
                <a:tc>
                  <a:txBody>
                    <a:bodyPr/>
                    <a:lstStyle/>
                    <a:p>
                      <a:pPr indent="0" lvl="0" marL="0" rtl="0" algn="r">
                        <a:lnSpc>
                          <a:spcPct val="115000"/>
                        </a:lnSpc>
                        <a:spcBef>
                          <a:spcPts val="0"/>
                        </a:spcBef>
                        <a:spcAft>
                          <a:spcPts val="0"/>
                        </a:spcAft>
                        <a:buNone/>
                      </a:pPr>
                      <a:r>
                        <a:rPr lang="ja" sz="1000"/>
                        <a:t>52.7%</a:t>
                      </a:r>
                      <a:endParaRPr sz="1000"/>
                    </a:p>
                  </a:txBody>
                  <a:tcPr marT="19050" marB="19050" marR="28575" marL="28575" anchor="b">
                    <a:solidFill>
                      <a:srgbClr val="91D3B2"/>
                    </a:solidFill>
                  </a:tcPr>
                </a:tc>
                <a:tc>
                  <a:txBody>
                    <a:bodyPr/>
                    <a:lstStyle/>
                    <a:p>
                      <a:pPr indent="0" lvl="0" marL="0" rtl="0" algn="r">
                        <a:lnSpc>
                          <a:spcPct val="115000"/>
                        </a:lnSpc>
                        <a:spcBef>
                          <a:spcPts val="0"/>
                        </a:spcBef>
                        <a:spcAft>
                          <a:spcPts val="0"/>
                        </a:spcAft>
                        <a:buNone/>
                      </a:pPr>
                      <a:r>
                        <a:rPr lang="ja" sz="1000"/>
                        <a:t>63.8%</a:t>
                      </a:r>
                      <a:endParaRPr sz="1000"/>
                    </a:p>
                  </a:txBody>
                  <a:tcPr marT="19050" marB="19050" marR="28575" marL="28575" anchor="b">
                    <a:solidFill>
                      <a:srgbClr val="79C9A2"/>
                    </a:solidFill>
                  </a:tcPr>
                </a:tc>
                <a:tc>
                  <a:txBody>
                    <a:bodyPr/>
                    <a:lstStyle/>
                    <a:p>
                      <a:pPr indent="0" lvl="0" marL="0" rtl="0" algn="r">
                        <a:lnSpc>
                          <a:spcPct val="115000"/>
                        </a:lnSpc>
                        <a:spcBef>
                          <a:spcPts val="0"/>
                        </a:spcBef>
                        <a:spcAft>
                          <a:spcPts val="0"/>
                        </a:spcAft>
                        <a:buNone/>
                      </a:pPr>
                      <a:r>
                        <a:rPr lang="ja" sz="1000"/>
                        <a:t>80.0%</a:t>
                      </a:r>
                      <a:endParaRPr sz="1000"/>
                    </a:p>
                  </a:txBody>
                  <a:tcPr marT="19050" marB="19050" marR="28575" marL="28575" anchor="b">
                    <a:solidFill>
                      <a:srgbClr val="57BB8A"/>
                    </a:solidFill>
                  </a:tcPr>
                </a:tc>
              </a:tr>
            </a:tbl>
          </a:graphicData>
        </a:graphic>
      </p:graphicFrame>
      <p:sp>
        <p:nvSpPr>
          <p:cNvPr id="597" name="Google Shape;597;p45"/>
          <p:cNvSpPr/>
          <p:nvPr/>
        </p:nvSpPr>
        <p:spPr>
          <a:xfrm>
            <a:off x="4186250" y="3222950"/>
            <a:ext cx="2857500" cy="6285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98" name="Google Shape;598;p45"/>
          <p:cNvSpPr/>
          <p:nvPr/>
        </p:nvSpPr>
        <p:spPr>
          <a:xfrm>
            <a:off x="3439250" y="3851600"/>
            <a:ext cx="747000" cy="811500"/>
          </a:xfrm>
          <a:prstGeom prst="rect">
            <a:avLst/>
          </a:prstGeom>
          <a:noFill/>
          <a:ln cap="flat" cmpd="sng" w="9525">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99" name="Google Shape;599;p45"/>
          <p:cNvSpPr txBox="1"/>
          <p:nvPr/>
        </p:nvSpPr>
        <p:spPr>
          <a:xfrm>
            <a:off x="7365300" y="3375638"/>
            <a:ext cx="16875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ja" sz="900">
                <a:solidFill>
                  <a:srgbClr val="FF0000"/>
                </a:solidFill>
                <a:latin typeface="M PLUS 1p"/>
                <a:ea typeface="M PLUS 1p"/>
                <a:cs typeface="M PLUS 1p"/>
                <a:sym typeface="M PLUS 1p"/>
              </a:rPr>
              <a:t>色々な時間帯に短めに募集</a:t>
            </a:r>
            <a:endParaRPr sz="900">
              <a:solidFill>
                <a:srgbClr val="FF0000"/>
              </a:solidFill>
              <a:latin typeface="M PLUS 1p"/>
              <a:ea typeface="M PLUS 1p"/>
              <a:cs typeface="M PLUS 1p"/>
              <a:sym typeface="M PLUS 1p"/>
            </a:endParaRPr>
          </a:p>
        </p:txBody>
      </p:sp>
      <p:sp>
        <p:nvSpPr>
          <p:cNvPr id="600" name="Google Shape;600;p45"/>
          <p:cNvSpPr txBox="1"/>
          <p:nvPr/>
        </p:nvSpPr>
        <p:spPr>
          <a:xfrm>
            <a:off x="919575" y="4109450"/>
            <a:ext cx="16875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ja" sz="900">
                <a:solidFill>
                  <a:srgbClr val="1155CC"/>
                </a:solidFill>
                <a:latin typeface="M PLUS 1p"/>
                <a:ea typeface="M PLUS 1p"/>
                <a:cs typeface="M PLUS 1p"/>
                <a:sym typeface="M PLUS 1p"/>
              </a:rPr>
              <a:t>決まった時間帯に長時間募集</a:t>
            </a:r>
            <a:endParaRPr sz="900">
              <a:solidFill>
                <a:srgbClr val="1155CC"/>
              </a:solidFill>
              <a:latin typeface="M PLUS 1p"/>
              <a:ea typeface="M PLUS 1p"/>
              <a:cs typeface="M PLUS 1p"/>
              <a:sym typeface="M PLUS 1p"/>
            </a:endParaRPr>
          </a:p>
        </p:txBody>
      </p:sp>
      <p:cxnSp>
        <p:nvCxnSpPr>
          <p:cNvPr id="601" name="Google Shape;601;p45"/>
          <p:cNvCxnSpPr>
            <a:stCxn id="600" idx="3"/>
            <a:endCxn id="598" idx="1"/>
          </p:cNvCxnSpPr>
          <p:nvPr/>
        </p:nvCxnSpPr>
        <p:spPr>
          <a:xfrm flipH="1" rot="10800000">
            <a:off x="2607075" y="4257500"/>
            <a:ext cx="832200" cy="13500"/>
          </a:xfrm>
          <a:prstGeom prst="straightConnector1">
            <a:avLst/>
          </a:prstGeom>
          <a:noFill/>
          <a:ln cap="flat" cmpd="sng" w="9525">
            <a:solidFill>
              <a:srgbClr val="1155CC"/>
            </a:solidFill>
            <a:prstDash val="solid"/>
            <a:round/>
            <a:headEnd len="med" w="med" type="none"/>
            <a:tailEnd len="med" w="med" type="triangle"/>
          </a:ln>
        </p:spPr>
      </p:cxnSp>
      <p:cxnSp>
        <p:nvCxnSpPr>
          <p:cNvPr id="602" name="Google Shape;602;p45"/>
          <p:cNvCxnSpPr>
            <a:stCxn id="599" idx="1"/>
            <a:endCxn id="597" idx="3"/>
          </p:cNvCxnSpPr>
          <p:nvPr/>
        </p:nvCxnSpPr>
        <p:spPr>
          <a:xfrm rot="10800000">
            <a:off x="7043700" y="3537188"/>
            <a:ext cx="321600" cy="0"/>
          </a:xfrm>
          <a:prstGeom prst="straightConnector1">
            <a:avLst/>
          </a:prstGeom>
          <a:noFill/>
          <a:ln cap="flat" cmpd="sng" w="9525">
            <a:solidFill>
              <a:srgbClr val="FF0000"/>
            </a:solidFill>
            <a:prstDash val="solid"/>
            <a:round/>
            <a:headEnd len="med" w="med" type="none"/>
            <a:tailEnd len="med" w="med" type="triangle"/>
          </a:ln>
        </p:spPr>
      </p:cxn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06" name="Shape 606"/>
        <p:cNvGrpSpPr/>
        <p:nvPr/>
      </p:nvGrpSpPr>
      <p:grpSpPr>
        <a:xfrm>
          <a:off x="0" y="0"/>
          <a:ext cx="0" cy="0"/>
          <a:chOff x="0" y="0"/>
          <a:chExt cx="0" cy="0"/>
        </a:xfrm>
      </p:grpSpPr>
      <p:sp>
        <p:nvSpPr>
          <p:cNvPr id="607" name="Google Shape;607;p46"/>
          <p:cNvSpPr/>
          <p:nvPr/>
        </p:nvSpPr>
        <p:spPr>
          <a:xfrm>
            <a:off x="342900" y="365275"/>
            <a:ext cx="342900" cy="342900"/>
          </a:xfrm>
          <a:prstGeom prst="ellipse">
            <a:avLst/>
          </a:prstGeom>
          <a:solidFill>
            <a:srgbClr val="0B539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46"/>
          <p:cNvSpPr txBox="1"/>
          <p:nvPr/>
        </p:nvSpPr>
        <p:spPr>
          <a:xfrm>
            <a:off x="387600" y="335450"/>
            <a:ext cx="298200" cy="30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300">
                <a:solidFill>
                  <a:srgbClr val="FFFFFF"/>
                </a:solidFill>
                <a:latin typeface="Zen Kaku Gothic New"/>
                <a:ea typeface="Zen Kaku Gothic New"/>
                <a:cs typeface="Zen Kaku Gothic New"/>
                <a:sym typeface="Zen Kaku Gothic New"/>
              </a:rPr>
              <a:t>7</a:t>
            </a:r>
            <a:endParaRPr b="1" sz="1300">
              <a:solidFill>
                <a:srgbClr val="FFFFFF"/>
              </a:solidFill>
              <a:latin typeface="Zen Kaku Gothic New"/>
              <a:ea typeface="Zen Kaku Gothic New"/>
              <a:cs typeface="Zen Kaku Gothic New"/>
              <a:sym typeface="Zen Kaku Gothic New"/>
            </a:endParaRPr>
          </a:p>
        </p:txBody>
      </p:sp>
      <p:sp>
        <p:nvSpPr>
          <p:cNvPr id="609" name="Google Shape;609;p46"/>
          <p:cNvSpPr txBox="1"/>
          <p:nvPr/>
        </p:nvSpPr>
        <p:spPr>
          <a:xfrm>
            <a:off x="8136000" y="104275"/>
            <a:ext cx="916800" cy="190200"/>
          </a:xfrm>
          <a:prstGeom prst="rect">
            <a:avLst/>
          </a:prstGeom>
          <a:solidFill>
            <a:srgbClr val="DC0451"/>
          </a:solidFill>
          <a:ln>
            <a:noFill/>
          </a:ln>
        </p:spPr>
        <p:txBody>
          <a:bodyPr anchorCtr="0" anchor="t" bIns="91425" lIns="91425" spcFirstLastPara="1" rIns="91425" wrap="square" tIns="91425">
            <a:noAutofit/>
          </a:bodyPr>
          <a:lstStyle/>
          <a:p>
            <a:pPr indent="0" lvl="0" marL="0" rtl="0" algn="ctr">
              <a:lnSpc>
                <a:spcPct val="50000"/>
              </a:lnSpc>
              <a:spcBef>
                <a:spcPts val="0"/>
              </a:spcBef>
              <a:spcAft>
                <a:spcPts val="0"/>
              </a:spcAft>
              <a:buNone/>
            </a:pPr>
            <a:r>
              <a:rPr b="1" lang="ja" sz="700">
                <a:solidFill>
                  <a:srgbClr val="FFFFFF"/>
                </a:solidFill>
                <a:latin typeface="M PLUS 1p"/>
                <a:ea typeface="M PLUS 1p"/>
                <a:cs typeface="M PLUS 1p"/>
                <a:sym typeface="M PLUS 1p"/>
              </a:rPr>
              <a:t>CONFIDENTIAL</a:t>
            </a:r>
            <a:endParaRPr b="1" sz="700">
              <a:solidFill>
                <a:srgbClr val="FFFFFF"/>
              </a:solidFill>
              <a:latin typeface="M PLUS 1p"/>
              <a:ea typeface="M PLUS 1p"/>
              <a:cs typeface="M PLUS 1p"/>
              <a:sym typeface="M PLUS 1p"/>
            </a:endParaRPr>
          </a:p>
        </p:txBody>
      </p:sp>
      <p:sp>
        <p:nvSpPr>
          <p:cNvPr id="610" name="Google Shape;610;p4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611" name="Google Shape;611;p46"/>
          <p:cNvSpPr txBox="1"/>
          <p:nvPr/>
        </p:nvSpPr>
        <p:spPr>
          <a:xfrm>
            <a:off x="432300" y="890125"/>
            <a:ext cx="8620500" cy="2433600"/>
          </a:xfrm>
          <a:prstGeom prst="rect">
            <a:avLst/>
          </a:prstGeom>
          <a:noFill/>
          <a:ln>
            <a:noFill/>
          </a:ln>
        </p:spPr>
        <p:txBody>
          <a:bodyPr anchorCtr="0" anchor="t" bIns="91425" lIns="91425" spcFirstLastPara="1" rIns="91425" wrap="square" tIns="91425">
            <a:noAutofit/>
          </a:bodyPr>
          <a:lstStyle/>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利用開始から3ヶ月間の、管理画面上へのアクセスに着目</a:t>
            </a:r>
            <a:endParaRPr sz="1600">
              <a:solidFill>
                <a:srgbClr val="1F1F1F"/>
              </a:solidFill>
              <a:latin typeface="M PLUS 1p"/>
              <a:ea typeface="M PLUS 1p"/>
              <a:cs typeface="M PLUS 1p"/>
              <a:sym typeface="M PLUS 1p"/>
            </a:endParaRPr>
          </a:p>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募集作成していない</a:t>
            </a:r>
            <a:r>
              <a:rPr lang="ja" sz="1600">
                <a:solidFill>
                  <a:srgbClr val="1F1F1F"/>
                </a:solidFill>
                <a:latin typeface="M PLUS 1p"/>
                <a:ea typeface="M PLUS 1p"/>
                <a:cs typeface="M PLUS 1p"/>
                <a:sym typeface="M PLUS 1p"/>
              </a:rPr>
              <a:t>店舗</a:t>
            </a:r>
            <a:r>
              <a:rPr lang="ja" sz="1600">
                <a:solidFill>
                  <a:srgbClr val="1F1F1F"/>
                </a:solidFill>
                <a:latin typeface="M PLUS 1p"/>
                <a:ea typeface="M PLUS 1p"/>
                <a:cs typeface="M PLUS 1p"/>
                <a:sym typeface="M PLUS 1p"/>
              </a:rPr>
              <a:t>について、①管理画面に来ていない</a:t>
            </a:r>
            <a:r>
              <a:rPr lang="ja" sz="1600">
                <a:solidFill>
                  <a:srgbClr val="1F1F1F"/>
                </a:solidFill>
                <a:latin typeface="M PLUS 1p"/>
                <a:ea typeface="M PLUS 1p"/>
                <a:cs typeface="M PLUS 1p"/>
                <a:sym typeface="M PLUS 1p"/>
              </a:rPr>
              <a:t>店舗</a:t>
            </a:r>
            <a:r>
              <a:rPr lang="ja" sz="1600">
                <a:solidFill>
                  <a:srgbClr val="1F1F1F"/>
                </a:solidFill>
                <a:latin typeface="M PLUS 1p"/>
                <a:ea typeface="M PLUS 1p"/>
                <a:cs typeface="M PLUS 1p"/>
                <a:sym typeface="M PLUS 1p"/>
              </a:rPr>
              <a:t>②管理画面に来ているが募集作成していない店舗がそれぞれどのくらいいるのかを確認</a:t>
            </a:r>
            <a:endParaRPr sz="1600">
              <a:solidFill>
                <a:srgbClr val="1F1F1F"/>
              </a:solidFill>
              <a:latin typeface="M PLUS 1p"/>
              <a:ea typeface="M PLUS 1p"/>
              <a:cs typeface="M PLUS 1p"/>
              <a:sym typeface="M PLUS 1p"/>
            </a:endParaRPr>
          </a:p>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特に②の店舗に対してテックタッチでアプローチすることによって、3ヶ月連続掲載を促す余地がないかを確認</a:t>
            </a:r>
            <a:endParaRPr sz="1600">
              <a:solidFill>
                <a:srgbClr val="1F1F1F"/>
              </a:solidFill>
              <a:latin typeface="M PLUS 1p"/>
              <a:ea typeface="M PLUS 1p"/>
              <a:cs typeface="M PLUS 1p"/>
              <a:sym typeface="M PLUS 1p"/>
            </a:endParaRPr>
          </a:p>
        </p:txBody>
      </p:sp>
      <p:sp>
        <p:nvSpPr>
          <p:cNvPr id="612" name="Google Shape;612;p46"/>
          <p:cNvSpPr/>
          <p:nvPr/>
        </p:nvSpPr>
        <p:spPr>
          <a:xfrm>
            <a:off x="4598475" y="4123000"/>
            <a:ext cx="417900" cy="1878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13" name="Google Shape;613;p46"/>
          <p:cNvSpPr txBox="1"/>
          <p:nvPr/>
        </p:nvSpPr>
        <p:spPr>
          <a:xfrm>
            <a:off x="712300" y="294475"/>
            <a:ext cx="7710000" cy="48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2000">
                <a:solidFill>
                  <a:srgbClr val="1F1F1F"/>
                </a:solidFill>
                <a:latin typeface="M PLUS 1p"/>
                <a:ea typeface="M PLUS 1p"/>
                <a:cs typeface="M PLUS 1p"/>
                <a:sym typeface="M PLUS 1p"/>
              </a:rPr>
              <a:t>追加分析：管理画面上へのアクセスに着目</a:t>
            </a:r>
            <a:endParaRPr b="1" sz="1800">
              <a:solidFill>
                <a:srgbClr val="1F1F1F"/>
              </a:solidFill>
              <a:latin typeface="M PLUS 1p"/>
              <a:ea typeface="M PLUS 1p"/>
              <a:cs typeface="M PLUS 1p"/>
              <a:sym typeface="M PLUS 1p"/>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17" name="Shape 617"/>
        <p:cNvGrpSpPr/>
        <p:nvPr/>
      </p:nvGrpSpPr>
      <p:grpSpPr>
        <a:xfrm>
          <a:off x="0" y="0"/>
          <a:ext cx="0" cy="0"/>
          <a:chOff x="0" y="0"/>
          <a:chExt cx="0" cy="0"/>
        </a:xfrm>
      </p:grpSpPr>
      <p:sp>
        <p:nvSpPr>
          <p:cNvPr id="618" name="Google Shape;618;p47"/>
          <p:cNvSpPr/>
          <p:nvPr/>
        </p:nvSpPr>
        <p:spPr>
          <a:xfrm>
            <a:off x="342900" y="365275"/>
            <a:ext cx="342900" cy="342900"/>
          </a:xfrm>
          <a:prstGeom prst="ellipse">
            <a:avLst/>
          </a:prstGeom>
          <a:solidFill>
            <a:srgbClr val="0B539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p47"/>
          <p:cNvSpPr txBox="1"/>
          <p:nvPr/>
        </p:nvSpPr>
        <p:spPr>
          <a:xfrm>
            <a:off x="387600" y="335450"/>
            <a:ext cx="298200" cy="30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300">
                <a:solidFill>
                  <a:srgbClr val="FFFFFF"/>
                </a:solidFill>
                <a:latin typeface="Zen Kaku Gothic New"/>
                <a:ea typeface="Zen Kaku Gothic New"/>
                <a:cs typeface="Zen Kaku Gothic New"/>
                <a:sym typeface="Zen Kaku Gothic New"/>
              </a:rPr>
              <a:t>8</a:t>
            </a:r>
            <a:endParaRPr b="1" sz="1300">
              <a:solidFill>
                <a:srgbClr val="FFFFFF"/>
              </a:solidFill>
              <a:latin typeface="Zen Kaku Gothic New"/>
              <a:ea typeface="Zen Kaku Gothic New"/>
              <a:cs typeface="Zen Kaku Gothic New"/>
              <a:sym typeface="Zen Kaku Gothic New"/>
            </a:endParaRPr>
          </a:p>
        </p:txBody>
      </p:sp>
      <p:sp>
        <p:nvSpPr>
          <p:cNvPr id="620" name="Google Shape;620;p47"/>
          <p:cNvSpPr txBox="1"/>
          <p:nvPr/>
        </p:nvSpPr>
        <p:spPr>
          <a:xfrm>
            <a:off x="8136000" y="104275"/>
            <a:ext cx="916800" cy="190200"/>
          </a:xfrm>
          <a:prstGeom prst="rect">
            <a:avLst/>
          </a:prstGeom>
          <a:solidFill>
            <a:srgbClr val="DC0451"/>
          </a:solidFill>
          <a:ln>
            <a:noFill/>
          </a:ln>
        </p:spPr>
        <p:txBody>
          <a:bodyPr anchorCtr="0" anchor="t" bIns="91425" lIns="91425" spcFirstLastPara="1" rIns="91425" wrap="square" tIns="91425">
            <a:noAutofit/>
          </a:bodyPr>
          <a:lstStyle/>
          <a:p>
            <a:pPr indent="0" lvl="0" marL="0" rtl="0" algn="ctr">
              <a:lnSpc>
                <a:spcPct val="50000"/>
              </a:lnSpc>
              <a:spcBef>
                <a:spcPts val="0"/>
              </a:spcBef>
              <a:spcAft>
                <a:spcPts val="0"/>
              </a:spcAft>
              <a:buNone/>
            </a:pPr>
            <a:r>
              <a:rPr b="1" lang="ja" sz="700">
                <a:solidFill>
                  <a:srgbClr val="FFFFFF"/>
                </a:solidFill>
                <a:latin typeface="M PLUS 1p"/>
                <a:ea typeface="M PLUS 1p"/>
                <a:cs typeface="M PLUS 1p"/>
                <a:sym typeface="M PLUS 1p"/>
              </a:rPr>
              <a:t>CONFIDENTIAL</a:t>
            </a:r>
            <a:endParaRPr b="1" sz="700">
              <a:solidFill>
                <a:srgbClr val="FFFFFF"/>
              </a:solidFill>
              <a:latin typeface="M PLUS 1p"/>
              <a:ea typeface="M PLUS 1p"/>
              <a:cs typeface="M PLUS 1p"/>
              <a:sym typeface="M PLUS 1p"/>
            </a:endParaRPr>
          </a:p>
        </p:txBody>
      </p:sp>
      <p:sp>
        <p:nvSpPr>
          <p:cNvPr id="621" name="Google Shape;621;p4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622" name="Google Shape;622;p47"/>
          <p:cNvSpPr txBox="1"/>
          <p:nvPr/>
        </p:nvSpPr>
        <p:spPr>
          <a:xfrm>
            <a:off x="432350" y="778975"/>
            <a:ext cx="8620500" cy="1522500"/>
          </a:xfrm>
          <a:prstGeom prst="rect">
            <a:avLst/>
          </a:prstGeom>
          <a:noFill/>
          <a:ln>
            <a:noFill/>
          </a:ln>
        </p:spPr>
        <p:txBody>
          <a:bodyPr anchorCtr="0" anchor="t" bIns="91425" lIns="91425" spcFirstLastPara="1" rIns="91425" wrap="square" tIns="91425">
            <a:noAutofit/>
          </a:bodyPr>
          <a:lstStyle/>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初回募集作成から90日間ほどは、常に</a:t>
            </a:r>
            <a:r>
              <a:rPr lang="ja" sz="1600">
                <a:solidFill>
                  <a:srgbClr val="1F1F1F"/>
                </a:solidFill>
                <a:latin typeface="M PLUS 1p"/>
                <a:ea typeface="M PLUS 1p"/>
                <a:cs typeface="M PLUS 1p"/>
                <a:sym typeface="M PLUS 1p"/>
              </a:rPr>
              <a:t>全</a:t>
            </a:r>
            <a:r>
              <a:rPr lang="ja" sz="1600">
                <a:solidFill>
                  <a:srgbClr val="1F1F1F"/>
                </a:solidFill>
                <a:latin typeface="M PLUS 1p"/>
                <a:ea typeface="M PLUS 1p"/>
                <a:cs typeface="M PLUS 1p"/>
                <a:sym typeface="M PLUS 1p"/>
              </a:rPr>
              <a:t>店舗</a:t>
            </a:r>
            <a:r>
              <a:rPr lang="ja" sz="1600">
                <a:solidFill>
                  <a:srgbClr val="1F1F1F"/>
                </a:solidFill>
                <a:latin typeface="M PLUS 1p"/>
                <a:ea typeface="M PLUS 1p"/>
                <a:cs typeface="M PLUS 1p"/>
                <a:sym typeface="M PLUS 1p"/>
              </a:rPr>
              <a:t>の15-20%</a:t>
            </a:r>
            <a:r>
              <a:rPr lang="ja" sz="1600">
                <a:solidFill>
                  <a:srgbClr val="1F1F1F"/>
                </a:solidFill>
                <a:latin typeface="M PLUS 1p"/>
                <a:ea typeface="M PLUS 1p"/>
                <a:cs typeface="M PLUS 1p"/>
                <a:sym typeface="M PLUS 1p"/>
              </a:rPr>
              <a:t>くらいの割合でアクセスだけする</a:t>
            </a:r>
            <a:r>
              <a:rPr lang="ja" sz="1600">
                <a:solidFill>
                  <a:srgbClr val="1F1F1F"/>
                </a:solidFill>
                <a:latin typeface="M PLUS 1p"/>
                <a:ea typeface="M PLUS 1p"/>
                <a:cs typeface="M PLUS 1p"/>
                <a:sym typeface="M PLUS 1p"/>
              </a:rPr>
              <a:t>店舗</a:t>
            </a:r>
            <a:r>
              <a:rPr lang="ja" sz="1600">
                <a:solidFill>
                  <a:srgbClr val="1F1F1F"/>
                </a:solidFill>
                <a:latin typeface="M PLUS 1p"/>
                <a:ea typeface="M PLUS 1p"/>
                <a:cs typeface="M PLUS 1p"/>
                <a:sym typeface="M PLUS 1p"/>
              </a:rPr>
              <a:t>がいる</a:t>
            </a:r>
            <a:endParaRPr sz="1600">
              <a:solidFill>
                <a:srgbClr val="1F1F1F"/>
              </a:solidFill>
              <a:latin typeface="M PLUS 1p"/>
              <a:ea typeface="M PLUS 1p"/>
              <a:cs typeface="M PLUS 1p"/>
              <a:sym typeface="M PLUS 1p"/>
            </a:endParaRPr>
          </a:p>
          <a:p>
            <a:pPr indent="-330200" lvl="1" marL="9144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仕事開始日ではないので、管理画面にアクセスする理由は</a:t>
            </a:r>
            <a:r>
              <a:rPr lang="ja" sz="1600">
                <a:solidFill>
                  <a:srgbClr val="1F1F1F"/>
                </a:solidFill>
                <a:latin typeface="M PLUS 1p"/>
                <a:ea typeface="M PLUS 1p"/>
                <a:cs typeface="M PLUS 1p"/>
                <a:sym typeface="M PLUS 1p"/>
              </a:rPr>
              <a:t>あまり</a:t>
            </a:r>
            <a:r>
              <a:rPr lang="ja" sz="1600">
                <a:solidFill>
                  <a:srgbClr val="1F1F1F"/>
                </a:solidFill>
                <a:latin typeface="M PLUS 1p"/>
                <a:ea typeface="M PLUS 1p"/>
                <a:cs typeface="M PLUS 1p"/>
                <a:sym typeface="M PLUS 1p"/>
              </a:rPr>
              <a:t>ないはず</a:t>
            </a:r>
            <a:endParaRPr sz="1600">
              <a:solidFill>
                <a:srgbClr val="1F1F1F"/>
              </a:solidFill>
              <a:latin typeface="M PLUS 1p"/>
              <a:ea typeface="M PLUS 1p"/>
              <a:cs typeface="M PLUS 1p"/>
              <a:sym typeface="M PLUS 1p"/>
            </a:endParaRPr>
          </a:p>
          <a:p>
            <a:pPr indent="-330200" lvl="1" marL="9144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7日間（±1日）のルーティン</a:t>
            </a:r>
            <a:r>
              <a:rPr lang="ja" sz="1600">
                <a:solidFill>
                  <a:srgbClr val="1F1F1F"/>
                </a:solidFill>
                <a:latin typeface="M PLUS 1p"/>
                <a:ea typeface="M PLUS 1p"/>
                <a:cs typeface="M PLUS 1p"/>
                <a:sym typeface="M PLUS 1p"/>
              </a:rPr>
              <a:t>で</a:t>
            </a:r>
            <a:r>
              <a:rPr lang="ja" sz="1600">
                <a:solidFill>
                  <a:srgbClr val="1F1F1F"/>
                </a:solidFill>
                <a:latin typeface="M PLUS 1p"/>
                <a:ea typeface="M PLUS 1p"/>
                <a:cs typeface="M PLUS 1p"/>
                <a:sym typeface="M PLUS 1p"/>
              </a:rPr>
              <a:t>波があり、</a:t>
            </a:r>
            <a:r>
              <a:rPr lang="ja" sz="1600">
                <a:solidFill>
                  <a:srgbClr val="1F1F1F"/>
                </a:solidFill>
                <a:latin typeface="M PLUS 1p"/>
                <a:ea typeface="M PLUS 1p"/>
                <a:cs typeface="M PLUS 1p"/>
                <a:sym typeface="M PLUS 1p"/>
              </a:rPr>
              <a:t>アクセスだけする</a:t>
            </a:r>
            <a:r>
              <a:rPr lang="ja" sz="1600">
                <a:solidFill>
                  <a:srgbClr val="1F1F1F"/>
                </a:solidFill>
                <a:latin typeface="M PLUS 1p"/>
                <a:ea typeface="M PLUS 1p"/>
                <a:cs typeface="M PLUS 1p"/>
                <a:sym typeface="M PLUS 1p"/>
              </a:rPr>
              <a:t>店舗</a:t>
            </a:r>
            <a:r>
              <a:rPr lang="ja" sz="1600">
                <a:solidFill>
                  <a:srgbClr val="1F1F1F"/>
                </a:solidFill>
                <a:latin typeface="M PLUS 1p"/>
                <a:ea typeface="M PLUS 1p"/>
                <a:cs typeface="M PLUS 1p"/>
                <a:sym typeface="M PLUS 1p"/>
              </a:rPr>
              <a:t>が5%ほど増える</a:t>
            </a:r>
            <a:endParaRPr sz="1600">
              <a:solidFill>
                <a:srgbClr val="1F1F1F"/>
              </a:solidFill>
              <a:latin typeface="M PLUS 1p"/>
              <a:ea typeface="M PLUS 1p"/>
              <a:cs typeface="M PLUS 1p"/>
              <a:sym typeface="M PLUS 1p"/>
            </a:endParaRPr>
          </a:p>
          <a:p>
            <a:pPr indent="-330200" lvl="1" marL="9144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この</a:t>
            </a:r>
            <a:r>
              <a:rPr lang="ja" sz="1600">
                <a:solidFill>
                  <a:srgbClr val="1F1F1F"/>
                </a:solidFill>
                <a:latin typeface="M PLUS 1p"/>
                <a:ea typeface="M PLUS 1p"/>
                <a:cs typeface="M PLUS 1p"/>
                <a:sym typeface="M PLUS 1p"/>
              </a:rPr>
              <a:t>店舗群</a:t>
            </a:r>
            <a:r>
              <a:rPr lang="ja" sz="1600">
                <a:solidFill>
                  <a:srgbClr val="1F1F1F"/>
                </a:solidFill>
                <a:latin typeface="M PLUS 1p"/>
                <a:ea typeface="M PLUS 1p"/>
                <a:cs typeface="M PLUS 1p"/>
                <a:sym typeface="M PLUS 1p"/>
              </a:rPr>
              <a:t>にテックタッチで募集作成を促すことはできないか？</a:t>
            </a:r>
            <a:endParaRPr sz="1600">
              <a:solidFill>
                <a:srgbClr val="1F1F1F"/>
              </a:solidFill>
              <a:latin typeface="M PLUS 1p"/>
              <a:ea typeface="M PLUS 1p"/>
              <a:cs typeface="M PLUS 1p"/>
              <a:sym typeface="M PLUS 1p"/>
            </a:endParaRPr>
          </a:p>
        </p:txBody>
      </p:sp>
      <p:sp>
        <p:nvSpPr>
          <p:cNvPr id="623" name="Google Shape;623;p47"/>
          <p:cNvSpPr/>
          <p:nvPr/>
        </p:nvSpPr>
        <p:spPr>
          <a:xfrm>
            <a:off x="4612775" y="4209675"/>
            <a:ext cx="417900" cy="1878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24" name="Google Shape;624;p47"/>
          <p:cNvSpPr txBox="1"/>
          <p:nvPr/>
        </p:nvSpPr>
        <p:spPr>
          <a:xfrm>
            <a:off x="712300" y="294475"/>
            <a:ext cx="7710000" cy="48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2000">
                <a:solidFill>
                  <a:srgbClr val="1F1F1F"/>
                </a:solidFill>
                <a:latin typeface="M PLUS 1p"/>
                <a:ea typeface="M PLUS 1p"/>
                <a:cs typeface="M PLUS 1p"/>
                <a:sym typeface="M PLUS 1p"/>
              </a:rPr>
              <a:t>初回募集後、アクセスだけしている</a:t>
            </a:r>
            <a:r>
              <a:rPr b="1" lang="ja" sz="2000">
                <a:solidFill>
                  <a:srgbClr val="1F1F1F"/>
                </a:solidFill>
                <a:latin typeface="M PLUS 1p"/>
                <a:ea typeface="M PLUS 1p"/>
                <a:cs typeface="M PLUS 1p"/>
                <a:sym typeface="M PLUS 1p"/>
              </a:rPr>
              <a:t>店舗</a:t>
            </a:r>
            <a:r>
              <a:rPr b="1" lang="ja" sz="2000">
                <a:solidFill>
                  <a:srgbClr val="1F1F1F"/>
                </a:solidFill>
                <a:latin typeface="M PLUS 1p"/>
                <a:ea typeface="M PLUS 1p"/>
                <a:cs typeface="M PLUS 1p"/>
                <a:sym typeface="M PLUS 1p"/>
              </a:rPr>
              <a:t>が20%ほど存在</a:t>
            </a:r>
            <a:endParaRPr b="1" sz="1800">
              <a:solidFill>
                <a:srgbClr val="1F1F1F"/>
              </a:solidFill>
              <a:latin typeface="M PLUS 1p"/>
              <a:ea typeface="M PLUS 1p"/>
              <a:cs typeface="M PLUS 1p"/>
              <a:sym typeface="M PLUS 1p"/>
            </a:endParaRPr>
          </a:p>
        </p:txBody>
      </p:sp>
      <p:pic>
        <p:nvPicPr>
          <p:cNvPr id="625" name="Google Shape;625;p47" title="グラフ"/>
          <p:cNvPicPr preferRelativeResize="0"/>
          <p:nvPr/>
        </p:nvPicPr>
        <p:blipFill>
          <a:blip r:embed="rId3">
            <a:alphaModFix/>
          </a:blip>
          <a:stretch>
            <a:fillRect/>
          </a:stretch>
        </p:blipFill>
        <p:spPr>
          <a:xfrm>
            <a:off x="875662" y="2362625"/>
            <a:ext cx="4111674" cy="2780875"/>
          </a:xfrm>
          <a:prstGeom prst="rect">
            <a:avLst/>
          </a:prstGeom>
          <a:noFill/>
          <a:ln>
            <a:noFill/>
          </a:ln>
        </p:spPr>
      </p:pic>
      <p:sp>
        <p:nvSpPr>
          <p:cNvPr id="626" name="Google Shape;626;p47"/>
          <p:cNvSpPr txBox="1"/>
          <p:nvPr/>
        </p:nvSpPr>
        <p:spPr>
          <a:xfrm>
            <a:off x="5370388" y="3536400"/>
            <a:ext cx="3255600" cy="14523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292100" lvl="0" marL="457200" rtl="0" algn="l">
              <a:lnSpc>
                <a:spcPct val="120000"/>
              </a:lnSpc>
              <a:spcBef>
                <a:spcPts val="0"/>
              </a:spcBef>
              <a:spcAft>
                <a:spcPts val="0"/>
              </a:spcAft>
              <a:buClr>
                <a:schemeClr val="dk2"/>
              </a:buClr>
              <a:buSzPts val="1000"/>
              <a:buFont typeface="M PLUS 1p"/>
              <a:buAutoNum type="alphaUcPeriod"/>
            </a:pPr>
            <a:r>
              <a:rPr lang="ja" sz="1000">
                <a:solidFill>
                  <a:schemeClr val="dk2"/>
                </a:solidFill>
                <a:latin typeface="M PLUS 1p"/>
                <a:ea typeface="M PLUS 1p"/>
                <a:cs typeface="M PLUS 1p"/>
                <a:sym typeface="M PLUS 1p"/>
              </a:rPr>
              <a:t>募集作成：その日に募集を作成した</a:t>
            </a:r>
            <a:r>
              <a:rPr lang="ja" sz="1000">
                <a:solidFill>
                  <a:schemeClr val="dk2"/>
                </a:solidFill>
                <a:latin typeface="M PLUS 1p"/>
                <a:ea typeface="M PLUS 1p"/>
                <a:cs typeface="M PLUS 1p"/>
                <a:sym typeface="M PLUS 1p"/>
              </a:rPr>
              <a:t>店舗</a:t>
            </a:r>
            <a:endParaRPr sz="1000">
              <a:solidFill>
                <a:schemeClr val="dk2"/>
              </a:solidFill>
              <a:latin typeface="M PLUS 1p"/>
              <a:ea typeface="M PLUS 1p"/>
              <a:cs typeface="M PLUS 1p"/>
              <a:sym typeface="M PLUS 1p"/>
            </a:endParaRPr>
          </a:p>
          <a:p>
            <a:pPr indent="-292100" lvl="0" marL="457200" rtl="0" algn="l">
              <a:lnSpc>
                <a:spcPct val="120000"/>
              </a:lnSpc>
              <a:spcBef>
                <a:spcPts val="0"/>
              </a:spcBef>
              <a:spcAft>
                <a:spcPts val="0"/>
              </a:spcAft>
              <a:buClr>
                <a:schemeClr val="dk2"/>
              </a:buClr>
              <a:buSzPts val="1000"/>
              <a:buFont typeface="M PLUS 1p"/>
              <a:buAutoNum type="alphaUcPeriod"/>
            </a:pPr>
            <a:r>
              <a:rPr lang="ja" sz="1000">
                <a:solidFill>
                  <a:schemeClr val="dk2"/>
                </a:solidFill>
                <a:latin typeface="M PLUS 1p"/>
                <a:ea typeface="M PLUS 1p"/>
                <a:cs typeface="M PLUS 1p"/>
                <a:sym typeface="M PLUS 1p"/>
              </a:rPr>
              <a:t>仕事開始日かつアクセスあり：その日が仕事開始日でアクセスをした</a:t>
            </a:r>
            <a:r>
              <a:rPr lang="ja" sz="1000">
                <a:solidFill>
                  <a:schemeClr val="dk2"/>
                </a:solidFill>
                <a:latin typeface="M PLUS 1p"/>
                <a:ea typeface="M PLUS 1p"/>
                <a:cs typeface="M PLUS 1p"/>
                <a:sym typeface="M PLUS 1p"/>
              </a:rPr>
              <a:t>店舗</a:t>
            </a:r>
            <a:endParaRPr sz="1000">
              <a:solidFill>
                <a:schemeClr val="dk2"/>
              </a:solidFill>
              <a:latin typeface="M PLUS 1p"/>
              <a:ea typeface="M PLUS 1p"/>
              <a:cs typeface="M PLUS 1p"/>
              <a:sym typeface="M PLUS 1p"/>
            </a:endParaRPr>
          </a:p>
          <a:p>
            <a:pPr indent="-292100" lvl="0" marL="457200" rtl="0" algn="l">
              <a:lnSpc>
                <a:spcPct val="120000"/>
              </a:lnSpc>
              <a:spcBef>
                <a:spcPts val="0"/>
              </a:spcBef>
              <a:spcAft>
                <a:spcPts val="0"/>
              </a:spcAft>
              <a:buClr>
                <a:schemeClr val="dk2"/>
              </a:buClr>
              <a:buSzPts val="1000"/>
              <a:buFont typeface="M PLUS 1p"/>
              <a:buAutoNum type="alphaUcPeriod"/>
            </a:pPr>
            <a:r>
              <a:rPr lang="ja" sz="1000">
                <a:solidFill>
                  <a:schemeClr val="dk2"/>
                </a:solidFill>
                <a:latin typeface="M PLUS 1p"/>
                <a:ea typeface="M PLUS 1p"/>
                <a:cs typeface="M PLUS 1p"/>
                <a:sym typeface="M PLUS 1p"/>
              </a:rPr>
              <a:t>アクセスのみあり：A,B以外でその日にアクセスをした</a:t>
            </a:r>
            <a:r>
              <a:rPr lang="ja" sz="1000">
                <a:solidFill>
                  <a:schemeClr val="dk2"/>
                </a:solidFill>
                <a:latin typeface="M PLUS 1p"/>
                <a:ea typeface="M PLUS 1p"/>
                <a:cs typeface="M PLUS 1p"/>
                <a:sym typeface="M PLUS 1p"/>
              </a:rPr>
              <a:t>店舗</a:t>
            </a:r>
            <a:endParaRPr sz="1000">
              <a:solidFill>
                <a:schemeClr val="dk2"/>
              </a:solidFill>
              <a:latin typeface="M PLUS 1p"/>
              <a:ea typeface="M PLUS 1p"/>
              <a:cs typeface="M PLUS 1p"/>
              <a:sym typeface="M PLUS 1p"/>
            </a:endParaRPr>
          </a:p>
          <a:p>
            <a:pPr indent="-292100" lvl="0" marL="457200" rtl="0" algn="l">
              <a:lnSpc>
                <a:spcPct val="120000"/>
              </a:lnSpc>
              <a:spcBef>
                <a:spcPts val="0"/>
              </a:spcBef>
              <a:spcAft>
                <a:spcPts val="0"/>
              </a:spcAft>
              <a:buClr>
                <a:schemeClr val="dk2"/>
              </a:buClr>
              <a:buSzPts val="1000"/>
              <a:buFont typeface="M PLUS 1p"/>
              <a:buAutoNum type="alphaUcPeriod"/>
            </a:pPr>
            <a:r>
              <a:rPr lang="ja" sz="1000">
                <a:solidFill>
                  <a:schemeClr val="dk2"/>
                </a:solidFill>
                <a:latin typeface="M PLUS 1p"/>
                <a:ea typeface="M PLUS 1p"/>
                <a:cs typeface="M PLUS 1p"/>
                <a:sym typeface="M PLUS 1p"/>
              </a:rPr>
              <a:t>アクセスなし：その日にアクセスをしなかった</a:t>
            </a:r>
            <a:r>
              <a:rPr lang="ja" sz="1000">
                <a:solidFill>
                  <a:schemeClr val="dk2"/>
                </a:solidFill>
                <a:latin typeface="M PLUS 1p"/>
                <a:ea typeface="M PLUS 1p"/>
                <a:cs typeface="M PLUS 1p"/>
                <a:sym typeface="M PLUS 1p"/>
              </a:rPr>
              <a:t>店舗</a:t>
            </a:r>
            <a:endParaRPr sz="1000">
              <a:solidFill>
                <a:schemeClr val="dk2"/>
              </a:solidFill>
              <a:latin typeface="M PLUS 1p"/>
              <a:ea typeface="M PLUS 1p"/>
              <a:cs typeface="M PLUS 1p"/>
              <a:sym typeface="M PLUS 1p"/>
            </a:endParaRPr>
          </a:p>
        </p:txBody>
      </p:sp>
      <p:sp>
        <p:nvSpPr>
          <p:cNvPr id="627" name="Google Shape;627;p47"/>
          <p:cNvSpPr txBox="1"/>
          <p:nvPr/>
        </p:nvSpPr>
        <p:spPr>
          <a:xfrm>
            <a:off x="2849750" y="3464175"/>
            <a:ext cx="1457400" cy="305700"/>
          </a:xfrm>
          <a:prstGeom prst="rect">
            <a:avLst/>
          </a:prstGeom>
          <a:solidFill>
            <a:schemeClr val="lt1"/>
          </a:solidFill>
          <a:ln>
            <a:noFill/>
          </a:ln>
        </p:spPr>
        <p:txBody>
          <a:bodyPr anchorCtr="0" anchor="t" bIns="91425" lIns="91425" spcFirstLastPara="1" rIns="91425" wrap="square" tIns="91425">
            <a:noAutofit/>
          </a:bodyPr>
          <a:lstStyle/>
          <a:p>
            <a:pPr indent="0" lvl="0" marL="0" rtl="0" algn="ctr">
              <a:lnSpc>
                <a:spcPct val="120000"/>
              </a:lnSpc>
              <a:spcBef>
                <a:spcPts val="0"/>
              </a:spcBef>
              <a:spcAft>
                <a:spcPts val="0"/>
              </a:spcAft>
              <a:buNone/>
            </a:pPr>
            <a:r>
              <a:rPr lang="ja" sz="1000">
                <a:solidFill>
                  <a:schemeClr val="dk2"/>
                </a:solidFill>
                <a:latin typeface="M PLUS 1p"/>
                <a:ea typeface="M PLUS 1p"/>
                <a:cs typeface="M PLUS 1p"/>
                <a:sym typeface="M PLUS 1p"/>
              </a:rPr>
              <a:t>7日周期で山がある</a:t>
            </a:r>
            <a:endParaRPr sz="1000">
              <a:solidFill>
                <a:schemeClr val="dk2"/>
              </a:solidFill>
              <a:latin typeface="M PLUS 1p"/>
              <a:ea typeface="M PLUS 1p"/>
              <a:cs typeface="M PLUS 1p"/>
              <a:sym typeface="M PLUS 1p"/>
            </a:endParaRPr>
          </a:p>
        </p:txBody>
      </p:sp>
      <p:cxnSp>
        <p:nvCxnSpPr>
          <p:cNvPr id="628" name="Google Shape;628;p47"/>
          <p:cNvCxnSpPr>
            <a:stCxn id="627" idx="2"/>
          </p:cNvCxnSpPr>
          <p:nvPr/>
        </p:nvCxnSpPr>
        <p:spPr>
          <a:xfrm flipH="1">
            <a:off x="3527450" y="3769875"/>
            <a:ext cx="51000" cy="494400"/>
          </a:xfrm>
          <a:prstGeom prst="straightConnector1">
            <a:avLst/>
          </a:prstGeom>
          <a:noFill/>
          <a:ln cap="flat" cmpd="sng" w="9525">
            <a:solidFill>
              <a:schemeClr val="dk2"/>
            </a:solidFill>
            <a:prstDash val="dash"/>
            <a:round/>
            <a:headEnd len="med" w="med" type="none"/>
            <a:tailEnd len="med" w="med" type="triangle"/>
          </a:ln>
        </p:spPr>
      </p:cxnSp>
      <p:cxnSp>
        <p:nvCxnSpPr>
          <p:cNvPr id="629" name="Google Shape;629;p47"/>
          <p:cNvCxnSpPr>
            <a:stCxn id="627" idx="2"/>
          </p:cNvCxnSpPr>
          <p:nvPr/>
        </p:nvCxnSpPr>
        <p:spPr>
          <a:xfrm>
            <a:off x="3578450" y="3769875"/>
            <a:ext cx="192300" cy="489900"/>
          </a:xfrm>
          <a:prstGeom prst="straightConnector1">
            <a:avLst/>
          </a:prstGeom>
          <a:noFill/>
          <a:ln cap="flat" cmpd="sng" w="9525">
            <a:solidFill>
              <a:schemeClr val="dk2"/>
            </a:solidFill>
            <a:prstDash val="dash"/>
            <a:round/>
            <a:headEnd len="med" w="med" type="none"/>
            <a:tailEnd len="med" w="med" type="triangle"/>
          </a:ln>
        </p:spPr>
      </p:cxnSp>
      <p:cxnSp>
        <p:nvCxnSpPr>
          <p:cNvPr id="630" name="Google Shape;630;p47"/>
          <p:cNvCxnSpPr>
            <a:stCxn id="627" idx="2"/>
          </p:cNvCxnSpPr>
          <p:nvPr/>
        </p:nvCxnSpPr>
        <p:spPr>
          <a:xfrm flipH="1">
            <a:off x="3284150" y="3769875"/>
            <a:ext cx="294300" cy="454200"/>
          </a:xfrm>
          <a:prstGeom prst="straightConnector1">
            <a:avLst/>
          </a:prstGeom>
          <a:noFill/>
          <a:ln cap="flat" cmpd="sng" w="9525">
            <a:solidFill>
              <a:schemeClr val="dk2"/>
            </a:solidFill>
            <a:prstDash val="dash"/>
            <a:round/>
            <a:headEnd len="med" w="med" type="none"/>
            <a:tailEnd len="med" w="med" type="triangle"/>
          </a:ln>
        </p:spPr>
      </p:cxn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34" name="Shape 634"/>
        <p:cNvGrpSpPr/>
        <p:nvPr/>
      </p:nvGrpSpPr>
      <p:grpSpPr>
        <a:xfrm>
          <a:off x="0" y="0"/>
          <a:ext cx="0" cy="0"/>
          <a:chOff x="0" y="0"/>
          <a:chExt cx="0" cy="0"/>
        </a:xfrm>
      </p:grpSpPr>
      <p:sp>
        <p:nvSpPr>
          <p:cNvPr id="635" name="Google Shape;635;p48"/>
          <p:cNvSpPr/>
          <p:nvPr/>
        </p:nvSpPr>
        <p:spPr>
          <a:xfrm>
            <a:off x="342900" y="365275"/>
            <a:ext cx="342900" cy="342900"/>
          </a:xfrm>
          <a:prstGeom prst="ellipse">
            <a:avLst/>
          </a:prstGeom>
          <a:solidFill>
            <a:srgbClr val="0B539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48"/>
          <p:cNvSpPr txBox="1"/>
          <p:nvPr/>
        </p:nvSpPr>
        <p:spPr>
          <a:xfrm>
            <a:off x="387600" y="335450"/>
            <a:ext cx="298200" cy="30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300">
                <a:solidFill>
                  <a:srgbClr val="FFFFFF"/>
                </a:solidFill>
                <a:latin typeface="Zen Kaku Gothic New"/>
                <a:ea typeface="Zen Kaku Gothic New"/>
                <a:cs typeface="Zen Kaku Gothic New"/>
                <a:sym typeface="Zen Kaku Gothic New"/>
              </a:rPr>
              <a:t>9</a:t>
            </a:r>
            <a:endParaRPr b="1" sz="1300">
              <a:solidFill>
                <a:srgbClr val="FFFFFF"/>
              </a:solidFill>
              <a:latin typeface="Zen Kaku Gothic New"/>
              <a:ea typeface="Zen Kaku Gothic New"/>
              <a:cs typeface="Zen Kaku Gothic New"/>
              <a:sym typeface="Zen Kaku Gothic New"/>
            </a:endParaRPr>
          </a:p>
        </p:txBody>
      </p:sp>
      <p:sp>
        <p:nvSpPr>
          <p:cNvPr id="637" name="Google Shape;637;p48"/>
          <p:cNvSpPr txBox="1"/>
          <p:nvPr/>
        </p:nvSpPr>
        <p:spPr>
          <a:xfrm>
            <a:off x="8136000" y="104275"/>
            <a:ext cx="916800" cy="190200"/>
          </a:xfrm>
          <a:prstGeom prst="rect">
            <a:avLst/>
          </a:prstGeom>
          <a:solidFill>
            <a:srgbClr val="DC0451"/>
          </a:solidFill>
          <a:ln>
            <a:noFill/>
          </a:ln>
        </p:spPr>
        <p:txBody>
          <a:bodyPr anchorCtr="0" anchor="t" bIns="91425" lIns="91425" spcFirstLastPara="1" rIns="91425" wrap="square" tIns="91425">
            <a:noAutofit/>
          </a:bodyPr>
          <a:lstStyle/>
          <a:p>
            <a:pPr indent="0" lvl="0" marL="0" rtl="0" algn="ctr">
              <a:lnSpc>
                <a:spcPct val="50000"/>
              </a:lnSpc>
              <a:spcBef>
                <a:spcPts val="0"/>
              </a:spcBef>
              <a:spcAft>
                <a:spcPts val="0"/>
              </a:spcAft>
              <a:buNone/>
            </a:pPr>
            <a:r>
              <a:rPr b="1" lang="ja" sz="700">
                <a:solidFill>
                  <a:srgbClr val="FFFFFF"/>
                </a:solidFill>
                <a:latin typeface="M PLUS 1p"/>
                <a:ea typeface="M PLUS 1p"/>
                <a:cs typeface="M PLUS 1p"/>
                <a:sym typeface="M PLUS 1p"/>
              </a:rPr>
              <a:t>CONFIDENTIAL</a:t>
            </a:r>
            <a:endParaRPr b="1" sz="700">
              <a:solidFill>
                <a:srgbClr val="FFFFFF"/>
              </a:solidFill>
              <a:latin typeface="M PLUS 1p"/>
              <a:ea typeface="M PLUS 1p"/>
              <a:cs typeface="M PLUS 1p"/>
              <a:sym typeface="M PLUS 1p"/>
            </a:endParaRPr>
          </a:p>
        </p:txBody>
      </p:sp>
      <p:sp>
        <p:nvSpPr>
          <p:cNvPr id="638" name="Google Shape;638;p4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639" name="Google Shape;639;p48"/>
          <p:cNvSpPr txBox="1"/>
          <p:nvPr/>
        </p:nvSpPr>
        <p:spPr>
          <a:xfrm>
            <a:off x="432350" y="778975"/>
            <a:ext cx="3992700" cy="3884400"/>
          </a:xfrm>
          <a:prstGeom prst="rect">
            <a:avLst/>
          </a:prstGeom>
          <a:noFill/>
          <a:ln>
            <a:noFill/>
          </a:ln>
        </p:spPr>
        <p:txBody>
          <a:bodyPr anchorCtr="0" anchor="t" bIns="91425" lIns="91425" spcFirstLastPara="1" rIns="91425" wrap="square" tIns="91425">
            <a:noAutofit/>
          </a:bodyPr>
          <a:lstStyle/>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アクセスだけしている</a:t>
            </a:r>
            <a:r>
              <a:rPr lang="ja" sz="1600">
                <a:solidFill>
                  <a:srgbClr val="1F1F1F"/>
                </a:solidFill>
                <a:latin typeface="M PLUS 1p"/>
                <a:ea typeface="M PLUS 1p"/>
                <a:cs typeface="M PLUS 1p"/>
                <a:sym typeface="M PLUS 1p"/>
              </a:rPr>
              <a:t>店舗</a:t>
            </a:r>
            <a:r>
              <a:rPr lang="ja" sz="1600">
                <a:solidFill>
                  <a:srgbClr val="1F1F1F"/>
                </a:solidFill>
                <a:latin typeface="M PLUS 1p"/>
                <a:ea typeface="M PLUS 1p"/>
                <a:cs typeface="M PLUS 1p"/>
                <a:sym typeface="M PLUS 1p"/>
              </a:rPr>
              <a:t>の半分ほどは、求人一覧やひな形一覧の画面を閲覧</a:t>
            </a:r>
            <a:endParaRPr sz="1600">
              <a:solidFill>
                <a:srgbClr val="1F1F1F"/>
              </a:solidFill>
              <a:latin typeface="M PLUS 1p"/>
              <a:ea typeface="M PLUS 1p"/>
              <a:cs typeface="M PLUS 1p"/>
              <a:sym typeface="M PLUS 1p"/>
            </a:endParaRPr>
          </a:p>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求人作成画面に来ている</a:t>
            </a:r>
            <a:r>
              <a:rPr lang="ja" sz="1600">
                <a:solidFill>
                  <a:srgbClr val="1F1F1F"/>
                </a:solidFill>
                <a:latin typeface="M PLUS 1p"/>
                <a:ea typeface="M PLUS 1p"/>
                <a:cs typeface="M PLUS 1p"/>
                <a:sym typeface="M PLUS 1p"/>
              </a:rPr>
              <a:t>店舗</a:t>
            </a:r>
            <a:r>
              <a:rPr lang="ja" sz="1600">
                <a:solidFill>
                  <a:srgbClr val="1F1F1F"/>
                </a:solidFill>
                <a:latin typeface="M PLUS 1p"/>
                <a:ea typeface="M PLUS 1p"/>
                <a:cs typeface="M PLUS 1p"/>
                <a:sym typeface="M PLUS 1p"/>
              </a:rPr>
              <a:t>も20%ほど存在</a:t>
            </a:r>
            <a:endParaRPr sz="1600">
              <a:solidFill>
                <a:srgbClr val="1F1F1F"/>
              </a:solidFill>
              <a:latin typeface="M PLUS 1p"/>
              <a:ea typeface="M PLUS 1p"/>
              <a:cs typeface="M PLUS 1p"/>
              <a:sym typeface="M PLUS 1p"/>
            </a:endParaRPr>
          </a:p>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これらの</a:t>
            </a:r>
            <a:r>
              <a:rPr lang="ja" sz="1600">
                <a:solidFill>
                  <a:srgbClr val="1F1F1F"/>
                </a:solidFill>
                <a:latin typeface="M PLUS 1p"/>
                <a:ea typeface="M PLUS 1p"/>
                <a:cs typeface="M PLUS 1p"/>
                <a:sym typeface="M PLUS 1p"/>
              </a:rPr>
              <a:t>店舗</a:t>
            </a:r>
            <a:r>
              <a:rPr lang="ja" sz="1600">
                <a:solidFill>
                  <a:srgbClr val="1F1F1F"/>
                </a:solidFill>
                <a:latin typeface="M PLUS 1p"/>
                <a:ea typeface="M PLUS 1p"/>
                <a:cs typeface="M PLUS 1p"/>
                <a:sym typeface="M PLUS 1p"/>
              </a:rPr>
              <a:t>に対してテックタッチでコミュニケーションを取ることで、募集作成を後押しすることができないか</a:t>
            </a:r>
            <a:endParaRPr sz="1600">
              <a:solidFill>
                <a:srgbClr val="1F1F1F"/>
              </a:solidFill>
              <a:latin typeface="M PLUS 1p"/>
              <a:ea typeface="M PLUS 1p"/>
              <a:cs typeface="M PLUS 1p"/>
              <a:sym typeface="M PLUS 1p"/>
            </a:endParaRPr>
          </a:p>
        </p:txBody>
      </p:sp>
      <p:sp>
        <p:nvSpPr>
          <p:cNvPr id="640" name="Google Shape;640;p48"/>
          <p:cNvSpPr/>
          <p:nvPr/>
        </p:nvSpPr>
        <p:spPr>
          <a:xfrm>
            <a:off x="4598475" y="4123000"/>
            <a:ext cx="417900" cy="1878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41" name="Google Shape;641;p48"/>
          <p:cNvSpPr txBox="1"/>
          <p:nvPr/>
        </p:nvSpPr>
        <p:spPr>
          <a:xfrm>
            <a:off x="712300" y="294475"/>
            <a:ext cx="7710000" cy="48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2000">
                <a:solidFill>
                  <a:srgbClr val="1F1F1F"/>
                </a:solidFill>
                <a:latin typeface="M PLUS 1p"/>
                <a:ea typeface="M PLUS 1p"/>
                <a:cs typeface="M PLUS 1p"/>
                <a:sym typeface="M PLUS 1p"/>
              </a:rPr>
              <a:t>求人関連の画面を閲覧している</a:t>
            </a:r>
            <a:r>
              <a:rPr b="1" lang="ja" sz="2000">
                <a:solidFill>
                  <a:srgbClr val="1F1F1F"/>
                </a:solidFill>
                <a:latin typeface="M PLUS 1p"/>
                <a:ea typeface="M PLUS 1p"/>
                <a:cs typeface="M PLUS 1p"/>
                <a:sym typeface="M PLUS 1p"/>
              </a:rPr>
              <a:t>店舗</a:t>
            </a:r>
            <a:r>
              <a:rPr b="1" lang="ja" sz="2000">
                <a:solidFill>
                  <a:srgbClr val="1F1F1F"/>
                </a:solidFill>
                <a:latin typeface="M PLUS 1p"/>
                <a:ea typeface="M PLUS 1p"/>
                <a:cs typeface="M PLUS 1p"/>
                <a:sym typeface="M PLUS 1p"/>
              </a:rPr>
              <a:t>も存在している</a:t>
            </a:r>
            <a:endParaRPr b="1" sz="1800">
              <a:solidFill>
                <a:srgbClr val="1F1F1F"/>
              </a:solidFill>
              <a:latin typeface="M PLUS 1p"/>
              <a:ea typeface="M PLUS 1p"/>
              <a:cs typeface="M PLUS 1p"/>
              <a:sym typeface="M PLUS 1p"/>
            </a:endParaRPr>
          </a:p>
        </p:txBody>
      </p:sp>
      <p:pic>
        <p:nvPicPr>
          <p:cNvPr id="642" name="Google Shape;642;p48" title="グラフ"/>
          <p:cNvPicPr preferRelativeResize="0"/>
          <p:nvPr/>
        </p:nvPicPr>
        <p:blipFill>
          <a:blip r:embed="rId3">
            <a:alphaModFix/>
          </a:blip>
          <a:stretch>
            <a:fillRect/>
          </a:stretch>
        </p:blipFill>
        <p:spPr>
          <a:xfrm>
            <a:off x="5168775" y="931375"/>
            <a:ext cx="3822825" cy="3537451"/>
          </a:xfrm>
          <a:prstGeom prst="rect">
            <a:avLst/>
          </a:prstGeom>
          <a:noFill/>
          <a:ln>
            <a:noFill/>
          </a:ln>
        </p:spPr>
      </p:pic>
      <p:sp>
        <p:nvSpPr>
          <p:cNvPr id="643" name="Google Shape;643;p48"/>
          <p:cNvSpPr/>
          <p:nvPr/>
        </p:nvSpPr>
        <p:spPr>
          <a:xfrm>
            <a:off x="5411438" y="2205975"/>
            <a:ext cx="3337500" cy="1407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44" name="Google Shape;644;p48"/>
          <p:cNvSpPr/>
          <p:nvPr/>
        </p:nvSpPr>
        <p:spPr>
          <a:xfrm>
            <a:off x="5411425" y="2431050"/>
            <a:ext cx="3337500" cy="1407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45" name="Google Shape;645;p48"/>
          <p:cNvSpPr/>
          <p:nvPr/>
        </p:nvSpPr>
        <p:spPr>
          <a:xfrm>
            <a:off x="5411450" y="3356575"/>
            <a:ext cx="3337500" cy="1407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49" name="Shape 649"/>
        <p:cNvGrpSpPr/>
        <p:nvPr/>
      </p:nvGrpSpPr>
      <p:grpSpPr>
        <a:xfrm>
          <a:off x="0" y="0"/>
          <a:ext cx="0" cy="0"/>
          <a:chOff x="0" y="0"/>
          <a:chExt cx="0" cy="0"/>
        </a:xfrm>
      </p:grpSpPr>
      <p:sp>
        <p:nvSpPr>
          <p:cNvPr id="650" name="Google Shape;650;p49"/>
          <p:cNvSpPr/>
          <p:nvPr/>
        </p:nvSpPr>
        <p:spPr>
          <a:xfrm>
            <a:off x="342900" y="365275"/>
            <a:ext cx="342900" cy="342900"/>
          </a:xfrm>
          <a:prstGeom prst="ellipse">
            <a:avLst/>
          </a:prstGeom>
          <a:solidFill>
            <a:srgbClr val="0B539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49"/>
          <p:cNvSpPr txBox="1"/>
          <p:nvPr/>
        </p:nvSpPr>
        <p:spPr>
          <a:xfrm>
            <a:off x="372058" y="339925"/>
            <a:ext cx="3429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300">
                <a:solidFill>
                  <a:srgbClr val="FFFFFF"/>
                </a:solidFill>
                <a:latin typeface="Zen Kaku Gothic New"/>
                <a:ea typeface="Zen Kaku Gothic New"/>
                <a:cs typeface="Zen Kaku Gothic New"/>
                <a:sym typeface="Zen Kaku Gothic New"/>
              </a:rPr>
              <a:t>10</a:t>
            </a:r>
            <a:endParaRPr b="1" sz="1300">
              <a:solidFill>
                <a:srgbClr val="FFFFFF"/>
              </a:solidFill>
              <a:latin typeface="Zen Kaku Gothic New"/>
              <a:ea typeface="Zen Kaku Gothic New"/>
              <a:cs typeface="Zen Kaku Gothic New"/>
              <a:sym typeface="Zen Kaku Gothic New"/>
            </a:endParaRPr>
          </a:p>
        </p:txBody>
      </p:sp>
      <p:sp>
        <p:nvSpPr>
          <p:cNvPr id="652" name="Google Shape;652;p49"/>
          <p:cNvSpPr txBox="1"/>
          <p:nvPr/>
        </p:nvSpPr>
        <p:spPr>
          <a:xfrm>
            <a:off x="8136000" y="104275"/>
            <a:ext cx="916800" cy="190200"/>
          </a:xfrm>
          <a:prstGeom prst="rect">
            <a:avLst/>
          </a:prstGeom>
          <a:solidFill>
            <a:srgbClr val="DC0451"/>
          </a:solidFill>
          <a:ln>
            <a:noFill/>
          </a:ln>
        </p:spPr>
        <p:txBody>
          <a:bodyPr anchorCtr="0" anchor="t" bIns="91425" lIns="91425" spcFirstLastPara="1" rIns="91425" wrap="square" tIns="91425">
            <a:noAutofit/>
          </a:bodyPr>
          <a:lstStyle/>
          <a:p>
            <a:pPr indent="0" lvl="0" marL="0" rtl="0" algn="ctr">
              <a:lnSpc>
                <a:spcPct val="50000"/>
              </a:lnSpc>
              <a:spcBef>
                <a:spcPts val="0"/>
              </a:spcBef>
              <a:spcAft>
                <a:spcPts val="0"/>
              </a:spcAft>
              <a:buNone/>
            </a:pPr>
            <a:r>
              <a:rPr b="1" lang="ja" sz="700">
                <a:solidFill>
                  <a:srgbClr val="FFFFFF"/>
                </a:solidFill>
                <a:latin typeface="M PLUS 1p"/>
                <a:ea typeface="M PLUS 1p"/>
                <a:cs typeface="M PLUS 1p"/>
                <a:sym typeface="M PLUS 1p"/>
              </a:rPr>
              <a:t>CONFIDENTIAL</a:t>
            </a:r>
            <a:endParaRPr b="1" sz="700">
              <a:solidFill>
                <a:srgbClr val="FFFFFF"/>
              </a:solidFill>
              <a:latin typeface="M PLUS 1p"/>
              <a:ea typeface="M PLUS 1p"/>
              <a:cs typeface="M PLUS 1p"/>
              <a:sym typeface="M PLUS 1p"/>
            </a:endParaRPr>
          </a:p>
        </p:txBody>
      </p:sp>
      <p:sp>
        <p:nvSpPr>
          <p:cNvPr id="653" name="Google Shape;653;p49"/>
          <p:cNvSpPr txBox="1"/>
          <p:nvPr>
            <p:ph idx="12" type="sldNum"/>
          </p:nvPr>
        </p:nvSpPr>
        <p:spPr>
          <a:xfrm>
            <a:off x="8504108" y="468386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654" name="Google Shape;654;p49"/>
          <p:cNvSpPr/>
          <p:nvPr/>
        </p:nvSpPr>
        <p:spPr>
          <a:xfrm>
            <a:off x="4630125" y="4209675"/>
            <a:ext cx="417900" cy="1878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55" name="Google Shape;655;p49"/>
          <p:cNvSpPr txBox="1"/>
          <p:nvPr/>
        </p:nvSpPr>
        <p:spPr>
          <a:xfrm>
            <a:off x="712300" y="294475"/>
            <a:ext cx="7710000" cy="48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2000">
                <a:solidFill>
                  <a:srgbClr val="1F1F1F"/>
                </a:solidFill>
                <a:latin typeface="M PLUS 1p"/>
                <a:ea typeface="M PLUS 1p"/>
                <a:cs typeface="M PLUS 1p"/>
                <a:sym typeface="M PLUS 1p"/>
              </a:rPr>
              <a:t>Appendix:</a:t>
            </a:r>
            <a:r>
              <a:rPr b="1" lang="ja" sz="2000">
                <a:solidFill>
                  <a:srgbClr val="1F1F1F"/>
                </a:solidFill>
                <a:latin typeface="M PLUS 1p"/>
                <a:ea typeface="M PLUS 1p"/>
                <a:cs typeface="M PLUS 1p"/>
                <a:sym typeface="M PLUS 1p"/>
              </a:rPr>
              <a:t>初月稼働率・獲得ワーカー数比較</a:t>
            </a:r>
            <a:endParaRPr b="1" sz="2000">
              <a:solidFill>
                <a:srgbClr val="1F1F1F"/>
              </a:solidFill>
              <a:latin typeface="M PLUS 1p"/>
              <a:ea typeface="M PLUS 1p"/>
              <a:cs typeface="M PLUS 1p"/>
              <a:sym typeface="M PLUS 1p"/>
            </a:endParaRPr>
          </a:p>
        </p:txBody>
      </p:sp>
      <p:sp>
        <p:nvSpPr>
          <p:cNvPr id="656" name="Google Shape;656;p49"/>
          <p:cNvSpPr txBox="1"/>
          <p:nvPr/>
        </p:nvSpPr>
        <p:spPr>
          <a:xfrm>
            <a:off x="432350" y="860575"/>
            <a:ext cx="8620500" cy="648300"/>
          </a:xfrm>
          <a:prstGeom prst="rect">
            <a:avLst/>
          </a:prstGeom>
          <a:noFill/>
          <a:ln>
            <a:noFill/>
          </a:ln>
        </p:spPr>
        <p:txBody>
          <a:bodyPr anchorCtr="0" anchor="t" bIns="91425" lIns="91425" spcFirstLastPara="1" rIns="91425" wrap="square" tIns="91425">
            <a:noAutofit/>
          </a:bodyPr>
          <a:lstStyle/>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初月の稼働率・獲得ワーカー数ともに、色々な時間帯に短めに募集を掲載している</a:t>
            </a:r>
            <a:r>
              <a:rPr lang="ja" sz="1600">
                <a:solidFill>
                  <a:srgbClr val="1F1F1F"/>
                </a:solidFill>
                <a:latin typeface="M PLUS 1p"/>
                <a:ea typeface="M PLUS 1p"/>
                <a:cs typeface="M PLUS 1p"/>
                <a:sym typeface="M PLUS 1p"/>
              </a:rPr>
              <a:t>店舗</a:t>
            </a:r>
            <a:r>
              <a:rPr lang="ja" sz="1600">
                <a:solidFill>
                  <a:srgbClr val="1F1F1F"/>
                </a:solidFill>
                <a:latin typeface="M PLUS 1p"/>
                <a:ea typeface="M PLUS 1p"/>
                <a:cs typeface="M PLUS 1p"/>
                <a:sym typeface="M PLUS 1p"/>
              </a:rPr>
              <a:t>のほうが、数値が良く</a:t>
            </a:r>
            <a:r>
              <a:rPr lang="ja" sz="1600">
                <a:solidFill>
                  <a:srgbClr val="1F1F1F"/>
                </a:solidFill>
                <a:latin typeface="M PLUS 1p"/>
                <a:ea typeface="M PLUS 1p"/>
                <a:cs typeface="M PLUS 1p"/>
                <a:sym typeface="M PLUS 1p"/>
              </a:rPr>
              <a:t>店舗</a:t>
            </a:r>
            <a:r>
              <a:rPr lang="ja" sz="1600">
                <a:solidFill>
                  <a:srgbClr val="1F1F1F"/>
                </a:solidFill>
                <a:latin typeface="M PLUS 1p"/>
                <a:ea typeface="M PLUS 1p"/>
                <a:cs typeface="M PLUS 1p"/>
                <a:sym typeface="M PLUS 1p"/>
              </a:rPr>
              <a:t>にとってプラスも多そう（募集を分割することで</a:t>
            </a:r>
            <a:r>
              <a:rPr lang="ja" sz="1600">
                <a:solidFill>
                  <a:srgbClr val="1F1F1F"/>
                </a:solidFill>
                <a:latin typeface="M PLUS 1p"/>
                <a:ea typeface="M PLUS 1p"/>
                <a:cs typeface="M PLUS 1p"/>
                <a:sym typeface="M PLUS 1p"/>
              </a:rPr>
              <a:t>店舗</a:t>
            </a:r>
            <a:r>
              <a:rPr lang="ja" sz="1600">
                <a:solidFill>
                  <a:srgbClr val="1F1F1F"/>
                </a:solidFill>
                <a:latin typeface="M PLUS 1p"/>
                <a:ea typeface="M PLUS 1p"/>
                <a:cs typeface="M PLUS 1p"/>
                <a:sym typeface="M PLUS 1p"/>
              </a:rPr>
              <a:t>側は受け入れ工数がふえるなどのデメリットはある）</a:t>
            </a:r>
            <a:endParaRPr sz="1600">
              <a:solidFill>
                <a:srgbClr val="1F1F1F"/>
              </a:solidFill>
              <a:latin typeface="M PLUS 1p"/>
              <a:ea typeface="M PLUS 1p"/>
              <a:cs typeface="M PLUS 1p"/>
              <a:sym typeface="M PLUS 1p"/>
            </a:endParaRPr>
          </a:p>
        </p:txBody>
      </p:sp>
      <p:graphicFrame>
        <p:nvGraphicFramePr>
          <p:cNvPr id="657" name="Google Shape;657;p49"/>
          <p:cNvGraphicFramePr/>
          <p:nvPr/>
        </p:nvGraphicFramePr>
        <p:xfrm>
          <a:off x="675675" y="2088075"/>
          <a:ext cx="3000000" cy="3000000"/>
        </p:xfrm>
        <a:graphic>
          <a:graphicData uri="http://schemas.openxmlformats.org/drawingml/2006/table">
            <a:tbl>
              <a:tblPr>
                <a:noFill/>
                <a:tableStyleId>{717431F7-2294-48B2-AEED-F836AFECFFDB}</a:tableStyleId>
              </a:tblPr>
              <a:tblGrid>
                <a:gridCol w="748525"/>
                <a:gridCol w="748525"/>
                <a:gridCol w="748525"/>
                <a:gridCol w="748525"/>
                <a:gridCol w="748525"/>
              </a:tblGrid>
              <a:tr h="256150">
                <a:tc>
                  <a:txBody>
                    <a:bodyPr/>
                    <a:lstStyle/>
                    <a:p>
                      <a:pPr indent="0" lvl="0" marL="0" rtl="0" algn="l">
                        <a:lnSpc>
                          <a:spcPct val="115000"/>
                        </a:lnSpc>
                        <a:spcBef>
                          <a:spcPts val="0"/>
                        </a:spcBef>
                        <a:spcAft>
                          <a:spcPts val="0"/>
                        </a:spcAft>
                        <a:buNone/>
                      </a:pPr>
                      <a:r>
                        <a:rPr lang="ja" sz="800">
                          <a:latin typeface="M PLUS 1p"/>
                          <a:ea typeface="M PLUS 1p"/>
                          <a:cs typeface="M PLUS 1p"/>
                          <a:sym typeface="M PLUS 1p"/>
                        </a:rPr>
                        <a:t>初月稼働率</a:t>
                      </a:r>
                      <a:endParaRPr sz="800">
                        <a:latin typeface="M PLUS 1p"/>
                        <a:ea typeface="M PLUS 1p"/>
                        <a:cs typeface="M PLUS 1p"/>
                        <a:sym typeface="M PLUS 1p"/>
                      </a:endParaRPr>
                    </a:p>
                  </a:txBody>
                  <a:tcPr marT="19050" marB="19050" marR="28575" marL="28575" anchor="b">
                    <a:solidFill>
                      <a:srgbClr val="CFE2F3"/>
                    </a:solidFill>
                  </a:tcPr>
                </a:tc>
                <a:tc>
                  <a:txBody>
                    <a:bodyPr/>
                    <a:lstStyle/>
                    <a:p>
                      <a:pPr indent="0" lvl="0" marL="0" rtl="0" algn="l">
                        <a:lnSpc>
                          <a:spcPct val="115000"/>
                        </a:lnSpc>
                        <a:spcBef>
                          <a:spcPts val="0"/>
                        </a:spcBef>
                        <a:spcAft>
                          <a:spcPts val="0"/>
                        </a:spcAft>
                        <a:buNone/>
                      </a:pPr>
                      <a:r>
                        <a:rPr lang="ja" sz="800">
                          <a:latin typeface="M PLUS 1p"/>
                          <a:ea typeface="M PLUS 1p"/>
                          <a:cs typeface="M PLUS 1p"/>
                          <a:sym typeface="M PLUS 1p"/>
                        </a:rPr>
                        <a:t>初月_時間帯数</a:t>
                      </a:r>
                      <a:endParaRPr sz="800">
                        <a:latin typeface="M PLUS 1p"/>
                        <a:ea typeface="M PLUS 1p"/>
                        <a:cs typeface="M PLUS 1p"/>
                        <a:sym typeface="M PLUS 1p"/>
                      </a:endParaRPr>
                    </a:p>
                  </a:txBody>
                  <a:tcPr marT="19050" marB="19050" marR="28575" marL="28575" anchor="b">
                    <a:solidFill>
                      <a:srgbClr val="CFE2F3"/>
                    </a:solidFill>
                  </a:tcPr>
                </a:tc>
                <a:tc>
                  <a:txBody>
                    <a:bodyPr/>
                    <a:lstStyle/>
                    <a:p>
                      <a:pPr indent="0" lvl="0" marL="0" rtl="0" algn="l">
                        <a:spcBef>
                          <a:spcPts val="0"/>
                        </a:spcBef>
                        <a:spcAft>
                          <a:spcPts val="0"/>
                        </a:spcAft>
                        <a:buNone/>
                      </a:pPr>
                      <a:r>
                        <a:t/>
                      </a:r>
                      <a:endParaRPr sz="1200">
                        <a:latin typeface="M PLUS 1p"/>
                        <a:ea typeface="M PLUS 1p"/>
                        <a:cs typeface="M PLUS 1p"/>
                        <a:sym typeface="M PLUS 1p"/>
                      </a:endParaRPr>
                    </a:p>
                  </a:txBody>
                  <a:tcPr marT="19050" marB="19050" marR="28575" marL="28575" anchor="b">
                    <a:solidFill>
                      <a:srgbClr val="CFE2F3"/>
                    </a:solidFill>
                  </a:tcPr>
                </a:tc>
                <a:tc>
                  <a:txBody>
                    <a:bodyPr/>
                    <a:lstStyle/>
                    <a:p>
                      <a:pPr indent="0" lvl="0" marL="0" rtl="0" algn="l">
                        <a:spcBef>
                          <a:spcPts val="0"/>
                        </a:spcBef>
                        <a:spcAft>
                          <a:spcPts val="0"/>
                        </a:spcAft>
                        <a:buNone/>
                      </a:pPr>
                      <a:r>
                        <a:t/>
                      </a:r>
                      <a:endParaRPr sz="1200">
                        <a:latin typeface="M PLUS 1p"/>
                        <a:ea typeface="M PLUS 1p"/>
                        <a:cs typeface="M PLUS 1p"/>
                        <a:sym typeface="M PLUS 1p"/>
                      </a:endParaRPr>
                    </a:p>
                  </a:txBody>
                  <a:tcPr marT="19050" marB="19050" marR="28575" marL="28575" anchor="b">
                    <a:solidFill>
                      <a:srgbClr val="CFE2F3"/>
                    </a:solidFill>
                  </a:tcPr>
                </a:tc>
                <a:tc>
                  <a:txBody>
                    <a:bodyPr/>
                    <a:lstStyle/>
                    <a:p>
                      <a:pPr indent="0" lvl="0" marL="0" rtl="0" algn="l">
                        <a:spcBef>
                          <a:spcPts val="0"/>
                        </a:spcBef>
                        <a:spcAft>
                          <a:spcPts val="0"/>
                        </a:spcAft>
                        <a:buNone/>
                      </a:pPr>
                      <a:r>
                        <a:t/>
                      </a:r>
                      <a:endParaRPr sz="1200">
                        <a:latin typeface="M PLUS 1p"/>
                        <a:ea typeface="M PLUS 1p"/>
                        <a:cs typeface="M PLUS 1p"/>
                        <a:sym typeface="M PLUS 1p"/>
                      </a:endParaRPr>
                    </a:p>
                  </a:txBody>
                  <a:tcPr marT="19050" marB="19050" marR="28575" marL="28575" anchor="b">
                    <a:solidFill>
                      <a:srgbClr val="CFE2F3"/>
                    </a:solidFill>
                  </a:tcPr>
                </a:tc>
              </a:tr>
              <a:tr h="314200">
                <a:tc>
                  <a:txBody>
                    <a:bodyPr/>
                    <a:lstStyle/>
                    <a:p>
                      <a:pPr indent="0" lvl="0" marL="0" rtl="0" algn="l">
                        <a:lnSpc>
                          <a:spcPct val="115000"/>
                        </a:lnSpc>
                        <a:spcBef>
                          <a:spcPts val="0"/>
                        </a:spcBef>
                        <a:spcAft>
                          <a:spcPts val="0"/>
                        </a:spcAft>
                        <a:buNone/>
                      </a:pPr>
                      <a:r>
                        <a:rPr lang="ja" sz="800">
                          <a:latin typeface="M PLUS 1p"/>
                          <a:ea typeface="M PLUS 1p"/>
                          <a:cs typeface="M PLUS 1p"/>
                          <a:sym typeface="M PLUS 1p"/>
                        </a:rPr>
                        <a:t>初月_稼働時間</a:t>
                      </a:r>
                      <a:endParaRPr sz="800">
                        <a:latin typeface="M PLUS 1p"/>
                        <a:ea typeface="M PLUS 1p"/>
                        <a:cs typeface="M PLUS 1p"/>
                        <a:sym typeface="M PLUS 1p"/>
                      </a:endParaRPr>
                    </a:p>
                  </a:txBody>
                  <a:tcPr marT="19050" marB="19050" marR="28575" marL="28575" anchor="b">
                    <a:lnB cap="flat" cmpd="sng" w="9525">
                      <a:solidFill>
                        <a:srgbClr val="000000"/>
                      </a:solidFill>
                      <a:prstDash val="solid"/>
                      <a:round/>
                      <a:headEnd len="sm" w="sm" type="none"/>
                      <a:tailEnd len="sm" w="sm" type="none"/>
                    </a:lnB>
                    <a:solidFill>
                      <a:srgbClr val="CFE2F3"/>
                    </a:solidFill>
                  </a:tcPr>
                </a:tc>
                <a:tc>
                  <a:txBody>
                    <a:bodyPr/>
                    <a:lstStyle/>
                    <a:p>
                      <a:pPr indent="0" lvl="0" marL="0" rtl="0" algn="r">
                        <a:lnSpc>
                          <a:spcPct val="115000"/>
                        </a:lnSpc>
                        <a:spcBef>
                          <a:spcPts val="0"/>
                        </a:spcBef>
                        <a:spcAft>
                          <a:spcPts val="0"/>
                        </a:spcAft>
                        <a:buNone/>
                      </a:pPr>
                      <a:r>
                        <a:rPr lang="ja" sz="800">
                          <a:latin typeface="M PLUS 1p"/>
                          <a:ea typeface="M PLUS 1p"/>
                          <a:cs typeface="M PLUS 1p"/>
                          <a:sym typeface="M PLUS 1p"/>
                        </a:rPr>
                        <a:t>1</a:t>
                      </a:r>
                      <a:endParaRPr sz="800">
                        <a:latin typeface="M PLUS 1p"/>
                        <a:ea typeface="M PLUS 1p"/>
                        <a:cs typeface="M PLUS 1p"/>
                        <a:sym typeface="M PLUS 1p"/>
                      </a:endParaRPr>
                    </a:p>
                  </a:txBody>
                  <a:tcPr marT="19050" marB="19050" marR="28575" marL="28575" anchor="b">
                    <a:lnB cap="flat" cmpd="sng" w="9525">
                      <a:solidFill>
                        <a:srgbClr val="000000"/>
                      </a:solidFill>
                      <a:prstDash val="solid"/>
                      <a:round/>
                      <a:headEnd len="sm" w="sm" type="none"/>
                      <a:tailEnd len="sm" w="sm" type="none"/>
                    </a:lnB>
                    <a:solidFill>
                      <a:srgbClr val="CFE2F3"/>
                    </a:solidFill>
                  </a:tcPr>
                </a:tc>
                <a:tc>
                  <a:txBody>
                    <a:bodyPr/>
                    <a:lstStyle/>
                    <a:p>
                      <a:pPr indent="0" lvl="0" marL="0" rtl="0" algn="r">
                        <a:lnSpc>
                          <a:spcPct val="115000"/>
                        </a:lnSpc>
                        <a:spcBef>
                          <a:spcPts val="0"/>
                        </a:spcBef>
                        <a:spcAft>
                          <a:spcPts val="0"/>
                        </a:spcAft>
                        <a:buNone/>
                      </a:pPr>
                      <a:r>
                        <a:rPr lang="ja" sz="800">
                          <a:latin typeface="M PLUS 1p"/>
                          <a:ea typeface="M PLUS 1p"/>
                          <a:cs typeface="M PLUS 1p"/>
                          <a:sym typeface="M PLUS 1p"/>
                        </a:rPr>
                        <a:t>2</a:t>
                      </a:r>
                      <a:endParaRPr sz="800">
                        <a:latin typeface="M PLUS 1p"/>
                        <a:ea typeface="M PLUS 1p"/>
                        <a:cs typeface="M PLUS 1p"/>
                        <a:sym typeface="M PLUS 1p"/>
                      </a:endParaRPr>
                    </a:p>
                  </a:txBody>
                  <a:tcPr marT="19050" marB="19050" marR="28575" marL="28575" anchor="b">
                    <a:lnB cap="flat" cmpd="sng" w="9525">
                      <a:solidFill>
                        <a:srgbClr val="000000"/>
                      </a:solidFill>
                      <a:prstDash val="solid"/>
                      <a:round/>
                      <a:headEnd len="sm" w="sm" type="none"/>
                      <a:tailEnd len="sm" w="sm" type="none"/>
                    </a:lnB>
                    <a:solidFill>
                      <a:srgbClr val="CFE2F3"/>
                    </a:solidFill>
                  </a:tcPr>
                </a:tc>
                <a:tc>
                  <a:txBody>
                    <a:bodyPr/>
                    <a:lstStyle/>
                    <a:p>
                      <a:pPr indent="0" lvl="0" marL="0" rtl="0" algn="r">
                        <a:lnSpc>
                          <a:spcPct val="115000"/>
                        </a:lnSpc>
                        <a:spcBef>
                          <a:spcPts val="0"/>
                        </a:spcBef>
                        <a:spcAft>
                          <a:spcPts val="0"/>
                        </a:spcAft>
                        <a:buNone/>
                      </a:pPr>
                      <a:r>
                        <a:rPr lang="ja" sz="800">
                          <a:latin typeface="M PLUS 1p"/>
                          <a:ea typeface="M PLUS 1p"/>
                          <a:cs typeface="M PLUS 1p"/>
                          <a:sym typeface="M PLUS 1p"/>
                        </a:rPr>
                        <a:t>3</a:t>
                      </a:r>
                      <a:endParaRPr sz="800">
                        <a:latin typeface="M PLUS 1p"/>
                        <a:ea typeface="M PLUS 1p"/>
                        <a:cs typeface="M PLUS 1p"/>
                        <a:sym typeface="M PLUS 1p"/>
                      </a:endParaRPr>
                    </a:p>
                  </a:txBody>
                  <a:tcPr marT="19050" marB="19050" marR="28575" marL="28575" anchor="b">
                    <a:lnB cap="flat" cmpd="sng" w="9525">
                      <a:solidFill>
                        <a:srgbClr val="000000"/>
                      </a:solidFill>
                      <a:prstDash val="solid"/>
                      <a:round/>
                      <a:headEnd len="sm" w="sm" type="none"/>
                      <a:tailEnd len="sm" w="sm" type="none"/>
                    </a:lnB>
                    <a:solidFill>
                      <a:srgbClr val="CFE2F3"/>
                    </a:solidFill>
                  </a:tcPr>
                </a:tc>
                <a:tc>
                  <a:txBody>
                    <a:bodyPr/>
                    <a:lstStyle/>
                    <a:p>
                      <a:pPr indent="0" lvl="0" marL="0" rtl="0" algn="r">
                        <a:lnSpc>
                          <a:spcPct val="115000"/>
                        </a:lnSpc>
                        <a:spcBef>
                          <a:spcPts val="0"/>
                        </a:spcBef>
                        <a:spcAft>
                          <a:spcPts val="0"/>
                        </a:spcAft>
                        <a:buNone/>
                      </a:pPr>
                      <a:r>
                        <a:rPr lang="ja" sz="800">
                          <a:latin typeface="M PLUS 1p"/>
                          <a:ea typeface="M PLUS 1p"/>
                          <a:cs typeface="M PLUS 1p"/>
                          <a:sym typeface="M PLUS 1p"/>
                        </a:rPr>
                        <a:t>4</a:t>
                      </a:r>
                      <a:endParaRPr sz="800">
                        <a:latin typeface="M PLUS 1p"/>
                        <a:ea typeface="M PLUS 1p"/>
                        <a:cs typeface="M PLUS 1p"/>
                        <a:sym typeface="M PLUS 1p"/>
                      </a:endParaRPr>
                    </a:p>
                  </a:txBody>
                  <a:tcPr marT="19050" marB="19050" marR="28575" marL="28575" anchor="b">
                    <a:lnB cap="flat" cmpd="sng" w="9525">
                      <a:solidFill>
                        <a:srgbClr val="000000"/>
                      </a:solidFill>
                      <a:prstDash val="solid"/>
                      <a:round/>
                      <a:headEnd len="sm" w="sm" type="none"/>
                      <a:tailEnd len="sm" w="sm" type="none"/>
                    </a:lnB>
                    <a:solidFill>
                      <a:srgbClr val="CFE2F3"/>
                    </a:solidFill>
                  </a:tcPr>
                </a:tc>
              </a:tr>
              <a:tr h="237700">
                <a:tc>
                  <a:txBody>
                    <a:bodyPr/>
                    <a:lstStyle/>
                    <a:p>
                      <a:pPr indent="0" lvl="0" marL="0" rtl="0" algn="r">
                        <a:lnSpc>
                          <a:spcPct val="115000"/>
                        </a:lnSpc>
                        <a:spcBef>
                          <a:spcPts val="0"/>
                        </a:spcBef>
                        <a:spcAft>
                          <a:spcPts val="0"/>
                        </a:spcAft>
                        <a:buNone/>
                      </a:pPr>
                      <a:r>
                        <a:rPr lang="ja" sz="800">
                          <a:latin typeface="M PLUS 1p"/>
                          <a:ea typeface="M PLUS 1p"/>
                          <a:cs typeface="M PLUS 1p"/>
                          <a:sym typeface="M PLUS 1p"/>
                        </a:rPr>
                        <a:t>1</a:t>
                      </a:r>
                      <a:endParaRPr sz="800">
                        <a:latin typeface="M PLUS 1p"/>
                        <a:ea typeface="M PLUS 1p"/>
                        <a:cs typeface="M PLUS 1p"/>
                        <a:sym typeface="M PLUS 1p"/>
                      </a:endParaRPr>
                    </a:p>
                  </a:txBody>
                  <a:tcPr marT="19050" marB="19050" marR="28575" marL="28575" anchor="b">
                    <a:lnT cap="flat" cmpd="sng" w="9525">
                      <a:solidFill>
                        <a:srgbClr val="000000"/>
                      </a:solidFill>
                      <a:prstDash val="solid"/>
                      <a:round/>
                      <a:headEnd len="sm" w="sm" type="none"/>
                      <a:tailEnd len="sm" w="sm" type="none"/>
                    </a:lnT>
                  </a:tcPr>
                </a:tc>
                <a:tc>
                  <a:txBody>
                    <a:bodyPr/>
                    <a:lstStyle/>
                    <a:p>
                      <a:pPr indent="0" lvl="0" marL="0" rtl="0" algn="l">
                        <a:spcBef>
                          <a:spcPts val="0"/>
                        </a:spcBef>
                        <a:spcAft>
                          <a:spcPts val="0"/>
                        </a:spcAft>
                        <a:buNone/>
                      </a:pPr>
                      <a:r>
                        <a:t/>
                      </a:r>
                      <a:endParaRPr sz="1200">
                        <a:latin typeface="M PLUS 1p"/>
                        <a:ea typeface="M PLUS 1p"/>
                        <a:cs typeface="M PLUS 1p"/>
                        <a:sym typeface="M PLUS 1p"/>
                      </a:endParaRPr>
                    </a:p>
                  </a:txBody>
                  <a:tcPr marT="19050" marB="19050" marR="28575" marL="28575" anchor="b">
                    <a:lnT cap="flat" cmpd="sng" w="9525">
                      <a:solidFill>
                        <a:srgbClr val="000000"/>
                      </a:solidFill>
                      <a:prstDash val="solid"/>
                      <a:round/>
                      <a:headEnd len="sm" w="sm" type="none"/>
                      <a:tailEnd len="sm" w="sm" type="none"/>
                    </a:lnT>
                  </a:tcPr>
                </a:tc>
                <a:tc>
                  <a:txBody>
                    <a:bodyPr/>
                    <a:lstStyle/>
                    <a:p>
                      <a:pPr indent="0" lvl="0" marL="0" rtl="0" algn="l">
                        <a:spcBef>
                          <a:spcPts val="0"/>
                        </a:spcBef>
                        <a:spcAft>
                          <a:spcPts val="0"/>
                        </a:spcAft>
                        <a:buNone/>
                      </a:pPr>
                      <a:r>
                        <a:t/>
                      </a:r>
                      <a:endParaRPr sz="1200">
                        <a:latin typeface="M PLUS 1p"/>
                        <a:ea typeface="M PLUS 1p"/>
                        <a:cs typeface="M PLUS 1p"/>
                        <a:sym typeface="M PLUS 1p"/>
                      </a:endParaRPr>
                    </a:p>
                  </a:txBody>
                  <a:tcPr marT="19050" marB="19050" marR="28575" marL="28575" anchor="b">
                    <a:lnT cap="flat" cmpd="sng" w="9525">
                      <a:solidFill>
                        <a:srgbClr val="000000"/>
                      </a:solidFill>
                      <a:prstDash val="solid"/>
                      <a:round/>
                      <a:headEnd len="sm" w="sm" type="none"/>
                      <a:tailEnd len="sm" w="sm" type="none"/>
                    </a:lnT>
                  </a:tcPr>
                </a:tc>
                <a:tc>
                  <a:txBody>
                    <a:bodyPr/>
                    <a:lstStyle/>
                    <a:p>
                      <a:pPr indent="0" lvl="0" marL="0" rtl="0" algn="l">
                        <a:spcBef>
                          <a:spcPts val="0"/>
                        </a:spcBef>
                        <a:spcAft>
                          <a:spcPts val="0"/>
                        </a:spcAft>
                        <a:buNone/>
                      </a:pPr>
                      <a:r>
                        <a:t/>
                      </a:r>
                      <a:endParaRPr sz="1200">
                        <a:latin typeface="M PLUS 1p"/>
                        <a:ea typeface="M PLUS 1p"/>
                        <a:cs typeface="M PLUS 1p"/>
                        <a:sym typeface="M PLUS 1p"/>
                      </a:endParaRPr>
                    </a:p>
                  </a:txBody>
                  <a:tcPr marT="19050" marB="19050" marR="28575" marL="28575" anchor="b">
                    <a:lnT cap="flat" cmpd="sng" w="9525">
                      <a:solidFill>
                        <a:srgbClr val="000000"/>
                      </a:solidFill>
                      <a:prstDash val="solid"/>
                      <a:round/>
                      <a:headEnd len="sm" w="sm" type="none"/>
                      <a:tailEnd len="sm" w="sm" type="none"/>
                    </a:lnT>
                  </a:tcPr>
                </a:tc>
                <a:tc>
                  <a:txBody>
                    <a:bodyPr/>
                    <a:lstStyle/>
                    <a:p>
                      <a:pPr indent="0" lvl="0" marL="0" rtl="0" algn="l">
                        <a:spcBef>
                          <a:spcPts val="0"/>
                        </a:spcBef>
                        <a:spcAft>
                          <a:spcPts val="0"/>
                        </a:spcAft>
                        <a:buNone/>
                      </a:pPr>
                      <a:r>
                        <a:t/>
                      </a:r>
                      <a:endParaRPr sz="1200">
                        <a:latin typeface="M PLUS 1p"/>
                        <a:ea typeface="M PLUS 1p"/>
                        <a:cs typeface="M PLUS 1p"/>
                        <a:sym typeface="M PLUS 1p"/>
                      </a:endParaRPr>
                    </a:p>
                  </a:txBody>
                  <a:tcPr marT="19050" marB="19050" marR="28575" marL="28575" anchor="b">
                    <a:lnT cap="flat" cmpd="sng" w="9525">
                      <a:solidFill>
                        <a:srgbClr val="000000"/>
                      </a:solidFill>
                      <a:prstDash val="solid"/>
                      <a:round/>
                      <a:headEnd len="sm" w="sm" type="none"/>
                      <a:tailEnd len="sm" w="sm" type="none"/>
                    </a:lnT>
                  </a:tcPr>
                </a:tc>
              </a:tr>
              <a:tr h="237700">
                <a:tc>
                  <a:txBody>
                    <a:bodyPr/>
                    <a:lstStyle/>
                    <a:p>
                      <a:pPr indent="0" lvl="0" marL="0" rtl="0" algn="r">
                        <a:lnSpc>
                          <a:spcPct val="115000"/>
                        </a:lnSpc>
                        <a:spcBef>
                          <a:spcPts val="0"/>
                        </a:spcBef>
                        <a:spcAft>
                          <a:spcPts val="0"/>
                        </a:spcAft>
                        <a:buNone/>
                      </a:pPr>
                      <a:r>
                        <a:rPr lang="ja" sz="800">
                          <a:latin typeface="M PLUS 1p"/>
                          <a:ea typeface="M PLUS 1p"/>
                          <a:cs typeface="M PLUS 1p"/>
                          <a:sym typeface="M PLUS 1p"/>
                        </a:rPr>
                        <a:t>2</a:t>
                      </a:r>
                      <a:endParaRPr sz="800">
                        <a:latin typeface="M PLUS 1p"/>
                        <a:ea typeface="M PLUS 1p"/>
                        <a:cs typeface="M PLUS 1p"/>
                        <a:sym typeface="M PLUS 1p"/>
                      </a:endParaRPr>
                    </a:p>
                  </a:txBody>
                  <a:tcPr marT="19050" marB="19050" marR="28575" marL="28575" anchor="b"/>
                </a:tc>
                <a:tc>
                  <a:txBody>
                    <a:bodyPr/>
                    <a:lstStyle/>
                    <a:p>
                      <a:pPr indent="0" lvl="0" marL="0" rtl="0" algn="l">
                        <a:spcBef>
                          <a:spcPts val="0"/>
                        </a:spcBef>
                        <a:spcAft>
                          <a:spcPts val="0"/>
                        </a:spcAft>
                        <a:buNone/>
                      </a:pPr>
                      <a:r>
                        <a:t/>
                      </a:r>
                      <a:endParaRPr sz="1200">
                        <a:latin typeface="M PLUS 1p"/>
                        <a:ea typeface="M PLUS 1p"/>
                        <a:cs typeface="M PLUS 1p"/>
                        <a:sym typeface="M PLUS 1p"/>
                      </a:endParaRPr>
                    </a:p>
                  </a:txBody>
                  <a:tcPr marT="19050" marB="19050" marR="28575" marL="28575" anchor="b"/>
                </a:tc>
                <a:tc>
                  <a:txBody>
                    <a:bodyPr/>
                    <a:lstStyle/>
                    <a:p>
                      <a:pPr indent="0" lvl="0" marL="0" rtl="0" algn="l">
                        <a:spcBef>
                          <a:spcPts val="0"/>
                        </a:spcBef>
                        <a:spcAft>
                          <a:spcPts val="0"/>
                        </a:spcAft>
                        <a:buNone/>
                      </a:pPr>
                      <a:r>
                        <a:t/>
                      </a:r>
                      <a:endParaRPr sz="1200">
                        <a:latin typeface="M PLUS 1p"/>
                        <a:ea typeface="M PLUS 1p"/>
                        <a:cs typeface="M PLUS 1p"/>
                        <a:sym typeface="M PLUS 1p"/>
                      </a:endParaRPr>
                    </a:p>
                  </a:txBody>
                  <a:tcPr marT="19050" marB="19050" marR="28575" marL="28575" anchor="b"/>
                </a:tc>
                <a:tc>
                  <a:txBody>
                    <a:bodyPr/>
                    <a:lstStyle/>
                    <a:p>
                      <a:pPr indent="0" lvl="0" marL="0" rtl="0" algn="l">
                        <a:spcBef>
                          <a:spcPts val="0"/>
                        </a:spcBef>
                        <a:spcAft>
                          <a:spcPts val="0"/>
                        </a:spcAft>
                        <a:buNone/>
                      </a:pPr>
                      <a:r>
                        <a:t/>
                      </a:r>
                      <a:endParaRPr sz="1200">
                        <a:latin typeface="M PLUS 1p"/>
                        <a:ea typeface="M PLUS 1p"/>
                        <a:cs typeface="M PLUS 1p"/>
                        <a:sym typeface="M PLUS 1p"/>
                      </a:endParaRPr>
                    </a:p>
                  </a:txBody>
                  <a:tcPr marT="19050" marB="19050" marR="28575" marL="28575" anchor="b"/>
                </a:tc>
                <a:tc>
                  <a:txBody>
                    <a:bodyPr/>
                    <a:lstStyle/>
                    <a:p>
                      <a:pPr indent="0" lvl="0" marL="0" rtl="0" algn="l">
                        <a:spcBef>
                          <a:spcPts val="0"/>
                        </a:spcBef>
                        <a:spcAft>
                          <a:spcPts val="0"/>
                        </a:spcAft>
                        <a:buNone/>
                      </a:pPr>
                      <a:r>
                        <a:t/>
                      </a:r>
                      <a:endParaRPr sz="1200">
                        <a:latin typeface="M PLUS 1p"/>
                        <a:ea typeface="M PLUS 1p"/>
                        <a:cs typeface="M PLUS 1p"/>
                        <a:sym typeface="M PLUS 1p"/>
                      </a:endParaRPr>
                    </a:p>
                  </a:txBody>
                  <a:tcPr marT="19050" marB="19050" marR="28575" marL="28575" anchor="b"/>
                </a:tc>
              </a:tr>
              <a:tr h="237700">
                <a:tc>
                  <a:txBody>
                    <a:bodyPr/>
                    <a:lstStyle/>
                    <a:p>
                      <a:pPr indent="0" lvl="0" marL="0" rtl="0" algn="r">
                        <a:lnSpc>
                          <a:spcPct val="115000"/>
                        </a:lnSpc>
                        <a:spcBef>
                          <a:spcPts val="0"/>
                        </a:spcBef>
                        <a:spcAft>
                          <a:spcPts val="0"/>
                        </a:spcAft>
                        <a:buNone/>
                      </a:pPr>
                      <a:r>
                        <a:rPr lang="ja" sz="800">
                          <a:latin typeface="M PLUS 1p"/>
                          <a:ea typeface="M PLUS 1p"/>
                          <a:cs typeface="M PLUS 1p"/>
                          <a:sym typeface="M PLUS 1p"/>
                        </a:rPr>
                        <a:t>3</a:t>
                      </a:r>
                      <a:endParaRPr sz="800">
                        <a:latin typeface="M PLUS 1p"/>
                        <a:ea typeface="M PLUS 1p"/>
                        <a:cs typeface="M PLUS 1p"/>
                        <a:sym typeface="M PLUS 1p"/>
                      </a:endParaRPr>
                    </a:p>
                  </a:txBody>
                  <a:tcPr marT="19050" marB="19050" marR="28575" marL="28575" anchor="b"/>
                </a:tc>
                <a:tc>
                  <a:txBody>
                    <a:bodyPr/>
                    <a:lstStyle/>
                    <a:p>
                      <a:pPr indent="0" lvl="0" marL="0" rtl="0" algn="l">
                        <a:spcBef>
                          <a:spcPts val="0"/>
                        </a:spcBef>
                        <a:spcAft>
                          <a:spcPts val="0"/>
                        </a:spcAft>
                        <a:buNone/>
                      </a:pPr>
                      <a:r>
                        <a:t/>
                      </a:r>
                      <a:endParaRPr sz="1200">
                        <a:latin typeface="M PLUS 1p"/>
                        <a:ea typeface="M PLUS 1p"/>
                        <a:cs typeface="M PLUS 1p"/>
                        <a:sym typeface="M PLUS 1p"/>
                      </a:endParaRPr>
                    </a:p>
                  </a:txBody>
                  <a:tcPr marT="19050" marB="19050" marR="28575" marL="28575" anchor="b"/>
                </a:tc>
                <a:tc gridSpan="3" rowSpan="3">
                  <a:txBody>
                    <a:bodyPr/>
                    <a:lstStyle/>
                    <a:p>
                      <a:pPr indent="0" lvl="0" marL="0" rtl="0" algn="ctr">
                        <a:lnSpc>
                          <a:spcPct val="115000"/>
                        </a:lnSpc>
                        <a:spcBef>
                          <a:spcPts val="0"/>
                        </a:spcBef>
                        <a:spcAft>
                          <a:spcPts val="0"/>
                        </a:spcAft>
                        <a:buNone/>
                      </a:pPr>
                      <a:r>
                        <a:rPr lang="ja" sz="1300">
                          <a:latin typeface="M PLUS 1p"/>
                          <a:ea typeface="M PLUS 1p"/>
                          <a:cs typeface="M PLUS 1p"/>
                          <a:sym typeface="M PLUS 1p"/>
                        </a:rPr>
                        <a:t>83.4%</a:t>
                      </a:r>
                      <a:endParaRPr sz="1300">
                        <a:latin typeface="M PLUS 1p"/>
                        <a:ea typeface="M PLUS 1p"/>
                        <a:cs typeface="M PLUS 1p"/>
                        <a:sym typeface="M PLUS 1p"/>
                      </a:endParaRPr>
                    </a:p>
                  </a:txBody>
                  <a:tcPr marT="19050" marB="19050" marR="28575" marL="28575" anchor="ctr">
                    <a:solidFill>
                      <a:srgbClr val="FCE5CD"/>
                    </a:solidFill>
                  </a:tcPr>
                </a:tc>
                <a:tc rowSpan="3" hMerge="1"/>
                <a:tc rowSpan="3" hMerge="1"/>
              </a:tr>
              <a:tr h="237700">
                <a:tc>
                  <a:txBody>
                    <a:bodyPr/>
                    <a:lstStyle/>
                    <a:p>
                      <a:pPr indent="0" lvl="0" marL="0" rtl="0" algn="r">
                        <a:lnSpc>
                          <a:spcPct val="115000"/>
                        </a:lnSpc>
                        <a:spcBef>
                          <a:spcPts val="0"/>
                        </a:spcBef>
                        <a:spcAft>
                          <a:spcPts val="0"/>
                        </a:spcAft>
                        <a:buNone/>
                      </a:pPr>
                      <a:r>
                        <a:rPr lang="ja" sz="800">
                          <a:latin typeface="M PLUS 1p"/>
                          <a:ea typeface="M PLUS 1p"/>
                          <a:cs typeface="M PLUS 1p"/>
                          <a:sym typeface="M PLUS 1p"/>
                        </a:rPr>
                        <a:t>4</a:t>
                      </a:r>
                      <a:endParaRPr sz="800">
                        <a:latin typeface="M PLUS 1p"/>
                        <a:ea typeface="M PLUS 1p"/>
                        <a:cs typeface="M PLUS 1p"/>
                        <a:sym typeface="M PLUS 1p"/>
                      </a:endParaRPr>
                    </a:p>
                  </a:txBody>
                  <a:tcPr marT="19050" marB="19050" marR="28575" marL="28575" anchor="b"/>
                </a:tc>
                <a:tc>
                  <a:txBody>
                    <a:bodyPr/>
                    <a:lstStyle/>
                    <a:p>
                      <a:pPr indent="0" lvl="0" marL="0" rtl="0" algn="l">
                        <a:spcBef>
                          <a:spcPts val="0"/>
                        </a:spcBef>
                        <a:spcAft>
                          <a:spcPts val="0"/>
                        </a:spcAft>
                        <a:buNone/>
                      </a:pPr>
                      <a:r>
                        <a:t/>
                      </a:r>
                      <a:endParaRPr sz="1200">
                        <a:latin typeface="M PLUS 1p"/>
                        <a:ea typeface="M PLUS 1p"/>
                        <a:cs typeface="M PLUS 1p"/>
                        <a:sym typeface="M PLUS 1p"/>
                      </a:endParaRPr>
                    </a:p>
                  </a:txBody>
                  <a:tcPr marT="19050" marB="19050" marR="28575" marL="28575" anchor="b"/>
                </a:tc>
                <a:tc gridSpan="3" vMerge="1"/>
                <a:tc hMerge="1" vMerge="1"/>
                <a:tc hMerge="1" vMerge="1"/>
              </a:tr>
              <a:tr h="237700">
                <a:tc>
                  <a:txBody>
                    <a:bodyPr/>
                    <a:lstStyle/>
                    <a:p>
                      <a:pPr indent="0" lvl="0" marL="0" rtl="0" algn="r">
                        <a:lnSpc>
                          <a:spcPct val="115000"/>
                        </a:lnSpc>
                        <a:spcBef>
                          <a:spcPts val="0"/>
                        </a:spcBef>
                        <a:spcAft>
                          <a:spcPts val="0"/>
                        </a:spcAft>
                        <a:buNone/>
                      </a:pPr>
                      <a:r>
                        <a:rPr lang="ja" sz="800">
                          <a:latin typeface="M PLUS 1p"/>
                          <a:ea typeface="M PLUS 1p"/>
                          <a:cs typeface="M PLUS 1p"/>
                          <a:sym typeface="M PLUS 1p"/>
                        </a:rPr>
                        <a:t>5</a:t>
                      </a:r>
                      <a:endParaRPr sz="800">
                        <a:latin typeface="M PLUS 1p"/>
                        <a:ea typeface="M PLUS 1p"/>
                        <a:cs typeface="M PLUS 1p"/>
                        <a:sym typeface="M PLUS 1p"/>
                      </a:endParaRPr>
                    </a:p>
                  </a:txBody>
                  <a:tcPr marT="19050" marB="19050" marR="28575" marL="28575" anchor="b"/>
                </a:tc>
                <a:tc>
                  <a:txBody>
                    <a:bodyPr/>
                    <a:lstStyle/>
                    <a:p>
                      <a:pPr indent="0" lvl="0" marL="0" rtl="0" algn="l">
                        <a:spcBef>
                          <a:spcPts val="0"/>
                        </a:spcBef>
                        <a:spcAft>
                          <a:spcPts val="0"/>
                        </a:spcAft>
                        <a:buNone/>
                      </a:pPr>
                      <a:r>
                        <a:t/>
                      </a:r>
                      <a:endParaRPr sz="1200">
                        <a:latin typeface="M PLUS 1p"/>
                        <a:ea typeface="M PLUS 1p"/>
                        <a:cs typeface="M PLUS 1p"/>
                        <a:sym typeface="M PLUS 1p"/>
                      </a:endParaRPr>
                    </a:p>
                  </a:txBody>
                  <a:tcPr marT="19050" marB="19050" marR="28575" marL="28575" anchor="b"/>
                </a:tc>
                <a:tc gridSpan="3" vMerge="1"/>
                <a:tc hMerge="1" vMerge="1"/>
                <a:tc hMerge="1" vMerge="1"/>
              </a:tr>
              <a:tr h="237700">
                <a:tc>
                  <a:txBody>
                    <a:bodyPr/>
                    <a:lstStyle/>
                    <a:p>
                      <a:pPr indent="0" lvl="0" marL="0" rtl="0" algn="r">
                        <a:lnSpc>
                          <a:spcPct val="115000"/>
                        </a:lnSpc>
                        <a:spcBef>
                          <a:spcPts val="0"/>
                        </a:spcBef>
                        <a:spcAft>
                          <a:spcPts val="0"/>
                        </a:spcAft>
                        <a:buNone/>
                      </a:pPr>
                      <a:r>
                        <a:rPr lang="ja" sz="800">
                          <a:latin typeface="M PLUS 1p"/>
                          <a:ea typeface="M PLUS 1p"/>
                          <a:cs typeface="M PLUS 1p"/>
                          <a:sym typeface="M PLUS 1p"/>
                        </a:rPr>
                        <a:t>6</a:t>
                      </a:r>
                      <a:endParaRPr sz="800">
                        <a:latin typeface="M PLUS 1p"/>
                        <a:ea typeface="M PLUS 1p"/>
                        <a:cs typeface="M PLUS 1p"/>
                        <a:sym typeface="M PLUS 1p"/>
                      </a:endParaRPr>
                    </a:p>
                  </a:txBody>
                  <a:tcPr marT="19050" marB="19050" marR="28575" marL="28575" anchor="b"/>
                </a:tc>
                <a:tc rowSpan="4">
                  <a:txBody>
                    <a:bodyPr/>
                    <a:lstStyle/>
                    <a:p>
                      <a:pPr indent="0" lvl="0" marL="0" rtl="0" algn="ctr">
                        <a:lnSpc>
                          <a:spcPct val="115000"/>
                        </a:lnSpc>
                        <a:spcBef>
                          <a:spcPts val="0"/>
                        </a:spcBef>
                        <a:spcAft>
                          <a:spcPts val="0"/>
                        </a:spcAft>
                        <a:buNone/>
                      </a:pPr>
                      <a:r>
                        <a:rPr lang="ja" sz="1300">
                          <a:latin typeface="M PLUS 1p"/>
                          <a:ea typeface="M PLUS 1p"/>
                          <a:cs typeface="M PLUS 1p"/>
                          <a:sym typeface="M PLUS 1p"/>
                        </a:rPr>
                        <a:t>79.6%</a:t>
                      </a:r>
                      <a:endParaRPr sz="1300">
                        <a:latin typeface="M PLUS 1p"/>
                        <a:ea typeface="M PLUS 1p"/>
                        <a:cs typeface="M PLUS 1p"/>
                        <a:sym typeface="M PLUS 1p"/>
                      </a:endParaRPr>
                    </a:p>
                  </a:txBody>
                  <a:tcPr marT="19050" marB="19050" marR="28575" marL="28575" anchor="ctr">
                    <a:solidFill>
                      <a:srgbClr val="FCE5CD"/>
                    </a:solidFill>
                  </a:tcPr>
                </a:tc>
                <a:tc>
                  <a:txBody>
                    <a:bodyPr/>
                    <a:lstStyle/>
                    <a:p>
                      <a:pPr indent="0" lvl="0" marL="0" rtl="0" algn="l">
                        <a:spcBef>
                          <a:spcPts val="0"/>
                        </a:spcBef>
                        <a:spcAft>
                          <a:spcPts val="0"/>
                        </a:spcAft>
                        <a:buNone/>
                      </a:pPr>
                      <a:r>
                        <a:t/>
                      </a:r>
                      <a:endParaRPr sz="1200">
                        <a:latin typeface="M PLUS 1p"/>
                        <a:ea typeface="M PLUS 1p"/>
                        <a:cs typeface="M PLUS 1p"/>
                        <a:sym typeface="M PLUS 1p"/>
                      </a:endParaRPr>
                    </a:p>
                  </a:txBody>
                  <a:tcPr marT="19050" marB="19050" marR="28575" marL="28575" anchor="b"/>
                </a:tc>
                <a:tc>
                  <a:txBody>
                    <a:bodyPr/>
                    <a:lstStyle/>
                    <a:p>
                      <a:pPr indent="0" lvl="0" marL="0" rtl="0" algn="l">
                        <a:spcBef>
                          <a:spcPts val="0"/>
                        </a:spcBef>
                        <a:spcAft>
                          <a:spcPts val="0"/>
                        </a:spcAft>
                        <a:buNone/>
                      </a:pPr>
                      <a:r>
                        <a:t/>
                      </a:r>
                      <a:endParaRPr sz="1200">
                        <a:latin typeface="M PLUS 1p"/>
                        <a:ea typeface="M PLUS 1p"/>
                        <a:cs typeface="M PLUS 1p"/>
                        <a:sym typeface="M PLUS 1p"/>
                      </a:endParaRPr>
                    </a:p>
                  </a:txBody>
                  <a:tcPr marT="19050" marB="19050" marR="28575" marL="28575" anchor="b"/>
                </a:tc>
                <a:tc>
                  <a:txBody>
                    <a:bodyPr/>
                    <a:lstStyle/>
                    <a:p>
                      <a:pPr indent="0" lvl="0" marL="0" rtl="0" algn="l">
                        <a:spcBef>
                          <a:spcPts val="0"/>
                        </a:spcBef>
                        <a:spcAft>
                          <a:spcPts val="0"/>
                        </a:spcAft>
                        <a:buNone/>
                      </a:pPr>
                      <a:r>
                        <a:t/>
                      </a:r>
                      <a:endParaRPr sz="1200">
                        <a:latin typeface="M PLUS 1p"/>
                        <a:ea typeface="M PLUS 1p"/>
                        <a:cs typeface="M PLUS 1p"/>
                        <a:sym typeface="M PLUS 1p"/>
                      </a:endParaRPr>
                    </a:p>
                  </a:txBody>
                  <a:tcPr marT="19050" marB="19050" marR="28575" marL="28575" anchor="b"/>
                </a:tc>
              </a:tr>
              <a:tr h="237700">
                <a:tc>
                  <a:txBody>
                    <a:bodyPr/>
                    <a:lstStyle/>
                    <a:p>
                      <a:pPr indent="0" lvl="0" marL="0" rtl="0" algn="r">
                        <a:lnSpc>
                          <a:spcPct val="115000"/>
                        </a:lnSpc>
                        <a:spcBef>
                          <a:spcPts val="0"/>
                        </a:spcBef>
                        <a:spcAft>
                          <a:spcPts val="0"/>
                        </a:spcAft>
                        <a:buNone/>
                      </a:pPr>
                      <a:r>
                        <a:rPr lang="ja" sz="800">
                          <a:latin typeface="M PLUS 1p"/>
                          <a:ea typeface="M PLUS 1p"/>
                          <a:cs typeface="M PLUS 1p"/>
                          <a:sym typeface="M PLUS 1p"/>
                        </a:rPr>
                        <a:t>7</a:t>
                      </a:r>
                      <a:endParaRPr sz="800">
                        <a:latin typeface="M PLUS 1p"/>
                        <a:ea typeface="M PLUS 1p"/>
                        <a:cs typeface="M PLUS 1p"/>
                        <a:sym typeface="M PLUS 1p"/>
                      </a:endParaRPr>
                    </a:p>
                  </a:txBody>
                  <a:tcPr marT="19050" marB="19050" marR="28575" marL="28575" anchor="b"/>
                </a:tc>
                <a:tc vMerge="1"/>
                <a:tc>
                  <a:txBody>
                    <a:bodyPr/>
                    <a:lstStyle/>
                    <a:p>
                      <a:pPr indent="0" lvl="0" marL="0" rtl="0" algn="l">
                        <a:spcBef>
                          <a:spcPts val="0"/>
                        </a:spcBef>
                        <a:spcAft>
                          <a:spcPts val="0"/>
                        </a:spcAft>
                        <a:buNone/>
                      </a:pPr>
                      <a:r>
                        <a:t/>
                      </a:r>
                      <a:endParaRPr sz="1200">
                        <a:latin typeface="M PLUS 1p"/>
                        <a:ea typeface="M PLUS 1p"/>
                        <a:cs typeface="M PLUS 1p"/>
                        <a:sym typeface="M PLUS 1p"/>
                      </a:endParaRPr>
                    </a:p>
                  </a:txBody>
                  <a:tcPr marT="19050" marB="19050" marR="28575" marL="28575" anchor="b"/>
                </a:tc>
                <a:tc>
                  <a:txBody>
                    <a:bodyPr/>
                    <a:lstStyle/>
                    <a:p>
                      <a:pPr indent="0" lvl="0" marL="0" rtl="0" algn="l">
                        <a:spcBef>
                          <a:spcPts val="0"/>
                        </a:spcBef>
                        <a:spcAft>
                          <a:spcPts val="0"/>
                        </a:spcAft>
                        <a:buNone/>
                      </a:pPr>
                      <a:r>
                        <a:t/>
                      </a:r>
                      <a:endParaRPr sz="1200">
                        <a:latin typeface="M PLUS 1p"/>
                        <a:ea typeface="M PLUS 1p"/>
                        <a:cs typeface="M PLUS 1p"/>
                        <a:sym typeface="M PLUS 1p"/>
                      </a:endParaRPr>
                    </a:p>
                  </a:txBody>
                  <a:tcPr marT="19050" marB="19050" marR="28575" marL="28575" anchor="b"/>
                </a:tc>
                <a:tc>
                  <a:txBody>
                    <a:bodyPr/>
                    <a:lstStyle/>
                    <a:p>
                      <a:pPr indent="0" lvl="0" marL="0" rtl="0" algn="l">
                        <a:spcBef>
                          <a:spcPts val="0"/>
                        </a:spcBef>
                        <a:spcAft>
                          <a:spcPts val="0"/>
                        </a:spcAft>
                        <a:buNone/>
                      </a:pPr>
                      <a:r>
                        <a:t/>
                      </a:r>
                      <a:endParaRPr sz="1200">
                        <a:latin typeface="M PLUS 1p"/>
                        <a:ea typeface="M PLUS 1p"/>
                        <a:cs typeface="M PLUS 1p"/>
                        <a:sym typeface="M PLUS 1p"/>
                      </a:endParaRPr>
                    </a:p>
                  </a:txBody>
                  <a:tcPr marT="19050" marB="19050" marR="28575" marL="28575" anchor="b"/>
                </a:tc>
              </a:tr>
              <a:tr h="237700">
                <a:tc>
                  <a:txBody>
                    <a:bodyPr/>
                    <a:lstStyle/>
                    <a:p>
                      <a:pPr indent="0" lvl="0" marL="0" rtl="0" algn="r">
                        <a:lnSpc>
                          <a:spcPct val="115000"/>
                        </a:lnSpc>
                        <a:spcBef>
                          <a:spcPts val="0"/>
                        </a:spcBef>
                        <a:spcAft>
                          <a:spcPts val="0"/>
                        </a:spcAft>
                        <a:buNone/>
                      </a:pPr>
                      <a:r>
                        <a:rPr lang="ja" sz="800">
                          <a:latin typeface="M PLUS 1p"/>
                          <a:ea typeface="M PLUS 1p"/>
                          <a:cs typeface="M PLUS 1p"/>
                          <a:sym typeface="M PLUS 1p"/>
                        </a:rPr>
                        <a:t>8</a:t>
                      </a:r>
                      <a:endParaRPr sz="800">
                        <a:latin typeface="M PLUS 1p"/>
                        <a:ea typeface="M PLUS 1p"/>
                        <a:cs typeface="M PLUS 1p"/>
                        <a:sym typeface="M PLUS 1p"/>
                      </a:endParaRPr>
                    </a:p>
                  </a:txBody>
                  <a:tcPr marT="19050" marB="19050" marR="28575" marL="28575" anchor="b"/>
                </a:tc>
                <a:tc vMerge="1"/>
                <a:tc>
                  <a:txBody>
                    <a:bodyPr/>
                    <a:lstStyle/>
                    <a:p>
                      <a:pPr indent="0" lvl="0" marL="0" rtl="0" algn="l">
                        <a:spcBef>
                          <a:spcPts val="0"/>
                        </a:spcBef>
                        <a:spcAft>
                          <a:spcPts val="0"/>
                        </a:spcAft>
                        <a:buNone/>
                      </a:pPr>
                      <a:r>
                        <a:t/>
                      </a:r>
                      <a:endParaRPr sz="1200">
                        <a:latin typeface="M PLUS 1p"/>
                        <a:ea typeface="M PLUS 1p"/>
                        <a:cs typeface="M PLUS 1p"/>
                        <a:sym typeface="M PLUS 1p"/>
                      </a:endParaRPr>
                    </a:p>
                  </a:txBody>
                  <a:tcPr marT="19050" marB="19050" marR="28575" marL="28575" anchor="b"/>
                </a:tc>
                <a:tc>
                  <a:txBody>
                    <a:bodyPr/>
                    <a:lstStyle/>
                    <a:p>
                      <a:pPr indent="0" lvl="0" marL="0" rtl="0" algn="l">
                        <a:spcBef>
                          <a:spcPts val="0"/>
                        </a:spcBef>
                        <a:spcAft>
                          <a:spcPts val="0"/>
                        </a:spcAft>
                        <a:buNone/>
                      </a:pPr>
                      <a:r>
                        <a:t/>
                      </a:r>
                      <a:endParaRPr sz="1200">
                        <a:latin typeface="M PLUS 1p"/>
                        <a:ea typeface="M PLUS 1p"/>
                        <a:cs typeface="M PLUS 1p"/>
                        <a:sym typeface="M PLUS 1p"/>
                      </a:endParaRPr>
                    </a:p>
                  </a:txBody>
                  <a:tcPr marT="19050" marB="19050" marR="28575" marL="28575" anchor="b"/>
                </a:tc>
                <a:tc>
                  <a:txBody>
                    <a:bodyPr/>
                    <a:lstStyle/>
                    <a:p>
                      <a:pPr indent="0" lvl="0" marL="0" rtl="0" algn="l">
                        <a:spcBef>
                          <a:spcPts val="0"/>
                        </a:spcBef>
                        <a:spcAft>
                          <a:spcPts val="0"/>
                        </a:spcAft>
                        <a:buNone/>
                      </a:pPr>
                      <a:r>
                        <a:t/>
                      </a:r>
                      <a:endParaRPr sz="1200">
                        <a:latin typeface="M PLUS 1p"/>
                        <a:ea typeface="M PLUS 1p"/>
                        <a:cs typeface="M PLUS 1p"/>
                        <a:sym typeface="M PLUS 1p"/>
                      </a:endParaRPr>
                    </a:p>
                  </a:txBody>
                  <a:tcPr marT="19050" marB="19050" marR="28575" marL="28575" anchor="b"/>
                </a:tc>
              </a:tr>
              <a:tr h="237700">
                <a:tc>
                  <a:txBody>
                    <a:bodyPr/>
                    <a:lstStyle/>
                    <a:p>
                      <a:pPr indent="0" lvl="0" marL="0" rtl="0" algn="r">
                        <a:lnSpc>
                          <a:spcPct val="115000"/>
                        </a:lnSpc>
                        <a:spcBef>
                          <a:spcPts val="0"/>
                        </a:spcBef>
                        <a:spcAft>
                          <a:spcPts val="0"/>
                        </a:spcAft>
                        <a:buNone/>
                      </a:pPr>
                      <a:r>
                        <a:rPr lang="ja" sz="800">
                          <a:latin typeface="M PLUS 1p"/>
                          <a:ea typeface="M PLUS 1p"/>
                          <a:cs typeface="M PLUS 1p"/>
                          <a:sym typeface="M PLUS 1p"/>
                        </a:rPr>
                        <a:t>9</a:t>
                      </a:r>
                      <a:endParaRPr sz="800">
                        <a:latin typeface="M PLUS 1p"/>
                        <a:ea typeface="M PLUS 1p"/>
                        <a:cs typeface="M PLUS 1p"/>
                        <a:sym typeface="M PLUS 1p"/>
                      </a:endParaRPr>
                    </a:p>
                  </a:txBody>
                  <a:tcPr marT="19050" marB="19050" marR="28575" marL="28575" anchor="b"/>
                </a:tc>
                <a:tc vMerge="1"/>
                <a:tc>
                  <a:txBody>
                    <a:bodyPr/>
                    <a:lstStyle/>
                    <a:p>
                      <a:pPr indent="0" lvl="0" marL="0" rtl="0" algn="l">
                        <a:spcBef>
                          <a:spcPts val="0"/>
                        </a:spcBef>
                        <a:spcAft>
                          <a:spcPts val="0"/>
                        </a:spcAft>
                        <a:buNone/>
                      </a:pPr>
                      <a:r>
                        <a:t/>
                      </a:r>
                      <a:endParaRPr sz="1200">
                        <a:latin typeface="M PLUS 1p"/>
                        <a:ea typeface="M PLUS 1p"/>
                        <a:cs typeface="M PLUS 1p"/>
                        <a:sym typeface="M PLUS 1p"/>
                      </a:endParaRPr>
                    </a:p>
                  </a:txBody>
                  <a:tcPr marT="19050" marB="19050" marR="28575" marL="28575" anchor="b"/>
                </a:tc>
                <a:tc>
                  <a:txBody>
                    <a:bodyPr/>
                    <a:lstStyle/>
                    <a:p>
                      <a:pPr indent="0" lvl="0" marL="0" rtl="0" algn="l">
                        <a:spcBef>
                          <a:spcPts val="0"/>
                        </a:spcBef>
                        <a:spcAft>
                          <a:spcPts val="0"/>
                        </a:spcAft>
                        <a:buNone/>
                      </a:pPr>
                      <a:r>
                        <a:t/>
                      </a:r>
                      <a:endParaRPr sz="1200">
                        <a:latin typeface="M PLUS 1p"/>
                        <a:ea typeface="M PLUS 1p"/>
                        <a:cs typeface="M PLUS 1p"/>
                        <a:sym typeface="M PLUS 1p"/>
                      </a:endParaRPr>
                    </a:p>
                  </a:txBody>
                  <a:tcPr marT="19050" marB="19050" marR="28575" marL="28575" anchor="b"/>
                </a:tc>
                <a:tc>
                  <a:txBody>
                    <a:bodyPr/>
                    <a:lstStyle/>
                    <a:p>
                      <a:pPr indent="0" lvl="0" marL="0" rtl="0" algn="l">
                        <a:spcBef>
                          <a:spcPts val="0"/>
                        </a:spcBef>
                        <a:spcAft>
                          <a:spcPts val="0"/>
                        </a:spcAft>
                        <a:buNone/>
                      </a:pPr>
                      <a:r>
                        <a:t/>
                      </a:r>
                      <a:endParaRPr sz="1200">
                        <a:latin typeface="M PLUS 1p"/>
                        <a:ea typeface="M PLUS 1p"/>
                        <a:cs typeface="M PLUS 1p"/>
                        <a:sym typeface="M PLUS 1p"/>
                      </a:endParaRPr>
                    </a:p>
                  </a:txBody>
                  <a:tcPr marT="19050" marB="19050" marR="28575" marL="28575" anchor="b"/>
                </a:tc>
              </a:tr>
            </a:tbl>
          </a:graphicData>
        </a:graphic>
      </p:graphicFrame>
      <p:graphicFrame>
        <p:nvGraphicFramePr>
          <p:cNvPr id="658" name="Google Shape;658;p49"/>
          <p:cNvGraphicFramePr/>
          <p:nvPr/>
        </p:nvGraphicFramePr>
        <p:xfrm>
          <a:off x="4542450" y="2088075"/>
          <a:ext cx="3000000" cy="3000000"/>
        </p:xfrm>
        <a:graphic>
          <a:graphicData uri="http://schemas.openxmlformats.org/drawingml/2006/table">
            <a:tbl>
              <a:tblPr>
                <a:noFill/>
                <a:tableStyleId>{717431F7-2294-48B2-AEED-F836AFECFFDB}</a:tableStyleId>
              </a:tblPr>
              <a:tblGrid>
                <a:gridCol w="879150"/>
                <a:gridCol w="879150"/>
                <a:gridCol w="879150"/>
                <a:gridCol w="879150"/>
                <a:gridCol w="879150"/>
              </a:tblGrid>
              <a:tr h="378325">
                <a:tc>
                  <a:txBody>
                    <a:bodyPr/>
                    <a:lstStyle/>
                    <a:p>
                      <a:pPr indent="0" lvl="0" marL="0" rtl="0" algn="l">
                        <a:lnSpc>
                          <a:spcPct val="115000"/>
                        </a:lnSpc>
                        <a:spcBef>
                          <a:spcPts val="0"/>
                        </a:spcBef>
                        <a:spcAft>
                          <a:spcPts val="0"/>
                        </a:spcAft>
                        <a:buNone/>
                      </a:pPr>
                      <a:r>
                        <a:rPr lang="ja" sz="800">
                          <a:latin typeface="M PLUS 1p"/>
                          <a:ea typeface="M PLUS 1p"/>
                          <a:cs typeface="M PLUS 1p"/>
                          <a:sym typeface="M PLUS 1p"/>
                        </a:rPr>
                        <a:t>初月_獲得ワーカー</a:t>
                      </a:r>
                      <a:endParaRPr sz="800">
                        <a:latin typeface="M PLUS 1p"/>
                        <a:ea typeface="M PLUS 1p"/>
                        <a:cs typeface="M PLUS 1p"/>
                        <a:sym typeface="M PLUS 1p"/>
                      </a:endParaRPr>
                    </a:p>
                  </a:txBody>
                  <a:tcPr marT="19050" marB="19050" marR="28575" marL="28575" anchor="b">
                    <a:solidFill>
                      <a:srgbClr val="CFE2F3"/>
                    </a:solidFill>
                  </a:tcPr>
                </a:tc>
                <a:tc>
                  <a:txBody>
                    <a:bodyPr/>
                    <a:lstStyle/>
                    <a:p>
                      <a:pPr indent="0" lvl="0" marL="0" rtl="0" algn="l">
                        <a:lnSpc>
                          <a:spcPct val="115000"/>
                        </a:lnSpc>
                        <a:spcBef>
                          <a:spcPts val="0"/>
                        </a:spcBef>
                        <a:spcAft>
                          <a:spcPts val="0"/>
                        </a:spcAft>
                        <a:buNone/>
                      </a:pPr>
                      <a:r>
                        <a:rPr lang="ja" sz="800">
                          <a:latin typeface="M PLUS 1p"/>
                          <a:ea typeface="M PLUS 1p"/>
                          <a:cs typeface="M PLUS 1p"/>
                          <a:sym typeface="M PLUS 1p"/>
                        </a:rPr>
                        <a:t>初月_時間帯数</a:t>
                      </a:r>
                      <a:endParaRPr sz="800">
                        <a:latin typeface="M PLUS 1p"/>
                        <a:ea typeface="M PLUS 1p"/>
                        <a:cs typeface="M PLUS 1p"/>
                        <a:sym typeface="M PLUS 1p"/>
                      </a:endParaRPr>
                    </a:p>
                  </a:txBody>
                  <a:tcPr marT="19050" marB="19050" marR="28575" marL="28575" anchor="b">
                    <a:solidFill>
                      <a:srgbClr val="CFE2F3"/>
                    </a:solidFill>
                  </a:tcPr>
                </a:tc>
                <a:tc>
                  <a:txBody>
                    <a:bodyPr/>
                    <a:lstStyle/>
                    <a:p>
                      <a:pPr indent="0" lvl="0" marL="0" rtl="0" algn="l">
                        <a:spcBef>
                          <a:spcPts val="0"/>
                        </a:spcBef>
                        <a:spcAft>
                          <a:spcPts val="0"/>
                        </a:spcAft>
                        <a:buNone/>
                      </a:pPr>
                      <a:r>
                        <a:t/>
                      </a:r>
                      <a:endParaRPr sz="1200">
                        <a:latin typeface="M PLUS 1p"/>
                        <a:ea typeface="M PLUS 1p"/>
                        <a:cs typeface="M PLUS 1p"/>
                        <a:sym typeface="M PLUS 1p"/>
                      </a:endParaRPr>
                    </a:p>
                  </a:txBody>
                  <a:tcPr marT="19050" marB="19050" marR="28575" marL="28575" anchor="b">
                    <a:solidFill>
                      <a:srgbClr val="CFE2F3"/>
                    </a:solidFill>
                  </a:tcPr>
                </a:tc>
                <a:tc>
                  <a:txBody>
                    <a:bodyPr/>
                    <a:lstStyle/>
                    <a:p>
                      <a:pPr indent="0" lvl="0" marL="0" rtl="0" algn="l">
                        <a:spcBef>
                          <a:spcPts val="0"/>
                        </a:spcBef>
                        <a:spcAft>
                          <a:spcPts val="0"/>
                        </a:spcAft>
                        <a:buNone/>
                      </a:pPr>
                      <a:r>
                        <a:t/>
                      </a:r>
                      <a:endParaRPr sz="1200">
                        <a:latin typeface="M PLUS 1p"/>
                        <a:ea typeface="M PLUS 1p"/>
                        <a:cs typeface="M PLUS 1p"/>
                        <a:sym typeface="M PLUS 1p"/>
                      </a:endParaRPr>
                    </a:p>
                  </a:txBody>
                  <a:tcPr marT="19050" marB="19050" marR="28575" marL="28575" anchor="b">
                    <a:solidFill>
                      <a:srgbClr val="CFE2F3"/>
                    </a:solidFill>
                  </a:tcPr>
                </a:tc>
                <a:tc>
                  <a:txBody>
                    <a:bodyPr/>
                    <a:lstStyle/>
                    <a:p>
                      <a:pPr indent="0" lvl="0" marL="0" rtl="0" algn="l">
                        <a:spcBef>
                          <a:spcPts val="0"/>
                        </a:spcBef>
                        <a:spcAft>
                          <a:spcPts val="0"/>
                        </a:spcAft>
                        <a:buNone/>
                      </a:pPr>
                      <a:r>
                        <a:t/>
                      </a:r>
                      <a:endParaRPr sz="1200">
                        <a:latin typeface="M PLUS 1p"/>
                        <a:ea typeface="M PLUS 1p"/>
                        <a:cs typeface="M PLUS 1p"/>
                        <a:sym typeface="M PLUS 1p"/>
                      </a:endParaRPr>
                    </a:p>
                  </a:txBody>
                  <a:tcPr marT="19050" marB="19050" marR="28575" marL="28575" anchor="b">
                    <a:solidFill>
                      <a:srgbClr val="CFE2F3"/>
                    </a:solidFill>
                  </a:tcPr>
                </a:tc>
              </a:tr>
              <a:tr h="100000">
                <a:tc>
                  <a:txBody>
                    <a:bodyPr/>
                    <a:lstStyle/>
                    <a:p>
                      <a:pPr indent="0" lvl="0" marL="0" rtl="0" algn="l">
                        <a:lnSpc>
                          <a:spcPct val="115000"/>
                        </a:lnSpc>
                        <a:spcBef>
                          <a:spcPts val="0"/>
                        </a:spcBef>
                        <a:spcAft>
                          <a:spcPts val="0"/>
                        </a:spcAft>
                        <a:buNone/>
                      </a:pPr>
                      <a:r>
                        <a:rPr lang="ja" sz="700">
                          <a:latin typeface="M PLUS 1p"/>
                          <a:ea typeface="M PLUS 1p"/>
                          <a:cs typeface="M PLUS 1p"/>
                          <a:sym typeface="M PLUS 1p"/>
                        </a:rPr>
                        <a:t>初月_稼働時間</a:t>
                      </a:r>
                      <a:endParaRPr sz="700">
                        <a:latin typeface="M PLUS 1p"/>
                        <a:ea typeface="M PLUS 1p"/>
                        <a:cs typeface="M PLUS 1p"/>
                        <a:sym typeface="M PLUS 1p"/>
                      </a:endParaRPr>
                    </a:p>
                  </a:txBody>
                  <a:tcPr marT="19050" marB="19050" marR="28575" marL="28575" anchor="b">
                    <a:lnB cap="flat" cmpd="sng" w="9525">
                      <a:solidFill>
                        <a:srgbClr val="000000"/>
                      </a:solidFill>
                      <a:prstDash val="solid"/>
                      <a:round/>
                      <a:headEnd len="sm" w="sm" type="none"/>
                      <a:tailEnd len="sm" w="sm" type="none"/>
                    </a:lnB>
                    <a:solidFill>
                      <a:srgbClr val="CFE2F3"/>
                    </a:solidFill>
                  </a:tcPr>
                </a:tc>
                <a:tc>
                  <a:txBody>
                    <a:bodyPr/>
                    <a:lstStyle/>
                    <a:p>
                      <a:pPr indent="0" lvl="0" marL="0" rtl="0" algn="r">
                        <a:lnSpc>
                          <a:spcPct val="115000"/>
                        </a:lnSpc>
                        <a:spcBef>
                          <a:spcPts val="0"/>
                        </a:spcBef>
                        <a:spcAft>
                          <a:spcPts val="0"/>
                        </a:spcAft>
                        <a:buNone/>
                      </a:pPr>
                      <a:r>
                        <a:rPr lang="ja" sz="800">
                          <a:latin typeface="M PLUS 1p"/>
                          <a:ea typeface="M PLUS 1p"/>
                          <a:cs typeface="M PLUS 1p"/>
                          <a:sym typeface="M PLUS 1p"/>
                        </a:rPr>
                        <a:t>1</a:t>
                      </a:r>
                      <a:endParaRPr sz="800">
                        <a:latin typeface="M PLUS 1p"/>
                        <a:ea typeface="M PLUS 1p"/>
                        <a:cs typeface="M PLUS 1p"/>
                        <a:sym typeface="M PLUS 1p"/>
                      </a:endParaRPr>
                    </a:p>
                  </a:txBody>
                  <a:tcPr marT="19050" marB="19050" marR="28575" marL="28575" anchor="b">
                    <a:lnB cap="flat" cmpd="sng" w="9525">
                      <a:solidFill>
                        <a:srgbClr val="000000"/>
                      </a:solidFill>
                      <a:prstDash val="solid"/>
                      <a:round/>
                      <a:headEnd len="sm" w="sm" type="none"/>
                      <a:tailEnd len="sm" w="sm" type="none"/>
                    </a:lnB>
                    <a:solidFill>
                      <a:srgbClr val="CFE2F3"/>
                    </a:solidFill>
                  </a:tcPr>
                </a:tc>
                <a:tc>
                  <a:txBody>
                    <a:bodyPr/>
                    <a:lstStyle/>
                    <a:p>
                      <a:pPr indent="0" lvl="0" marL="0" rtl="0" algn="r">
                        <a:lnSpc>
                          <a:spcPct val="115000"/>
                        </a:lnSpc>
                        <a:spcBef>
                          <a:spcPts val="0"/>
                        </a:spcBef>
                        <a:spcAft>
                          <a:spcPts val="0"/>
                        </a:spcAft>
                        <a:buNone/>
                      </a:pPr>
                      <a:r>
                        <a:rPr lang="ja" sz="800">
                          <a:latin typeface="M PLUS 1p"/>
                          <a:ea typeface="M PLUS 1p"/>
                          <a:cs typeface="M PLUS 1p"/>
                          <a:sym typeface="M PLUS 1p"/>
                        </a:rPr>
                        <a:t>2</a:t>
                      </a:r>
                      <a:endParaRPr sz="800">
                        <a:latin typeface="M PLUS 1p"/>
                        <a:ea typeface="M PLUS 1p"/>
                        <a:cs typeface="M PLUS 1p"/>
                        <a:sym typeface="M PLUS 1p"/>
                      </a:endParaRPr>
                    </a:p>
                  </a:txBody>
                  <a:tcPr marT="19050" marB="19050" marR="28575" marL="28575" anchor="b">
                    <a:lnB cap="flat" cmpd="sng" w="9525">
                      <a:solidFill>
                        <a:srgbClr val="000000"/>
                      </a:solidFill>
                      <a:prstDash val="solid"/>
                      <a:round/>
                      <a:headEnd len="sm" w="sm" type="none"/>
                      <a:tailEnd len="sm" w="sm" type="none"/>
                    </a:lnB>
                    <a:solidFill>
                      <a:srgbClr val="CFE2F3"/>
                    </a:solidFill>
                  </a:tcPr>
                </a:tc>
                <a:tc>
                  <a:txBody>
                    <a:bodyPr/>
                    <a:lstStyle/>
                    <a:p>
                      <a:pPr indent="0" lvl="0" marL="0" rtl="0" algn="r">
                        <a:lnSpc>
                          <a:spcPct val="115000"/>
                        </a:lnSpc>
                        <a:spcBef>
                          <a:spcPts val="0"/>
                        </a:spcBef>
                        <a:spcAft>
                          <a:spcPts val="0"/>
                        </a:spcAft>
                        <a:buNone/>
                      </a:pPr>
                      <a:r>
                        <a:rPr lang="ja" sz="800">
                          <a:latin typeface="M PLUS 1p"/>
                          <a:ea typeface="M PLUS 1p"/>
                          <a:cs typeface="M PLUS 1p"/>
                          <a:sym typeface="M PLUS 1p"/>
                        </a:rPr>
                        <a:t>3</a:t>
                      </a:r>
                      <a:endParaRPr sz="800">
                        <a:latin typeface="M PLUS 1p"/>
                        <a:ea typeface="M PLUS 1p"/>
                        <a:cs typeface="M PLUS 1p"/>
                        <a:sym typeface="M PLUS 1p"/>
                      </a:endParaRPr>
                    </a:p>
                  </a:txBody>
                  <a:tcPr marT="19050" marB="19050" marR="28575" marL="28575" anchor="b">
                    <a:lnB cap="flat" cmpd="sng" w="9525">
                      <a:solidFill>
                        <a:srgbClr val="000000"/>
                      </a:solidFill>
                      <a:prstDash val="solid"/>
                      <a:round/>
                      <a:headEnd len="sm" w="sm" type="none"/>
                      <a:tailEnd len="sm" w="sm" type="none"/>
                    </a:lnB>
                    <a:solidFill>
                      <a:srgbClr val="CFE2F3"/>
                    </a:solidFill>
                  </a:tcPr>
                </a:tc>
                <a:tc>
                  <a:txBody>
                    <a:bodyPr/>
                    <a:lstStyle/>
                    <a:p>
                      <a:pPr indent="0" lvl="0" marL="0" rtl="0" algn="r">
                        <a:lnSpc>
                          <a:spcPct val="115000"/>
                        </a:lnSpc>
                        <a:spcBef>
                          <a:spcPts val="0"/>
                        </a:spcBef>
                        <a:spcAft>
                          <a:spcPts val="0"/>
                        </a:spcAft>
                        <a:buNone/>
                      </a:pPr>
                      <a:r>
                        <a:rPr lang="ja" sz="800">
                          <a:latin typeface="M PLUS 1p"/>
                          <a:ea typeface="M PLUS 1p"/>
                          <a:cs typeface="M PLUS 1p"/>
                          <a:sym typeface="M PLUS 1p"/>
                        </a:rPr>
                        <a:t>4</a:t>
                      </a:r>
                      <a:endParaRPr sz="800">
                        <a:latin typeface="M PLUS 1p"/>
                        <a:ea typeface="M PLUS 1p"/>
                        <a:cs typeface="M PLUS 1p"/>
                        <a:sym typeface="M PLUS 1p"/>
                      </a:endParaRPr>
                    </a:p>
                  </a:txBody>
                  <a:tcPr marT="19050" marB="19050" marR="28575" marL="28575" anchor="b">
                    <a:lnB cap="flat" cmpd="sng" w="9525">
                      <a:solidFill>
                        <a:srgbClr val="000000"/>
                      </a:solidFill>
                      <a:prstDash val="solid"/>
                      <a:round/>
                      <a:headEnd len="sm" w="sm" type="none"/>
                      <a:tailEnd len="sm" w="sm" type="none"/>
                    </a:lnB>
                    <a:solidFill>
                      <a:srgbClr val="CFE2F3"/>
                    </a:solidFill>
                  </a:tcPr>
                </a:tc>
              </a:tr>
              <a:tr h="190800">
                <a:tc>
                  <a:txBody>
                    <a:bodyPr/>
                    <a:lstStyle/>
                    <a:p>
                      <a:pPr indent="0" lvl="0" marL="0" rtl="0" algn="r">
                        <a:lnSpc>
                          <a:spcPct val="115000"/>
                        </a:lnSpc>
                        <a:spcBef>
                          <a:spcPts val="0"/>
                        </a:spcBef>
                        <a:spcAft>
                          <a:spcPts val="0"/>
                        </a:spcAft>
                        <a:buNone/>
                      </a:pPr>
                      <a:r>
                        <a:rPr lang="ja" sz="700">
                          <a:latin typeface="M PLUS 1p"/>
                          <a:ea typeface="M PLUS 1p"/>
                          <a:cs typeface="M PLUS 1p"/>
                          <a:sym typeface="M PLUS 1p"/>
                        </a:rPr>
                        <a:t>1</a:t>
                      </a:r>
                      <a:endParaRPr sz="700">
                        <a:latin typeface="M PLUS 1p"/>
                        <a:ea typeface="M PLUS 1p"/>
                        <a:cs typeface="M PLUS 1p"/>
                        <a:sym typeface="M PLUS 1p"/>
                      </a:endParaRPr>
                    </a:p>
                  </a:txBody>
                  <a:tcPr marT="19050" marB="19050" marR="28575" marL="28575" anchor="b">
                    <a:lnT cap="flat" cmpd="sng" w="9525">
                      <a:solidFill>
                        <a:srgbClr val="000000"/>
                      </a:solidFill>
                      <a:prstDash val="solid"/>
                      <a:round/>
                      <a:headEnd len="sm" w="sm" type="none"/>
                      <a:tailEnd len="sm" w="sm" type="none"/>
                    </a:lnT>
                  </a:tcPr>
                </a:tc>
                <a:tc>
                  <a:txBody>
                    <a:bodyPr/>
                    <a:lstStyle/>
                    <a:p>
                      <a:pPr indent="0" lvl="0" marL="0" rtl="0" algn="l">
                        <a:spcBef>
                          <a:spcPts val="0"/>
                        </a:spcBef>
                        <a:spcAft>
                          <a:spcPts val="0"/>
                        </a:spcAft>
                        <a:buNone/>
                      </a:pPr>
                      <a:r>
                        <a:t/>
                      </a:r>
                      <a:endParaRPr sz="1100">
                        <a:latin typeface="M PLUS 1p"/>
                        <a:ea typeface="M PLUS 1p"/>
                        <a:cs typeface="M PLUS 1p"/>
                        <a:sym typeface="M PLUS 1p"/>
                      </a:endParaRPr>
                    </a:p>
                  </a:txBody>
                  <a:tcPr marT="19050" marB="19050" marR="28575" marL="28575" anchor="b">
                    <a:lnT cap="flat" cmpd="sng" w="9525">
                      <a:solidFill>
                        <a:srgbClr val="000000"/>
                      </a:solidFill>
                      <a:prstDash val="solid"/>
                      <a:round/>
                      <a:headEnd len="sm" w="sm" type="none"/>
                      <a:tailEnd len="sm" w="sm" type="none"/>
                    </a:lnT>
                  </a:tcPr>
                </a:tc>
                <a:tc>
                  <a:txBody>
                    <a:bodyPr/>
                    <a:lstStyle/>
                    <a:p>
                      <a:pPr indent="0" lvl="0" marL="0" rtl="0" algn="l">
                        <a:spcBef>
                          <a:spcPts val="0"/>
                        </a:spcBef>
                        <a:spcAft>
                          <a:spcPts val="0"/>
                        </a:spcAft>
                        <a:buNone/>
                      </a:pPr>
                      <a:r>
                        <a:t/>
                      </a:r>
                      <a:endParaRPr sz="1100">
                        <a:latin typeface="M PLUS 1p"/>
                        <a:ea typeface="M PLUS 1p"/>
                        <a:cs typeface="M PLUS 1p"/>
                        <a:sym typeface="M PLUS 1p"/>
                      </a:endParaRPr>
                    </a:p>
                  </a:txBody>
                  <a:tcPr marT="19050" marB="19050" marR="28575" marL="28575" anchor="b">
                    <a:lnT cap="flat" cmpd="sng" w="9525">
                      <a:solidFill>
                        <a:srgbClr val="000000"/>
                      </a:solidFill>
                      <a:prstDash val="solid"/>
                      <a:round/>
                      <a:headEnd len="sm" w="sm" type="none"/>
                      <a:tailEnd len="sm" w="sm" type="none"/>
                    </a:lnT>
                  </a:tcPr>
                </a:tc>
                <a:tc>
                  <a:txBody>
                    <a:bodyPr/>
                    <a:lstStyle/>
                    <a:p>
                      <a:pPr indent="0" lvl="0" marL="0" rtl="0" algn="l">
                        <a:spcBef>
                          <a:spcPts val="0"/>
                        </a:spcBef>
                        <a:spcAft>
                          <a:spcPts val="0"/>
                        </a:spcAft>
                        <a:buNone/>
                      </a:pPr>
                      <a:r>
                        <a:t/>
                      </a:r>
                      <a:endParaRPr sz="1100">
                        <a:latin typeface="M PLUS 1p"/>
                        <a:ea typeface="M PLUS 1p"/>
                        <a:cs typeface="M PLUS 1p"/>
                        <a:sym typeface="M PLUS 1p"/>
                      </a:endParaRPr>
                    </a:p>
                  </a:txBody>
                  <a:tcPr marT="19050" marB="19050" marR="28575" marL="28575" anchor="b">
                    <a:lnT cap="flat" cmpd="sng" w="9525">
                      <a:solidFill>
                        <a:srgbClr val="000000"/>
                      </a:solidFill>
                      <a:prstDash val="solid"/>
                      <a:round/>
                      <a:headEnd len="sm" w="sm" type="none"/>
                      <a:tailEnd len="sm" w="sm" type="none"/>
                    </a:lnT>
                  </a:tcPr>
                </a:tc>
                <a:tc>
                  <a:txBody>
                    <a:bodyPr/>
                    <a:lstStyle/>
                    <a:p>
                      <a:pPr indent="0" lvl="0" marL="0" rtl="0" algn="l">
                        <a:spcBef>
                          <a:spcPts val="0"/>
                        </a:spcBef>
                        <a:spcAft>
                          <a:spcPts val="0"/>
                        </a:spcAft>
                        <a:buNone/>
                      </a:pPr>
                      <a:r>
                        <a:t/>
                      </a:r>
                      <a:endParaRPr sz="1100">
                        <a:latin typeface="M PLUS 1p"/>
                        <a:ea typeface="M PLUS 1p"/>
                        <a:cs typeface="M PLUS 1p"/>
                        <a:sym typeface="M PLUS 1p"/>
                      </a:endParaRPr>
                    </a:p>
                  </a:txBody>
                  <a:tcPr marT="19050" marB="19050" marR="28575" marL="28575" anchor="b">
                    <a:lnT cap="flat" cmpd="sng" w="9525">
                      <a:solidFill>
                        <a:srgbClr val="000000"/>
                      </a:solidFill>
                      <a:prstDash val="solid"/>
                      <a:round/>
                      <a:headEnd len="sm" w="sm" type="none"/>
                      <a:tailEnd len="sm" w="sm" type="none"/>
                    </a:lnT>
                  </a:tcPr>
                </a:tc>
              </a:tr>
              <a:tr h="190800">
                <a:tc>
                  <a:txBody>
                    <a:bodyPr/>
                    <a:lstStyle/>
                    <a:p>
                      <a:pPr indent="0" lvl="0" marL="0" rtl="0" algn="r">
                        <a:lnSpc>
                          <a:spcPct val="115000"/>
                        </a:lnSpc>
                        <a:spcBef>
                          <a:spcPts val="0"/>
                        </a:spcBef>
                        <a:spcAft>
                          <a:spcPts val="0"/>
                        </a:spcAft>
                        <a:buNone/>
                      </a:pPr>
                      <a:r>
                        <a:rPr lang="ja" sz="700">
                          <a:latin typeface="M PLUS 1p"/>
                          <a:ea typeface="M PLUS 1p"/>
                          <a:cs typeface="M PLUS 1p"/>
                          <a:sym typeface="M PLUS 1p"/>
                        </a:rPr>
                        <a:t>2</a:t>
                      </a:r>
                      <a:endParaRPr sz="700">
                        <a:latin typeface="M PLUS 1p"/>
                        <a:ea typeface="M PLUS 1p"/>
                        <a:cs typeface="M PLUS 1p"/>
                        <a:sym typeface="M PLUS 1p"/>
                      </a:endParaRPr>
                    </a:p>
                  </a:txBody>
                  <a:tcPr marT="19050" marB="19050" marR="28575" marL="28575" anchor="b"/>
                </a:tc>
                <a:tc>
                  <a:txBody>
                    <a:bodyPr/>
                    <a:lstStyle/>
                    <a:p>
                      <a:pPr indent="0" lvl="0" marL="0" rtl="0" algn="l">
                        <a:spcBef>
                          <a:spcPts val="0"/>
                        </a:spcBef>
                        <a:spcAft>
                          <a:spcPts val="0"/>
                        </a:spcAft>
                        <a:buNone/>
                      </a:pPr>
                      <a:r>
                        <a:t/>
                      </a:r>
                      <a:endParaRPr sz="1100">
                        <a:latin typeface="M PLUS 1p"/>
                        <a:ea typeface="M PLUS 1p"/>
                        <a:cs typeface="M PLUS 1p"/>
                        <a:sym typeface="M PLUS 1p"/>
                      </a:endParaRPr>
                    </a:p>
                  </a:txBody>
                  <a:tcPr marT="19050" marB="19050" marR="28575" marL="28575" anchor="b"/>
                </a:tc>
                <a:tc>
                  <a:txBody>
                    <a:bodyPr/>
                    <a:lstStyle/>
                    <a:p>
                      <a:pPr indent="0" lvl="0" marL="0" rtl="0" algn="l">
                        <a:spcBef>
                          <a:spcPts val="0"/>
                        </a:spcBef>
                        <a:spcAft>
                          <a:spcPts val="0"/>
                        </a:spcAft>
                        <a:buNone/>
                      </a:pPr>
                      <a:r>
                        <a:t/>
                      </a:r>
                      <a:endParaRPr sz="1100">
                        <a:latin typeface="M PLUS 1p"/>
                        <a:ea typeface="M PLUS 1p"/>
                        <a:cs typeface="M PLUS 1p"/>
                        <a:sym typeface="M PLUS 1p"/>
                      </a:endParaRPr>
                    </a:p>
                  </a:txBody>
                  <a:tcPr marT="19050" marB="19050" marR="28575" marL="28575" anchor="b"/>
                </a:tc>
                <a:tc>
                  <a:txBody>
                    <a:bodyPr/>
                    <a:lstStyle/>
                    <a:p>
                      <a:pPr indent="0" lvl="0" marL="0" rtl="0" algn="l">
                        <a:spcBef>
                          <a:spcPts val="0"/>
                        </a:spcBef>
                        <a:spcAft>
                          <a:spcPts val="0"/>
                        </a:spcAft>
                        <a:buNone/>
                      </a:pPr>
                      <a:r>
                        <a:t/>
                      </a:r>
                      <a:endParaRPr sz="1100">
                        <a:latin typeface="M PLUS 1p"/>
                        <a:ea typeface="M PLUS 1p"/>
                        <a:cs typeface="M PLUS 1p"/>
                        <a:sym typeface="M PLUS 1p"/>
                      </a:endParaRPr>
                    </a:p>
                  </a:txBody>
                  <a:tcPr marT="19050" marB="19050" marR="28575" marL="28575" anchor="b"/>
                </a:tc>
                <a:tc>
                  <a:txBody>
                    <a:bodyPr/>
                    <a:lstStyle/>
                    <a:p>
                      <a:pPr indent="0" lvl="0" marL="0" rtl="0" algn="l">
                        <a:spcBef>
                          <a:spcPts val="0"/>
                        </a:spcBef>
                        <a:spcAft>
                          <a:spcPts val="0"/>
                        </a:spcAft>
                        <a:buNone/>
                      </a:pPr>
                      <a:r>
                        <a:t/>
                      </a:r>
                      <a:endParaRPr sz="1100">
                        <a:latin typeface="M PLUS 1p"/>
                        <a:ea typeface="M PLUS 1p"/>
                        <a:cs typeface="M PLUS 1p"/>
                        <a:sym typeface="M PLUS 1p"/>
                      </a:endParaRPr>
                    </a:p>
                  </a:txBody>
                  <a:tcPr marT="19050" marB="19050" marR="28575" marL="28575" anchor="b"/>
                </a:tc>
              </a:tr>
              <a:tr h="190800">
                <a:tc>
                  <a:txBody>
                    <a:bodyPr/>
                    <a:lstStyle/>
                    <a:p>
                      <a:pPr indent="0" lvl="0" marL="0" rtl="0" algn="r">
                        <a:lnSpc>
                          <a:spcPct val="115000"/>
                        </a:lnSpc>
                        <a:spcBef>
                          <a:spcPts val="0"/>
                        </a:spcBef>
                        <a:spcAft>
                          <a:spcPts val="0"/>
                        </a:spcAft>
                        <a:buNone/>
                      </a:pPr>
                      <a:r>
                        <a:rPr lang="ja" sz="700">
                          <a:latin typeface="M PLUS 1p"/>
                          <a:ea typeface="M PLUS 1p"/>
                          <a:cs typeface="M PLUS 1p"/>
                          <a:sym typeface="M PLUS 1p"/>
                        </a:rPr>
                        <a:t>3</a:t>
                      </a:r>
                      <a:endParaRPr sz="700">
                        <a:latin typeface="M PLUS 1p"/>
                        <a:ea typeface="M PLUS 1p"/>
                        <a:cs typeface="M PLUS 1p"/>
                        <a:sym typeface="M PLUS 1p"/>
                      </a:endParaRPr>
                    </a:p>
                  </a:txBody>
                  <a:tcPr marT="19050" marB="19050" marR="28575" marL="28575" anchor="b"/>
                </a:tc>
                <a:tc>
                  <a:txBody>
                    <a:bodyPr/>
                    <a:lstStyle/>
                    <a:p>
                      <a:pPr indent="0" lvl="0" marL="0" rtl="0" algn="l">
                        <a:spcBef>
                          <a:spcPts val="0"/>
                        </a:spcBef>
                        <a:spcAft>
                          <a:spcPts val="0"/>
                        </a:spcAft>
                        <a:buNone/>
                      </a:pPr>
                      <a:r>
                        <a:t/>
                      </a:r>
                      <a:endParaRPr sz="1100">
                        <a:latin typeface="M PLUS 1p"/>
                        <a:ea typeface="M PLUS 1p"/>
                        <a:cs typeface="M PLUS 1p"/>
                        <a:sym typeface="M PLUS 1p"/>
                      </a:endParaRPr>
                    </a:p>
                  </a:txBody>
                  <a:tcPr marT="19050" marB="19050" marR="28575" marL="28575" anchor="b"/>
                </a:tc>
                <a:tc gridSpan="3" rowSpan="3">
                  <a:txBody>
                    <a:bodyPr/>
                    <a:lstStyle/>
                    <a:p>
                      <a:pPr indent="0" lvl="0" marL="0" rtl="0" algn="ctr">
                        <a:lnSpc>
                          <a:spcPct val="115000"/>
                        </a:lnSpc>
                        <a:spcBef>
                          <a:spcPts val="0"/>
                        </a:spcBef>
                        <a:spcAft>
                          <a:spcPts val="0"/>
                        </a:spcAft>
                        <a:buNone/>
                      </a:pPr>
                      <a:r>
                        <a:rPr lang="ja" sz="1300">
                          <a:latin typeface="M PLUS 1p"/>
                          <a:ea typeface="M PLUS 1p"/>
                          <a:cs typeface="M PLUS 1p"/>
                          <a:sym typeface="M PLUS 1p"/>
                        </a:rPr>
                        <a:t>29.7</a:t>
                      </a:r>
                      <a:endParaRPr sz="1300">
                        <a:latin typeface="M PLUS 1p"/>
                        <a:ea typeface="M PLUS 1p"/>
                        <a:cs typeface="M PLUS 1p"/>
                        <a:sym typeface="M PLUS 1p"/>
                      </a:endParaRPr>
                    </a:p>
                  </a:txBody>
                  <a:tcPr marT="19050" marB="19050" marR="28575" marL="28575" anchor="ctr">
                    <a:solidFill>
                      <a:srgbClr val="FCE5CD"/>
                    </a:solidFill>
                  </a:tcPr>
                </a:tc>
                <a:tc rowSpan="3" hMerge="1"/>
                <a:tc rowSpan="3" hMerge="1"/>
              </a:tr>
              <a:tr h="190800">
                <a:tc>
                  <a:txBody>
                    <a:bodyPr/>
                    <a:lstStyle/>
                    <a:p>
                      <a:pPr indent="0" lvl="0" marL="0" rtl="0" algn="r">
                        <a:lnSpc>
                          <a:spcPct val="115000"/>
                        </a:lnSpc>
                        <a:spcBef>
                          <a:spcPts val="0"/>
                        </a:spcBef>
                        <a:spcAft>
                          <a:spcPts val="0"/>
                        </a:spcAft>
                        <a:buNone/>
                      </a:pPr>
                      <a:r>
                        <a:rPr lang="ja" sz="700">
                          <a:latin typeface="M PLUS 1p"/>
                          <a:ea typeface="M PLUS 1p"/>
                          <a:cs typeface="M PLUS 1p"/>
                          <a:sym typeface="M PLUS 1p"/>
                        </a:rPr>
                        <a:t>4</a:t>
                      </a:r>
                      <a:endParaRPr sz="700">
                        <a:latin typeface="M PLUS 1p"/>
                        <a:ea typeface="M PLUS 1p"/>
                        <a:cs typeface="M PLUS 1p"/>
                        <a:sym typeface="M PLUS 1p"/>
                      </a:endParaRPr>
                    </a:p>
                  </a:txBody>
                  <a:tcPr marT="19050" marB="19050" marR="28575" marL="28575" anchor="b"/>
                </a:tc>
                <a:tc>
                  <a:txBody>
                    <a:bodyPr/>
                    <a:lstStyle/>
                    <a:p>
                      <a:pPr indent="0" lvl="0" marL="0" rtl="0" algn="l">
                        <a:spcBef>
                          <a:spcPts val="0"/>
                        </a:spcBef>
                        <a:spcAft>
                          <a:spcPts val="0"/>
                        </a:spcAft>
                        <a:buNone/>
                      </a:pPr>
                      <a:r>
                        <a:t/>
                      </a:r>
                      <a:endParaRPr sz="1100">
                        <a:latin typeface="M PLUS 1p"/>
                        <a:ea typeface="M PLUS 1p"/>
                        <a:cs typeface="M PLUS 1p"/>
                        <a:sym typeface="M PLUS 1p"/>
                      </a:endParaRPr>
                    </a:p>
                  </a:txBody>
                  <a:tcPr marT="19050" marB="19050" marR="28575" marL="28575" anchor="b"/>
                </a:tc>
                <a:tc gridSpan="3" vMerge="1"/>
                <a:tc hMerge="1" vMerge="1"/>
                <a:tc hMerge="1" vMerge="1"/>
              </a:tr>
              <a:tr h="190800">
                <a:tc>
                  <a:txBody>
                    <a:bodyPr/>
                    <a:lstStyle/>
                    <a:p>
                      <a:pPr indent="0" lvl="0" marL="0" rtl="0" algn="r">
                        <a:lnSpc>
                          <a:spcPct val="115000"/>
                        </a:lnSpc>
                        <a:spcBef>
                          <a:spcPts val="0"/>
                        </a:spcBef>
                        <a:spcAft>
                          <a:spcPts val="0"/>
                        </a:spcAft>
                        <a:buNone/>
                      </a:pPr>
                      <a:r>
                        <a:rPr lang="ja" sz="700">
                          <a:latin typeface="M PLUS 1p"/>
                          <a:ea typeface="M PLUS 1p"/>
                          <a:cs typeface="M PLUS 1p"/>
                          <a:sym typeface="M PLUS 1p"/>
                        </a:rPr>
                        <a:t>5</a:t>
                      </a:r>
                      <a:endParaRPr sz="700">
                        <a:latin typeface="M PLUS 1p"/>
                        <a:ea typeface="M PLUS 1p"/>
                        <a:cs typeface="M PLUS 1p"/>
                        <a:sym typeface="M PLUS 1p"/>
                      </a:endParaRPr>
                    </a:p>
                  </a:txBody>
                  <a:tcPr marT="19050" marB="19050" marR="28575" marL="28575" anchor="b"/>
                </a:tc>
                <a:tc>
                  <a:txBody>
                    <a:bodyPr/>
                    <a:lstStyle/>
                    <a:p>
                      <a:pPr indent="0" lvl="0" marL="0" rtl="0" algn="l">
                        <a:spcBef>
                          <a:spcPts val="0"/>
                        </a:spcBef>
                        <a:spcAft>
                          <a:spcPts val="0"/>
                        </a:spcAft>
                        <a:buNone/>
                      </a:pPr>
                      <a:r>
                        <a:t/>
                      </a:r>
                      <a:endParaRPr sz="1100">
                        <a:latin typeface="M PLUS 1p"/>
                        <a:ea typeface="M PLUS 1p"/>
                        <a:cs typeface="M PLUS 1p"/>
                        <a:sym typeface="M PLUS 1p"/>
                      </a:endParaRPr>
                    </a:p>
                  </a:txBody>
                  <a:tcPr marT="19050" marB="19050" marR="28575" marL="28575" anchor="b"/>
                </a:tc>
                <a:tc gridSpan="3" vMerge="1"/>
                <a:tc hMerge="1" vMerge="1"/>
                <a:tc hMerge="1" vMerge="1"/>
              </a:tr>
              <a:tr h="190800">
                <a:tc>
                  <a:txBody>
                    <a:bodyPr/>
                    <a:lstStyle/>
                    <a:p>
                      <a:pPr indent="0" lvl="0" marL="0" rtl="0" algn="r">
                        <a:lnSpc>
                          <a:spcPct val="115000"/>
                        </a:lnSpc>
                        <a:spcBef>
                          <a:spcPts val="0"/>
                        </a:spcBef>
                        <a:spcAft>
                          <a:spcPts val="0"/>
                        </a:spcAft>
                        <a:buNone/>
                      </a:pPr>
                      <a:r>
                        <a:rPr lang="ja" sz="700">
                          <a:latin typeface="M PLUS 1p"/>
                          <a:ea typeface="M PLUS 1p"/>
                          <a:cs typeface="M PLUS 1p"/>
                          <a:sym typeface="M PLUS 1p"/>
                        </a:rPr>
                        <a:t>6</a:t>
                      </a:r>
                      <a:endParaRPr sz="700">
                        <a:latin typeface="M PLUS 1p"/>
                        <a:ea typeface="M PLUS 1p"/>
                        <a:cs typeface="M PLUS 1p"/>
                        <a:sym typeface="M PLUS 1p"/>
                      </a:endParaRPr>
                    </a:p>
                  </a:txBody>
                  <a:tcPr marT="19050" marB="19050" marR="28575" marL="28575" anchor="b"/>
                </a:tc>
                <a:tc rowSpan="4">
                  <a:txBody>
                    <a:bodyPr/>
                    <a:lstStyle/>
                    <a:p>
                      <a:pPr indent="0" lvl="0" marL="0" rtl="0" algn="ctr">
                        <a:lnSpc>
                          <a:spcPct val="115000"/>
                        </a:lnSpc>
                        <a:spcBef>
                          <a:spcPts val="0"/>
                        </a:spcBef>
                        <a:spcAft>
                          <a:spcPts val="0"/>
                        </a:spcAft>
                        <a:buNone/>
                      </a:pPr>
                      <a:r>
                        <a:rPr lang="ja" sz="1300">
                          <a:latin typeface="M PLUS 1p"/>
                          <a:ea typeface="M PLUS 1p"/>
                          <a:cs typeface="M PLUS 1p"/>
                          <a:sym typeface="M PLUS 1p"/>
                        </a:rPr>
                        <a:t>19.7</a:t>
                      </a:r>
                      <a:endParaRPr sz="1300">
                        <a:latin typeface="M PLUS 1p"/>
                        <a:ea typeface="M PLUS 1p"/>
                        <a:cs typeface="M PLUS 1p"/>
                        <a:sym typeface="M PLUS 1p"/>
                      </a:endParaRPr>
                    </a:p>
                  </a:txBody>
                  <a:tcPr marT="19050" marB="19050" marR="28575" marL="28575" anchor="ctr">
                    <a:solidFill>
                      <a:srgbClr val="FCE5CD"/>
                    </a:solidFill>
                  </a:tcPr>
                </a:tc>
                <a:tc>
                  <a:txBody>
                    <a:bodyPr/>
                    <a:lstStyle/>
                    <a:p>
                      <a:pPr indent="0" lvl="0" marL="0" rtl="0" algn="l">
                        <a:spcBef>
                          <a:spcPts val="0"/>
                        </a:spcBef>
                        <a:spcAft>
                          <a:spcPts val="0"/>
                        </a:spcAft>
                        <a:buNone/>
                      </a:pPr>
                      <a:r>
                        <a:t/>
                      </a:r>
                      <a:endParaRPr sz="1100">
                        <a:latin typeface="M PLUS 1p"/>
                        <a:ea typeface="M PLUS 1p"/>
                        <a:cs typeface="M PLUS 1p"/>
                        <a:sym typeface="M PLUS 1p"/>
                      </a:endParaRPr>
                    </a:p>
                  </a:txBody>
                  <a:tcPr marT="19050" marB="19050" marR="28575" marL="28575" anchor="b"/>
                </a:tc>
                <a:tc>
                  <a:txBody>
                    <a:bodyPr/>
                    <a:lstStyle/>
                    <a:p>
                      <a:pPr indent="0" lvl="0" marL="0" rtl="0" algn="l">
                        <a:spcBef>
                          <a:spcPts val="0"/>
                        </a:spcBef>
                        <a:spcAft>
                          <a:spcPts val="0"/>
                        </a:spcAft>
                        <a:buNone/>
                      </a:pPr>
                      <a:r>
                        <a:t/>
                      </a:r>
                      <a:endParaRPr sz="1100">
                        <a:latin typeface="M PLUS 1p"/>
                        <a:ea typeface="M PLUS 1p"/>
                        <a:cs typeface="M PLUS 1p"/>
                        <a:sym typeface="M PLUS 1p"/>
                      </a:endParaRPr>
                    </a:p>
                  </a:txBody>
                  <a:tcPr marT="19050" marB="19050" marR="28575" marL="28575" anchor="b"/>
                </a:tc>
                <a:tc>
                  <a:txBody>
                    <a:bodyPr/>
                    <a:lstStyle/>
                    <a:p>
                      <a:pPr indent="0" lvl="0" marL="0" rtl="0" algn="l">
                        <a:spcBef>
                          <a:spcPts val="0"/>
                        </a:spcBef>
                        <a:spcAft>
                          <a:spcPts val="0"/>
                        </a:spcAft>
                        <a:buNone/>
                      </a:pPr>
                      <a:r>
                        <a:t/>
                      </a:r>
                      <a:endParaRPr sz="1100">
                        <a:latin typeface="M PLUS 1p"/>
                        <a:ea typeface="M PLUS 1p"/>
                        <a:cs typeface="M PLUS 1p"/>
                        <a:sym typeface="M PLUS 1p"/>
                      </a:endParaRPr>
                    </a:p>
                  </a:txBody>
                  <a:tcPr marT="19050" marB="19050" marR="28575" marL="28575" anchor="b"/>
                </a:tc>
              </a:tr>
              <a:tr h="190800">
                <a:tc>
                  <a:txBody>
                    <a:bodyPr/>
                    <a:lstStyle/>
                    <a:p>
                      <a:pPr indent="0" lvl="0" marL="0" rtl="0" algn="r">
                        <a:lnSpc>
                          <a:spcPct val="115000"/>
                        </a:lnSpc>
                        <a:spcBef>
                          <a:spcPts val="0"/>
                        </a:spcBef>
                        <a:spcAft>
                          <a:spcPts val="0"/>
                        </a:spcAft>
                        <a:buNone/>
                      </a:pPr>
                      <a:r>
                        <a:rPr lang="ja" sz="700">
                          <a:latin typeface="M PLUS 1p"/>
                          <a:ea typeface="M PLUS 1p"/>
                          <a:cs typeface="M PLUS 1p"/>
                          <a:sym typeface="M PLUS 1p"/>
                        </a:rPr>
                        <a:t>7</a:t>
                      </a:r>
                      <a:endParaRPr sz="700">
                        <a:latin typeface="M PLUS 1p"/>
                        <a:ea typeface="M PLUS 1p"/>
                        <a:cs typeface="M PLUS 1p"/>
                        <a:sym typeface="M PLUS 1p"/>
                      </a:endParaRPr>
                    </a:p>
                  </a:txBody>
                  <a:tcPr marT="19050" marB="19050" marR="28575" marL="28575" anchor="b"/>
                </a:tc>
                <a:tc vMerge="1"/>
                <a:tc>
                  <a:txBody>
                    <a:bodyPr/>
                    <a:lstStyle/>
                    <a:p>
                      <a:pPr indent="0" lvl="0" marL="0" rtl="0" algn="l">
                        <a:spcBef>
                          <a:spcPts val="0"/>
                        </a:spcBef>
                        <a:spcAft>
                          <a:spcPts val="0"/>
                        </a:spcAft>
                        <a:buNone/>
                      </a:pPr>
                      <a:r>
                        <a:t/>
                      </a:r>
                      <a:endParaRPr sz="1100">
                        <a:latin typeface="M PLUS 1p"/>
                        <a:ea typeface="M PLUS 1p"/>
                        <a:cs typeface="M PLUS 1p"/>
                        <a:sym typeface="M PLUS 1p"/>
                      </a:endParaRPr>
                    </a:p>
                  </a:txBody>
                  <a:tcPr marT="19050" marB="19050" marR="28575" marL="28575" anchor="b"/>
                </a:tc>
                <a:tc>
                  <a:txBody>
                    <a:bodyPr/>
                    <a:lstStyle/>
                    <a:p>
                      <a:pPr indent="0" lvl="0" marL="0" rtl="0" algn="l">
                        <a:spcBef>
                          <a:spcPts val="0"/>
                        </a:spcBef>
                        <a:spcAft>
                          <a:spcPts val="0"/>
                        </a:spcAft>
                        <a:buNone/>
                      </a:pPr>
                      <a:r>
                        <a:t/>
                      </a:r>
                      <a:endParaRPr sz="1100">
                        <a:latin typeface="M PLUS 1p"/>
                        <a:ea typeface="M PLUS 1p"/>
                        <a:cs typeface="M PLUS 1p"/>
                        <a:sym typeface="M PLUS 1p"/>
                      </a:endParaRPr>
                    </a:p>
                  </a:txBody>
                  <a:tcPr marT="19050" marB="19050" marR="28575" marL="28575" anchor="b"/>
                </a:tc>
                <a:tc>
                  <a:txBody>
                    <a:bodyPr/>
                    <a:lstStyle/>
                    <a:p>
                      <a:pPr indent="0" lvl="0" marL="0" rtl="0" algn="l">
                        <a:spcBef>
                          <a:spcPts val="0"/>
                        </a:spcBef>
                        <a:spcAft>
                          <a:spcPts val="0"/>
                        </a:spcAft>
                        <a:buNone/>
                      </a:pPr>
                      <a:r>
                        <a:t/>
                      </a:r>
                      <a:endParaRPr sz="1100">
                        <a:latin typeface="M PLUS 1p"/>
                        <a:ea typeface="M PLUS 1p"/>
                        <a:cs typeface="M PLUS 1p"/>
                        <a:sym typeface="M PLUS 1p"/>
                      </a:endParaRPr>
                    </a:p>
                  </a:txBody>
                  <a:tcPr marT="19050" marB="19050" marR="28575" marL="28575" anchor="b"/>
                </a:tc>
              </a:tr>
              <a:tr h="190800">
                <a:tc>
                  <a:txBody>
                    <a:bodyPr/>
                    <a:lstStyle/>
                    <a:p>
                      <a:pPr indent="0" lvl="0" marL="0" rtl="0" algn="r">
                        <a:lnSpc>
                          <a:spcPct val="115000"/>
                        </a:lnSpc>
                        <a:spcBef>
                          <a:spcPts val="0"/>
                        </a:spcBef>
                        <a:spcAft>
                          <a:spcPts val="0"/>
                        </a:spcAft>
                        <a:buNone/>
                      </a:pPr>
                      <a:r>
                        <a:rPr lang="ja" sz="700">
                          <a:latin typeface="M PLUS 1p"/>
                          <a:ea typeface="M PLUS 1p"/>
                          <a:cs typeface="M PLUS 1p"/>
                          <a:sym typeface="M PLUS 1p"/>
                        </a:rPr>
                        <a:t>8</a:t>
                      </a:r>
                      <a:endParaRPr sz="700">
                        <a:latin typeface="M PLUS 1p"/>
                        <a:ea typeface="M PLUS 1p"/>
                        <a:cs typeface="M PLUS 1p"/>
                        <a:sym typeface="M PLUS 1p"/>
                      </a:endParaRPr>
                    </a:p>
                  </a:txBody>
                  <a:tcPr marT="19050" marB="19050" marR="28575" marL="28575" anchor="b"/>
                </a:tc>
                <a:tc vMerge="1"/>
                <a:tc>
                  <a:txBody>
                    <a:bodyPr/>
                    <a:lstStyle/>
                    <a:p>
                      <a:pPr indent="0" lvl="0" marL="0" rtl="0" algn="l">
                        <a:spcBef>
                          <a:spcPts val="0"/>
                        </a:spcBef>
                        <a:spcAft>
                          <a:spcPts val="0"/>
                        </a:spcAft>
                        <a:buNone/>
                      </a:pPr>
                      <a:r>
                        <a:t/>
                      </a:r>
                      <a:endParaRPr sz="1100">
                        <a:latin typeface="M PLUS 1p"/>
                        <a:ea typeface="M PLUS 1p"/>
                        <a:cs typeface="M PLUS 1p"/>
                        <a:sym typeface="M PLUS 1p"/>
                      </a:endParaRPr>
                    </a:p>
                  </a:txBody>
                  <a:tcPr marT="19050" marB="19050" marR="28575" marL="28575" anchor="b"/>
                </a:tc>
                <a:tc>
                  <a:txBody>
                    <a:bodyPr/>
                    <a:lstStyle/>
                    <a:p>
                      <a:pPr indent="0" lvl="0" marL="0" rtl="0" algn="l">
                        <a:spcBef>
                          <a:spcPts val="0"/>
                        </a:spcBef>
                        <a:spcAft>
                          <a:spcPts val="0"/>
                        </a:spcAft>
                        <a:buNone/>
                      </a:pPr>
                      <a:r>
                        <a:t/>
                      </a:r>
                      <a:endParaRPr sz="1100">
                        <a:latin typeface="M PLUS 1p"/>
                        <a:ea typeface="M PLUS 1p"/>
                        <a:cs typeface="M PLUS 1p"/>
                        <a:sym typeface="M PLUS 1p"/>
                      </a:endParaRPr>
                    </a:p>
                  </a:txBody>
                  <a:tcPr marT="19050" marB="19050" marR="28575" marL="28575" anchor="b"/>
                </a:tc>
                <a:tc>
                  <a:txBody>
                    <a:bodyPr/>
                    <a:lstStyle/>
                    <a:p>
                      <a:pPr indent="0" lvl="0" marL="0" rtl="0" algn="l">
                        <a:spcBef>
                          <a:spcPts val="0"/>
                        </a:spcBef>
                        <a:spcAft>
                          <a:spcPts val="0"/>
                        </a:spcAft>
                        <a:buNone/>
                      </a:pPr>
                      <a:r>
                        <a:t/>
                      </a:r>
                      <a:endParaRPr sz="1100">
                        <a:latin typeface="M PLUS 1p"/>
                        <a:ea typeface="M PLUS 1p"/>
                        <a:cs typeface="M PLUS 1p"/>
                        <a:sym typeface="M PLUS 1p"/>
                      </a:endParaRPr>
                    </a:p>
                  </a:txBody>
                  <a:tcPr marT="19050" marB="19050" marR="28575" marL="28575" anchor="b"/>
                </a:tc>
              </a:tr>
              <a:tr h="190800">
                <a:tc>
                  <a:txBody>
                    <a:bodyPr/>
                    <a:lstStyle/>
                    <a:p>
                      <a:pPr indent="0" lvl="0" marL="0" rtl="0" algn="r">
                        <a:lnSpc>
                          <a:spcPct val="115000"/>
                        </a:lnSpc>
                        <a:spcBef>
                          <a:spcPts val="0"/>
                        </a:spcBef>
                        <a:spcAft>
                          <a:spcPts val="0"/>
                        </a:spcAft>
                        <a:buNone/>
                      </a:pPr>
                      <a:r>
                        <a:rPr lang="ja" sz="700">
                          <a:latin typeface="M PLUS 1p"/>
                          <a:ea typeface="M PLUS 1p"/>
                          <a:cs typeface="M PLUS 1p"/>
                          <a:sym typeface="M PLUS 1p"/>
                        </a:rPr>
                        <a:t>9</a:t>
                      </a:r>
                      <a:endParaRPr sz="700">
                        <a:latin typeface="M PLUS 1p"/>
                        <a:ea typeface="M PLUS 1p"/>
                        <a:cs typeface="M PLUS 1p"/>
                        <a:sym typeface="M PLUS 1p"/>
                      </a:endParaRPr>
                    </a:p>
                  </a:txBody>
                  <a:tcPr marT="19050" marB="19050" marR="28575" marL="28575" anchor="b"/>
                </a:tc>
                <a:tc vMerge="1"/>
                <a:tc>
                  <a:txBody>
                    <a:bodyPr/>
                    <a:lstStyle/>
                    <a:p>
                      <a:pPr indent="0" lvl="0" marL="0" rtl="0" algn="l">
                        <a:spcBef>
                          <a:spcPts val="0"/>
                        </a:spcBef>
                        <a:spcAft>
                          <a:spcPts val="0"/>
                        </a:spcAft>
                        <a:buNone/>
                      </a:pPr>
                      <a:r>
                        <a:t/>
                      </a:r>
                      <a:endParaRPr sz="1100">
                        <a:latin typeface="M PLUS 1p"/>
                        <a:ea typeface="M PLUS 1p"/>
                        <a:cs typeface="M PLUS 1p"/>
                        <a:sym typeface="M PLUS 1p"/>
                      </a:endParaRPr>
                    </a:p>
                  </a:txBody>
                  <a:tcPr marT="19050" marB="19050" marR="28575" marL="28575" anchor="b"/>
                </a:tc>
                <a:tc>
                  <a:txBody>
                    <a:bodyPr/>
                    <a:lstStyle/>
                    <a:p>
                      <a:pPr indent="0" lvl="0" marL="0" rtl="0" algn="l">
                        <a:spcBef>
                          <a:spcPts val="0"/>
                        </a:spcBef>
                        <a:spcAft>
                          <a:spcPts val="0"/>
                        </a:spcAft>
                        <a:buNone/>
                      </a:pPr>
                      <a:r>
                        <a:t/>
                      </a:r>
                      <a:endParaRPr sz="1100">
                        <a:latin typeface="M PLUS 1p"/>
                        <a:ea typeface="M PLUS 1p"/>
                        <a:cs typeface="M PLUS 1p"/>
                        <a:sym typeface="M PLUS 1p"/>
                      </a:endParaRPr>
                    </a:p>
                  </a:txBody>
                  <a:tcPr marT="19050" marB="19050" marR="28575" marL="28575" anchor="b"/>
                </a:tc>
                <a:tc>
                  <a:txBody>
                    <a:bodyPr/>
                    <a:lstStyle/>
                    <a:p>
                      <a:pPr indent="0" lvl="0" marL="0" rtl="0" algn="l">
                        <a:spcBef>
                          <a:spcPts val="0"/>
                        </a:spcBef>
                        <a:spcAft>
                          <a:spcPts val="0"/>
                        </a:spcAft>
                        <a:buNone/>
                      </a:pPr>
                      <a:r>
                        <a:t/>
                      </a:r>
                      <a:endParaRPr sz="1100">
                        <a:latin typeface="M PLUS 1p"/>
                        <a:ea typeface="M PLUS 1p"/>
                        <a:cs typeface="M PLUS 1p"/>
                        <a:sym typeface="M PLUS 1p"/>
                      </a:endParaRPr>
                    </a:p>
                  </a:txBody>
                  <a:tcPr marT="19050" marB="19050" marR="28575" marL="28575" anchor="b"/>
                </a:tc>
              </a:tr>
            </a:tbl>
          </a:graphicData>
        </a:graphic>
      </p:graphicFrame>
      <p:sp>
        <p:nvSpPr>
          <p:cNvPr id="659" name="Google Shape;659;p49"/>
          <p:cNvSpPr txBox="1"/>
          <p:nvPr/>
        </p:nvSpPr>
        <p:spPr>
          <a:xfrm>
            <a:off x="3399550" y="4719125"/>
            <a:ext cx="16875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ja" sz="900">
                <a:solidFill>
                  <a:srgbClr val="1155CC"/>
                </a:solidFill>
                <a:latin typeface="M PLUS 1p"/>
                <a:ea typeface="M PLUS 1p"/>
                <a:cs typeface="M PLUS 1p"/>
                <a:sym typeface="M PLUS 1p"/>
              </a:rPr>
              <a:t>決まった時間帯に長時間募集</a:t>
            </a:r>
            <a:endParaRPr sz="900">
              <a:solidFill>
                <a:srgbClr val="1155CC"/>
              </a:solidFill>
              <a:latin typeface="M PLUS 1p"/>
              <a:ea typeface="M PLUS 1p"/>
              <a:cs typeface="M PLUS 1p"/>
              <a:sym typeface="M PLUS 1p"/>
            </a:endParaRPr>
          </a:p>
        </p:txBody>
      </p:sp>
      <p:sp>
        <p:nvSpPr>
          <p:cNvPr id="660" name="Google Shape;660;p49"/>
          <p:cNvSpPr/>
          <p:nvPr/>
        </p:nvSpPr>
        <p:spPr>
          <a:xfrm>
            <a:off x="1424200" y="3853825"/>
            <a:ext cx="747000" cy="947100"/>
          </a:xfrm>
          <a:prstGeom prst="rect">
            <a:avLst/>
          </a:prstGeom>
          <a:noFill/>
          <a:ln cap="flat" cmpd="sng" w="9525">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61" name="Google Shape;661;p49"/>
          <p:cNvSpPr/>
          <p:nvPr/>
        </p:nvSpPr>
        <p:spPr>
          <a:xfrm>
            <a:off x="5421600" y="3676000"/>
            <a:ext cx="879000" cy="822900"/>
          </a:xfrm>
          <a:prstGeom prst="rect">
            <a:avLst/>
          </a:prstGeom>
          <a:noFill/>
          <a:ln cap="flat" cmpd="sng" w="9525">
            <a:solidFill>
              <a:srgbClr val="1155C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62" name="Google Shape;662;p49"/>
          <p:cNvSpPr/>
          <p:nvPr/>
        </p:nvSpPr>
        <p:spPr>
          <a:xfrm>
            <a:off x="2172725" y="3140725"/>
            <a:ext cx="2244900" cy="7131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63" name="Google Shape;663;p49"/>
          <p:cNvSpPr/>
          <p:nvPr/>
        </p:nvSpPr>
        <p:spPr>
          <a:xfrm>
            <a:off x="6300750" y="3045800"/>
            <a:ext cx="2637300" cy="6483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664" name="Google Shape;664;p49"/>
          <p:cNvCxnSpPr>
            <a:stCxn id="659" idx="1"/>
            <a:endCxn id="660" idx="3"/>
          </p:cNvCxnSpPr>
          <p:nvPr/>
        </p:nvCxnSpPr>
        <p:spPr>
          <a:xfrm rot="10800000">
            <a:off x="2171050" y="4327475"/>
            <a:ext cx="1228500" cy="553200"/>
          </a:xfrm>
          <a:prstGeom prst="straightConnector1">
            <a:avLst/>
          </a:prstGeom>
          <a:noFill/>
          <a:ln cap="flat" cmpd="sng" w="9525">
            <a:solidFill>
              <a:srgbClr val="1155CC"/>
            </a:solidFill>
            <a:prstDash val="solid"/>
            <a:round/>
            <a:headEnd len="med" w="med" type="none"/>
            <a:tailEnd len="med" w="med" type="triangle"/>
          </a:ln>
        </p:spPr>
      </p:cxnSp>
      <p:cxnSp>
        <p:nvCxnSpPr>
          <p:cNvPr id="665" name="Google Shape;665;p49"/>
          <p:cNvCxnSpPr>
            <a:stCxn id="659" idx="3"/>
            <a:endCxn id="661" idx="2"/>
          </p:cNvCxnSpPr>
          <p:nvPr/>
        </p:nvCxnSpPr>
        <p:spPr>
          <a:xfrm flipH="1" rot="10800000">
            <a:off x="5087050" y="4498775"/>
            <a:ext cx="774000" cy="381900"/>
          </a:xfrm>
          <a:prstGeom prst="straightConnector1">
            <a:avLst/>
          </a:prstGeom>
          <a:noFill/>
          <a:ln cap="flat" cmpd="sng" w="9525">
            <a:solidFill>
              <a:srgbClr val="1155CC"/>
            </a:solidFill>
            <a:prstDash val="solid"/>
            <a:round/>
            <a:headEnd len="med" w="med" type="none"/>
            <a:tailEnd len="med" w="med" type="triangle"/>
          </a:ln>
        </p:spPr>
      </p:cxnSp>
      <p:sp>
        <p:nvSpPr>
          <p:cNvPr id="666" name="Google Shape;666;p49"/>
          <p:cNvSpPr txBox="1"/>
          <p:nvPr/>
        </p:nvSpPr>
        <p:spPr>
          <a:xfrm>
            <a:off x="4877000" y="1732913"/>
            <a:ext cx="16875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ja" sz="900">
                <a:solidFill>
                  <a:srgbClr val="FF0000"/>
                </a:solidFill>
                <a:latin typeface="M PLUS 1p"/>
                <a:ea typeface="M PLUS 1p"/>
                <a:cs typeface="M PLUS 1p"/>
                <a:sym typeface="M PLUS 1p"/>
              </a:rPr>
              <a:t>色々な時間帯に短めに募集</a:t>
            </a:r>
            <a:endParaRPr sz="900">
              <a:solidFill>
                <a:srgbClr val="FF0000"/>
              </a:solidFill>
              <a:latin typeface="M PLUS 1p"/>
              <a:ea typeface="M PLUS 1p"/>
              <a:cs typeface="M PLUS 1p"/>
              <a:sym typeface="M PLUS 1p"/>
            </a:endParaRPr>
          </a:p>
        </p:txBody>
      </p:sp>
      <p:cxnSp>
        <p:nvCxnSpPr>
          <p:cNvPr id="667" name="Google Shape;667;p49"/>
          <p:cNvCxnSpPr>
            <a:stCxn id="666" idx="1"/>
            <a:endCxn id="662" idx="0"/>
          </p:cNvCxnSpPr>
          <p:nvPr/>
        </p:nvCxnSpPr>
        <p:spPr>
          <a:xfrm flipH="1">
            <a:off x="3295100" y="1894463"/>
            <a:ext cx="1581900" cy="1246200"/>
          </a:xfrm>
          <a:prstGeom prst="straightConnector1">
            <a:avLst/>
          </a:prstGeom>
          <a:noFill/>
          <a:ln cap="flat" cmpd="sng" w="9525">
            <a:solidFill>
              <a:srgbClr val="FF0000"/>
            </a:solidFill>
            <a:prstDash val="solid"/>
            <a:round/>
            <a:headEnd len="med" w="med" type="none"/>
            <a:tailEnd len="med" w="med" type="triangle"/>
          </a:ln>
        </p:spPr>
      </p:cxnSp>
      <p:cxnSp>
        <p:nvCxnSpPr>
          <p:cNvPr id="668" name="Google Shape;668;p49"/>
          <p:cNvCxnSpPr>
            <a:stCxn id="666" idx="3"/>
            <a:endCxn id="663" idx="0"/>
          </p:cNvCxnSpPr>
          <p:nvPr/>
        </p:nvCxnSpPr>
        <p:spPr>
          <a:xfrm>
            <a:off x="6564500" y="1894463"/>
            <a:ext cx="1054800" cy="1151400"/>
          </a:xfrm>
          <a:prstGeom prst="straightConnector1">
            <a:avLst/>
          </a:prstGeom>
          <a:noFill/>
          <a:ln cap="flat" cmpd="sng" w="9525">
            <a:solidFill>
              <a:srgbClr val="FF0000"/>
            </a:solidFill>
            <a:prstDash val="solid"/>
            <a:round/>
            <a:headEnd len="med" w="med" type="none"/>
            <a:tailEnd len="med" w="med" type="triangle"/>
          </a:ln>
        </p:spPr>
      </p:cxn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72" name="Shape 672"/>
        <p:cNvGrpSpPr/>
        <p:nvPr/>
      </p:nvGrpSpPr>
      <p:grpSpPr>
        <a:xfrm>
          <a:off x="0" y="0"/>
          <a:ext cx="0" cy="0"/>
          <a:chOff x="0" y="0"/>
          <a:chExt cx="0" cy="0"/>
        </a:xfrm>
      </p:grpSpPr>
      <p:sp>
        <p:nvSpPr>
          <p:cNvPr id="673" name="Google Shape;673;p50"/>
          <p:cNvSpPr/>
          <p:nvPr/>
        </p:nvSpPr>
        <p:spPr>
          <a:xfrm>
            <a:off x="342900" y="365275"/>
            <a:ext cx="342900" cy="342900"/>
          </a:xfrm>
          <a:prstGeom prst="ellipse">
            <a:avLst/>
          </a:prstGeom>
          <a:solidFill>
            <a:srgbClr val="0B539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50"/>
          <p:cNvSpPr txBox="1"/>
          <p:nvPr/>
        </p:nvSpPr>
        <p:spPr>
          <a:xfrm>
            <a:off x="372058" y="339925"/>
            <a:ext cx="3429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300">
                <a:solidFill>
                  <a:srgbClr val="FFFFFF"/>
                </a:solidFill>
                <a:latin typeface="Zen Kaku Gothic New"/>
                <a:ea typeface="Zen Kaku Gothic New"/>
                <a:cs typeface="Zen Kaku Gothic New"/>
                <a:sym typeface="Zen Kaku Gothic New"/>
              </a:rPr>
              <a:t>11</a:t>
            </a:r>
            <a:endParaRPr b="1" sz="1300">
              <a:solidFill>
                <a:srgbClr val="FFFFFF"/>
              </a:solidFill>
              <a:latin typeface="Zen Kaku Gothic New"/>
              <a:ea typeface="Zen Kaku Gothic New"/>
              <a:cs typeface="Zen Kaku Gothic New"/>
              <a:sym typeface="Zen Kaku Gothic New"/>
            </a:endParaRPr>
          </a:p>
        </p:txBody>
      </p:sp>
      <p:sp>
        <p:nvSpPr>
          <p:cNvPr id="675" name="Google Shape;675;p50"/>
          <p:cNvSpPr txBox="1"/>
          <p:nvPr/>
        </p:nvSpPr>
        <p:spPr>
          <a:xfrm>
            <a:off x="8136000" y="104275"/>
            <a:ext cx="916800" cy="190200"/>
          </a:xfrm>
          <a:prstGeom prst="rect">
            <a:avLst/>
          </a:prstGeom>
          <a:solidFill>
            <a:srgbClr val="DC0451"/>
          </a:solidFill>
          <a:ln>
            <a:noFill/>
          </a:ln>
        </p:spPr>
        <p:txBody>
          <a:bodyPr anchorCtr="0" anchor="t" bIns="91425" lIns="91425" spcFirstLastPara="1" rIns="91425" wrap="square" tIns="91425">
            <a:noAutofit/>
          </a:bodyPr>
          <a:lstStyle/>
          <a:p>
            <a:pPr indent="0" lvl="0" marL="0" rtl="0" algn="ctr">
              <a:lnSpc>
                <a:spcPct val="50000"/>
              </a:lnSpc>
              <a:spcBef>
                <a:spcPts val="0"/>
              </a:spcBef>
              <a:spcAft>
                <a:spcPts val="0"/>
              </a:spcAft>
              <a:buNone/>
            </a:pPr>
            <a:r>
              <a:rPr b="1" lang="ja" sz="700">
                <a:solidFill>
                  <a:srgbClr val="FFFFFF"/>
                </a:solidFill>
                <a:latin typeface="M PLUS 1p"/>
                <a:ea typeface="M PLUS 1p"/>
                <a:cs typeface="M PLUS 1p"/>
                <a:sym typeface="M PLUS 1p"/>
              </a:rPr>
              <a:t>CONFIDENTIAL</a:t>
            </a:r>
            <a:endParaRPr b="1" sz="700">
              <a:solidFill>
                <a:srgbClr val="FFFFFF"/>
              </a:solidFill>
              <a:latin typeface="M PLUS 1p"/>
              <a:ea typeface="M PLUS 1p"/>
              <a:cs typeface="M PLUS 1p"/>
              <a:sym typeface="M PLUS 1p"/>
            </a:endParaRPr>
          </a:p>
        </p:txBody>
      </p:sp>
      <p:sp>
        <p:nvSpPr>
          <p:cNvPr id="676" name="Google Shape;676;p50"/>
          <p:cNvSpPr txBox="1"/>
          <p:nvPr/>
        </p:nvSpPr>
        <p:spPr>
          <a:xfrm>
            <a:off x="712300" y="294475"/>
            <a:ext cx="7710000" cy="48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2000">
                <a:solidFill>
                  <a:srgbClr val="1F1F1F"/>
                </a:solidFill>
                <a:latin typeface="M PLUS 1p"/>
                <a:ea typeface="M PLUS 1p"/>
                <a:cs typeface="M PLUS 1p"/>
                <a:sym typeface="M PLUS 1p"/>
              </a:rPr>
              <a:t>Appendix:</a:t>
            </a:r>
            <a:r>
              <a:rPr b="1" lang="ja" sz="2000">
                <a:solidFill>
                  <a:srgbClr val="1F1F1F"/>
                </a:solidFill>
                <a:latin typeface="M PLUS 1p"/>
                <a:ea typeface="M PLUS 1p"/>
                <a:cs typeface="M PLUS 1p"/>
                <a:sym typeface="M PLUS 1p"/>
              </a:rPr>
              <a:t>事業</a:t>
            </a:r>
            <a:r>
              <a:rPr b="1" lang="ja" sz="2000">
                <a:solidFill>
                  <a:srgbClr val="1F1F1F"/>
                </a:solidFill>
                <a:latin typeface="M PLUS 1p"/>
                <a:ea typeface="M PLUS 1p"/>
                <a:cs typeface="M PLUS 1p"/>
                <a:sym typeface="M PLUS 1p"/>
              </a:rPr>
              <a:t>本部別</a:t>
            </a:r>
            <a:r>
              <a:rPr b="1" lang="ja" sz="2000">
                <a:solidFill>
                  <a:srgbClr val="1F1F1F"/>
                </a:solidFill>
                <a:latin typeface="M PLUS 1p"/>
                <a:ea typeface="M PLUS 1p"/>
                <a:cs typeface="M PLUS 1p"/>
                <a:sym typeface="M PLUS 1p"/>
              </a:rPr>
              <a:t>_掲載曜日/時間別３ヶ月連続掲載率</a:t>
            </a:r>
            <a:endParaRPr b="1" sz="2000">
              <a:solidFill>
                <a:srgbClr val="1F1F1F"/>
              </a:solidFill>
              <a:latin typeface="M PLUS 1p"/>
              <a:ea typeface="M PLUS 1p"/>
              <a:cs typeface="M PLUS 1p"/>
              <a:sym typeface="M PLUS 1p"/>
            </a:endParaRPr>
          </a:p>
        </p:txBody>
      </p:sp>
      <p:pic>
        <p:nvPicPr>
          <p:cNvPr id="677" name="Google Shape;677;p50" title="グラフ"/>
          <p:cNvPicPr preferRelativeResize="0"/>
          <p:nvPr/>
        </p:nvPicPr>
        <p:blipFill>
          <a:blip r:embed="rId3">
            <a:alphaModFix/>
          </a:blip>
          <a:stretch>
            <a:fillRect/>
          </a:stretch>
        </p:blipFill>
        <p:spPr>
          <a:xfrm>
            <a:off x="156743" y="1846186"/>
            <a:ext cx="4172874" cy="2772599"/>
          </a:xfrm>
          <a:prstGeom prst="rect">
            <a:avLst/>
          </a:prstGeom>
          <a:noFill/>
          <a:ln>
            <a:noFill/>
          </a:ln>
        </p:spPr>
      </p:pic>
      <p:pic>
        <p:nvPicPr>
          <p:cNvPr id="678" name="Google Shape;678;p50" title="グラフ"/>
          <p:cNvPicPr preferRelativeResize="0"/>
          <p:nvPr/>
        </p:nvPicPr>
        <p:blipFill>
          <a:blip r:embed="rId4">
            <a:alphaModFix/>
          </a:blip>
          <a:stretch>
            <a:fillRect/>
          </a:stretch>
        </p:blipFill>
        <p:spPr>
          <a:xfrm>
            <a:off x="4557243" y="1862186"/>
            <a:ext cx="4429998" cy="2740592"/>
          </a:xfrm>
          <a:prstGeom prst="rect">
            <a:avLst/>
          </a:prstGeom>
          <a:noFill/>
          <a:ln>
            <a:noFill/>
          </a:ln>
        </p:spPr>
      </p:pic>
      <p:sp>
        <p:nvSpPr>
          <p:cNvPr id="679" name="Google Shape;679;p50"/>
          <p:cNvSpPr txBox="1"/>
          <p:nvPr/>
        </p:nvSpPr>
        <p:spPr>
          <a:xfrm>
            <a:off x="432350" y="778975"/>
            <a:ext cx="8620500" cy="754500"/>
          </a:xfrm>
          <a:prstGeom prst="rect">
            <a:avLst/>
          </a:prstGeom>
          <a:noFill/>
          <a:ln>
            <a:noFill/>
          </a:ln>
        </p:spPr>
        <p:txBody>
          <a:bodyPr anchorCtr="0" anchor="t" bIns="91425" lIns="91425" spcFirstLastPara="1" rIns="91425" wrap="square" tIns="91425">
            <a:noAutofit/>
          </a:bodyPr>
          <a:lstStyle/>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SMB_lowのみ3ヶ月継続率のベースラインが低いが、右肩上がりの傾向は大きく変わらない</a:t>
            </a:r>
            <a:endParaRPr sz="1600">
              <a:solidFill>
                <a:srgbClr val="1F1F1F"/>
              </a:solidFill>
              <a:latin typeface="M PLUS 1p"/>
              <a:ea typeface="M PLUS 1p"/>
              <a:cs typeface="M PLUS 1p"/>
              <a:sym typeface="M PLUS 1p"/>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83" name="Shape 683"/>
        <p:cNvGrpSpPr/>
        <p:nvPr/>
      </p:nvGrpSpPr>
      <p:grpSpPr>
        <a:xfrm>
          <a:off x="0" y="0"/>
          <a:ext cx="0" cy="0"/>
          <a:chOff x="0" y="0"/>
          <a:chExt cx="0" cy="0"/>
        </a:xfrm>
      </p:grpSpPr>
      <p:sp>
        <p:nvSpPr>
          <p:cNvPr id="684" name="Google Shape;684;p51"/>
          <p:cNvSpPr/>
          <p:nvPr/>
        </p:nvSpPr>
        <p:spPr>
          <a:xfrm>
            <a:off x="342900" y="365275"/>
            <a:ext cx="342900" cy="342900"/>
          </a:xfrm>
          <a:prstGeom prst="ellipse">
            <a:avLst/>
          </a:prstGeom>
          <a:solidFill>
            <a:srgbClr val="0B539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 name="Google Shape;685;p51"/>
          <p:cNvSpPr txBox="1"/>
          <p:nvPr/>
        </p:nvSpPr>
        <p:spPr>
          <a:xfrm>
            <a:off x="372058" y="339925"/>
            <a:ext cx="3429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300">
                <a:solidFill>
                  <a:srgbClr val="FFFFFF"/>
                </a:solidFill>
                <a:latin typeface="Zen Kaku Gothic New"/>
                <a:ea typeface="Zen Kaku Gothic New"/>
                <a:cs typeface="Zen Kaku Gothic New"/>
                <a:sym typeface="Zen Kaku Gothic New"/>
              </a:rPr>
              <a:t>12</a:t>
            </a:r>
            <a:endParaRPr b="1" sz="1300">
              <a:solidFill>
                <a:srgbClr val="FFFFFF"/>
              </a:solidFill>
              <a:latin typeface="Zen Kaku Gothic New"/>
              <a:ea typeface="Zen Kaku Gothic New"/>
              <a:cs typeface="Zen Kaku Gothic New"/>
              <a:sym typeface="Zen Kaku Gothic New"/>
            </a:endParaRPr>
          </a:p>
        </p:txBody>
      </p:sp>
      <p:sp>
        <p:nvSpPr>
          <p:cNvPr id="686" name="Google Shape;686;p51"/>
          <p:cNvSpPr txBox="1"/>
          <p:nvPr/>
        </p:nvSpPr>
        <p:spPr>
          <a:xfrm>
            <a:off x="8136000" y="104275"/>
            <a:ext cx="916800" cy="190200"/>
          </a:xfrm>
          <a:prstGeom prst="rect">
            <a:avLst/>
          </a:prstGeom>
          <a:solidFill>
            <a:srgbClr val="DC0451"/>
          </a:solidFill>
          <a:ln>
            <a:noFill/>
          </a:ln>
        </p:spPr>
        <p:txBody>
          <a:bodyPr anchorCtr="0" anchor="t" bIns="91425" lIns="91425" spcFirstLastPara="1" rIns="91425" wrap="square" tIns="91425">
            <a:noAutofit/>
          </a:bodyPr>
          <a:lstStyle/>
          <a:p>
            <a:pPr indent="0" lvl="0" marL="0" rtl="0" algn="ctr">
              <a:lnSpc>
                <a:spcPct val="50000"/>
              </a:lnSpc>
              <a:spcBef>
                <a:spcPts val="0"/>
              </a:spcBef>
              <a:spcAft>
                <a:spcPts val="0"/>
              </a:spcAft>
              <a:buNone/>
            </a:pPr>
            <a:r>
              <a:rPr b="1" lang="ja" sz="700">
                <a:solidFill>
                  <a:srgbClr val="FFFFFF"/>
                </a:solidFill>
                <a:latin typeface="M PLUS 1p"/>
                <a:ea typeface="M PLUS 1p"/>
                <a:cs typeface="M PLUS 1p"/>
                <a:sym typeface="M PLUS 1p"/>
              </a:rPr>
              <a:t>CONFIDENTIAL</a:t>
            </a:r>
            <a:endParaRPr b="1" sz="700">
              <a:solidFill>
                <a:srgbClr val="FFFFFF"/>
              </a:solidFill>
              <a:latin typeface="M PLUS 1p"/>
              <a:ea typeface="M PLUS 1p"/>
              <a:cs typeface="M PLUS 1p"/>
              <a:sym typeface="M PLUS 1p"/>
            </a:endParaRPr>
          </a:p>
        </p:txBody>
      </p:sp>
      <p:sp>
        <p:nvSpPr>
          <p:cNvPr id="687" name="Google Shape;687;p51"/>
          <p:cNvSpPr txBox="1"/>
          <p:nvPr/>
        </p:nvSpPr>
        <p:spPr>
          <a:xfrm>
            <a:off x="712300" y="294475"/>
            <a:ext cx="7710000" cy="48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2000">
                <a:solidFill>
                  <a:srgbClr val="1F1F1F"/>
                </a:solidFill>
                <a:latin typeface="M PLUS 1p"/>
                <a:ea typeface="M PLUS 1p"/>
                <a:cs typeface="M PLUS 1p"/>
                <a:sym typeface="M PLUS 1p"/>
              </a:rPr>
              <a:t>Appendix:事業</a:t>
            </a:r>
            <a:r>
              <a:rPr b="1" lang="ja" sz="2000">
                <a:solidFill>
                  <a:srgbClr val="1F1F1F"/>
                </a:solidFill>
                <a:latin typeface="M PLUS 1p"/>
                <a:ea typeface="M PLUS 1p"/>
                <a:cs typeface="M PLUS 1p"/>
                <a:sym typeface="M PLUS 1p"/>
              </a:rPr>
              <a:t>本部別</a:t>
            </a:r>
            <a:r>
              <a:rPr b="1" lang="ja" sz="2000">
                <a:solidFill>
                  <a:srgbClr val="1F1F1F"/>
                </a:solidFill>
                <a:latin typeface="M PLUS 1p"/>
                <a:ea typeface="M PLUS 1p"/>
                <a:cs typeface="M PLUS 1p"/>
                <a:sym typeface="M PLUS 1p"/>
              </a:rPr>
              <a:t>①</a:t>
            </a:r>
            <a:r>
              <a:rPr b="1" lang="ja" sz="2000">
                <a:solidFill>
                  <a:srgbClr val="1F1F1F"/>
                </a:solidFill>
                <a:latin typeface="M PLUS 1p"/>
                <a:ea typeface="M PLUS 1p"/>
                <a:cs typeface="M PLUS 1p"/>
                <a:sym typeface="M PLUS 1p"/>
              </a:rPr>
              <a:t>_</a:t>
            </a:r>
            <a:r>
              <a:rPr b="1" lang="ja" sz="2000">
                <a:solidFill>
                  <a:srgbClr val="1F1F1F"/>
                </a:solidFill>
                <a:latin typeface="M PLUS 1p"/>
                <a:ea typeface="M PLUS 1p"/>
                <a:cs typeface="M PLUS 1p"/>
                <a:sym typeface="M PLUS 1p"/>
              </a:rPr>
              <a:t>アクセス店舗率</a:t>
            </a:r>
            <a:endParaRPr b="1" sz="2000">
              <a:solidFill>
                <a:srgbClr val="1F1F1F"/>
              </a:solidFill>
              <a:latin typeface="M PLUS 1p"/>
              <a:ea typeface="M PLUS 1p"/>
              <a:cs typeface="M PLUS 1p"/>
              <a:sym typeface="M PLUS 1p"/>
            </a:endParaRPr>
          </a:p>
        </p:txBody>
      </p:sp>
      <p:pic>
        <p:nvPicPr>
          <p:cNvPr id="688" name="Google Shape;688;p51" title="グラフ"/>
          <p:cNvPicPr preferRelativeResize="0"/>
          <p:nvPr/>
        </p:nvPicPr>
        <p:blipFill>
          <a:blip r:embed="rId3">
            <a:alphaModFix/>
          </a:blip>
          <a:stretch>
            <a:fillRect/>
          </a:stretch>
        </p:blipFill>
        <p:spPr>
          <a:xfrm>
            <a:off x="188750" y="1578925"/>
            <a:ext cx="4264551" cy="2884249"/>
          </a:xfrm>
          <a:prstGeom prst="rect">
            <a:avLst/>
          </a:prstGeom>
          <a:noFill/>
          <a:ln>
            <a:noFill/>
          </a:ln>
        </p:spPr>
      </p:pic>
      <p:pic>
        <p:nvPicPr>
          <p:cNvPr id="689" name="Google Shape;689;p51" title="グラフ"/>
          <p:cNvPicPr preferRelativeResize="0"/>
          <p:nvPr/>
        </p:nvPicPr>
        <p:blipFill>
          <a:blip r:embed="rId4">
            <a:alphaModFix/>
          </a:blip>
          <a:stretch>
            <a:fillRect/>
          </a:stretch>
        </p:blipFill>
        <p:spPr>
          <a:xfrm>
            <a:off x="4690700" y="1578918"/>
            <a:ext cx="4264551" cy="2884258"/>
          </a:xfrm>
          <a:prstGeom prst="rect">
            <a:avLst/>
          </a:prstGeom>
          <a:noFill/>
          <a:ln>
            <a:noFill/>
          </a:ln>
        </p:spPr>
      </p:pic>
      <p:sp>
        <p:nvSpPr>
          <p:cNvPr id="690" name="Google Shape;690;p51"/>
          <p:cNvSpPr txBox="1"/>
          <p:nvPr/>
        </p:nvSpPr>
        <p:spPr>
          <a:xfrm>
            <a:off x="432350" y="778975"/>
            <a:ext cx="8620500" cy="754500"/>
          </a:xfrm>
          <a:prstGeom prst="rect">
            <a:avLst/>
          </a:prstGeom>
          <a:noFill/>
          <a:ln>
            <a:noFill/>
          </a:ln>
        </p:spPr>
        <p:txBody>
          <a:bodyPr anchorCtr="0" anchor="t" bIns="91425" lIns="91425" spcFirstLastPara="1" rIns="91425" wrap="square" tIns="91425">
            <a:noAutofit/>
          </a:bodyPr>
          <a:lstStyle/>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飲食・流通は全体の傾向と類似</a:t>
            </a:r>
            <a:endParaRPr sz="1600">
              <a:solidFill>
                <a:srgbClr val="1F1F1F"/>
              </a:solidFill>
              <a:latin typeface="M PLUS 1p"/>
              <a:ea typeface="M PLUS 1p"/>
              <a:cs typeface="M PLUS 1p"/>
              <a:sym typeface="M PLUS 1p"/>
            </a:endParaRPr>
          </a:p>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物流・製造は募集ルーティンが長く、７日ごとにはなっていない</a:t>
            </a:r>
            <a:endParaRPr sz="1600">
              <a:solidFill>
                <a:srgbClr val="1F1F1F"/>
              </a:solidFill>
              <a:latin typeface="M PLUS 1p"/>
              <a:ea typeface="M PLUS 1p"/>
              <a:cs typeface="M PLUS 1p"/>
              <a:sym typeface="M PLUS 1p"/>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94" name="Shape 694"/>
        <p:cNvGrpSpPr/>
        <p:nvPr/>
      </p:nvGrpSpPr>
      <p:grpSpPr>
        <a:xfrm>
          <a:off x="0" y="0"/>
          <a:ext cx="0" cy="0"/>
          <a:chOff x="0" y="0"/>
          <a:chExt cx="0" cy="0"/>
        </a:xfrm>
      </p:grpSpPr>
      <p:sp>
        <p:nvSpPr>
          <p:cNvPr id="695" name="Google Shape;695;p52"/>
          <p:cNvSpPr/>
          <p:nvPr/>
        </p:nvSpPr>
        <p:spPr>
          <a:xfrm>
            <a:off x="342900" y="365275"/>
            <a:ext cx="342900" cy="342900"/>
          </a:xfrm>
          <a:prstGeom prst="ellipse">
            <a:avLst/>
          </a:prstGeom>
          <a:solidFill>
            <a:srgbClr val="0B539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 name="Google Shape;696;p52"/>
          <p:cNvSpPr txBox="1"/>
          <p:nvPr/>
        </p:nvSpPr>
        <p:spPr>
          <a:xfrm>
            <a:off x="372058" y="339925"/>
            <a:ext cx="3429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300">
                <a:solidFill>
                  <a:srgbClr val="FFFFFF"/>
                </a:solidFill>
                <a:latin typeface="Zen Kaku Gothic New"/>
                <a:ea typeface="Zen Kaku Gothic New"/>
                <a:cs typeface="Zen Kaku Gothic New"/>
                <a:sym typeface="Zen Kaku Gothic New"/>
              </a:rPr>
              <a:t>13</a:t>
            </a:r>
            <a:endParaRPr b="1" sz="1300">
              <a:solidFill>
                <a:srgbClr val="FFFFFF"/>
              </a:solidFill>
              <a:latin typeface="Zen Kaku Gothic New"/>
              <a:ea typeface="Zen Kaku Gothic New"/>
              <a:cs typeface="Zen Kaku Gothic New"/>
              <a:sym typeface="Zen Kaku Gothic New"/>
            </a:endParaRPr>
          </a:p>
        </p:txBody>
      </p:sp>
      <p:sp>
        <p:nvSpPr>
          <p:cNvPr id="697" name="Google Shape;697;p52"/>
          <p:cNvSpPr txBox="1"/>
          <p:nvPr/>
        </p:nvSpPr>
        <p:spPr>
          <a:xfrm>
            <a:off x="8136000" y="104275"/>
            <a:ext cx="916800" cy="190200"/>
          </a:xfrm>
          <a:prstGeom prst="rect">
            <a:avLst/>
          </a:prstGeom>
          <a:solidFill>
            <a:srgbClr val="DC0451"/>
          </a:solidFill>
          <a:ln>
            <a:noFill/>
          </a:ln>
        </p:spPr>
        <p:txBody>
          <a:bodyPr anchorCtr="0" anchor="t" bIns="91425" lIns="91425" spcFirstLastPara="1" rIns="91425" wrap="square" tIns="91425">
            <a:noAutofit/>
          </a:bodyPr>
          <a:lstStyle/>
          <a:p>
            <a:pPr indent="0" lvl="0" marL="0" rtl="0" algn="ctr">
              <a:lnSpc>
                <a:spcPct val="50000"/>
              </a:lnSpc>
              <a:spcBef>
                <a:spcPts val="0"/>
              </a:spcBef>
              <a:spcAft>
                <a:spcPts val="0"/>
              </a:spcAft>
              <a:buNone/>
            </a:pPr>
            <a:r>
              <a:rPr b="1" lang="ja" sz="700">
                <a:solidFill>
                  <a:srgbClr val="FFFFFF"/>
                </a:solidFill>
                <a:latin typeface="M PLUS 1p"/>
                <a:ea typeface="M PLUS 1p"/>
                <a:cs typeface="M PLUS 1p"/>
                <a:sym typeface="M PLUS 1p"/>
              </a:rPr>
              <a:t>CONFIDENTIAL</a:t>
            </a:r>
            <a:endParaRPr b="1" sz="700">
              <a:solidFill>
                <a:srgbClr val="FFFFFF"/>
              </a:solidFill>
              <a:latin typeface="M PLUS 1p"/>
              <a:ea typeface="M PLUS 1p"/>
              <a:cs typeface="M PLUS 1p"/>
              <a:sym typeface="M PLUS 1p"/>
            </a:endParaRPr>
          </a:p>
        </p:txBody>
      </p:sp>
      <p:sp>
        <p:nvSpPr>
          <p:cNvPr id="698" name="Google Shape;698;p52"/>
          <p:cNvSpPr txBox="1"/>
          <p:nvPr/>
        </p:nvSpPr>
        <p:spPr>
          <a:xfrm>
            <a:off x="712300" y="294475"/>
            <a:ext cx="7710000" cy="48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2000">
                <a:solidFill>
                  <a:srgbClr val="1F1F1F"/>
                </a:solidFill>
                <a:latin typeface="M PLUS 1p"/>
                <a:ea typeface="M PLUS 1p"/>
                <a:cs typeface="M PLUS 1p"/>
                <a:sym typeface="M PLUS 1p"/>
              </a:rPr>
              <a:t>Appendix:事業</a:t>
            </a:r>
            <a:r>
              <a:rPr b="1" lang="ja" sz="2000">
                <a:solidFill>
                  <a:srgbClr val="1F1F1F"/>
                </a:solidFill>
                <a:latin typeface="M PLUS 1p"/>
                <a:ea typeface="M PLUS 1p"/>
                <a:cs typeface="M PLUS 1p"/>
                <a:sym typeface="M PLUS 1p"/>
              </a:rPr>
              <a:t>本部別</a:t>
            </a:r>
            <a:r>
              <a:rPr b="1" lang="ja" sz="2000">
                <a:solidFill>
                  <a:srgbClr val="1F1F1F"/>
                </a:solidFill>
                <a:latin typeface="M PLUS 1p"/>
                <a:ea typeface="M PLUS 1p"/>
                <a:cs typeface="M PLUS 1p"/>
                <a:sym typeface="M PLUS 1p"/>
              </a:rPr>
              <a:t>②</a:t>
            </a:r>
            <a:r>
              <a:rPr b="1" lang="ja" sz="2000">
                <a:solidFill>
                  <a:srgbClr val="1F1F1F"/>
                </a:solidFill>
                <a:latin typeface="M PLUS 1p"/>
                <a:ea typeface="M PLUS 1p"/>
                <a:cs typeface="M PLUS 1p"/>
                <a:sym typeface="M PLUS 1p"/>
              </a:rPr>
              <a:t>_アクセス</a:t>
            </a:r>
            <a:r>
              <a:rPr b="1" lang="ja" sz="2000">
                <a:solidFill>
                  <a:srgbClr val="1F1F1F"/>
                </a:solidFill>
                <a:latin typeface="M PLUS 1p"/>
                <a:ea typeface="M PLUS 1p"/>
                <a:cs typeface="M PLUS 1p"/>
                <a:sym typeface="M PLUS 1p"/>
              </a:rPr>
              <a:t>店舗</a:t>
            </a:r>
            <a:r>
              <a:rPr b="1" lang="ja" sz="2000">
                <a:solidFill>
                  <a:srgbClr val="1F1F1F"/>
                </a:solidFill>
                <a:latin typeface="M PLUS 1p"/>
                <a:ea typeface="M PLUS 1p"/>
                <a:cs typeface="M PLUS 1p"/>
                <a:sym typeface="M PLUS 1p"/>
              </a:rPr>
              <a:t>率</a:t>
            </a:r>
            <a:endParaRPr b="1" sz="2000">
              <a:solidFill>
                <a:srgbClr val="1F1F1F"/>
              </a:solidFill>
              <a:latin typeface="M PLUS 1p"/>
              <a:ea typeface="M PLUS 1p"/>
              <a:cs typeface="M PLUS 1p"/>
              <a:sym typeface="M PLUS 1p"/>
            </a:endParaRPr>
          </a:p>
        </p:txBody>
      </p:sp>
      <p:pic>
        <p:nvPicPr>
          <p:cNvPr id="699" name="Google Shape;699;p52" title="グラフ"/>
          <p:cNvPicPr preferRelativeResize="0"/>
          <p:nvPr/>
        </p:nvPicPr>
        <p:blipFill>
          <a:blip r:embed="rId3">
            <a:alphaModFix/>
          </a:blip>
          <a:stretch>
            <a:fillRect/>
          </a:stretch>
        </p:blipFill>
        <p:spPr>
          <a:xfrm>
            <a:off x="148525" y="1583011"/>
            <a:ext cx="4264551" cy="2884276"/>
          </a:xfrm>
          <a:prstGeom prst="rect">
            <a:avLst/>
          </a:prstGeom>
          <a:noFill/>
          <a:ln>
            <a:noFill/>
          </a:ln>
        </p:spPr>
      </p:pic>
      <p:sp>
        <p:nvSpPr>
          <p:cNvPr id="700" name="Google Shape;700;p52"/>
          <p:cNvSpPr txBox="1"/>
          <p:nvPr/>
        </p:nvSpPr>
        <p:spPr>
          <a:xfrm>
            <a:off x="432350" y="778975"/>
            <a:ext cx="8620500" cy="754500"/>
          </a:xfrm>
          <a:prstGeom prst="rect">
            <a:avLst/>
          </a:prstGeom>
          <a:noFill/>
          <a:ln>
            <a:noFill/>
          </a:ln>
        </p:spPr>
        <p:txBody>
          <a:bodyPr anchorCtr="0" anchor="t" bIns="91425" lIns="91425" spcFirstLastPara="1" rIns="91425" wrap="square" tIns="91425">
            <a:noAutofit/>
          </a:bodyPr>
          <a:lstStyle/>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市場開発</a:t>
            </a:r>
            <a:r>
              <a:rPr lang="ja" sz="1600">
                <a:solidFill>
                  <a:srgbClr val="1F1F1F"/>
                </a:solidFill>
                <a:latin typeface="M PLUS 1p"/>
                <a:ea typeface="M PLUS 1p"/>
                <a:cs typeface="M PLUS 1p"/>
                <a:sym typeface="M PLUS 1p"/>
              </a:rPr>
              <a:t>は全体の傾向と類似</a:t>
            </a:r>
            <a:r>
              <a:rPr lang="ja" sz="1600">
                <a:solidFill>
                  <a:srgbClr val="1F1F1F"/>
                </a:solidFill>
                <a:latin typeface="M PLUS 1p"/>
                <a:ea typeface="M PLUS 1p"/>
                <a:cs typeface="M PLUS 1p"/>
                <a:sym typeface="M PLUS 1p"/>
              </a:rPr>
              <a:t>、アクセスのみの</a:t>
            </a:r>
            <a:r>
              <a:rPr lang="ja" sz="1600">
                <a:solidFill>
                  <a:srgbClr val="1F1F1F"/>
                </a:solidFill>
                <a:latin typeface="M PLUS 1p"/>
                <a:ea typeface="M PLUS 1p"/>
                <a:cs typeface="M PLUS 1p"/>
                <a:sym typeface="M PLUS 1p"/>
              </a:rPr>
              <a:t>店舗</a:t>
            </a:r>
            <a:r>
              <a:rPr lang="ja" sz="1600">
                <a:solidFill>
                  <a:srgbClr val="1F1F1F"/>
                </a:solidFill>
                <a:latin typeface="M PLUS 1p"/>
                <a:ea typeface="M PLUS 1p"/>
                <a:cs typeface="M PLUS 1p"/>
                <a:sym typeface="M PLUS 1p"/>
              </a:rPr>
              <a:t>がやや多い</a:t>
            </a:r>
            <a:endParaRPr sz="1600">
              <a:solidFill>
                <a:srgbClr val="1F1F1F"/>
              </a:solidFill>
              <a:latin typeface="M PLUS 1p"/>
              <a:ea typeface="M PLUS 1p"/>
              <a:cs typeface="M PLUS 1p"/>
              <a:sym typeface="M PLUS 1p"/>
            </a:endParaRPr>
          </a:p>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SMBは</a:t>
            </a:r>
            <a:r>
              <a:rPr lang="ja" sz="1600">
                <a:solidFill>
                  <a:srgbClr val="1F1F1F"/>
                </a:solidFill>
                <a:latin typeface="M PLUS 1p"/>
                <a:ea typeface="M PLUS 1p"/>
                <a:cs typeface="M PLUS 1p"/>
                <a:sym typeface="M PLUS 1p"/>
              </a:rPr>
              <a:t>全体の傾向と類似</a:t>
            </a:r>
            <a:endParaRPr sz="1600">
              <a:solidFill>
                <a:srgbClr val="1F1F1F"/>
              </a:solidFill>
              <a:latin typeface="M PLUS 1p"/>
              <a:ea typeface="M PLUS 1p"/>
              <a:cs typeface="M PLUS 1p"/>
              <a:sym typeface="M PLUS 1p"/>
            </a:endParaRPr>
          </a:p>
        </p:txBody>
      </p:sp>
      <p:pic>
        <p:nvPicPr>
          <p:cNvPr id="701" name="Google Shape;701;p52" title="グラフ"/>
          <p:cNvPicPr preferRelativeResize="0"/>
          <p:nvPr/>
        </p:nvPicPr>
        <p:blipFill>
          <a:blip r:embed="rId4">
            <a:alphaModFix/>
          </a:blip>
          <a:stretch>
            <a:fillRect/>
          </a:stretch>
        </p:blipFill>
        <p:spPr>
          <a:xfrm>
            <a:off x="4730925" y="1583012"/>
            <a:ext cx="4264551" cy="2884262"/>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05" name="Shape 705"/>
        <p:cNvGrpSpPr/>
        <p:nvPr/>
      </p:nvGrpSpPr>
      <p:grpSpPr>
        <a:xfrm>
          <a:off x="0" y="0"/>
          <a:ext cx="0" cy="0"/>
          <a:chOff x="0" y="0"/>
          <a:chExt cx="0" cy="0"/>
        </a:xfrm>
      </p:grpSpPr>
      <p:sp>
        <p:nvSpPr>
          <p:cNvPr id="706" name="Google Shape;706;p53"/>
          <p:cNvSpPr/>
          <p:nvPr/>
        </p:nvSpPr>
        <p:spPr>
          <a:xfrm>
            <a:off x="342900" y="365275"/>
            <a:ext cx="342900" cy="342900"/>
          </a:xfrm>
          <a:prstGeom prst="ellipse">
            <a:avLst/>
          </a:prstGeom>
          <a:solidFill>
            <a:srgbClr val="0B539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 name="Google Shape;707;p53"/>
          <p:cNvSpPr txBox="1"/>
          <p:nvPr/>
        </p:nvSpPr>
        <p:spPr>
          <a:xfrm>
            <a:off x="372058" y="339925"/>
            <a:ext cx="3429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300">
                <a:solidFill>
                  <a:srgbClr val="FFFFFF"/>
                </a:solidFill>
                <a:latin typeface="Zen Kaku Gothic New"/>
                <a:ea typeface="Zen Kaku Gothic New"/>
                <a:cs typeface="Zen Kaku Gothic New"/>
                <a:sym typeface="Zen Kaku Gothic New"/>
              </a:rPr>
              <a:t>14</a:t>
            </a:r>
            <a:endParaRPr b="1" sz="1300">
              <a:solidFill>
                <a:srgbClr val="FFFFFF"/>
              </a:solidFill>
              <a:latin typeface="Zen Kaku Gothic New"/>
              <a:ea typeface="Zen Kaku Gothic New"/>
              <a:cs typeface="Zen Kaku Gothic New"/>
              <a:sym typeface="Zen Kaku Gothic New"/>
            </a:endParaRPr>
          </a:p>
        </p:txBody>
      </p:sp>
      <p:sp>
        <p:nvSpPr>
          <p:cNvPr id="708" name="Google Shape;708;p53"/>
          <p:cNvSpPr txBox="1"/>
          <p:nvPr/>
        </p:nvSpPr>
        <p:spPr>
          <a:xfrm>
            <a:off x="8136000" y="104275"/>
            <a:ext cx="916800" cy="190200"/>
          </a:xfrm>
          <a:prstGeom prst="rect">
            <a:avLst/>
          </a:prstGeom>
          <a:solidFill>
            <a:srgbClr val="DC0451"/>
          </a:solidFill>
          <a:ln>
            <a:noFill/>
          </a:ln>
        </p:spPr>
        <p:txBody>
          <a:bodyPr anchorCtr="0" anchor="t" bIns="91425" lIns="91425" spcFirstLastPara="1" rIns="91425" wrap="square" tIns="91425">
            <a:noAutofit/>
          </a:bodyPr>
          <a:lstStyle/>
          <a:p>
            <a:pPr indent="0" lvl="0" marL="0" rtl="0" algn="ctr">
              <a:lnSpc>
                <a:spcPct val="50000"/>
              </a:lnSpc>
              <a:spcBef>
                <a:spcPts val="0"/>
              </a:spcBef>
              <a:spcAft>
                <a:spcPts val="0"/>
              </a:spcAft>
              <a:buNone/>
            </a:pPr>
            <a:r>
              <a:rPr b="1" lang="ja" sz="700">
                <a:solidFill>
                  <a:srgbClr val="FFFFFF"/>
                </a:solidFill>
                <a:latin typeface="M PLUS 1p"/>
                <a:ea typeface="M PLUS 1p"/>
                <a:cs typeface="M PLUS 1p"/>
                <a:sym typeface="M PLUS 1p"/>
              </a:rPr>
              <a:t>CONFIDENTIAL</a:t>
            </a:r>
            <a:endParaRPr b="1" sz="700">
              <a:solidFill>
                <a:srgbClr val="FFFFFF"/>
              </a:solidFill>
              <a:latin typeface="M PLUS 1p"/>
              <a:ea typeface="M PLUS 1p"/>
              <a:cs typeface="M PLUS 1p"/>
              <a:sym typeface="M PLUS 1p"/>
            </a:endParaRPr>
          </a:p>
        </p:txBody>
      </p:sp>
      <p:sp>
        <p:nvSpPr>
          <p:cNvPr id="709" name="Google Shape;709;p53"/>
          <p:cNvSpPr txBox="1"/>
          <p:nvPr/>
        </p:nvSpPr>
        <p:spPr>
          <a:xfrm>
            <a:off x="712300" y="294475"/>
            <a:ext cx="7710000" cy="48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2000">
                <a:solidFill>
                  <a:srgbClr val="1F1F1F"/>
                </a:solidFill>
                <a:latin typeface="M PLUS 1p"/>
                <a:ea typeface="M PLUS 1p"/>
                <a:cs typeface="M PLUS 1p"/>
                <a:sym typeface="M PLUS 1p"/>
              </a:rPr>
              <a:t>Appendix:SMB_high/low</a:t>
            </a:r>
            <a:r>
              <a:rPr b="1" lang="ja" sz="2000">
                <a:solidFill>
                  <a:srgbClr val="1F1F1F"/>
                </a:solidFill>
                <a:latin typeface="M PLUS 1p"/>
                <a:ea typeface="M PLUS 1p"/>
                <a:cs typeface="M PLUS 1p"/>
                <a:sym typeface="M PLUS 1p"/>
              </a:rPr>
              <a:t>別</a:t>
            </a:r>
            <a:r>
              <a:rPr b="1" lang="ja" sz="2000">
                <a:solidFill>
                  <a:srgbClr val="1F1F1F"/>
                </a:solidFill>
                <a:latin typeface="M PLUS 1p"/>
                <a:ea typeface="M PLUS 1p"/>
                <a:cs typeface="M PLUS 1p"/>
                <a:sym typeface="M PLUS 1p"/>
              </a:rPr>
              <a:t>_アクセス</a:t>
            </a:r>
            <a:r>
              <a:rPr b="1" lang="ja" sz="2000">
                <a:solidFill>
                  <a:srgbClr val="1F1F1F"/>
                </a:solidFill>
                <a:latin typeface="M PLUS 1p"/>
                <a:ea typeface="M PLUS 1p"/>
                <a:cs typeface="M PLUS 1p"/>
                <a:sym typeface="M PLUS 1p"/>
              </a:rPr>
              <a:t>店舗</a:t>
            </a:r>
            <a:r>
              <a:rPr b="1" lang="ja" sz="2000">
                <a:solidFill>
                  <a:srgbClr val="1F1F1F"/>
                </a:solidFill>
                <a:latin typeface="M PLUS 1p"/>
                <a:ea typeface="M PLUS 1p"/>
                <a:cs typeface="M PLUS 1p"/>
                <a:sym typeface="M PLUS 1p"/>
              </a:rPr>
              <a:t>率</a:t>
            </a:r>
            <a:endParaRPr b="1" sz="2000">
              <a:solidFill>
                <a:srgbClr val="1F1F1F"/>
              </a:solidFill>
              <a:latin typeface="M PLUS 1p"/>
              <a:ea typeface="M PLUS 1p"/>
              <a:cs typeface="M PLUS 1p"/>
              <a:sym typeface="M PLUS 1p"/>
            </a:endParaRPr>
          </a:p>
        </p:txBody>
      </p:sp>
      <p:pic>
        <p:nvPicPr>
          <p:cNvPr id="710" name="Google Shape;710;p53" title="グラフ"/>
          <p:cNvPicPr preferRelativeResize="0"/>
          <p:nvPr/>
        </p:nvPicPr>
        <p:blipFill>
          <a:blip r:embed="rId3">
            <a:alphaModFix/>
          </a:blip>
          <a:stretch>
            <a:fillRect/>
          </a:stretch>
        </p:blipFill>
        <p:spPr>
          <a:xfrm>
            <a:off x="153063" y="1582996"/>
            <a:ext cx="4264551" cy="2884278"/>
          </a:xfrm>
          <a:prstGeom prst="rect">
            <a:avLst/>
          </a:prstGeom>
          <a:noFill/>
          <a:ln>
            <a:noFill/>
          </a:ln>
        </p:spPr>
      </p:pic>
      <p:pic>
        <p:nvPicPr>
          <p:cNvPr id="711" name="Google Shape;711;p53" title="グラフ"/>
          <p:cNvPicPr preferRelativeResize="0"/>
          <p:nvPr/>
        </p:nvPicPr>
        <p:blipFill>
          <a:blip r:embed="rId4">
            <a:alphaModFix/>
          </a:blip>
          <a:stretch>
            <a:fillRect/>
          </a:stretch>
        </p:blipFill>
        <p:spPr>
          <a:xfrm>
            <a:off x="4726387" y="1583012"/>
            <a:ext cx="4264551" cy="2884262"/>
          </a:xfrm>
          <a:prstGeom prst="rect">
            <a:avLst/>
          </a:prstGeom>
          <a:noFill/>
          <a:ln>
            <a:noFill/>
          </a:ln>
        </p:spPr>
      </p:pic>
      <p:sp>
        <p:nvSpPr>
          <p:cNvPr id="712" name="Google Shape;712;p53"/>
          <p:cNvSpPr txBox="1"/>
          <p:nvPr/>
        </p:nvSpPr>
        <p:spPr>
          <a:xfrm>
            <a:off x="432350" y="778975"/>
            <a:ext cx="8620500" cy="754500"/>
          </a:xfrm>
          <a:prstGeom prst="rect">
            <a:avLst/>
          </a:prstGeom>
          <a:noFill/>
          <a:ln>
            <a:noFill/>
          </a:ln>
        </p:spPr>
        <p:txBody>
          <a:bodyPr anchorCtr="0" anchor="t" bIns="91425" lIns="91425" spcFirstLastPara="1" rIns="91425" wrap="square" tIns="91425">
            <a:noAutofit/>
          </a:bodyPr>
          <a:lstStyle/>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highに比べると、lowはアクセスのみの</a:t>
            </a:r>
            <a:r>
              <a:rPr lang="ja" sz="1600">
                <a:solidFill>
                  <a:srgbClr val="1F1F1F"/>
                </a:solidFill>
                <a:latin typeface="M PLUS 1p"/>
                <a:ea typeface="M PLUS 1p"/>
                <a:cs typeface="M PLUS 1p"/>
                <a:sym typeface="M PLUS 1p"/>
              </a:rPr>
              <a:t>店舗</a:t>
            </a:r>
            <a:r>
              <a:rPr lang="ja" sz="1600">
                <a:solidFill>
                  <a:srgbClr val="1F1F1F"/>
                </a:solidFill>
                <a:latin typeface="M PLUS 1p"/>
                <a:ea typeface="M PLUS 1p"/>
                <a:cs typeface="M PLUS 1p"/>
                <a:sym typeface="M PLUS 1p"/>
              </a:rPr>
              <a:t>割合が半分程度</a:t>
            </a:r>
            <a:endParaRPr sz="1600">
              <a:solidFill>
                <a:srgbClr val="1F1F1F"/>
              </a:solidFill>
              <a:latin typeface="M PLUS 1p"/>
              <a:ea typeface="M PLUS 1p"/>
              <a:cs typeface="M PLUS 1p"/>
              <a:sym typeface="M PLUS 1p"/>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D700"/>
        </a:solidFill>
      </p:bgPr>
    </p:bg>
    <p:spTree>
      <p:nvGrpSpPr>
        <p:cNvPr id="716" name="Shape 716"/>
        <p:cNvGrpSpPr/>
        <p:nvPr/>
      </p:nvGrpSpPr>
      <p:grpSpPr>
        <a:xfrm>
          <a:off x="0" y="0"/>
          <a:ext cx="0" cy="0"/>
          <a:chOff x="0" y="0"/>
          <a:chExt cx="0" cy="0"/>
        </a:xfrm>
      </p:grpSpPr>
      <p:sp>
        <p:nvSpPr>
          <p:cNvPr id="717" name="Google Shape;717;p54"/>
          <p:cNvSpPr txBox="1"/>
          <p:nvPr/>
        </p:nvSpPr>
        <p:spPr>
          <a:xfrm>
            <a:off x="1174350" y="2026950"/>
            <a:ext cx="6795300" cy="1089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ja" sz="3200">
                <a:solidFill>
                  <a:srgbClr val="1F1F1F"/>
                </a:solidFill>
                <a:latin typeface="M PLUS 1p"/>
                <a:ea typeface="M PLUS 1p"/>
                <a:cs typeface="M PLUS 1p"/>
                <a:sym typeface="M PLUS 1p"/>
              </a:rPr>
              <a:t>3ヶ月連続掲載しなかった場合は</a:t>
            </a:r>
            <a:endParaRPr b="1" sz="3200">
              <a:solidFill>
                <a:srgbClr val="1F1F1F"/>
              </a:solidFill>
              <a:latin typeface="M PLUS 1p"/>
              <a:ea typeface="M PLUS 1p"/>
              <a:cs typeface="M PLUS 1p"/>
              <a:sym typeface="M PLUS 1p"/>
            </a:endParaRPr>
          </a:p>
          <a:p>
            <a:pPr indent="0" lvl="0" marL="0" rtl="0" algn="ctr">
              <a:spcBef>
                <a:spcPts val="0"/>
              </a:spcBef>
              <a:spcAft>
                <a:spcPts val="0"/>
              </a:spcAft>
              <a:buNone/>
            </a:pPr>
            <a:r>
              <a:rPr b="1" lang="ja" sz="3200">
                <a:solidFill>
                  <a:srgbClr val="1F1F1F"/>
                </a:solidFill>
                <a:latin typeface="M PLUS 1p"/>
                <a:ea typeface="M PLUS 1p"/>
                <a:cs typeface="M PLUS 1p"/>
                <a:sym typeface="M PLUS 1p"/>
              </a:rPr>
              <a:t>どうすべきか</a:t>
            </a:r>
            <a:endParaRPr b="1" sz="3200">
              <a:solidFill>
                <a:srgbClr val="1F1F1F"/>
              </a:solidFill>
              <a:latin typeface="M PLUS 1p"/>
              <a:ea typeface="M PLUS 1p"/>
              <a:cs typeface="M PLUS 1p"/>
              <a:sym typeface="M PLUS 1p"/>
            </a:endParaRPr>
          </a:p>
        </p:txBody>
      </p:sp>
      <p:sp>
        <p:nvSpPr>
          <p:cNvPr id="718" name="Google Shape;718;p5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22" name="Shape 722"/>
        <p:cNvGrpSpPr/>
        <p:nvPr/>
      </p:nvGrpSpPr>
      <p:grpSpPr>
        <a:xfrm>
          <a:off x="0" y="0"/>
          <a:ext cx="0" cy="0"/>
          <a:chOff x="0" y="0"/>
          <a:chExt cx="0" cy="0"/>
        </a:xfrm>
      </p:grpSpPr>
      <p:sp>
        <p:nvSpPr>
          <p:cNvPr id="723" name="Google Shape;723;p55"/>
          <p:cNvSpPr/>
          <p:nvPr/>
        </p:nvSpPr>
        <p:spPr>
          <a:xfrm>
            <a:off x="342900" y="1096200"/>
            <a:ext cx="8581200" cy="4003500"/>
          </a:xfrm>
          <a:prstGeom prst="roundRect">
            <a:avLst>
              <a:gd fmla="val 16667" name="adj"/>
            </a:avLst>
          </a:prstGeom>
          <a:noFill/>
          <a:ln cap="flat" cmpd="sng" w="28575">
            <a:solidFill>
              <a:srgbClr val="FCE5C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24" name="Google Shape;724;p55"/>
          <p:cNvSpPr/>
          <p:nvPr/>
        </p:nvSpPr>
        <p:spPr>
          <a:xfrm>
            <a:off x="2164950" y="1794525"/>
            <a:ext cx="548700" cy="2443200"/>
          </a:xfrm>
          <a:prstGeom prst="roundRect">
            <a:avLst>
              <a:gd fmla="val 16667" name="adj"/>
            </a:avLst>
          </a:prstGeom>
          <a:noFill/>
          <a:ln cap="flat" cmpd="sng" w="28575">
            <a:solidFill>
              <a:srgbClr val="CFE2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25" name="Google Shape;725;p55"/>
          <p:cNvSpPr/>
          <p:nvPr/>
        </p:nvSpPr>
        <p:spPr>
          <a:xfrm>
            <a:off x="4428075" y="3459075"/>
            <a:ext cx="548700" cy="1422600"/>
          </a:xfrm>
          <a:prstGeom prst="roundRect">
            <a:avLst>
              <a:gd fmla="val 16667" name="adj"/>
            </a:avLst>
          </a:prstGeom>
          <a:noFill/>
          <a:ln cap="flat" cmpd="sng" w="28575">
            <a:solidFill>
              <a:srgbClr val="FFD7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26" name="Google Shape;726;p55"/>
          <p:cNvSpPr txBox="1"/>
          <p:nvPr/>
        </p:nvSpPr>
        <p:spPr>
          <a:xfrm>
            <a:off x="712300" y="294475"/>
            <a:ext cx="7710000" cy="48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2000">
                <a:solidFill>
                  <a:srgbClr val="1F1F1F"/>
                </a:solidFill>
                <a:latin typeface="M PLUS 1p"/>
                <a:ea typeface="M PLUS 1p"/>
                <a:cs typeface="M PLUS 1p"/>
                <a:sym typeface="M PLUS 1p"/>
              </a:rPr>
              <a:t>今回の分析</a:t>
            </a:r>
            <a:endParaRPr b="1" sz="2000">
              <a:solidFill>
                <a:srgbClr val="1F1F1F"/>
              </a:solidFill>
              <a:latin typeface="M PLUS 1p"/>
              <a:ea typeface="M PLUS 1p"/>
              <a:cs typeface="M PLUS 1p"/>
              <a:sym typeface="M PLUS 1p"/>
            </a:endParaRPr>
          </a:p>
        </p:txBody>
      </p:sp>
      <p:sp>
        <p:nvSpPr>
          <p:cNvPr id="727" name="Google Shape;727;p55"/>
          <p:cNvSpPr txBox="1"/>
          <p:nvPr/>
        </p:nvSpPr>
        <p:spPr>
          <a:xfrm>
            <a:off x="8136000" y="104275"/>
            <a:ext cx="916800" cy="190200"/>
          </a:xfrm>
          <a:prstGeom prst="rect">
            <a:avLst/>
          </a:prstGeom>
          <a:solidFill>
            <a:srgbClr val="DC0451"/>
          </a:solidFill>
          <a:ln>
            <a:noFill/>
          </a:ln>
        </p:spPr>
        <p:txBody>
          <a:bodyPr anchorCtr="0" anchor="t" bIns="91425" lIns="91425" spcFirstLastPara="1" rIns="91425" wrap="square" tIns="91425">
            <a:noAutofit/>
          </a:bodyPr>
          <a:lstStyle/>
          <a:p>
            <a:pPr indent="0" lvl="0" marL="0" rtl="0" algn="ctr">
              <a:lnSpc>
                <a:spcPct val="50000"/>
              </a:lnSpc>
              <a:spcBef>
                <a:spcPts val="0"/>
              </a:spcBef>
              <a:spcAft>
                <a:spcPts val="0"/>
              </a:spcAft>
              <a:buNone/>
            </a:pPr>
            <a:r>
              <a:rPr b="1" lang="ja" sz="700">
                <a:solidFill>
                  <a:srgbClr val="FFFFFF"/>
                </a:solidFill>
                <a:latin typeface="M PLUS 1p"/>
                <a:ea typeface="M PLUS 1p"/>
                <a:cs typeface="M PLUS 1p"/>
                <a:sym typeface="M PLUS 1p"/>
              </a:rPr>
              <a:t>CONFIDENTIAL</a:t>
            </a:r>
            <a:endParaRPr b="1" sz="700">
              <a:solidFill>
                <a:srgbClr val="FFFFFF"/>
              </a:solidFill>
              <a:latin typeface="M PLUS 1p"/>
              <a:ea typeface="M PLUS 1p"/>
              <a:cs typeface="M PLUS 1p"/>
              <a:sym typeface="M PLUS 1p"/>
            </a:endParaRPr>
          </a:p>
        </p:txBody>
      </p:sp>
      <p:sp>
        <p:nvSpPr>
          <p:cNvPr id="728" name="Google Shape;728;p5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729" name="Google Shape;729;p55"/>
          <p:cNvSpPr txBox="1"/>
          <p:nvPr/>
        </p:nvSpPr>
        <p:spPr>
          <a:xfrm>
            <a:off x="506550" y="2694063"/>
            <a:ext cx="1551900" cy="7650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1200">
                <a:solidFill>
                  <a:srgbClr val="1F1F1F"/>
                </a:solidFill>
                <a:latin typeface="M PLUS 1p"/>
                <a:ea typeface="M PLUS 1p"/>
                <a:cs typeface="M PLUS 1p"/>
                <a:sym typeface="M PLUS 1p"/>
              </a:rPr>
              <a:t>利用開始</a:t>
            </a:r>
            <a:endParaRPr sz="1200">
              <a:solidFill>
                <a:srgbClr val="1F1F1F"/>
              </a:solidFill>
              <a:latin typeface="M PLUS 1p"/>
              <a:ea typeface="M PLUS 1p"/>
              <a:cs typeface="M PLUS 1p"/>
              <a:sym typeface="M PLUS 1p"/>
            </a:endParaRPr>
          </a:p>
        </p:txBody>
      </p:sp>
      <p:sp>
        <p:nvSpPr>
          <p:cNvPr id="730" name="Google Shape;730;p55"/>
          <p:cNvSpPr txBox="1"/>
          <p:nvPr/>
        </p:nvSpPr>
        <p:spPr>
          <a:xfrm>
            <a:off x="2768297" y="1654488"/>
            <a:ext cx="1551900" cy="7650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1200">
                <a:solidFill>
                  <a:srgbClr val="1F1F1F"/>
                </a:solidFill>
                <a:latin typeface="M PLUS 1p"/>
                <a:ea typeface="M PLUS 1p"/>
                <a:cs typeface="M PLUS 1p"/>
                <a:sym typeface="M PLUS 1p"/>
              </a:rPr>
              <a:t>3ヶ月連続</a:t>
            </a:r>
            <a:endParaRPr sz="1200">
              <a:solidFill>
                <a:srgbClr val="1F1F1F"/>
              </a:solidFill>
              <a:latin typeface="M PLUS 1p"/>
              <a:ea typeface="M PLUS 1p"/>
              <a:cs typeface="M PLUS 1p"/>
              <a:sym typeface="M PLUS 1p"/>
            </a:endParaRPr>
          </a:p>
          <a:p>
            <a:pPr indent="0" lvl="0" marL="0" rtl="0" algn="ctr">
              <a:spcBef>
                <a:spcPts val="0"/>
              </a:spcBef>
              <a:spcAft>
                <a:spcPts val="0"/>
              </a:spcAft>
              <a:buNone/>
            </a:pPr>
            <a:r>
              <a:rPr lang="ja" sz="1200">
                <a:solidFill>
                  <a:srgbClr val="1F1F1F"/>
                </a:solidFill>
                <a:latin typeface="M PLUS 1p"/>
                <a:ea typeface="M PLUS 1p"/>
                <a:cs typeface="M PLUS 1p"/>
                <a:sym typeface="M PLUS 1p"/>
              </a:rPr>
              <a:t>掲載する</a:t>
            </a:r>
            <a:endParaRPr sz="1200">
              <a:solidFill>
                <a:srgbClr val="1F1F1F"/>
              </a:solidFill>
              <a:latin typeface="M PLUS 1p"/>
              <a:ea typeface="M PLUS 1p"/>
              <a:cs typeface="M PLUS 1p"/>
              <a:sym typeface="M PLUS 1p"/>
            </a:endParaRPr>
          </a:p>
        </p:txBody>
      </p:sp>
      <p:sp>
        <p:nvSpPr>
          <p:cNvPr id="731" name="Google Shape;731;p55"/>
          <p:cNvSpPr txBox="1"/>
          <p:nvPr/>
        </p:nvSpPr>
        <p:spPr>
          <a:xfrm>
            <a:off x="2768291" y="3707863"/>
            <a:ext cx="1551900" cy="7650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1200">
                <a:solidFill>
                  <a:srgbClr val="1F1F1F"/>
                </a:solidFill>
                <a:latin typeface="M PLUS 1p"/>
                <a:ea typeface="M PLUS 1p"/>
                <a:cs typeface="M PLUS 1p"/>
                <a:sym typeface="M PLUS 1p"/>
              </a:rPr>
              <a:t>3ヶ月連続掲載せず</a:t>
            </a:r>
            <a:endParaRPr sz="1200">
              <a:solidFill>
                <a:srgbClr val="1F1F1F"/>
              </a:solidFill>
              <a:latin typeface="M PLUS 1p"/>
              <a:ea typeface="M PLUS 1p"/>
              <a:cs typeface="M PLUS 1p"/>
              <a:sym typeface="M PLUS 1p"/>
            </a:endParaRPr>
          </a:p>
          <a:p>
            <a:pPr indent="0" lvl="0" marL="0" rtl="0" algn="ctr">
              <a:spcBef>
                <a:spcPts val="0"/>
              </a:spcBef>
              <a:spcAft>
                <a:spcPts val="0"/>
              </a:spcAft>
              <a:buNone/>
            </a:pPr>
            <a:r>
              <a:rPr lang="ja" sz="1200">
                <a:solidFill>
                  <a:srgbClr val="1F1F1F"/>
                </a:solidFill>
                <a:latin typeface="M PLUS 1p"/>
                <a:ea typeface="M PLUS 1p"/>
                <a:cs typeface="M PLUS 1p"/>
                <a:sym typeface="M PLUS 1p"/>
              </a:rPr>
              <a:t>離脱する</a:t>
            </a:r>
            <a:endParaRPr sz="1200">
              <a:solidFill>
                <a:srgbClr val="1F1F1F"/>
              </a:solidFill>
              <a:latin typeface="M PLUS 1p"/>
              <a:ea typeface="M PLUS 1p"/>
              <a:cs typeface="M PLUS 1p"/>
              <a:sym typeface="M PLUS 1p"/>
            </a:endParaRPr>
          </a:p>
        </p:txBody>
      </p:sp>
      <p:sp>
        <p:nvSpPr>
          <p:cNvPr id="732" name="Google Shape;732;p55"/>
          <p:cNvSpPr txBox="1"/>
          <p:nvPr/>
        </p:nvSpPr>
        <p:spPr>
          <a:xfrm>
            <a:off x="5030040" y="3277663"/>
            <a:ext cx="1551900" cy="7650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1200">
                <a:solidFill>
                  <a:srgbClr val="1F1F1F"/>
                </a:solidFill>
                <a:latin typeface="M PLUS 1p"/>
                <a:ea typeface="M PLUS 1p"/>
                <a:cs typeface="M PLUS 1p"/>
                <a:sym typeface="M PLUS 1p"/>
              </a:rPr>
              <a:t>復活する</a:t>
            </a:r>
            <a:endParaRPr sz="1200">
              <a:solidFill>
                <a:srgbClr val="1F1F1F"/>
              </a:solidFill>
              <a:latin typeface="M PLUS 1p"/>
              <a:ea typeface="M PLUS 1p"/>
              <a:cs typeface="M PLUS 1p"/>
              <a:sym typeface="M PLUS 1p"/>
            </a:endParaRPr>
          </a:p>
        </p:txBody>
      </p:sp>
      <p:sp>
        <p:nvSpPr>
          <p:cNvPr id="733" name="Google Shape;733;p55"/>
          <p:cNvSpPr txBox="1"/>
          <p:nvPr/>
        </p:nvSpPr>
        <p:spPr>
          <a:xfrm>
            <a:off x="5030040" y="4237838"/>
            <a:ext cx="1551900" cy="7650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1200">
                <a:solidFill>
                  <a:srgbClr val="1F1F1F"/>
                </a:solidFill>
                <a:latin typeface="M PLUS 1p"/>
                <a:ea typeface="M PLUS 1p"/>
                <a:cs typeface="M PLUS 1p"/>
                <a:sym typeface="M PLUS 1p"/>
              </a:rPr>
              <a:t>復活しない</a:t>
            </a:r>
            <a:endParaRPr sz="1200">
              <a:solidFill>
                <a:srgbClr val="1F1F1F"/>
              </a:solidFill>
              <a:latin typeface="M PLUS 1p"/>
              <a:ea typeface="M PLUS 1p"/>
              <a:cs typeface="M PLUS 1p"/>
              <a:sym typeface="M PLUS 1p"/>
            </a:endParaRPr>
          </a:p>
        </p:txBody>
      </p:sp>
      <p:sp>
        <p:nvSpPr>
          <p:cNvPr id="734" name="Google Shape;734;p55"/>
          <p:cNvSpPr txBox="1"/>
          <p:nvPr/>
        </p:nvSpPr>
        <p:spPr>
          <a:xfrm>
            <a:off x="5030043" y="1177063"/>
            <a:ext cx="1551900" cy="7650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1200">
                <a:solidFill>
                  <a:srgbClr val="1F1F1F"/>
                </a:solidFill>
                <a:latin typeface="M PLUS 1p"/>
                <a:ea typeface="M PLUS 1p"/>
                <a:cs typeface="M PLUS 1p"/>
                <a:sym typeface="M PLUS 1p"/>
              </a:rPr>
              <a:t>中長期的に</a:t>
            </a:r>
            <a:endParaRPr sz="1200">
              <a:solidFill>
                <a:srgbClr val="1F1F1F"/>
              </a:solidFill>
              <a:latin typeface="M PLUS 1p"/>
              <a:ea typeface="M PLUS 1p"/>
              <a:cs typeface="M PLUS 1p"/>
              <a:sym typeface="M PLUS 1p"/>
            </a:endParaRPr>
          </a:p>
          <a:p>
            <a:pPr indent="0" lvl="0" marL="0" rtl="0" algn="ctr">
              <a:spcBef>
                <a:spcPts val="0"/>
              </a:spcBef>
              <a:spcAft>
                <a:spcPts val="0"/>
              </a:spcAft>
              <a:buNone/>
            </a:pPr>
            <a:r>
              <a:rPr lang="ja" sz="1200">
                <a:solidFill>
                  <a:srgbClr val="1F1F1F"/>
                </a:solidFill>
                <a:latin typeface="M PLUS 1p"/>
                <a:ea typeface="M PLUS 1p"/>
                <a:cs typeface="M PLUS 1p"/>
                <a:sym typeface="M PLUS 1p"/>
              </a:rPr>
              <a:t>継続する</a:t>
            </a:r>
            <a:endParaRPr sz="1200">
              <a:solidFill>
                <a:srgbClr val="1F1F1F"/>
              </a:solidFill>
              <a:latin typeface="M PLUS 1p"/>
              <a:ea typeface="M PLUS 1p"/>
              <a:cs typeface="M PLUS 1p"/>
              <a:sym typeface="M PLUS 1p"/>
            </a:endParaRPr>
          </a:p>
        </p:txBody>
      </p:sp>
      <p:sp>
        <p:nvSpPr>
          <p:cNvPr id="735" name="Google Shape;735;p55"/>
          <p:cNvSpPr txBox="1"/>
          <p:nvPr/>
        </p:nvSpPr>
        <p:spPr>
          <a:xfrm>
            <a:off x="5030040" y="2163988"/>
            <a:ext cx="1551900" cy="7650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1200">
                <a:solidFill>
                  <a:srgbClr val="1F1F1F"/>
                </a:solidFill>
                <a:latin typeface="M PLUS 1p"/>
                <a:ea typeface="M PLUS 1p"/>
                <a:cs typeface="M PLUS 1p"/>
                <a:sym typeface="M PLUS 1p"/>
              </a:rPr>
              <a:t>中長期的に</a:t>
            </a:r>
            <a:endParaRPr sz="1200">
              <a:solidFill>
                <a:srgbClr val="1F1F1F"/>
              </a:solidFill>
              <a:latin typeface="M PLUS 1p"/>
              <a:ea typeface="M PLUS 1p"/>
              <a:cs typeface="M PLUS 1p"/>
              <a:sym typeface="M PLUS 1p"/>
            </a:endParaRPr>
          </a:p>
          <a:p>
            <a:pPr indent="0" lvl="0" marL="0" rtl="0" algn="ctr">
              <a:spcBef>
                <a:spcPts val="0"/>
              </a:spcBef>
              <a:spcAft>
                <a:spcPts val="0"/>
              </a:spcAft>
              <a:buNone/>
            </a:pPr>
            <a:r>
              <a:rPr lang="ja" sz="1200">
                <a:solidFill>
                  <a:srgbClr val="1F1F1F"/>
                </a:solidFill>
                <a:latin typeface="M PLUS 1p"/>
                <a:ea typeface="M PLUS 1p"/>
                <a:cs typeface="M PLUS 1p"/>
                <a:sym typeface="M PLUS 1p"/>
              </a:rPr>
              <a:t>継続しない</a:t>
            </a:r>
            <a:endParaRPr sz="1200">
              <a:solidFill>
                <a:srgbClr val="1F1F1F"/>
              </a:solidFill>
              <a:latin typeface="M PLUS 1p"/>
              <a:ea typeface="M PLUS 1p"/>
              <a:cs typeface="M PLUS 1p"/>
              <a:sym typeface="M PLUS 1p"/>
            </a:endParaRPr>
          </a:p>
        </p:txBody>
      </p:sp>
      <p:sp>
        <p:nvSpPr>
          <p:cNvPr id="736" name="Google Shape;736;p55"/>
          <p:cNvSpPr txBox="1"/>
          <p:nvPr/>
        </p:nvSpPr>
        <p:spPr>
          <a:xfrm>
            <a:off x="7291790" y="1654488"/>
            <a:ext cx="1551900" cy="7650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1200">
                <a:solidFill>
                  <a:srgbClr val="1F1F1F"/>
                </a:solidFill>
                <a:latin typeface="M PLUS 1p"/>
                <a:ea typeface="M PLUS 1p"/>
                <a:cs typeface="M PLUS 1p"/>
                <a:sym typeface="M PLUS 1p"/>
              </a:rPr>
              <a:t>復活する</a:t>
            </a:r>
            <a:endParaRPr sz="1200">
              <a:solidFill>
                <a:srgbClr val="1F1F1F"/>
              </a:solidFill>
              <a:latin typeface="M PLUS 1p"/>
              <a:ea typeface="M PLUS 1p"/>
              <a:cs typeface="M PLUS 1p"/>
              <a:sym typeface="M PLUS 1p"/>
            </a:endParaRPr>
          </a:p>
        </p:txBody>
      </p:sp>
      <p:sp>
        <p:nvSpPr>
          <p:cNvPr id="737" name="Google Shape;737;p55"/>
          <p:cNvSpPr txBox="1"/>
          <p:nvPr/>
        </p:nvSpPr>
        <p:spPr>
          <a:xfrm>
            <a:off x="7291790" y="2614663"/>
            <a:ext cx="1551900" cy="7650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ja" sz="1200">
                <a:solidFill>
                  <a:srgbClr val="1F1F1F"/>
                </a:solidFill>
                <a:latin typeface="M PLUS 1p"/>
                <a:ea typeface="M PLUS 1p"/>
                <a:cs typeface="M PLUS 1p"/>
                <a:sym typeface="M PLUS 1p"/>
              </a:rPr>
              <a:t>復活しない</a:t>
            </a:r>
            <a:endParaRPr sz="1200">
              <a:solidFill>
                <a:srgbClr val="1F1F1F"/>
              </a:solidFill>
              <a:latin typeface="M PLUS 1p"/>
              <a:ea typeface="M PLUS 1p"/>
              <a:cs typeface="M PLUS 1p"/>
              <a:sym typeface="M PLUS 1p"/>
            </a:endParaRPr>
          </a:p>
        </p:txBody>
      </p:sp>
      <p:cxnSp>
        <p:nvCxnSpPr>
          <p:cNvPr id="738" name="Google Shape;738;p55"/>
          <p:cNvCxnSpPr>
            <a:stCxn id="729" idx="3"/>
            <a:endCxn id="730" idx="1"/>
          </p:cNvCxnSpPr>
          <p:nvPr/>
        </p:nvCxnSpPr>
        <p:spPr>
          <a:xfrm flipH="1" rot="10800000">
            <a:off x="2058450" y="2037063"/>
            <a:ext cx="709800" cy="1039500"/>
          </a:xfrm>
          <a:prstGeom prst="curvedConnector3">
            <a:avLst>
              <a:gd fmla="val 50003" name="adj1"/>
            </a:avLst>
          </a:prstGeom>
          <a:noFill/>
          <a:ln cap="flat" cmpd="sng" w="9525">
            <a:solidFill>
              <a:schemeClr val="dk2"/>
            </a:solidFill>
            <a:prstDash val="solid"/>
            <a:round/>
            <a:headEnd len="med" w="med" type="none"/>
            <a:tailEnd len="med" w="med" type="triangle"/>
          </a:ln>
        </p:spPr>
      </p:cxnSp>
      <p:cxnSp>
        <p:nvCxnSpPr>
          <p:cNvPr id="739" name="Google Shape;739;p55"/>
          <p:cNvCxnSpPr>
            <a:stCxn id="729" idx="3"/>
            <a:endCxn id="731" idx="1"/>
          </p:cNvCxnSpPr>
          <p:nvPr/>
        </p:nvCxnSpPr>
        <p:spPr>
          <a:xfrm>
            <a:off x="2058450" y="3076563"/>
            <a:ext cx="709800" cy="1013700"/>
          </a:xfrm>
          <a:prstGeom prst="curvedConnector3">
            <a:avLst>
              <a:gd fmla="val 50003" name="adj1"/>
            </a:avLst>
          </a:prstGeom>
          <a:noFill/>
          <a:ln cap="flat" cmpd="sng" w="38100">
            <a:solidFill>
              <a:schemeClr val="dk2"/>
            </a:solidFill>
            <a:prstDash val="solid"/>
            <a:round/>
            <a:headEnd len="med" w="med" type="none"/>
            <a:tailEnd len="med" w="med" type="triangle"/>
          </a:ln>
        </p:spPr>
      </p:cxnSp>
      <p:cxnSp>
        <p:nvCxnSpPr>
          <p:cNvPr id="740" name="Google Shape;740;p55"/>
          <p:cNvCxnSpPr>
            <a:stCxn id="731" idx="3"/>
            <a:endCxn id="733" idx="1"/>
          </p:cNvCxnSpPr>
          <p:nvPr/>
        </p:nvCxnSpPr>
        <p:spPr>
          <a:xfrm>
            <a:off x="4320191" y="4090363"/>
            <a:ext cx="709800" cy="530100"/>
          </a:xfrm>
          <a:prstGeom prst="curvedConnector3">
            <a:avLst>
              <a:gd fmla="val 50003" name="adj1"/>
            </a:avLst>
          </a:prstGeom>
          <a:noFill/>
          <a:ln cap="flat" cmpd="sng" w="38100">
            <a:solidFill>
              <a:schemeClr val="dk2"/>
            </a:solidFill>
            <a:prstDash val="solid"/>
            <a:round/>
            <a:headEnd len="med" w="med" type="none"/>
            <a:tailEnd len="med" w="med" type="triangle"/>
          </a:ln>
        </p:spPr>
      </p:cxnSp>
      <p:cxnSp>
        <p:nvCxnSpPr>
          <p:cNvPr id="741" name="Google Shape;741;p55"/>
          <p:cNvCxnSpPr>
            <a:stCxn id="731" idx="3"/>
            <a:endCxn id="732" idx="1"/>
          </p:cNvCxnSpPr>
          <p:nvPr/>
        </p:nvCxnSpPr>
        <p:spPr>
          <a:xfrm flipH="1" rot="10800000">
            <a:off x="4320191" y="3660163"/>
            <a:ext cx="709800" cy="430200"/>
          </a:xfrm>
          <a:prstGeom prst="curvedConnector3">
            <a:avLst>
              <a:gd fmla="val 50003" name="adj1"/>
            </a:avLst>
          </a:prstGeom>
          <a:noFill/>
          <a:ln cap="flat" cmpd="sng" w="9525">
            <a:solidFill>
              <a:schemeClr val="dk2"/>
            </a:solidFill>
            <a:prstDash val="solid"/>
            <a:round/>
            <a:headEnd len="med" w="med" type="none"/>
            <a:tailEnd len="med" w="med" type="triangle"/>
          </a:ln>
        </p:spPr>
      </p:cxnSp>
      <p:cxnSp>
        <p:nvCxnSpPr>
          <p:cNvPr id="742" name="Google Shape;742;p55"/>
          <p:cNvCxnSpPr>
            <a:stCxn id="730" idx="3"/>
            <a:endCxn id="734" idx="1"/>
          </p:cNvCxnSpPr>
          <p:nvPr/>
        </p:nvCxnSpPr>
        <p:spPr>
          <a:xfrm flipH="1" rot="10800000">
            <a:off x="4320197" y="1559688"/>
            <a:ext cx="709800" cy="477300"/>
          </a:xfrm>
          <a:prstGeom prst="curvedConnector3">
            <a:avLst>
              <a:gd fmla="val 50003" name="adj1"/>
            </a:avLst>
          </a:prstGeom>
          <a:noFill/>
          <a:ln cap="flat" cmpd="sng" w="38100">
            <a:solidFill>
              <a:schemeClr val="dk2"/>
            </a:solidFill>
            <a:prstDash val="solid"/>
            <a:round/>
            <a:headEnd len="med" w="med" type="none"/>
            <a:tailEnd len="med" w="med" type="triangle"/>
          </a:ln>
        </p:spPr>
      </p:cxnSp>
      <p:cxnSp>
        <p:nvCxnSpPr>
          <p:cNvPr id="743" name="Google Shape;743;p55"/>
          <p:cNvCxnSpPr>
            <a:stCxn id="730" idx="3"/>
            <a:endCxn id="735" idx="1"/>
          </p:cNvCxnSpPr>
          <p:nvPr/>
        </p:nvCxnSpPr>
        <p:spPr>
          <a:xfrm>
            <a:off x="4320197" y="2036988"/>
            <a:ext cx="709800" cy="509400"/>
          </a:xfrm>
          <a:prstGeom prst="curvedConnector3">
            <a:avLst>
              <a:gd fmla="val 50003" name="adj1"/>
            </a:avLst>
          </a:prstGeom>
          <a:noFill/>
          <a:ln cap="flat" cmpd="sng" w="9525">
            <a:solidFill>
              <a:schemeClr val="dk2"/>
            </a:solidFill>
            <a:prstDash val="solid"/>
            <a:round/>
            <a:headEnd len="med" w="med" type="none"/>
            <a:tailEnd len="med" w="med" type="triangle"/>
          </a:ln>
        </p:spPr>
      </p:cxnSp>
      <p:cxnSp>
        <p:nvCxnSpPr>
          <p:cNvPr id="744" name="Google Shape;744;p55"/>
          <p:cNvCxnSpPr>
            <a:stCxn id="735" idx="3"/>
            <a:endCxn id="736" idx="1"/>
          </p:cNvCxnSpPr>
          <p:nvPr/>
        </p:nvCxnSpPr>
        <p:spPr>
          <a:xfrm flipH="1" rot="10800000">
            <a:off x="6581940" y="2037088"/>
            <a:ext cx="709800" cy="509400"/>
          </a:xfrm>
          <a:prstGeom prst="curvedConnector3">
            <a:avLst>
              <a:gd fmla="val 50004" name="adj1"/>
            </a:avLst>
          </a:prstGeom>
          <a:noFill/>
          <a:ln cap="flat" cmpd="sng" w="38100">
            <a:solidFill>
              <a:schemeClr val="dk2"/>
            </a:solidFill>
            <a:prstDash val="solid"/>
            <a:round/>
            <a:headEnd len="med" w="med" type="none"/>
            <a:tailEnd len="med" w="med" type="triangle"/>
          </a:ln>
        </p:spPr>
      </p:cxnSp>
      <p:cxnSp>
        <p:nvCxnSpPr>
          <p:cNvPr id="745" name="Google Shape;745;p55"/>
          <p:cNvCxnSpPr>
            <a:stCxn id="735" idx="3"/>
            <a:endCxn id="737" idx="1"/>
          </p:cNvCxnSpPr>
          <p:nvPr/>
        </p:nvCxnSpPr>
        <p:spPr>
          <a:xfrm>
            <a:off x="6581940" y="2546488"/>
            <a:ext cx="709800" cy="450600"/>
          </a:xfrm>
          <a:prstGeom prst="curvedConnector3">
            <a:avLst>
              <a:gd fmla="val 50004" name="adj1"/>
            </a:avLst>
          </a:prstGeom>
          <a:noFill/>
          <a:ln cap="flat" cmpd="sng" w="9525">
            <a:solidFill>
              <a:schemeClr val="dk2"/>
            </a:solidFill>
            <a:prstDash val="solid"/>
            <a:round/>
            <a:headEnd len="med" w="med" type="none"/>
            <a:tailEnd len="med" w="med" type="triangle"/>
          </a:ln>
        </p:spPr>
      </p:cxnSp>
      <p:sp>
        <p:nvSpPr>
          <p:cNvPr id="746" name="Google Shape;746;p55"/>
          <p:cNvSpPr txBox="1"/>
          <p:nvPr/>
        </p:nvSpPr>
        <p:spPr>
          <a:xfrm>
            <a:off x="575400" y="1348800"/>
            <a:ext cx="1414200" cy="305700"/>
          </a:xfrm>
          <a:prstGeom prst="rect">
            <a:avLst/>
          </a:prstGeom>
          <a:solidFill>
            <a:srgbClr val="F4CCCC">
              <a:alpha val="46840"/>
            </a:srgbClr>
          </a:solidFill>
          <a:ln>
            <a:noFill/>
          </a:ln>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rPr lang="ja" sz="1200">
                <a:solidFill>
                  <a:schemeClr val="lt1"/>
                </a:solidFill>
                <a:latin typeface="M PLUS 1p"/>
                <a:ea typeface="M PLUS 1p"/>
                <a:cs typeface="M PLUS 1p"/>
                <a:sym typeface="M PLUS 1p"/>
              </a:rPr>
              <a:t>①全体像を捉える</a:t>
            </a:r>
            <a:endParaRPr sz="1200">
              <a:solidFill>
                <a:schemeClr val="lt1"/>
              </a:solidFill>
              <a:latin typeface="M PLUS 1p"/>
              <a:ea typeface="M PLUS 1p"/>
              <a:cs typeface="M PLUS 1p"/>
              <a:sym typeface="M PLUS 1p"/>
            </a:endParaRPr>
          </a:p>
        </p:txBody>
      </p:sp>
      <p:sp>
        <p:nvSpPr>
          <p:cNvPr id="747" name="Google Shape;747;p55"/>
          <p:cNvSpPr txBox="1"/>
          <p:nvPr/>
        </p:nvSpPr>
        <p:spPr>
          <a:xfrm>
            <a:off x="6636600" y="3848125"/>
            <a:ext cx="1499400" cy="484500"/>
          </a:xfrm>
          <a:prstGeom prst="rect">
            <a:avLst/>
          </a:prstGeom>
          <a:solidFill>
            <a:srgbClr val="FFD700"/>
          </a:solidFill>
          <a:ln>
            <a:noFill/>
          </a:ln>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rPr lang="ja" sz="1200">
                <a:latin typeface="M PLUS 1p"/>
                <a:ea typeface="M PLUS 1p"/>
                <a:cs typeface="M PLUS 1p"/>
                <a:sym typeface="M PLUS 1p"/>
              </a:rPr>
              <a:t>③離脱後の復活の</a:t>
            </a:r>
            <a:endParaRPr sz="1200">
              <a:latin typeface="M PLUS 1p"/>
              <a:ea typeface="M PLUS 1p"/>
              <a:cs typeface="M PLUS 1p"/>
              <a:sym typeface="M PLUS 1p"/>
            </a:endParaRPr>
          </a:p>
          <a:p>
            <a:pPr indent="0" lvl="0" marL="0" rtl="0" algn="l">
              <a:lnSpc>
                <a:spcPct val="120000"/>
              </a:lnSpc>
              <a:spcBef>
                <a:spcPts val="0"/>
              </a:spcBef>
              <a:spcAft>
                <a:spcPts val="0"/>
              </a:spcAft>
              <a:buNone/>
            </a:pPr>
            <a:r>
              <a:rPr lang="ja" sz="1200">
                <a:latin typeface="M PLUS 1p"/>
                <a:ea typeface="M PLUS 1p"/>
                <a:cs typeface="M PLUS 1p"/>
                <a:sym typeface="M PLUS 1p"/>
              </a:rPr>
              <a:t>レバーを探す</a:t>
            </a:r>
            <a:endParaRPr sz="1200">
              <a:latin typeface="M PLUS 1p"/>
              <a:ea typeface="M PLUS 1p"/>
              <a:cs typeface="M PLUS 1p"/>
              <a:sym typeface="M PLUS 1p"/>
            </a:endParaRPr>
          </a:p>
        </p:txBody>
      </p:sp>
      <p:sp>
        <p:nvSpPr>
          <p:cNvPr id="748" name="Google Shape;748;p55"/>
          <p:cNvSpPr txBox="1"/>
          <p:nvPr/>
        </p:nvSpPr>
        <p:spPr>
          <a:xfrm>
            <a:off x="2794550" y="2929000"/>
            <a:ext cx="1499400" cy="484500"/>
          </a:xfrm>
          <a:prstGeom prst="rect">
            <a:avLst/>
          </a:prstGeom>
          <a:solidFill>
            <a:srgbClr val="CFE2F3">
              <a:alpha val="49370"/>
            </a:srgbClr>
          </a:solidFill>
          <a:ln>
            <a:noFill/>
          </a:ln>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rPr lang="ja" sz="1200">
                <a:solidFill>
                  <a:schemeClr val="lt1"/>
                </a:solidFill>
                <a:latin typeface="M PLUS 1p"/>
                <a:ea typeface="M PLUS 1p"/>
                <a:cs typeface="M PLUS 1p"/>
                <a:sym typeface="M PLUS 1p"/>
              </a:rPr>
              <a:t>②3ヶ月連続掲載のレバーを探す</a:t>
            </a:r>
            <a:endParaRPr sz="1200">
              <a:solidFill>
                <a:schemeClr val="lt1"/>
              </a:solidFill>
              <a:latin typeface="M PLUS 1p"/>
              <a:ea typeface="M PLUS 1p"/>
              <a:cs typeface="M PLUS 1p"/>
              <a:sym typeface="M PLUS 1p"/>
            </a:endParaRPr>
          </a:p>
        </p:txBody>
      </p:sp>
      <p:sp>
        <p:nvSpPr>
          <p:cNvPr id="749" name="Google Shape;749;p55"/>
          <p:cNvSpPr/>
          <p:nvPr/>
        </p:nvSpPr>
        <p:spPr>
          <a:xfrm>
            <a:off x="2359500" y="2812325"/>
            <a:ext cx="159600" cy="423300"/>
          </a:xfrm>
          <a:prstGeom prst="upArrow">
            <a:avLst>
              <a:gd fmla="val 50000" name="adj1"/>
              <a:gd fmla="val 50000" name="adj2"/>
            </a:avLst>
          </a:prstGeom>
          <a:solidFill>
            <a:srgbClr val="CFE2F3">
              <a:alpha val="4937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50" name="Google Shape;750;p55"/>
          <p:cNvSpPr/>
          <p:nvPr/>
        </p:nvSpPr>
        <p:spPr>
          <a:xfrm>
            <a:off x="4622625" y="3878725"/>
            <a:ext cx="159600" cy="423300"/>
          </a:xfrm>
          <a:prstGeom prst="upArrow">
            <a:avLst>
              <a:gd fmla="val 50000" name="adj1"/>
              <a:gd fmla="val 50000" name="adj2"/>
            </a:avLst>
          </a:prstGeom>
          <a:solidFill>
            <a:srgbClr val="FFD7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51" name="Google Shape;751;p55"/>
          <p:cNvSpPr txBox="1"/>
          <p:nvPr/>
        </p:nvSpPr>
        <p:spPr>
          <a:xfrm>
            <a:off x="820075" y="728034"/>
            <a:ext cx="7710000" cy="3057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None/>
            </a:pPr>
            <a:r>
              <a:rPr lang="ja" sz="800">
                <a:solidFill>
                  <a:srgbClr val="1F1F1F"/>
                </a:solidFill>
                <a:latin typeface="M PLUS 1p"/>
                <a:ea typeface="M PLUS 1p"/>
                <a:cs typeface="M PLUS 1p"/>
                <a:sym typeface="M PLUS 1p"/>
              </a:rPr>
              <a:t>※線の太さは、そのルートを辿る店舗の多</a:t>
            </a:r>
            <a:r>
              <a:rPr lang="ja" sz="800">
                <a:solidFill>
                  <a:srgbClr val="1F1F1F"/>
                </a:solidFill>
                <a:latin typeface="M PLUS 1p"/>
                <a:ea typeface="M PLUS 1p"/>
                <a:cs typeface="M PLUS 1p"/>
                <a:sym typeface="M PLUS 1p"/>
              </a:rPr>
              <a:t>い</a:t>
            </a:r>
            <a:r>
              <a:rPr lang="ja" sz="800">
                <a:solidFill>
                  <a:srgbClr val="1F1F1F"/>
                </a:solidFill>
                <a:latin typeface="M PLUS 1p"/>
                <a:ea typeface="M PLUS 1p"/>
                <a:cs typeface="M PLUS 1p"/>
                <a:sym typeface="M PLUS 1p"/>
              </a:rPr>
              <a:t>/少ないを表現</a:t>
            </a:r>
            <a:endParaRPr sz="800">
              <a:solidFill>
                <a:srgbClr val="1F1F1F"/>
              </a:solidFill>
              <a:latin typeface="M PLUS 1p"/>
              <a:ea typeface="M PLUS 1p"/>
              <a:cs typeface="M PLUS 1p"/>
              <a:sym typeface="M PLUS 1p"/>
            </a:endParaRPr>
          </a:p>
        </p:txBody>
      </p:sp>
      <p:sp>
        <p:nvSpPr>
          <p:cNvPr id="752" name="Google Shape;752;p55"/>
          <p:cNvSpPr/>
          <p:nvPr/>
        </p:nvSpPr>
        <p:spPr>
          <a:xfrm>
            <a:off x="330250" y="380175"/>
            <a:ext cx="342900" cy="342900"/>
          </a:xfrm>
          <a:prstGeom prst="ellipse">
            <a:avLst/>
          </a:prstGeom>
          <a:solidFill>
            <a:srgbClr val="FFD7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 name="Google Shape;753;p55"/>
          <p:cNvSpPr txBox="1"/>
          <p:nvPr/>
        </p:nvSpPr>
        <p:spPr>
          <a:xfrm>
            <a:off x="374950" y="350350"/>
            <a:ext cx="298200" cy="30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300">
                <a:solidFill>
                  <a:srgbClr val="FFFFFF"/>
                </a:solidFill>
                <a:latin typeface="Zen Kaku Gothic New"/>
                <a:ea typeface="Zen Kaku Gothic New"/>
                <a:cs typeface="Zen Kaku Gothic New"/>
                <a:sym typeface="Zen Kaku Gothic New"/>
              </a:rPr>
              <a:t>0</a:t>
            </a:r>
            <a:endParaRPr b="1" sz="1300">
              <a:solidFill>
                <a:srgbClr val="FFFFFF"/>
              </a:solidFill>
              <a:latin typeface="Zen Kaku Gothic New"/>
              <a:ea typeface="Zen Kaku Gothic New"/>
              <a:cs typeface="Zen Kaku Gothic New"/>
              <a:sym typeface="Zen Kaku Gothic New"/>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57" name="Shape 757"/>
        <p:cNvGrpSpPr/>
        <p:nvPr/>
      </p:nvGrpSpPr>
      <p:grpSpPr>
        <a:xfrm>
          <a:off x="0" y="0"/>
          <a:ext cx="0" cy="0"/>
          <a:chOff x="0" y="0"/>
          <a:chExt cx="0" cy="0"/>
        </a:xfrm>
      </p:grpSpPr>
      <p:sp>
        <p:nvSpPr>
          <p:cNvPr id="758" name="Google Shape;758;p56"/>
          <p:cNvSpPr txBox="1"/>
          <p:nvPr/>
        </p:nvSpPr>
        <p:spPr>
          <a:xfrm>
            <a:off x="432350" y="860575"/>
            <a:ext cx="8620500" cy="39822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None/>
            </a:pPr>
            <a:r>
              <a:rPr b="1" lang="ja">
                <a:solidFill>
                  <a:srgbClr val="1F1F1F"/>
                </a:solidFill>
                <a:latin typeface="M PLUS 1p"/>
                <a:ea typeface="M PLUS 1p"/>
                <a:cs typeface="M PLUS 1p"/>
                <a:sym typeface="M PLUS 1p"/>
              </a:rPr>
              <a:t>[分析の目的]</a:t>
            </a:r>
            <a:endParaRPr b="1">
              <a:solidFill>
                <a:srgbClr val="1F1F1F"/>
              </a:solidFill>
              <a:latin typeface="M PLUS 1p"/>
              <a:ea typeface="M PLUS 1p"/>
              <a:cs typeface="M PLUS 1p"/>
              <a:sym typeface="M PLUS 1p"/>
            </a:endParaRPr>
          </a:p>
          <a:p>
            <a:pPr indent="-317500" lvl="0" marL="457200" rtl="0" algn="l">
              <a:lnSpc>
                <a:spcPct val="120000"/>
              </a:lnSpc>
              <a:spcBef>
                <a:spcPts val="0"/>
              </a:spcBef>
              <a:spcAft>
                <a:spcPts val="0"/>
              </a:spcAft>
              <a:buClr>
                <a:srgbClr val="1F1F1F"/>
              </a:buClr>
              <a:buSzPts val="1400"/>
              <a:buFont typeface="M PLUS 1p"/>
              <a:buChar char="●"/>
            </a:pPr>
            <a:r>
              <a:rPr lang="ja">
                <a:solidFill>
                  <a:srgbClr val="1F1F1F"/>
                </a:solidFill>
                <a:latin typeface="M PLUS 1p"/>
                <a:ea typeface="M PLUS 1p"/>
                <a:cs typeface="M PLUS 1p"/>
                <a:sym typeface="M PLUS 1p"/>
              </a:rPr>
              <a:t>3ヶ月連続掲載に至らず、途中で掲載を中断した</a:t>
            </a:r>
            <a:r>
              <a:rPr lang="ja">
                <a:solidFill>
                  <a:srgbClr val="1F1F1F"/>
                </a:solidFill>
                <a:latin typeface="M PLUS 1p"/>
                <a:ea typeface="M PLUS 1p"/>
                <a:cs typeface="M PLUS 1p"/>
                <a:sym typeface="M PLUS 1p"/>
              </a:rPr>
              <a:t>店舗</a:t>
            </a:r>
            <a:r>
              <a:rPr lang="ja">
                <a:solidFill>
                  <a:srgbClr val="1F1F1F"/>
                </a:solidFill>
                <a:latin typeface="M PLUS 1p"/>
                <a:ea typeface="M PLUS 1p"/>
                <a:cs typeface="M PLUS 1p"/>
                <a:sym typeface="M PLUS 1p"/>
              </a:rPr>
              <a:t>に対してその後のAA率を高く保つための対応策を明らかにするため</a:t>
            </a:r>
            <a:endParaRPr>
              <a:solidFill>
                <a:srgbClr val="1F1F1F"/>
              </a:solidFill>
              <a:latin typeface="M PLUS 1p"/>
              <a:ea typeface="M PLUS 1p"/>
              <a:cs typeface="M PLUS 1p"/>
              <a:sym typeface="M PLUS 1p"/>
            </a:endParaRPr>
          </a:p>
          <a:p>
            <a:pPr indent="0" lvl="0" marL="0" rtl="0" algn="l">
              <a:lnSpc>
                <a:spcPct val="120000"/>
              </a:lnSpc>
              <a:spcBef>
                <a:spcPts val="0"/>
              </a:spcBef>
              <a:spcAft>
                <a:spcPts val="0"/>
              </a:spcAft>
              <a:buNone/>
            </a:pPr>
            <a:r>
              <a:rPr b="1" lang="ja">
                <a:solidFill>
                  <a:srgbClr val="1F1F1F"/>
                </a:solidFill>
                <a:latin typeface="M PLUS 1p"/>
                <a:ea typeface="M PLUS 1p"/>
                <a:cs typeface="M PLUS 1p"/>
                <a:sym typeface="M PLUS 1p"/>
              </a:rPr>
              <a:t>[行った分析]</a:t>
            </a:r>
            <a:endParaRPr b="1">
              <a:solidFill>
                <a:srgbClr val="1F1F1F"/>
              </a:solidFill>
              <a:latin typeface="M PLUS 1p"/>
              <a:ea typeface="M PLUS 1p"/>
              <a:cs typeface="M PLUS 1p"/>
              <a:sym typeface="M PLUS 1p"/>
            </a:endParaRPr>
          </a:p>
          <a:p>
            <a:pPr indent="-317500" lvl="0" marL="457200" rtl="0" algn="l">
              <a:lnSpc>
                <a:spcPct val="120000"/>
              </a:lnSpc>
              <a:spcBef>
                <a:spcPts val="0"/>
              </a:spcBef>
              <a:spcAft>
                <a:spcPts val="0"/>
              </a:spcAft>
              <a:buClr>
                <a:srgbClr val="1F1F1F"/>
              </a:buClr>
              <a:buSzPts val="1400"/>
              <a:buFont typeface="M PLUS 1p"/>
              <a:buChar char="●"/>
            </a:pPr>
            <a:r>
              <a:rPr lang="ja">
                <a:solidFill>
                  <a:srgbClr val="1F1F1F"/>
                </a:solidFill>
                <a:latin typeface="M PLUS 1p"/>
                <a:ea typeface="M PLUS 1p"/>
                <a:cs typeface="M PLUS 1p"/>
                <a:sym typeface="M PLUS 1p"/>
              </a:rPr>
              <a:t>連続離脱期間とその後のAA率の関係性について確認をした</a:t>
            </a:r>
            <a:endParaRPr>
              <a:solidFill>
                <a:srgbClr val="1F1F1F"/>
              </a:solidFill>
              <a:latin typeface="M PLUS 1p"/>
              <a:ea typeface="M PLUS 1p"/>
              <a:cs typeface="M PLUS 1p"/>
              <a:sym typeface="M PLUS 1p"/>
            </a:endParaRPr>
          </a:p>
          <a:p>
            <a:pPr indent="-317500" lvl="0" marL="457200" rtl="0" algn="l">
              <a:lnSpc>
                <a:spcPct val="120000"/>
              </a:lnSpc>
              <a:spcBef>
                <a:spcPts val="0"/>
              </a:spcBef>
              <a:spcAft>
                <a:spcPts val="0"/>
              </a:spcAft>
              <a:buClr>
                <a:srgbClr val="1F1F1F"/>
              </a:buClr>
              <a:buSzPts val="1400"/>
              <a:buFont typeface="M PLUS 1p"/>
              <a:buChar char="●"/>
            </a:pPr>
            <a:r>
              <a:rPr lang="ja">
                <a:solidFill>
                  <a:srgbClr val="1F1F1F"/>
                </a:solidFill>
                <a:latin typeface="M PLUS 1p"/>
                <a:ea typeface="M PLUS 1p"/>
                <a:cs typeface="M PLUS 1p"/>
                <a:sym typeface="M PLUS 1p"/>
              </a:rPr>
              <a:t>離脱顧客による管理画面ログインと復活についての関係を確認した</a:t>
            </a:r>
            <a:endParaRPr>
              <a:solidFill>
                <a:srgbClr val="1F1F1F"/>
              </a:solidFill>
              <a:latin typeface="M PLUS 1p"/>
              <a:ea typeface="M PLUS 1p"/>
              <a:cs typeface="M PLUS 1p"/>
              <a:sym typeface="M PLUS 1p"/>
            </a:endParaRPr>
          </a:p>
          <a:p>
            <a:pPr indent="0" lvl="0" marL="0" rtl="0" algn="l">
              <a:lnSpc>
                <a:spcPct val="120000"/>
              </a:lnSpc>
              <a:spcBef>
                <a:spcPts val="0"/>
              </a:spcBef>
              <a:spcAft>
                <a:spcPts val="0"/>
              </a:spcAft>
              <a:buNone/>
            </a:pPr>
            <a:r>
              <a:rPr b="1" lang="ja">
                <a:solidFill>
                  <a:srgbClr val="1F1F1F"/>
                </a:solidFill>
                <a:latin typeface="M PLUS 1p"/>
                <a:ea typeface="M PLUS 1p"/>
                <a:cs typeface="M PLUS 1p"/>
                <a:sym typeface="M PLUS 1p"/>
              </a:rPr>
              <a:t>[得られた示唆]</a:t>
            </a:r>
            <a:endParaRPr>
              <a:solidFill>
                <a:srgbClr val="1F1F1F"/>
              </a:solidFill>
              <a:latin typeface="M PLUS 1p"/>
              <a:ea typeface="M PLUS 1p"/>
              <a:cs typeface="M PLUS 1p"/>
              <a:sym typeface="M PLUS 1p"/>
            </a:endParaRPr>
          </a:p>
          <a:p>
            <a:pPr indent="-317500" lvl="0" marL="457200" rtl="0" algn="l">
              <a:lnSpc>
                <a:spcPct val="120000"/>
              </a:lnSpc>
              <a:spcBef>
                <a:spcPts val="0"/>
              </a:spcBef>
              <a:spcAft>
                <a:spcPts val="0"/>
              </a:spcAft>
              <a:buClr>
                <a:srgbClr val="1F1F1F"/>
              </a:buClr>
              <a:buSzPts val="1400"/>
              <a:buFont typeface="M PLUS 1p"/>
              <a:buChar char="●"/>
            </a:pPr>
            <a:r>
              <a:rPr lang="ja">
                <a:solidFill>
                  <a:srgbClr val="1F1F1F"/>
                </a:solidFill>
                <a:latin typeface="M PLUS 1p"/>
                <a:ea typeface="M PLUS 1p"/>
                <a:cs typeface="M PLUS 1p"/>
                <a:sym typeface="M PLUS 1p"/>
              </a:rPr>
              <a:t>初回掲載からの連続掲載月数に関わらず</a:t>
            </a:r>
            <a:r>
              <a:rPr lang="ja">
                <a:solidFill>
                  <a:srgbClr val="FF0000"/>
                </a:solidFill>
                <a:latin typeface="M PLUS 1p"/>
                <a:ea typeface="M PLUS 1p"/>
                <a:cs typeface="M PLUS 1p"/>
                <a:sym typeface="M PLUS 1p"/>
              </a:rPr>
              <a:t>離脱期間が短いとその後のAA率は高くなる</a:t>
            </a:r>
            <a:endParaRPr>
              <a:solidFill>
                <a:srgbClr val="FF0000"/>
              </a:solidFill>
              <a:latin typeface="M PLUS 1p"/>
              <a:ea typeface="M PLUS 1p"/>
              <a:cs typeface="M PLUS 1p"/>
              <a:sym typeface="M PLUS 1p"/>
            </a:endParaRPr>
          </a:p>
          <a:p>
            <a:pPr indent="-317500" lvl="0" marL="457200" rtl="0" algn="l">
              <a:lnSpc>
                <a:spcPct val="120000"/>
              </a:lnSpc>
              <a:spcBef>
                <a:spcPts val="0"/>
              </a:spcBef>
              <a:spcAft>
                <a:spcPts val="0"/>
              </a:spcAft>
              <a:buClr>
                <a:srgbClr val="1F1F1F"/>
              </a:buClr>
              <a:buSzPts val="1400"/>
              <a:buFont typeface="M PLUS 1p"/>
              <a:buChar char="●"/>
            </a:pPr>
            <a:r>
              <a:rPr lang="ja">
                <a:solidFill>
                  <a:srgbClr val="1F1F1F"/>
                </a:solidFill>
                <a:latin typeface="M PLUS 1p"/>
                <a:ea typeface="M PLUS 1p"/>
                <a:cs typeface="M PLUS 1p"/>
                <a:sym typeface="M PLUS 1p"/>
              </a:rPr>
              <a:t>管理画面ログインは休眠顧客が復活する前の重要な行動であり、休眠</a:t>
            </a:r>
            <a:r>
              <a:rPr lang="ja">
                <a:solidFill>
                  <a:srgbClr val="1F1F1F"/>
                </a:solidFill>
                <a:latin typeface="M PLUS 1p"/>
                <a:ea typeface="M PLUS 1p"/>
                <a:cs typeface="M PLUS 1p"/>
                <a:sym typeface="M PLUS 1p"/>
              </a:rPr>
              <a:t>店舗</a:t>
            </a:r>
            <a:r>
              <a:rPr lang="ja">
                <a:solidFill>
                  <a:srgbClr val="1F1F1F"/>
                </a:solidFill>
                <a:latin typeface="M PLUS 1p"/>
                <a:ea typeface="M PLUS 1p"/>
                <a:cs typeface="M PLUS 1p"/>
                <a:sym typeface="M PLUS 1p"/>
              </a:rPr>
              <a:t>の10%ほどが</a:t>
            </a:r>
            <a:r>
              <a:rPr lang="ja">
                <a:solidFill>
                  <a:srgbClr val="FF0000"/>
                </a:solidFill>
                <a:latin typeface="M PLUS 1p"/>
                <a:ea typeface="M PLUS 1p"/>
                <a:cs typeface="M PLUS 1p"/>
                <a:sym typeface="M PLUS 1p"/>
              </a:rPr>
              <a:t>ログインしても募集作成していない</a:t>
            </a:r>
            <a:endParaRPr>
              <a:solidFill>
                <a:srgbClr val="FF0000"/>
              </a:solidFill>
              <a:latin typeface="M PLUS 1p"/>
              <a:ea typeface="M PLUS 1p"/>
              <a:cs typeface="M PLUS 1p"/>
              <a:sym typeface="M PLUS 1p"/>
            </a:endParaRPr>
          </a:p>
          <a:p>
            <a:pPr indent="0" lvl="0" marL="0" rtl="0" algn="l">
              <a:lnSpc>
                <a:spcPct val="120000"/>
              </a:lnSpc>
              <a:spcBef>
                <a:spcPts val="0"/>
              </a:spcBef>
              <a:spcAft>
                <a:spcPts val="0"/>
              </a:spcAft>
              <a:buNone/>
            </a:pPr>
            <a:r>
              <a:rPr b="1" lang="ja">
                <a:solidFill>
                  <a:srgbClr val="1F1F1F"/>
                </a:solidFill>
                <a:latin typeface="M PLUS 1p"/>
                <a:ea typeface="M PLUS 1p"/>
                <a:cs typeface="M PLUS 1p"/>
                <a:sym typeface="M PLUS 1p"/>
              </a:rPr>
              <a:t>[提案]</a:t>
            </a:r>
            <a:endParaRPr>
              <a:solidFill>
                <a:srgbClr val="1F1F1F"/>
              </a:solidFill>
              <a:latin typeface="M PLUS 1p"/>
              <a:ea typeface="M PLUS 1p"/>
              <a:cs typeface="M PLUS 1p"/>
              <a:sym typeface="M PLUS 1p"/>
            </a:endParaRPr>
          </a:p>
          <a:p>
            <a:pPr indent="-317500" lvl="0" marL="457200" rtl="0" algn="l">
              <a:lnSpc>
                <a:spcPct val="120000"/>
              </a:lnSpc>
              <a:spcBef>
                <a:spcPts val="0"/>
              </a:spcBef>
              <a:spcAft>
                <a:spcPts val="0"/>
              </a:spcAft>
              <a:buClr>
                <a:srgbClr val="1F1F1F"/>
              </a:buClr>
              <a:buSzPts val="1400"/>
              <a:buFont typeface="M PLUS 1p"/>
              <a:buChar char="●"/>
            </a:pPr>
            <a:r>
              <a:rPr lang="ja">
                <a:solidFill>
                  <a:srgbClr val="1F1F1F"/>
                </a:solidFill>
                <a:latin typeface="M PLUS 1p"/>
                <a:ea typeface="M PLUS 1p"/>
                <a:cs typeface="M PLUS 1p"/>
                <a:sym typeface="M PLUS 1p"/>
              </a:rPr>
              <a:t>復活を促すコミュニケーションは早い方がいい</a:t>
            </a:r>
            <a:endParaRPr>
              <a:solidFill>
                <a:srgbClr val="1F1F1F"/>
              </a:solidFill>
              <a:latin typeface="M PLUS 1p"/>
              <a:ea typeface="M PLUS 1p"/>
              <a:cs typeface="M PLUS 1p"/>
              <a:sym typeface="M PLUS 1p"/>
            </a:endParaRPr>
          </a:p>
          <a:p>
            <a:pPr indent="-317500" lvl="0" marL="457200" rtl="0" algn="l">
              <a:lnSpc>
                <a:spcPct val="120000"/>
              </a:lnSpc>
              <a:spcBef>
                <a:spcPts val="0"/>
              </a:spcBef>
              <a:spcAft>
                <a:spcPts val="0"/>
              </a:spcAft>
              <a:buClr>
                <a:srgbClr val="1F1F1F"/>
              </a:buClr>
              <a:buSzPts val="1400"/>
              <a:buFont typeface="M PLUS 1p"/>
              <a:buChar char="●"/>
            </a:pPr>
            <a:r>
              <a:rPr lang="ja">
                <a:solidFill>
                  <a:srgbClr val="1F1F1F"/>
                </a:solidFill>
                <a:latin typeface="M PLUS 1p"/>
                <a:ea typeface="M PLUS 1p"/>
                <a:cs typeface="M PLUS 1p"/>
                <a:sym typeface="M PLUS 1p"/>
              </a:rPr>
              <a:t>離脱中に求人関連の画面を閲覧する店舗も存在するため、それらの店舗に対してテックタッチで募集作成を促すことで復活につなげたい</a:t>
            </a:r>
            <a:endParaRPr>
              <a:solidFill>
                <a:srgbClr val="1F1F1F"/>
              </a:solidFill>
              <a:latin typeface="M PLUS 1p"/>
              <a:ea typeface="M PLUS 1p"/>
              <a:cs typeface="M PLUS 1p"/>
              <a:sym typeface="M PLUS 1p"/>
            </a:endParaRPr>
          </a:p>
        </p:txBody>
      </p:sp>
      <p:sp>
        <p:nvSpPr>
          <p:cNvPr id="759" name="Google Shape;759;p56"/>
          <p:cNvSpPr txBox="1"/>
          <p:nvPr/>
        </p:nvSpPr>
        <p:spPr>
          <a:xfrm>
            <a:off x="712300" y="294475"/>
            <a:ext cx="7052700" cy="48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ja" sz="2000">
                <a:solidFill>
                  <a:srgbClr val="1F1F1F"/>
                </a:solidFill>
                <a:latin typeface="M PLUS 1p"/>
                <a:ea typeface="M PLUS 1p"/>
                <a:cs typeface="M PLUS 1p"/>
                <a:sym typeface="M PLUS 1p"/>
              </a:rPr>
              <a:t>分析と示唆のまとめ</a:t>
            </a:r>
            <a:endParaRPr b="1" sz="2000">
              <a:solidFill>
                <a:srgbClr val="1F1F1F"/>
              </a:solidFill>
              <a:latin typeface="M PLUS 1p"/>
              <a:ea typeface="M PLUS 1p"/>
              <a:cs typeface="M PLUS 1p"/>
              <a:sym typeface="M PLUS 1p"/>
            </a:endParaRPr>
          </a:p>
          <a:p>
            <a:pPr indent="0" lvl="0" marL="0" rtl="0" algn="l">
              <a:spcBef>
                <a:spcPts val="0"/>
              </a:spcBef>
              <a:spcAft>
                <a:spcPts val="0"/>
              </a:spcAft>
              <a:buClr>
                <a:schemeClr val="dk1"/>
              </a:buClr>
              <a:buSzPts val="1100"/>
              <a:buFont typeface="Arial"/>
              <a:buNone/>
            </a:pPr>
            <a:r>
              <a:t/>
            </a:r>
            <a:endParaRPr b="1" sz="2000">
              <a:solidFill>
                <a:srgbClr val="1F1F1F"/>
              </a:solidFill>
              <a:latin typeface="M PLUS 1p"/>
              <a:ea typeface="M PLUS 1p"/>
              <a:cs typeface="M PLUS 1p"/>
              <a:sym typeface="M PLUS 1p"/>
            </a:endParaRPr>
          </a:p>
          <a:p>
            <a:pPr indent="0" lvl="0" marL="0" rtl="0" algn="l">
              <a:spcBef>
                <a:spcPts val="0"/>
              </a:spcBef>
              <a:spcAft>
                <a:spcPts val="0"/>
              </a:spcAft>
              <a:buNone/>
            </a:pPr>
            <a:r>
              <a:t/>
            </a:r>
            <a:endParaRPr b="1" sz="2000">
              <a:solidFill>
                <a:srgbClr val="1F1F1F"/>
              </a:solidFill>
              <a:latin typeface="M PLUS 1p"/>
              <a:ea typeface="M PLUS 1p"/>
              <a:cs typeface="M PLUS 1p"/>
              <a:sym typeface="M PLUS 1p"/>
            </a:endParaRPr>
          </a:p>
        </p:txBody>
      </p:sp>
      <p:sp>
        <p:nvSpPr>
          <p:cNvPr id="760" name="Google Shape;760;p56"/>
          <p:cNvSpPr txBox="1"/>
          <p:nvPr/>
        </p:nvSpPr>
        <p:spPr>
          <a:xfrm>
            <a:off x="8136000" y="104275"/>
            <a:ext cx="916800" cy="190200"/>
          </a:xfrm>
          <a:prstGeom prst="rect">
            <a:avLst/>
          </a:prstGeom>
          <a:solidFill>
            <a:srgbClr val="DC0451"/>
          </a:solidFill>
          <a:ln>
            <a:noFill/>
          </a:ln>
        </p:spPr>
        <p:txBody>
          <a:bodyPr anchorCtr="0" anchor="t" bIns="91425" lIns="91425" spcFirstLastPara="1" rIns="91425" wrap="square" tIns="91425">
            <a:noAutofit/>
          </a:bodyPr>
          <a:lstStyle/>
          <a:p>
            <a:pPr indent="0" lvl="0" marL="0" rtl="0" algn="ctr">
              <a:lnSpc>
                <a:spcPct val="50000"/>
              </a:lnSpc>
              <a:spcBef>
                <a:spcPts val="0"/>
              </a:spcBef>
              <a:spcAft>
                <a:spcPts val="0"/>
              </a:spcAft>
              <a:buNone/>
            </a:pPr>
            <a:r>
              <a:rPr b="1" lang="ja" sz="700">
                <a:solidFill>
                  <a:srgbClr val="FFFFFF"/>
                </a:solidFill>
                <a:latin typeface="M PLUS 1p"/>
                <a:ea typeface="M PLUS 1p"/>
                <a:cs typeface="M PLUS 1p"/>
                <a:sym typeface="M PLUS 1p"/>
              </a:rPr>
              <a:t>CONFIDENTIAL</a:t>
            </a:r>
            <a:endParaRPr b="1" sz="700">
              <a:solidFill>
                <a:srgbClr val="FFFFFF"/>
              </a:solidFill>
              <a:latin typeface="M PLUS 1p"/>
              <a:ea typeface="M PLUS 1p"/>
              <a:cs typeface="M PLUS 1p"/>
              <a:sym typeface="M PLUS 1p"/>
            </a:endParaRPr>
          </a:p>
        </p:txBody>
      </p:sp>
      <p:sp>
        <p:nvSpPr>
          <p:cNvPr id="761" name="Google Shape;761;p5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762" name="Google Shape;762;p56"/>
          <p:cNvSpPr/>
          <p:nvPr/>
        </p:nvSpPr>
        <p:spPr>
          <a:xfrm>
            <a:off x="330250" y="380175"/>
            <a:ext cx="342900" cy="342900"/>
          </a:xfrm>
          <a:prstGeom prst="ellipse">
            <a:avLst/>
          </a:prstGeom>
          <a:solidFill>
            <a:srgbClr val="FFD7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 name="Google Shape;763;p56"/>
          <p:cNvSpPr txBox="1"/>
          <p:nvPr/>
        </p:nvSpPr>
        <p:spPr>
          <a:xfrm>
            <a:off x="374950" y="350350"/>
            <a:ext cx="298200" cy="30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300">
                <a:solidFill>
                  <a:srgbClr val="FFFFFF"/>
                </a:solidFill>
                <a:latin typeface="Zen Kaku Gothic New"/>
                <a:ea typeface="Zen Kaku Gothic New"/>
                <a:cs typeface="Zen Kaku Gothic New"/>
                <a:sym typeface="Zen Kaku Gothic New"/>
              </a:rPr>
              <a:t>1</a:t>
            </a:r>
            <a:endParaRPr b="1" sz="1300">
              <a:solidFill>
                <a:srgbClr val="FFFFFF"/>
              </a:solidFill>
              <a:latin typeface="Zen Kaku Gothic New"/>
              <a:ea typeface="Zen Kaku Gothic New"/>
              <a:cs typeface="Zen Kaku Gothic New"/>
              <a:sym typeface="Zen Kaku Gothic New"/>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67" name="Shape 767"/>
        <p:cNvGrpSpPr/>
        <p:nvPr/>
      </p:nvGrpSpPr>
      <p:grpSpPr>
        <a:xfrm>
          <a:off x="0" y="0"/>
          <a:ext cx="0" cy="0"/>
          <a:chOff x="0" y="0"/>
          <a:chExt cx="0" cy="0"/>
        </a:xfrm>
      </p:grpSpPr>
      <p:sp>
        <p:nvSpPr>
          <p:cNvPr id="768" name="Google Shape;768;p57"/>
          <p:cNvSpPr/>
          <p:nvPr/>
        </p:nvSpPr>
        <p:spPr>
          <a:xfrm>
            <a:off x="342900" y="365275"/>
            <a:ext cx="342900" cy="342900"/>
          </a:xfrm>
          <a:prstGeom prst="ellipse">
            <a:avLst/>
          </a:prstGeom>
          <a:solidFill>
            <a:srgbClr val="FFD7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 name="Google Shape;769;p57"/>
          <p:cNvSpPr txBox="1"/>
          <p:nvPr/>
        </p:nvSpPr>
        <p:spPr>
          <a:xfrm>
            <a:off x="387600" y="335450"/>
            <a:ext cx="298200" cy="30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300">
                <a:solidFill>
                  <a:srgbClr val="FFFFFF"/>
                </a:solidFill>
                <a:latin typeface="Zen Kaku Gothic New"/>
                <a:ea typeface="Zen Kaku Gothic New"/>
                <a:cs typeface="Zen Kaku Gothic New"/>
                <a:sym typeface="Zen Kaku Gothic New"/>
              </a:rPr>
              <a:t>2</a:t>
            </a:r>
            <a:endParaRPr b="1" sz="1300">
              <a:solidFill>
                <a:srgbClr val="FFFFFF"/>
              </a:solidFill>
              <a:latin typeface="Zen Kaku Gothic New"/>
              <a:ea typeface="Zen Kaku Gothic New"/>
              <a:cs typeface="Zen Kaku Gothic New"/>
              <a:sym typeface="Zen Kaku Gothic New"/>
            </a:endParaRPr>
          </a:p>
        </p:txBody>
      </p:sp>
      <p:sp>
        <p:nvSpPr>
          <p:cNvPr id="770" name="Google Shape;770;p57"/>
          <p:cNvSpPr txBox="1"/>
          <p:nvPr/>
        </p:nvSpPr>
        <p:spPr>
          <a:xfrm>
            <a:off x="8136000" y="104275"/>
            <a:ext cx="916800" cy="190200"/>
          </a:xfrm>
          <a:prstGeom prst="rect">
            <a:avLst/>
          </a:prstGeom>
          <a:solidFill>
            <a:srgbClr val="DC0451"/>
          </a:solidFill>
          <a:ln>
            <a:noFill/>
          </a:ln>
        </p:spPr>
        <p:txBody>
          <a:bodyPr anchorCtr="0" anchor="t" bIns="91425" lIns="91425" spcFirstLastPara="1" rIns="91425" wrap="square" tIns="91425">
            <a:noAutofit/>
          </a:bodyPr>
          <a:lstStyle/>
          <a:p>
            <a:pPr indent="0" lvl="0" marL="0" rtl="0" algn="ctr">
              <a:lnSpc>
                <a:spcPct val="50000"/>
              </a:lnSpc>
              <a:spcBef>
                <a:spcPts val="0"/>
              </a:spcBef>
              <a:spcAft>
                <a:spcPts val="0"/>
              </a:spcAft>
              <a:buNone/>
            </a:pPr>
            <a:r>
              <a:rPr b="1" lang="ja" sz="700">
                <a:solidFill>
                  <a:srgbClr val="FFFFFF"/>
                </a:solidFill>
                <a:latin typeface="M PLUS 1p"/>
                <a:ea typeface="M PLUS 1p"/>
                <a:cs typeface="M PLUS 1p"/>
                <a:sym typeface="M PLUS 1p"/>
              </a:rPr>
              <a:t>CONFIDENTIAL</a:t>
            </a:r>
            <a:endParaRPr b="1" sz="700">
              <a:solidFill>
                <a:srgbClr val="FFFFFF"/>
              </a:solidFill>
              <a:latin typeface="M PLUS 1p"/>
              <a:ea typeface="M PLUS 1p"/>
              <a:cs typeface="M PLUS 1p"/>
              <a:sym typeface="M PLUS 1p"/>
            </a:endParaRPr>
          </a:p>
        </p:txBody>
      </p:sp>
      <p:sp>
        <p:nvSpPr>
          <p:cNvPr id="771" name="Google Shape;771;p5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772" name="Google Shape;772;p57"/>
          <p:cNvSpPr/>
          <p:nvPr/>
        </p:nvSpPr>
        <p:spPr>
          <a:xfrm>
            <a:off x="4598475" y="4123000"/>
            <a:ext cx="417900" cy="1878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73" name="Google Shape;773;p57"/>
          <p:cNvSpPr txBox="1"/>
          <p:nvPr/>
        </p:nvSpPr>
        <p:spPr>
          <a:xfrm>
            <a:off x="432300" y="927039"/>
            <a:ext cx="8620500" cy="393600"/>
          </a:xfrm>
          <a:prstGeom prst="rect">
            <a:avLst/>
          </a:prstGeom>
          <a:noFill/>
          <a:ln>
            <a:noFill/>
          </a:ln>
        </p:spPr>
        <p:txBody>
          <a:bodyPr anchorCtr="0" anchor="t" bIns="91425" lIns="91425" spcFirstLastPara="1" rIns="91425" wrap="square" tIns="91425">
            <a:noAutofit/>
          </a:bodyPr>
          <a:lstStyle/>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初回連続掲載月数、離脱期間、その後のAA率の関係性から、離脱した場合にいつまでに復活させるべきなのかを考えたい</a:t>
            </a:r>
            <a:endParaRPr sz="1600">
              <a:solidFill>
                <a:srgbClr val="1F1F1F"/>
              </a:solidFill>
              <a:latin typeface="M PLUS 1p"/>
              <a:ea typeface="M PLUS 1p"/>
              <a:cs typeface="M PLUS 1p"/>
              <a:sym typeface="M PLUS 1p"/>
            </a:endParaRPr>
          </a:p>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計測する切り口が増えたため、それぞれの切り口ごとの離脱後12ヶ月間の平均AA率を確認した(</a:t>
            </a:r>
            <a:r>
              <a:rPr lang="ja" sz="1600">
                <a:solidFill>
                  <a:srgbClr val="1F1F1F"/>
                </a:solidFill>
                <a:latin typeface="M PLUS 1p"/>
                <a:ea typeface="M PLUS 1p"/>
                <a:cs typeface="M PLUS 1p"/>
                <a:sym typeface="M PLUS 1p"/>
              </a:rPr>
              <a:t>下の表における一番右の黄色「？」のAA率を計測した</a:t>
            </a:r>
            <a:r>
              <a:rPr lang="ja" sz="1600">
                <a:solidFill>
                  <a:srgbClr val="1F1F1F"/>
                </a:solidFill>
                <a:latin typeface="M PLUS 1p"/>
                <a:ea typeface="M PLUS 1p"/>
                <a:cs typeface="M PLUS 1p"/>
                <a:sym typeface="M PLUS 1p"/>
              </a:rPr>
              <a:t>)</a:t>
            </a:r>
            <a:endParaRPr sz="1600">
              <a:solidFill>
                <a:srgbClr val="1F1F1F"/>
              </a:solidFill>
              <a:latin typeface="M PLUS 1p"/>
              <a:ea typeface="M PLUS 1p"/>
              <a:cs typeface="M PLUS 1p"/>
              <a:sym typeface="M PLUS 1p"/>
            </a:endParaRPr>
          </a:p>
        </p:txBody>
      </p:sp>
      <p:sp>
        <p:nvSpPr>
          <p:cNvPr id="774" name="Google Shape;774;p57"/>
          <p:cNvSpPr txBox="1"/>
          <p:nvPr/>
        </p:nvSpPr>
        <p:spPr>
          <a:xfrm>
            <a:off x="712300" y="294475"/>
            <a:ext cx="7710000" cy="48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2000">
                <a:solidFill>
                  <a:srgbClr val="1F1F1F"/>
                </a:solidFill>
                <a:latin typeface="M PLUS 1p"/>
                <a:ea typeface="M PLUS 1p"/>
                <a:cs typeface="M PLUS 1p"/>
                <a:sym typeface="M PLUS 1p"/>
              </a:rPr>
              <a:t>離脱期間の長さはその後のAA率にどのような影響を与えるか？</a:t>
            </a:r>
            <a:endParaRPr b="1" sz="2000">
              <a:solidFill>
                <a:srgbClr val="1F1F1F"/>
              </a:solidFill>
              <a:latin typeface="M PLUS 1p"/>
              <a:ea typeface="M PLUS 1p"/>
              <a:cs typeface="M PLUS 1p"/>
              <a:sym typeface="M PLUS 1p"/>
            </a:endParaRPr>
          </a:p>
        </p:txBody>
      </p:sp>
      <p:pic>
        <p:nvPicPr>
          <p:cNvPr id="775" name="Google Shape;775;p57"/>
          <p:cNvPicPr preferRelativeResize="0"/>
          <p:nvPr/>
        </p:nvPicPr>
        <p:blipFill>
          <a:blip r:embed="rId3">
            <a:alphaModFix/>
          </a:blip>
          <a:stretch>
            <a:fillRect/>
          </a:stretch>
        </p:blipFill>
        <p:spPr>
          <a:xfrm>
            <a:off x="432300" y="2422614"/>
            <a:ext cx="8554599" cy="1635361"/>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79" name="Shape 779"/>
        <p:cNvGrpSpPr/>
        <p:nvPr/>
      </p:nvGrpSpPr>
      <p:grpSpPr>
        <a:xfrm>
          <a:off x="0" y="0"/>
          <a:ext cx="0" cy="0"/>
          <a:chOff x="0" y="0"/>
          <a:chExt cx="0" cy="0"/>
        </a:xfrm>
      </p:grpSpPr>
      <p:sp>
        <p:nvSpPr>
          <p:cNvPr id="780" name="Google Shape;780;p58"/>
          <p:cNvSpPr/>
          <p:nvPr/>
        </p:nvSpPr>
        <p:spPr>
          <a:xfrm>
            <a:off x="342900" y="365275"/>
            <a:ext cx="342900" cy="342900"/>
          </a:xfrm>
          <a:prstGeom prst="ellipse">
            <a:avLst/>
          </a:prstGeom>
          <a:solidFill>
            <a:srgbClr val="FFD7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 name="Google Shape;781;p58"/>
          <p:cNvSpPr txBox="1"/>
          <p:nvPr/>
        </p:nvSpPr>
        <p:spPr>
          <a:xfrm>
            <a:off x="387600" y="335450"/>
            <a:ext cx="298200" cy="30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300">
                <a:solidFill>
                  <a:srgbClr val="FFFFFF"/>
                </a:solidFill>
                <a:latin typeface="Zen Kaku Gothic New"/>
                <a:ea typeface="Zen Kaku Gothic New"/>
                <a:cs typeface="Zen Kaku Gothic New"/>
                <a:sym typeface="Zen Kaku Gothic New"/>
              </a:rPr>
              <a:t>3</a:t>
            </a:r>
            <a:endParaRPr b="1" sz="1300">
              <a:solidFill>
                <a:srgbClr val="FFFFFF"/>
              </a:solidFill>
              <a:latin typeface="Zen Kaku Gothic New"/>
              <a:ea typeface="Zen Kaku Gothic New"/>
              <a:cs typeface="Zen Kaku Gothic New"/>
              <a:sym typeface="Zen Kaku Gothic New"/>
            </a:endParaRPr>
          </a:p>
        </p:txBody>
      </p:sp>
      <p:sp>
        <p:nvSpPr>
          <p:cNvPr id="782" name="Google Shape;782;p58"/>
          <p:cNvSpPr txBox="1"/>
          <p:nvPr/>
        </p:nvSpPr>
        <p:spPr>
          <a:xfrm>
            <a:off x="8136000" y="104275"/>
            <a:ext cx="916800" cy="190200"/>
          </a:xfrm>
          <a:prstGeom prst="rect">
            <a:avLst/>
          </a:prstGeom>
          <a:solidFill>
            <a:srgbClr val="DC0451"/>
          </a:solidFill>
          <a:ln>
            <a:noFill/>
          </a:ln>
        </p:spPr>
        <p:txBody>
          <a:bodyPr anchorCtr="0" anchor="t" bIns="91425" lIns="91425" spcFirstLastPara="1" rIns="91425" wrap="square" tIns="91425">
            <a:noAutofit/>
          </a:bodyPr>
          <a:lstStyle/>
          <a:p>
            <a:pPr indent="0" lvl="0" marL="0" rtl="0" algn="ctr">
              <a:lnSpc>
                <a:spcPct val="50000"/>
              </a:lnSpc>
              <a:spcBef>
                <a:spcPts val="0"/>
              </a:spcBef>
              <a:spcAft>
                <a:spcPts val="0"/>
              </a:spcAft>
              <a:buNone/>
            </a:pPr>
            <a:r>
              <a:rPr b="1" lang="ja" sz="700">
                <a:solidFill>
                  <a:srgbClr val="FFFFFF"/>
                </a:solidFill>
                <a:latin typeface="M PLUS 1p"/>
                <a:ea typeface="M PLUS 1p"/>
                <a:cs typeface="M PLUS 1p"/>
                <a:sym typeface="M PLUS 1p"/>
              </a:rPr>
              <a:t>CONFIDENTIAL</a:t>
            </a:r>
            <a:endParaRPr b="1" sz="700">
              <a:solidFill>
                <a:srgbClr val="FFFFFF"/>
              </a:solidFill>
              <a:latin typeface="M PLUS 1p"/>
              <a:ea typeface="M PLUS 1p"/>
              <a:cs typeface="M PLUS 1p"/>
              <a:sym typeface="M PLUS 1p"/>
            </a:endParaRPr>
          </a:p>
        </p:txBody>
      </p:sp>
      <p:sp>
        <p:nvSpPr>
          <p:cNvPr id="783" name="Google Shape;783;p5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784" name="Google Shape;784;p58"/>
          <p:cNvSpPr/>
          <p:nvPr/>
        </p:nvSpPr>
        <p:spPr>
          <a:xfrm>
            <a:off x="4598475" y="4123000"/>
            <a:ext cx="417900" cy="1878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85" name="Google Shape;785;p58"/>
          <p:cNvSpPr txBox="1"/>
          <p:nvPr/>
        </p:nvSpPr>
        <p:spPr>
          <a:xfrm>
            <a:off x="432300" y="927050"/>
            <a:ext cx="8776200" cy="719100"/>
          </a:xfrm>
          <a:prstGeom prst="rect">
            <a:avLst/>
          </a:prstGeom>
          <a:noFill/>
          <a:ln>
            <a:noFill/>
          </a:ln>
        </p:spPr>
        <p:txBody>
          <a:bodyPr anchorCtr="0" anchor="t" bIns="91425" lIns="91425" spcFirstLastPara="1" rIns="91425" wrap="square" tIns="91425">
            <a:noAutofit/>
          </a:bodyPr>
          <a:lstStyle/>
          <a:p>
            <a:pPr indent="-330200" lvl="0" marL="457200" rtl="0" algn="l">
              <a:lnSpc>
                <a:spcPct val="120000"/>
              </a:lnSpc>
              <a:spcBef>
                <a:spcPts val="0"/>
              </a:spcBef>
              <a:spcAft>
                <a:spcPts val="0"/>
              </a:spcAft>
              <a:buClr>
                <a:srgbClr val="1F1F1F"/>
              </a:buClr>
              <a:buSzPts val="1600"/>
              <a:buFont typeface="M PLUS 1p"/>
              <a:buChar char="●"/>
            </a:pPr>
            <a:r>
              <a:rPr lang="ja" sz="1600">
                <a:solidFill>
                  <a:schemeClr val="dk1"/>
                </a:solidFill>
                <a:latin typeface="M PLUS 1p"/>
                <a:ea typeface="M PLUS 1p"/>
                <a:cs typeface="M PLUS 1p"/>
                <a:sym typeface="M PLUS 1p"/>
              </a:rPr>
              <a:t>グラフは全体的に右肩下がりで、離脱月数が短いとその後AA率は高くなることがわかる</a:t>
            </a:r>
            <a:endParaRPr sz="1600">
              <a:solidFill>
                <a:schemeClr val="dk1"/>
              </a:solidFill>
              <a:latin typeface="M PLUS 1p"/>
              <a:ea typeface="M PLUS 1p"/>
              <a:cs typeface="M PLUS 1p"/>
              <a:sym typeface="M PLUS 1p"/>
            </a:endParaRPr>
          </a:p>
          <a:p>
            <a:pPr indent="-330200" lvl="0" marL="457200" rtl="0" algn="l">
              <a:lnSpc>
                <a:spcPct val="120000"/>
              </a:lnSpc>
              <a:spcBef>
                <a:spcPts val="0"/>
              </a:spcBef>
              <a:spcAft>
                <a:spcPts val="0"/>
              </a:spcAft>
              <a:buClr>
                <a:srgbClr val="1F1F1F"/>
              </a:buClr>
              <a:buSzPts val="1600"/>
              <a:buFont typeface="M PLUS 1p"/>
              <a:buChar char="●"/>
            </a:pPr>
            <a:r>
              <a:rPr lang="ja" sz="1600">
                <a:solidFill>
                  <a:schemeClr val="dk1"/>
                </a:solidFill>
                <a:latin typeface="M PLUS 1p"/>
                <a:ea typeface="M PLUS 1p"/>
                <a:cs typeface="M PLUS 1p"/>
                <a:sym typeface="M PLUS 1p"/>
              </a:rPr>
              <a:t>離脱した場合は可能な限り早めに復活させた方が良い</a:t>
            </a:r>
            <a:endParaRPr sz="1600">
              <a:solidFill>
                <a:schemeClr val="dk1"/>
              </a:solidFill>
              <a:latin typeface="M PLUS 1p"/>
              <a:ea typeface="M PLUS 1p"/>
              <a:cs typeface="M PLUS 1p"/>
              <a:sym typeface="M PLUS 1p"/>
            </a:endParaRPr>
          </a:p>
        </p:txBody>
      </p:sp>
      <p:sp>
        <p:nvSpPr>
          <p:cNvPr id="786" name="Google Shape;786;p58"/>
          <p:cNvSpPr txBox="1"/>
          <p:nvPr/>
        </p:nvSpPr>
        <p:spPr>
          <a:xfrm>
            <a:off x="712300" y="294475"/>
            <a:ext cx="7710000" cy="48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2000">
                <a:solidFill>
                  <a:srgbClr val="1F1F1F"/>
                </a:solidFill>
                <a:latin typeface="M PLUS 1p"/>
                <a:ea typeface="M PLUS 1p"/>
                <a:cs typeface="M PLUS 1p"/>
                <a:sym typeface="M PLUS 1p"/>
              </a:rPr>
              <a:t>初回連続掲載月数に関わらず</a:t>
            </a:r>
            <a:r>
              <a:rPr b="1" lang="ja" sz="2000">
                <a:solidFill>
                  <a:srgbClr val="1F1F1F"/>
                </a:solidFill>
                <a:latin typeface="M PLUS 1p"/>
                <a:ea typeface="M PLUS 1p"/>
                <a:cs typeface="M PLUS 1p"/>
                <a:sym typeface="M PLUS 1p"/>
              </a:rPr>
              <a:t>離脱が</a:t>
            </a:r>
            <a:r>
              <a:rPr b="1" lang="ja" sz="2000">
                <a:solidFill>
                  <a:srgbClr val="1F1F1F"/>
                </a:solidFill>
                <a:latin typeface="M PLUS 1p"/>
                <a:ea typeface="M PLUS 1p"/>
                <a:cs typeface="M PLUS 1p"/>
                <a:sym typeface="M PLUS 1p"/>
              </a:rPr>
              <a:t>短い</a:t>
            </a:r>
            <a:r>
              <a:rPr b="1" lang="ja" sz="2000">
                <a:solidFill>
                  <a:srgbClr val="1F1F1F"/>
                </a:solidFill>
                <a:latin typeface="M PLUS 1p"/>
                <a:ea typeface="M PLUS 1p"/>
                <a:cs typeface="M PLUS 1p"/>
                <a:sym typeface="M PLUS 1p"/>
              </a:rPr>
              <a:t>とその後AA率は</a:t>
            </a:r>
            <a:r>
              <a:rPr b="1" lang="ja" sz="2000">
                <a:solidFill>
                  <a:srgbClr val="1F1F1F"/>
                </a:solidFill>
                <a:latin typeface="M PLUS 1p"/>
                <a:ea typeface="M PLUS 1p"/>
                <a:cs typeface="M PLUS 1p"/>
                <a:sym typeface="M PLUS 1p"/>
              </a:rPr>
              <a:t>高くなる</a:t>
            </a:r>
            <a:endParaRPr b="1" sz="2000">
              <a:solidFill>
                <a:srgbClr val="1F1F1F"/>
              </a:solidFill>
              <a:latin typeface="M PLUS 1p"/>
              <a:ea typeface="M PLUS 1p"/>
              <a:cs typeface="M PLUS 1p"/>
              <a:sym typeface="M PLUS 1p"/>
            </a:endParaRPr>
          </a:p>
        </p:txBody>
      </p:sp>
      <p:pic>
        <p:nvPicPr>
          <p:cNvPr id="787" name="Google Shape;787;p58" title="グラフ"/>
          <p:cNvPicPr preferRelativeResize="0"/>
          <p:nvPr/>
        </p:nvPicPr>
        <p:blipFill>
          <a:blip r:embed="rId3">
            <a:alphaModFix/>
          </a:blip>
          <a:stretch>
            <a:fillRect/>
          </a:stretch>
        </p:blipFill>
        <p:spPr>
          <a:xfrm>
            <a:off x="2312399" y="1767087"/>
            <a:ext cx="4837800" cy="3020125"/>
          </a:xfrm>
          <a:prstGeom prst="rect">
            <a:avLst/>
          </a:prstGeom>
          <a:noFill/>
          <a:ln>
            <a:noFill/>
          </a:ln>
        </p:spPr>
      </p:pic>
      <p:sp>
        <p:nvSpPr>
          <p:cNvPr id="788" name="Google Shape;788;p58"/>
          <p:cNvSpPr txBox="1"/>
          <p:nvPr/>
        </p:nvSpPr>
        <p:spPr>
          <a:xfrm>
            <a:off x="2007888" y="4310800"/>
            <a:ext cx="5446800" cy="4002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92" name="Shape 792"/>
        <p:cNvGrpSpPr/>
        <p:nvPr/>
      </p:nvGrpSpPr>
      <p:grpSpPr>
        <a:xfrm>
          <a:off x="0" y="0"/>
          <a:ext cx="0" cy="0"/>
          <a:chOff x="0" y="0"/>
          <a:chExt cx="0" cy="0"/>
        </a:xfrm>
      </p:grpSpPr>
      <p:sp>
        <p:nvSpPr>
          <p:cNvPr id="793" name="Google Shape;793;p59"/>
          <p:cNvSpPr/>
          <p:nvPr/>
        </p:nvSpPr>
        <p:spPr>
          <a:xfrm>
            <a:off x="342900" y="365275"/>
            <a:ext cx="342900" cy="342900"/>
          </a:xfrm>
          <a:prstGeom prst="ellipse">
            <a:avLst/>
          </a:prstGeom>
          <a:solidFill>
            <a:srgbClr val="FFD7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 name="Google Shape;794;p59"/>
          <p:cNvSpPr txBox="1"/>
          <p:nvPr/>
        </p:nvSpPr>
        <p:spPr>
          <a:xfrm>
            <a:off x="387600" y="335450"/>
            <a:ext cx="298200" cy="30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300">
                <a:solidFill>
                  <a:srgbClr val="FFFFFF"/>
                </a:solidFill>
                <a:latin typeface="Zen Kaku Gothic New"/>
                <a:ea typeface="Zen Kaku Gothic New"/>
                <a:cs typeface="Zen Kaku Gothic New"/>
                <a:sym typeface="Zen Kaku Gothic New"/>
              </a:rPr>
              <a:t>4</a:t>
            </a:r>
            <a:endParaRPr b="1" sz="1300">
              <a:solidFill>
                <a:srgbClr val="FFFFFF"/>
              </a:solidFill>
              <a:latin typeface="Zen Kaku Gothic New"/>
              <a:ea typeface="Zen Kaku Gothic New"/>
              <a:cs typeface="Zen Kaku Gothic New"/>
              <a:sym typeface="Zen Kaku Gothic New"/>
            </a:endParaRPr>
          </a:p>
        </p:txBody>
      </p:sp>
      <p:sp>
        <p:nvSpPr>
          <p:cNvPr id="795" name="Google Shape;795;p59"/>
          <p:cNvSpPr txBox="1"/>
          <p:nvPr/>
        </p:nvSpPr>
        <p:spPr>
          <a:xfrm>
            <a:off x="8136000" y="104275"/>
            <a:ext cx="916800" cy="190200"/>
          </a:xfrm>
          <a:prstGeom prst="rect">
            <a:avLst/>
          </a:prstGeom>
          <a:solidFill>
            <a:srgbClr val="DC0451"/>
          </a:solidFill>
          <a:ln>
            <a:noFill/>
          </a:ln>
        </p:spPr>
        <p:txBody>
          <a:bodyPr anchorCtr="0" anchor="t" bIns="91425" lIns="91425" spcFirstLastPara="1" rIns="91425" wrap="square" tIns="91425">
            <a:noAutofit/>
          </a:bodyPr>
          <a:lstStyle/>
          <a:p>
            <a:pPr indent="0" lvl="0" marL="0" rtl="0" algn="ctr">
              <a:lnSpc>
                <a:spcPct val="50000"/>
              </a:lnSpc>
              <a:spcBef>
                <a:spcPts val="0"/>
              </a:spcBef>
              <a:spcAft>
                <a:spcPts val="0"/>
              </a:spcAft>
              <a:buNone/>
            </a:pPr>
            <a:r>
              <a:rPr b="1" lang="ja" sz="700">
                <a:solidFill>
                  <a:srgbClr val="FFFFFF"/>
                </a:solidFill>
                <a:latin typeface="M PLUS 1p"/>
                <a:ea typeface="M PLUS 1p"/>
                <a:cs typeface="M PLUS 1p"/>
                <a:sym typeface="M PLUS 1p"/>
              </a:rPr>
              <a:t>CONFIDENTIAL</a:t>
            </a:r>
            <a:endParaRPr b="1" sz="700">
              <a:solidFill>
                <a:srgbClr val="FFFFFF"/>
              </a:solidFill>
              <a:latin typeface="M PLUS 1p"/>
              <a:ea typeface="M PLUS 1p"/>
              <a:cs typeface="M PLUS 1p"/>
              <a:sym typeface="M PLUS 1p"/>
            </a:endParaRPr>
          </a:p>
        </p:txBody>
      </p:sp>
      <p:sp>
        <p:nvSpPr>
          <p:cNvPr id="796" name="Google Shape;796;p5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797" name="Google Shape;797;p59"/>
          <p:cNvSpPr/>
          <p:nvPr/>
        </p:nvSpPr>
        <p:spPr>
          <a:xfrm>
            <a:off x="4598475" y="4123000"/>
            <a:ext cx="417900" cy="1878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98" name="Google Shape;798;p59"/>
          <p:cNvSpPr txBox="1"/>
          <p:nvPr/>
        </p:nvSpPr>
        <p:spPr>
          <a:xfrm>
            <a:off x="432350" y="860575"/>
            <a:ext cx="8620500" cy="452700"/>
          </a:xfrm>
          <a:prstGeom prst="rect">
            <a:avLst/>
          </a:prstGeom>
          <a:noFill/>
          <a:ln>
            <a:noFill/>
          </a:ln>
        </p:spPr>
        <p:txBody>
          <a:bodyPr anchorCtr="0" anchor="t" bIns="91425" lIns="91425" spcFirstLastPara="1" rIns="91425" wrap="square" tIns="91425">
            <a:noAutofit/>
          </a:bodyPr>
          <a:lstStyle/>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復活の手前のファネルである管理画面ログインに注目することで、復活への手がかりを見つけたい</a:t>
            </a:r>
            <a:endParaRPr sz="1600">
              <a:solidFill>
                <a:srgbClr val="1F1F1F"/>
              </a:solidFill>
              <a:latin typeface="M PLUS 1p"/>
              <a:ea typeface="M PLUS 1p"/>
              <a:cs typeface="M PLUS 1p"/>
              <a:sym typeface="M PLUS 1p"/>
            </a:endParaRPr>
          </a:p>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まずは、休眠</a:t>
            </a:r>
            <a:r>
              <a:rPr lang="ja" sz="1600">
                <a:solidFill>
                  <a:srgbClr val="1F1F1F"/>
                </a:solidFill>
                <a:latin typeface="M PLUS 1p"/>
                <a:ea typeface="M PLUS 1p"/>
                <a:cs typeface="M PLUS 1p"/>
                <a:sym typeface="M PLUS 1p"/>
              </a:rPr>
              <a:t>店舗</a:t>
            </a:r>
            <a:r>
              <a:rPr lang="ja" sz="1600">
                <a:solidFill>
                  <a:srgbClr val="1F1F1F"/>
                </a:solidFill>
                <a:latin typeface="M PLUS 1p"/>
                <a:ea typeface="M PLUS 1p"/>
                <a:cs typeface="M PLUS 1p"/>
                <a:sym typeface="M PLUS 1p"/>
              </a:rPr>
              <a:t>におけるログイン後28日間の復活率(</a:t>
            </a:r>
            <a:r>
              <a:rPr lang="ja" sz="1600">
                <a:solidFill>
                  <a:srgbClr val="1F1F1F"/>
                </a:solidFill>
                <a:latin typeface="M PLUS 1p"/>
                <a:ea typeface="M PLUS 1p"/>
                <a:cs typeface="M PLUS 1p"/>
                <a:sym typeface="M PLUS 1p"/>
              </a:rPr>
              <a:t>下の表の①/(①+②)</a:t>
            </a:r>
            <a:r>
              <a:rPr lang="ja" sz="1600">
                <a:solidFill>
                  <a:srgbClr val="1F1F1F"/>
                </a:solidFill>
                <a:latin typeface="M PLUS 1p"/>
                <a:ea typeface="M PLUS 1p"/>
                <a:cs typeface="M PLUS 1p"/>
                <a:sym typeface="M PLUS 1p"/>
              </a:rPr>
              <a:t>)と、ログインのなかった休眠</a:t>
            </a:r>
            <a:r>
              <a:rPr lang="ja" sz="1600">
                <a:solidFill>
                  <a:srgbClr val="1F1F1F"/>
                </a:solidFill>
                <a:latin typeface="M PLUS 1p"/>
                <a:ea typeface="M PLUS 1p"/>
                <a:cs typeface="M PLUS 1p"/>
                <a:sym typeface="M PLUS 1p"/>
              </a:rPr>
              <a:t>店舗</a:t>
            </a:r>
            <a:r>
              <a:rPr lang="ja" sz="1600">
                <a:solidFill>
                  <a:srgbClr val="1F1F1F"/>
                </a:solidFill>
                <a:latin typeface="M PLUS 1p"/>
                <a:ea typeface="M PLUS 1p"/>
                <a:cs typeface="M PLUS 1p"/>
                <a:sym typeface="M PLUS 1p"/>
              </a:rPr>
              <a:t>の2025年9月の復活率</a:t>
            </a:r>
            <a:r>
              <a:rPr lang="ja" sz="1600">
                <a:solidFill>
                  <a:srgbClr val="1F1F1F"/>
                </a:solidFill>
                <a:latin typeface="M PLUS 1p"/>
                <a:ea typeface="M PLUS 1p"/>
                <a:cs typeface="M PLUS 1p"/>
                <a:sym typeface="M PLUS 1p"/>
              </a:rPr>
              <a:t>(下の表の③/(③+④))</a:t>
            </a:r>
            <a:r>
              <a:rPr lang="ja" sz="1600">
                <a:solidFill>
                  <a:srgbClr val="1F1F1F"/>
                </a:solidFill>
                <a:latin typeface="M PLUS 1p"/>
                <a:ea typeface="M PLUS 1p"/>
                <a:cs typeface="M PLUS 1p"/>
                <a:sym typeface="M PLUS 1p"/>
              </a:rPr>
              <a:t>を比較した</a:t>
            </a:r>
            <a:endParaRPr sz="1600">
              <a:solidFill>
                <a:srgbClr val="1F1F1F"/>
              </a:solidFill>
              <a:latin typeface="M PLUS 1p"/>
              <a:ea typeface="M PLUS 1p"/>
              <a:cs typeface="M PLUS 1p"/>
              <a:sym typeface="M PLUS 1p"/>
            </a:endParaRPr>
          </a:p>
        </p:txBody>
      </p:sp>
      <p:sp>
        <p:nvSpPr>
          <p:cNvPr id="799" name="Google Shape;799;p59"/>
          <p:cNvSpPr txBox="1"/>
          <p:nvPr/>
        </p:nvSpPr>
        <p:spPr>
          <a:xfrm>
            <a:off x="712300" y="294475"/>
            <a:ext cx="7710000" cy="48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2000">
                <a:solidFill>
                  <a:srgbClr val="1F1F1F"/>
                </a:solidFill>
                <a:latin typeface="M PLUS 1p"/>
                <a:ea typeface="M PLUS 1p"/>
                <a:cs typeface="M PLUS 1p"/>
                <a:sym typeface="M PLUS 1p"/>
              </a:rPr>
              <a:t>仮説：休眠店舗のログインと復活率は関係が深いのではないか？</a:t>
            </a:r>
            <a:endParaRPr b="1" sz="2000">
              <a:solidFill>
                <a:srgbClr val="1F1F1F"/>
              </a:solidFill>
              <a:latin typeface="M PLUS 1p"/>
              <a:ea typeface="M PLUS 1p"/>
              <a:cs typeface="M PLUS 1p"/>
              <a:sym typeface="M PLUS 1p"/>
            </a:endParaRPr>
          </a:p>
        </p:txBody>
      </p:sp>
      <p:sp>
        <p:nvSpPr>
          <p:cNvPr id="800" name="Google Shape;800;p59"/>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graphicFrame>
        <p:nvGraphicFramePr>
          <p:cNvPr id="801" name="Google Shape;801;p59"/>
          <p:cNvGraphicFramePr/>
          <p:nvPr/>
        </p:nvGraphicFramePr>
        <p:xfrm>
          <a:off x="2065400" y="2792975"/>
          <a:ext cx="3000000" cy="3000000"/>
        </p:xfrm>
        <a:graphic>
          <a:graphicData uri="http://schemas.openxmlformats.org/drawingml/2006/table">
            <a:tbl>
              <a:tblPr>
                <a:noFill/>
                <a:tableStyleId>{BF8EDBD9-CB3C-42A3-955A-0CF7C7B87A50}</a:tableStyleId>
              </a:tblPr>
              <a:tblGrid>
                <a:gridCol w="1692375"/>
                <a:gridCol w="1692375"/>
                <a:gridCol w="1692375"/>
              </a:tblGrid>
              <a:tr h="376100">
                <a:tc>
                  <a:txBody>
                    <a:bodyPr/>
                    <a:lstStyle/>
                    <a:p>
                      <a:pPr indent="0" lvl="0" marL="0" rtl="0" algn="ctr">
                        <a:spcBef>
                          <a:spcPts val="0"/>
                        </a:spcBef>
                        <a:spcAft>
                          <a:spcPts val="0"/>
                        </a:spcAft>
                        <a:buNone/>
                      </a:pPr>
                      <a:r>
                        <a:t/>
                      </a:r>
                      <a:endParaRPr sz="1100">
                        <a:latin typeface="M PLUS 1p"/>
                        <a:ea typeface="M PLUS 1p"/>
                        <a:cs typeface="M PLUS 1p"/>
                        <a:sym typeface="M PLUS 1p"/>
                      </a:endParaRPr>
                    </a:p>
                  </a:txBody>
                  <a:tcPr marT="91425" marB="91425" marR="91425" marL="91425" anchor="ctr">
                    <a:solidFill>
                      <a:srgbClr val="F3F3F3"/>
                    </a:solidFill>
                  </a:tcPr>
                </a:tc>
                <a:tc>
                  <a:txBody>
                    <a:bodyPr/>
                    <a:lstStyle/>
                    <a:p>
                      <a:pPr indent="0" lvl="0" marL="0" rtl="0" algn="ctr">
                        <a:spcBef>
                          <a:spcPts val="0"/>
                        </a:spcBef>
                        <a:spcAft>
                          <a:spcPts val="0"/>
                        </a:spcAft>
                        <a:buNone/>
                      </a:pPr>
                      <a:r>
                        <a:rPr lang="ja" sz="1100">
                          <a:latin typeface="M PLUS 1p"/>
                          <a:ea typeface="M PLUS 1p"/>
                          <a:cs typeface="M PLUS 1p"/>
                          <a:sym typeface="M PLUS 1p"/>
                        </a:rPr>
                        <a:t>復活あり</a:t>
                      </a:r>
                      <a:endParaRPr sz="1100">
                        <a:latin typeface="M PLUS 1p"/>
                        <a:ea typeface="M PLUS 1p"/>
                        <a:cs typeface="M PLUS 1p"/>
                        <a:sym typeface="M PLUS 1p"/>
                      </a:endParaRPr>
                    </a:p>
                  </a:txBody>
                  <a:tcPr marT="91425" marB="91425" marR="91425" marL="91425" anchor="ctr">
                    <a:solidFill>
                      <a:srgbClr val="F3F3F3"/>
                    </a:solidFill>
                  </a:tcPr>
                </a:tc>
                <a:tc>
                  <a:txBody>
                    <a:bodyPr/>
                    <a:lstStyle/>
                    <a:p>
                      <a:pPr indent="0" lvl="0" marL="0" rtl="0" algn="ctr">
                        <a:spcBef>
                          <a:spcPts val="0"/>
                        </a:spcBef>
                        <a:spcAft>
                          <a:spcPts val="0"/>
                        </a:spcAft>
                        <a:buNone/>
                      </a:pPr>
                      <a:r>
                        <a:rPr lang="ja" sz="1100">
                          <a:latin typeface="M PLUS 1p"/>
                          <a:ea typeface="M PLUS 1p"/>
                          <a:cs typeface="M PLUS 1p"/>
                          <a:sym typeface="M PLUS 1p"/>
                        </a:rPr>
                        <a:t>復活なし</a:t>
                      </a:r>
                      <a:endParaRPr sz="1100">
                        <a:latin typeface="M PLUS 1p"/>
                        <a:ea typeface="M PLUS 1p"/>
                        <a:cs typeface="M PLUS 1p"/>
                        <a:sym typeface="M PLUS 1p"/>
                      </a:endParaRPr>
                    </a:p>
                  </a:txBody>
                  <a:tcPr marT="91425" marB="91425" marR="91425" marL="91425" anchor="ctr">
                    <a:solidFill>
                      <a:srgbClr val="F3F3F3"/>
                    </a:solidFill>
                  </a:tcPr>
                </a:tc>
              </a:tr>
              <a:tr h="703975">
                <a:tc>
                  <a:txBody>
                    <a:bodyPr/>
                    <a:lstStyle/>
                    <a:p>
                      <a:pPr indent="0" lvl="0" marL="0" rtl="0" algn="ctr">
                        <a:spcBef>
                          <a:spcPts val="0"/>
                        </a:spcBef>
                        <a:spcAft>
                          <a:spcPts val="0"/>
                        </a:spcAft>
                        <a:buNone/>
                      </a:pPr>
                      <a:r>
                        <a:rPr lang="ja" sz="1100">
                          <a:latin typeface="M PLUS 1p"/>
                          <a:ea typeface="M PLUS 1p"/>
                          <a:cs typeface="M PLUS 1p"/>
                          <a:sym typeface="M PLUS 1p"/>
                        </a:rPr>
                        <a:t>ログインあり</a:t>
                      </a:r>
                      <a:endParaRPr sz="1100">
                        <a:latin typeface="M PLUS 1p"/>
                        <a:ea typeface="M PLUS 1p"/>
                        <a:cs typeface="M PLUS 1p"/>
                        <a:sym typeface="M PLUS 1p"/>
                      </a:endParaRPr>
                    </a:p>
                  </a:txBody>
                  <a:tcPr marT="91425" marB="91425" marR="91425" marL="91425" anchor="ctr">
                    <a:solidFill>
                      <a:srgbClr val="F3F3F3"/>
                    </a:solidFill>
                  </a:tcPr>
                </a:tc>
                <a:tc>
                  <a:txBody>
                    <a:bodyPr/>
                    <a:lstStyle/>
                    <a:p>
                      <a:pPr indent="0" lvl="0" marL="0" rtl="0" algn="l">
                        <a:spcBef>
                          <a:spcPts val="0"/>
                        </a:spcBef>
                        <a:spcAft>
                          <a:spcPts val="0"/>
                        </a:spcAft>
                        <a:buNone/>
                      </a:pPr>
                      <a:r>
                        <a:rPr lang="ja" sz="1100">
                          <a:latin typeface="M PLUS 1p"/>
                          <a:ea typeface="M PLUS 1p"/>
                          <a:cs typeface="M PLUS 1p"/>
                          <a:sym typeface="M PLUS 1p"/>
                        </a:rPr>
                        <a:t>①事前ログイン(復活の28日以内のログイン)した上で9月に復活した</a:t>
                      </a:r>
                      <a:endParaRPr sz="1100">
                        <a:latin typeface="M PLUS 1p"/>
                        <a:ea typeface="M PLUS 1p"/>
                        <a:cs typeface="M PLUS 1p"/>
                        <a:sym typeface="M PLUS 1p"/>
                      </a:endParaRPr>
                    </a:p>
                  </a:txBody>
                  <a:tcPr marT="91425" marB="91425" marR="91425" marL="91425"/>
                </a:tc>
                <a:tc>
                  <a:txBody>
                    <a:bodyPr/>
                    <a:lstStyle/>
                    <a:p>
                      <a:pPr indent="0" lvl="0" marL="0" rtl="0" algn="l">
                        <a:spcBef>
                          <a:spcPts val="0"/>
                        </a:spcBef>
                        <a:spcAft>
                          <a:spcPts val="0"/>
                        </a:spcAft>
                        <a:buNone/>
                      </a:pPr>
                      <a:r>
                        <a:rPr lang="ja" sz="1100">
                          <a:latin typeface="M PLUS 1p"/>
                          <a:ea typeface="M PLUS 1p"/>
                          <a:cs typeface="M PLUS 1p"/>
                          <a:sym typeface="M PLUS 1p"/>
                        </a:rPr>
                        <a:t>②9月において管理画面ログインしているが復活していない</a:t>
                      </a:r>
                      <a:endParaRPr sz="1100">
                        <a:latin typeface="M PLUS 1p"/>
                        <a:ea typeface="M PLUS 1p"/>
                        <a:cs typeface="M PLUS 1p"/>
                        <a:sym typeface="M PLUS 1p"/>
                      </a:endParaRPr>
                    </a:p>
                  </a:txBody>
                  <a:tcPr marT="91425" marB="91425" marR="91425" marL="91425"/>
                </a:tc>
              </a:tr>
              <a:tr h="703975">
                <a:tc>
                  <a:txBody>
                    <a:bodyPr/>
                    <a:lstStyle/>
                    <a:p>
                      <a:pPr indent="0" lvl="0" marL="0" rtl="0" algn="ctr">
                        <a:spcBef>
                          <a:spcPts val="0"/>
                        </a:spcBef>
                        <a:spcAft>
                          <a:spcPts val="0"/>
                        </a:spcAft>
                        <a:buNone/>
                      </a:pPr>
                      <a:r>
                        <a:rPr lang="ja" sz="1100">
                          <a:latin typeface="M PLUS 1p"/>
                          <a:ea typeface="M PLUS 1p"/>
                          <a:cs typeface="M PLUS 1p"/>
                          <a:sym typeface="M PLUS 1p"/>
                        </a:rPr>
                        <a:t>ログインなし</a:t>
                      </a:r>
                      <a:endParaRPr sz="1100">
                        <a:latin typeface="M PLUS 1p"/>
                        <a:ea typeface="M PLUS 1p"/>
                        <a:cs typeface="M PLUS 1p"/>
                        <a:sym typeface="M PLUS 1p"/>
                      </a:endParaRPr>
                    </a:p>
                  </a:txBody>
                  <a:tcPr marT="91425" marB="91425" marR="91425" marL="91425" anchor="ctr">
                    <a:solidFill>
                      <a:srgbClr val="F3F3F3"/>
                    </a:solidFill>
                  </a:tcPr>
                </a:tc>
                <a:tc>
                  <a:txBody>
                    <a:bodyPr/>
                    <a:lstStyle/>
                    <a:p>
                      <a:pPr indent="0" lvl="0" marL="0" rtl="0" algn="l">
                        <a:spcBef>
                          <a:spcPts val="0"/>
                        </a:spcBef>
                        <a:spcAft>
                          <a:spcPts val="0"/>
                        </a:spcAft>
                        <a:buNone/>
                      </a:pPr>
                      <a:r>
                        <a:rPr lang="ja" sz="1100">
                          <a:latin typeface="M PLUS 1p"/>
                          <a:ea typeface="M PLUS 1p"/>
                          <a:cs typeface="M PLUS 1p"/>
                          <a:sym typeface="M PLUS 1p"/>
                        </a:rPr>
                        <a:t>③</a:t>
                      </a:r>
                      <a:r>
                        <a:rPr lang="ja" sz="1100">
                          <a:solidFill>
                            <a:schemeClr val="dk1"/>
                          </a:solidFill>
                          <a:latin typeface="M PLUS 1p"/>
                          <a:ea typeface="M PLUS 1p"/>
                          <a:cs typeface="M PLUS 1p"/>
                          <a:sym typeface="M PLUS 1p"/>
                        </a:rPr>
                        <a:t>事前ログイン(復活の28日以内のログイン)なしで9月に復活した</a:t>
                      </a:r>
                      <a:endParaRPr sz="1100">
                        <a:latin typeface="M PLUS 1p"/>
                        <a:ea typeface="M PLUS 1p"/>
                        <a:cs typeface="M PLUS 1p"/>
                        <a:sym typeface="M PLUS 1p"/>
                      </a:endParaRPr>
                    </a:p>
                  </a:txBody>
                  <a:tcPr marT="91425" marB="91425" marR="91425" marL="91425"/>
                </a:tc>
                <a:tc>
                  <a:txBody>
                    <a:bodyPr/>
                    <a:lstStyle/>
                    <a:p>
                      <a:pPr indent="0" lvl="0" marL="0" rtl="0" algn="l">
                        <a:spcBef>
                          <a:spcPts val="0"/>
                        </a:spcBef>
                        <a:spcAft>
                          <a:spcPts val="0"/>
                        </a:spcAft>
                        <a:buNone/>
                      </a:pPr>
                      <a:r>
                        <a:rPr lang="ja" sz="1100">
                          <a:latin typeface="M PLUS 1p"/>
                          <a:ea typeface="M PLUS 1p"/>
                          <a:cs typeface="M PLUS 1p"/>
                          <a:sym typeface="M PLUS 1p"/>
                        </a:rPr>
                        <a:t>④9月において管理画面ログインしていないし、復活していない</a:t>
                      </a:r>
                      <a:endParaRPr sz="1100">
                        <a:latin typeface="M PLUS 1p"/>
                        <a:ea typeface="M PLUS 1p"/>
                        <a:cs typeface="M PLUS 1p"/>
                        <a:sym typeface="M PLUS 1p"/>
                      </a:endParaRPr>
                    </a:p>
                  </a:txBody>
                  <a:tcPr marT="91425" marB="91425" marR="91425" marL="91425"/>
                </a:tc>
              </a:tr>
            </a:tbl>
          </a:graphicData>
        </a:graphic>
      </p:graphicFrame>
      <p:sp>
        <p:nvSpPr>
          <p:cNvPr id="802" name="Google Shape;802;p59"/>
          <p:cNvSpPr txBox="1"/>
          <p:nvPr/>
        </p:nvSpPr>
        <p:spPr>
          <a:xfrm>
            <a:off x="2098450" y="2340275"/>
            <a:ext cx="5862600" cy="4527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None/>
            </a:pPr>
            <a:r>
              <a:rPr lang="ja" sz="1600">
                <a:solidFill>
                  <a:srgbClr val="1F1F1F"/>
                </a:solidFill>
                <a:latin typeface="M PLUS 1p"/>
                <a:ea typeface="M PLUS 1p"/>
                <a:cs typeface="M PLUS 1p"/>
                <a:sym typeface="M PLUS 1p"/>
              </a:rPr>
              <a:t>計測した数字の定義</a:t>
            </a:r>
            <a:endParaRPr sz="1600">
              <a:solidFill>
                <a:srgbClr val="1F1F1F"/>
              </a:solidFill>
              <a:latin typeface="M PLUS 1p"/>
              <a:ea typeface="M PLUS 1p"/>
              <a:cs typeface="M PLUS 1p"/>
              <a:sym typeface="M PLUS 1p"/>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06" name="Shape 806"/>
        <p:cNvGrpSpPr/>
        <p:nvPr/>
      </p:nvGrpSpPr>
      <p:grpSpPr>
        <a:xfrm>
          <a:off x="0" y="0"/>
          <a:ext cx="0" cy="0"/>
          <a:chOff x="0" y="0"/>
          <a:chExt cx="0" cy="0"/>
        </a:xfrm>
      </p:grpSpPr>
      <p:sp>
        <p:nvSpPr>
          <p:cNvPr id="807" name="Google Shape;807;p60"/>
          <p:cNvSpPr/>
          <p:nvPr/>
        </p:nvSpPr>
        <p:spPr>
          <a:xfrm>
            <a:off x="342900" y="365275"/>
            <a:ext cx="342900" cy="342900"/>
          </a:xfrm>
          <a:prstGeom prst="ellipse">
            <a:avLst/>
          </a:prstGeom>
          <a:solidFill>
            <a:srgbClr val="FFD7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 name="Google Shape;808;p60"/>
          <p:cNvSpPr txBox="1"/>
          <p:nvPr/>
        </p:nvSpPr>
        <p:spPr>
          <a:xfrm>
            <a:off x="387600" y="335450"/>
            <a:ext cx="298200" cy="30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300">
                <a:solidFill>
                  <a:srgbClr val="FFFFFF"/>
                </a:solidFill>
                <a:latin typeface="Zen Kaku Gothic New"/>
                <a:ea typeface="Zen Kaku Gothic New"/>
                <a:cs typeface="Zen Kaku Gothic New"/>
                <a:sym typeface="Zen Kaku Gothic New"/>
              </a:rPr>
              <a:t>5</a:t>
            </a:r>
            <a:endParaRPr b="1" sz="1300">
              <a:solidFill>
                <a:srgbClr val="FFFFFF"/>
              </a:solidFill>
              <a:latin typeface="Zen Kaku Gothic New"/>
              <a:ea typeface="Zen Kaku Gothic New"/>
              <a:cs typeface="Zen Kaku Gothic New"/>
              <a:sym typeface="Zen Kaku Gothic New"/>
            </a:endParaRPr>
          </a:p>
        </p:txBody>
      </p:sp>
      <p:sp>
        <p:nvSpPr>
          <p:cNvPr id="809" name="Google Shape;809;p60"/>
          <p:cNvSpPr txBox="1"/>
          <p:nvPr/>
        </p:nvSpPr>
        <p:spPr>
          <a:xfrm>
            <a:off x="8136000" y="104275"/>
            <a:ext cx="916800" cy="190200"/>
          </a:xfrm>
          <a:prstGeom prst="rect">
            <a:avLst/>
          </a:prstGeom>
          <a:solidFill>
            <a:srgbClr val="DC0451"/>
          </a:solidFill>
          <a:ln>
            <a:noFill/>
          </a:ln>
        </p:spPr>
        <p:txBody>
          <a:bodyPr anchorCtr="0" anchor="t" bIns="91425" lIns="91425" spcFirstLastPara="1" rIns="91425" wrap="square" tIns="91425">
            <a:noAutofit/>
          </a:bodyPr>
          <a:lstStyle/>
          <a:p>
            <a:pPr indent="0" lvl="0" marL="0" rtl="0" algn="ctr">
              <a:lnSpc>
                <a:spcPct val="50000"/>
              </a:lnSpc>
              <a:spcBef>
                <a:spcPts val="0"/>
              </a:spcBef>
              <a:spcAft>
                <a:spcPts val="0"/>
              </a:spcAft>
              <a:buNone/>
            </a:pPr>
            <a:r>
              <a:rPr b="1" lang="ja" sz="700">
                <a:solidFill>
                  <a:srgbClr val="FFFFFF"/>
                </a:solidFill>
                <a:latin typeface="M PLUS 1p"/>
                <a:ea typeface="M PLUS 1p"/>
                <a:cs typeface="M PLUS 1p"/>
                <a:sym typeface="M PLUS 1p"/>
              </a:rPr>
              <a:t>CONFIDENTIAL</a:t>
            </a:r>
            <a:endParaRPr b="1" sz="700">
              <a:solidFill>
                <a:srgbClr val="FFFFFF"/>
              </a:solidFill>
              <a:latin typeface="M PLUS 1p"/>
              <a:ea typeface="M PLUS 1p"/>
              <a:cs typeface="M PLUS 1p"/>
              <a:sym typeface="M PLUS 1p"/>
            </a:endParaRPr>
          </a:p>
        </p:txBody>
      </p:sp>
      <p:sp>
        <p:nvSpPr>
          <p:cNvPr id="810" name="Google Shape;810;p6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811" name="Google Shape;811;p60"/>
          <p:cNvSpPr/>
          <p:nvPr/>
        </p:nvSpPr>
        <p:spPr>
          <a:xfrm>
            <a:off x="4598475" y="4123000"/>
            <a:ext cx="417900" cy="1878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12" name="Google Shape;812;p60"/>
          <p:cNvSpPr txBox="1"/>
          <p:nvPr/>
        </p:nvSpPr>
        <p:spPr>
          <a:xfrm>
            <a:off x="432350" y="860575"/>
            <a:ext cx="8620500" cy="1216800"/>
          </a:xfrm>
          <a:prstGeom prst="rect">
            <a:avLst/>
          </a:prstGeom>
          <a:noFill/>
          <a:ln>
            <a:noFill/>
          </a:ln>
        </p:spPr>
        <p:txBody>
          <a:bodyPr anchorCtr="0" anchor="t" bIns="91425" lIns="91425" spcFirstLastPara="1" rIns="91425" wrap="square" tIns="91425">
            <a:noAutofit/>
          </a:bodyPr>
          <a:lstStyle/>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復活する前に多くの</a:t>
            </a:r>
            <a:r>
              <a:rPr lang="ja" sz="1600">
                <a:solidFill>
                  <a:srgbClr val="1F1F1F"/>
                </a:solidFill>
                <a:latin typeface="M PLUS 1p"/>
                <a:ea typeface="M PLUS 1p"/>
                <a:cs typeface="M PLUS 1p"/>
                <a:sym typeface="M PLUS 1p"/>
              </a:rPr>
              <a:t>店舗</a:t>
            </a:r>
            <a:r>
              <a:rPr lang="ja" sz="1600">
                <a:solidFill>
                  <a:srgbClr val="1F1F1F"/>
                </a:solidFill>
                <a:latin typeface="M PLUS 1p"/>
                <a:ea typeface="M PLUS 1p"/>
                <a:cs typeface="M PLUS 1p"/>
                <a:sym typeface="M PLUS 1p"/>
              </a:rPr>
              <a:t>は管理画面にログインすることがわかった</a:t>
            </a:r>
            <a:endParaRPr sz="1600">
              <a:solidFill>
                <a:srgbClr val="1F1F1F"/>
              </a:solidFill>
              <a:latin typeface="M PLUS 1p"/>
              <a:ea typeface="M PLUS 1p"/>
              <a:cs typeface="M PLUS 1p"/>
              <a:sym typeface="M PLUS 1p"/>
            </a:endParaRPr>
          </a:p>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次は</a:t>
            </a:r>
            <a:r>
              <a:rPr lang="ja" sz="1600">
                <a:solidFill>
                  <a:srgbClr val="1F1F1F"/>
                </a:solidFill>
                <a:latin typeface="M PLUS 1p"/>
                <a:ea typeface="M PLUS 1p"/>
                <a:cs typeface="M PLUS 1p"/>
                <a:sym typeface="M PLUS 1p"/>
              </a:rPr>
              <a:t>管理画面での行動を理解することで離脱から復活に繋げる方法</a:t>
            </a:r>
            <a:r>
              <a:rPr lang="ja" sz="1600">
                <a:solidFill>
                  <a:srgbClr val="1F1F1F"/>
                </a:solidFill>
                <a:latin typeface="M PLUS 1p"/>
                <a:ea typeface="M PLUS 1p"/>
                <a:cs typeface="M PLUS 1p"/>
                <a:sym typeface="M PLUS 1p"/>
              </a:rPr>
              <a:t>を考える</a:t>
            </a:r>
            <a:endParaRPr sz="1600">
              <a:solidFill>
                <a:srgbClr val="1F1F1F"/>
              </a:solidFill>
              <a:latin typeface="M PLUS 1p"/>
              <a:ea typeface="M PLUS 1p"/>
              <a:cs typeface="M PLUS 1p"/>
              <a:sym typeface="M PLUS 1p"/>
            </a:endParaRPr>
          </a:p>
          <a:p>
            <a:pPr indent="-330200" lvl="1" marL="9144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ログイン数の増加も復活率を改善手段として考えられるが、打ち手がメール・架電程度しかなく効果の見込みも小さいため、ここではログイン後の管理画面に着目</a:t>
            </a:r>
            <a:endParaRPr sz="1600">
              <a:solidFill>
                <a:srgbClr val="1F1F1F"/>
              </a:solidFill>
              <a:latin typeface="M PLUS 1p"/>
              <a:ea typeface="M PLUS 1p"/>
              <a:cs typeface="M PLUS 1p"/>
              <a:sym typeface="M PLUS 1p"/>
            </a:endParaRPr>
          </a:p>
        </p:txBody>
      </p:sp>
      <p:sp>
        <p:nvSpPr>
          <p:cNvPr id="813" name="Google Shape;813;p60"/>
          <p:cNvSpPr txBox="1"/>
          <p:nvPr/>
        </p:nvSpPr>
        <p:spPr>
          <a:xfrm>
            <a:off x="712300" y="294475"/>
            <a:ext cx="7710000" cy="48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2000">
                <a:solidFill>
                  <a:srgbClr val="1F1F1F"/>
                </a:solidFill>
                <a:latin typeface="M PLUS 1p"/>
                <a:ea typeface="M PLUS 1p"/>
                <a:cs typeface="M PLUS 1p"/>
                <a:sym typeface="M PLUS 1p"/>
              </a:rPr>
              <a:t>ログインすることでログイン後4w以内の復活率は大きく増加する</a:t>
            </a:r>
            <a:endParaRPr b="1" sz="2000">
              <a:solidFill>
                <a:srgbClr val="1F1F1F"/>
              </a:solidFill>
              <a:latin typeface="M PLUS 1p"/>
              <a:ea typeface="M PLUS 1p"/>
              <a:cs typeface="M PLUS 1p"/>
              <a:sym typeface="M PLUS 1p"/>
            </a:endParaRPr>
          </a:p>
        </p:txBody>
      </p:sp>
      <p:sp>
        <p:nvSpPr>
          <p:cNvPr id="814" name="Google Shape;814;p60"/>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pic>
        <p:nvPicPr>
          <p:cNvPr id="815" name="Google Shape;815;p60" title="グラフ"/>
          <p:cNvPicPr preferRelativeResize="0"/>
          <p:nvPr/>
        </p:nvPicPr>
        <p:blipFill>
          <a:blip r:embed="rId3">
            <a:alphaModFix/>
          </a:blip>
          <a:stretch>
            <a:fillRect/>
          </a:stretch>
        </p:blipFill>
        <p:spPr>
          <a:xfrm>
            <a:off x="2390050" y="2401913"/>
            <a:ext cx="4293675" cy="2654922"/>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19" name="Shape 819"/>
        <p:cNvGrpSpPr/>
        <p:nvPr/>
      </p:nvGrpSpPr>
      <p:grpSpPr>
        <a:xfrm>
          <a:off x="0" y="0"/>
          <a:ext cx="0" cy="0"/>
          <a:chOff x="0" y="0"/>
          <a:chExt cx="0" cy="0"/>
        </a:xfrm>
      </p:grpSpPr>
      <p:sp>
        <p:nvSpPr>
          <p:cNvPr id="820" name="Google Shape;820;p61"/>
          <p:cNvSpPr/>
          <p:nvPr/>
        </p:nvSpPr>
        <p:spPr>
          <a:xfrm>
            <a:off x="342900" y="365275"/>
            <a:ext cx="342900" cy="342900"/>
          </a:xfrm>
          <a:prstGeom prst="ellipse">
            <a:avLst/>
          </a:prstGeom>
          <a:solidFill>
            <a:srgbClr val="FFD7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 name="Google Shape;821;p61"/>
          <p:cNvSpPr txBox="1"/>
          <p:nvPr/>
        </p:nvSpPr>
        <p:spPr>
          <a:xfrm>
            <a:off x="432350" y="860575"/>
            <a:ext cx="8620500" cy="1332300"/>
          </a:xfrm>
          <a:prstGeom prst="rect">
            <a:avLst/>
          </a:prstGeom>
          <a:noFill/>
          <a:ln>
            <a:noFill/>
          </a:ln>
        </p:spPr>
        <p:txBody>
          <a:bodyPr anchorCtr="0" anchor="t" bIns="91425" lIns="91425" spcFirstLastPara="1" rIns="91425" wrap="square" tIns="91425">
            <a:noAutofit/>
          </a:bodyPr>
          <a:lstStyle/>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休眠開始日（前回の募集から30日以上募集作成がされなかった場合の、最後の募集作成日）後も、アクセスだけしている</a:t>
            </a:r>
            <a:r>
              <a:rPr lang="ja" sz="1600">
                <a:solidFill>
                  <a:srgbClr val="1F1F1F"/>
                </a:solidFill>
                <a:latin typeface="M PLUS 1p"/>
                <a:ea typeface="M PLUS 1p"/>
                <a:cs typeface="M PLUS 1p"/>
                <a:sym typeface="M PLUS 1p"/>
              </a:rPr>
              <a:t>店舗</a:t>
            </a:r>
            <a:r>
              <a:rPr lang="ja" sz="1600">
                <a:solidFill>
                  <a:srgbClr val="1F1F1F"/>
                </a:solidFill>
                <a:latin typeface="M PLUS 1p"/>
                <a:ea typeface="M PLUS 1p"/>
                <a:cs typeface="M PLUS 1p"/>
                <a:sym typeface="M PLUS 1p"/>
              </a:rPr>
              <a:t>は常に全</a:t>
            </a:r>
            <a:r>
              <a:rPr lang="ja" sz="1600">
                <a:solidFill>
                  <a:srgbClr val="1F1F1F"/>
                </a:solidFill>
                <a:latin typeface="M PLUS 1p"/>
                <a:ea typeface="M PLUS 1p"/>
                <a:cs typeface="M PLUS 1p"/>
                <a:sym typeface="M PLUS 1p"/>
              </a:rPr>
              <a:t>店舗</a:t>
            </a:r>
            <a:r>
              <a:rPr lang="ja" sz="1600">
                <a:solidFill>
                  <a:srgbClr val="1F1F1F"/>
                </a:solidFill>
                <a:latin typeface="M PLUS 1p"/>
                <a:ea typeface="M PLUS 1p"/>
                <a:cs typeface="M PLUS 1p"/>
                <a:sym typeface="M PLUS 1p"/>
              </a:rPr>
              <a:t>の10%ほど存在している</a:t>
            </a:r>
            <a:endParaRPr sz="1600">
              <a:solidFill>
                <a:srgbClr val="1F1F1F"/>
              </a:solidFill>
              <a:latin typeface="M PLUS 1p"/>
              <a:ea typeface="M PLUS 1p"/>
              <a:cs typeface="M PLUS 1p"/>
              <a:sym typeface="M PLUS 1p"/>
            </a:endParaRPr>
          </a:p>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これら</a:t>
            </a:r>
            <a:r>
              <a:rPr lang="ja" sz="1600">
                <a:solidFill>
                  <a:srgbClr val="1F1F1F"/>
                </a:solidFill>
                <a:latin typeface="M PLUS 1p"/>
                <a:ea typeface="M PLUS 1p"/>
                <a:cs typeface="M PLUS 1p"/>
                <a:sym typeface="M PLUS 1p"/>
              </a:rPr>
              <a:t>の店舗にテックタッチで募集作成を促すことはできないか？</a:t>
            </a:r>
            <a:endParaRPr sz="1600">
              <a:solidFill>
                <a:srgbClr val="1F1F1F"/>
              </a:solidFill>
              <a:latin typeface="M PLUS 1p"/>
              <a:ea typeface="M PLUS 1p"/>
              <a:cs typeface="M PLUS 1p"/>
              <a:sym typeface="M PLUS 1p"/>
            </a:endParaRPr>
          </a:p>
        </p:txBody>
      </p:sp>
      <p:sp>
        <p:nvSpPr>
          <p:cNvPr id="822" name="Google Shape;822;p61"/>
          <p:cNvSpPr txBox="1"/>
          <p:nvPr/>
        </p:nvSpPr>
        <p:spPr>
          <a:xfrm>
            <a:off x="387600" y="335450"/>
            <a:ext cx="298200" cy="30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300">
                <a:solidFill>
                  <a:srgbClr val="FFFFFF"/>
                </a:solidFill>
                <a:latin typeface="Zen Kaku Gothic New"/>
                <a:ea typeface="Zen Kaku Gothic New"/>
                <a:cs typeface="Zen Kaku Gothic New"/>
                <a:sym typeface="Zen Kaku Gothic New"/>
              </a:rPr>
              <a:t>6</a:t>
            </a:r>
            <a:endParaRPr b="1" sz="1300">
              <a:solidFill>
                <a:srgbClr val="FFFFFF"/>
              </a:solidFill>
              <a:latin typeface="Zen Kaku Gothic New"/>
              <a:ea typeface="Zen Kaku Gothic New"/>
              <a:cs typeface="Zen Kaku Gothic New"/>
              <a:sym typeface="Zen Kaku Gothic New"/>
            </a:endParaRPr>
          </a:p>
        </p:txBody>
      </p:sp>
      <p:sp>
        <p:nvSpPr>
          <p:cNvPr id="823" name="Google Shape;823;p61"/>
          <p:cNvSpPr txBox="1"/>
          <p:nvPr/>
        </p:nvSpPr>
        <p:spPr>
          <a:xfrm>
            <a:off x="8136000" y="104275"/>
            <a:ext cx="916800" cy="190200"/>
          </a:xfrm>
          <a:prstGeom prst="rect">
            <a:avLst/>
          </a:prstGeom>
          <a:solidFill>
            <a:srgbClr val="DC0451"/>
          </a:solidFill>
          <a:ln>
            <a:noFill/>
          </a:ln>
        </p:spPr>
        <p:txBody>
          <a:bodyPr anchorCtr="0" anchor="t" bIns="91425" lIns="91425" spcFirstLastPara="1" rIns="91425" wrap="square" tIns="91425">
            <a:noAutofit/>
          </a:bodyPr>
          <a:lstStyle/>
          <a:p>
            <a:pPr indent="0" lvl="0" marL="0" rtl="0" algn="ctr">
              <a:lnSpc>
                <a:spcPct val="50000"/>
              </a:lnSpc>
              <a:spcBef>
                <a:spcPts val="0"/>
              </a:spcBef>
              <a:spcAft>
                <a:spcPts val="0"/>
              </a:spcAft>
              <a:buNone/>
            </a:pPr>
            <a:r>
              <a:rPr b="1" lang="ja" sz="700">
                <a:solidFill>
                  <a:srgbClr val="FFFFFF"/>
                </a:solidFill>
                <a:latin typeface="M PLUS 1p"/>
                <a:ea typeface="M PLUS 1p"/>
                <a:cs typeface="M PLUS 1p"/>
                <a:sym typeface="M PLUS 1p"/>
              </a:rPr>
              <a:t>CONFIDENTIAL</a:t>
            </a:r>
            <a:endParaRPr b="1" sz="700">
              <a:solidFill>
                <a:srgbClr val="FFFFFF"/>
              </a:solidFill>
              <a:latin typeface="M PLUS 1p"/>
              <a:ea typeface="M PLUS 1p"/>
              <a:cs typeface="M PLUS 1p"/>
              <a:sym typeface="M PLUS 1p"/>
            </a:endParaRPr>
          </a:p>
        </p:txBody>
      </p:sp>
      <p:sp>
        <p:nvSpPr>
          <p:cNvPr id="824" name="Google Shape;824;p6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825" name="Google Shape;825;p61"/>
          <p:cNvSpPr/>
          <p:nvPr/>
        </p:nvSpPr>
        <p:spPr>
          <a:xfrm>
            <a:off x="4598475" y="4123000"/>
            <a:ext cx="417900" cy="1878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26" name="Google Shape;826;p61"/>
          <p:cNvSpPr txBox="1"/>
          <p:nvPr/>
        </p:nvSpPr>
        <p:spPr>
          <a:xfrm>
            <a:off x="712300" y="294475"/>
            <a:ext cx="7710000" cy="48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2000">
                <a:solidFill>
                  <a:srgbClr val="1F1F1F"/>
                </a:solidFill>
                <a:latin typeface="M PLUS 1p"/>
                <a:ea typeface="M PLUS 1p"/>
                <a:cs typeface="M PLUS 1p"/>
                <a:sym typeface="M PLUS 1p"/>
              </a:rPr>
              <a:t>休眠中にアクセスだけする店舗がどの程度存在するのかを調査</a:t>
            </a:r>
            <a:endParaRPr b="1" sz="2000">
              <a:solidFill>
                <a:srgbClr val="1F1F1F"/>
              </a:solidFill>
              <a:latin typeface="M PLUS 1p"/>
              <a:ea typeface="M PLUS 1p"/>
              <a:cs typeface="M PLUS 1p"/>
              <a:sym typeface="M PLUS 1p"/>
            </a:endParaRPr>
          </a:p>
        </p:txBody>
      </p:sp>
      <p:pic>
        <p:nvPicPr>
          <p:cNvPr id="827" name="Google Shape;827;p61" title="グラフ"/>
          <p:cNvPicPr preferRelativeResize="0"/>
          <p:nvPr/>
        </p:nvPicPr>
        <p:blipFill>
          <a:blip r:embed="rId3">
            <a:alphaModFix/>
          </a:blip>
          <a:stretch>
            <a:fillRect/>
          </a:stretch>
        </p:blipFill>
        <p:spPr>
          <a:xfrm>
            <a:off x="853575" y="2249275"/>
            <a:ext cx="4293675" cy="2837016"/>
          </a:xfrm>
          <a:prstGeom prst="rect">
            <a:avLst/>
          </a:prstGeom>
          <a:noFill/>
          <a:ln>
            <a:noFill/>
          </a:ln>
        </p:spPr>
      </p:pic>
      <p:sp>
        <p:nvSpPr>
          <p:cNvPr id="828" name="Google Shape;828;p61"/>
          <p:cNvSpPr txBox="1"/>
          <p:nvPr/>
        </p:nvSpPr>
        <p:spPr>
          <a:xfrm>
            <a:off x="5377563" y="3490750"/>
            <a:ext cx="3255600" cy="1452300"/>
          </a:xfrm>
          <a:prstGeom prst="rect">
            <a:avLst/>
          </a:prstGeom>
          <a:no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292100" lvl="0" marL="457200" rtl="0" algn="l">
              <a:lnSpc>
                <a:spcPct val="120000"/>
              </a:lnSpc>
              <a:spcBef>
                <a:spcPts val="0"/>
              </a:spcBef>
              <a:spcAft>
                <a:spcPts val="0"/>
              </a:spcAft>
              <a:buClr>
                <a:schemeClr val="dk2"/>
              </a:buClr>
              <a:buSzPts val="1000"/>
              <a:buFont typeface="M PLUS 1p"/>
              <a:buAutoNum type="alphaUcPeriod"/>
            </a:pPr>
            <a:r>
              <a:rPr lang="ja" sz="1000">
                <a:solidFill>
                  <a:schemeClr val="dk2"/>
                </a:solidFill>
                <a:latin typeface="M PLUS 1p"/>
                <a:ea typeface="M PLUS 1p"/>
                <a:cs typeface="M PLUS 1p"/>
                <a:sym typeface="M PLUS 1p"/>
              </a:rPr>
              <a:t>募集作成：その日に募集を作成した</a:t>
            </a:r>
            <a:r>
              <a:rPr lang="ja" sz="1000">
                <a:solidFill>
                  <a:schemeClr val="dk2"/>
                </a:solidFill>
                <a:latin typeface="M PLUS 1p"/>
                <a:ea typeface="M PLUS 1p"/>
                <a:cs typeface="M PLUS 1p"/>
                <a:sym typeface="M PLUS 1p"/>
              </a:rPr>
              <a:t>店舗</a:t>
            </a:r>
            <a:endParaRPr sz="1000">
              <a:solidFill>
                <a:schemeClr val="dk2"/>
              </a:solidFill>
              <a:latin typeface="M PLUS 1p"/>
              <a:ea typeface="M PLUS 1p"/>
              <a:cs typeface="M PLUS 1p"/>
              <a:sym typeface="M PLUS 1p"/>
            </a:endParaRPr>
          </a:p>
          <a:p>
            <a:pPr indent="-292100" lvl="0" marL="457200" rtl="0" algn="l">
              <a:lnSpc>
                <a:spcPct val="120000"/>
              </a:lnSpc>
              <a:spcBef>
                <a:spcPts val="0"/>
              </a:spcBef>
              <a:spcAft>
                <a:spcPts val="0"/>
              </a:spcAft>
              <a:buClr>
                <a:schemeClr val="dk2"/>
              </a:buClr>
              <a:buSzPts val="1000"/>
              <a:buFont typeface="M PLUS 1p"/>
              <a:buAutoNum type="alphaUcPeriod"/>
            </a:pPr>
            <a:r>
              <a:rPr lang="ja" sz="1000">
                <a:solidFill>
                  <a:schemeClr val="dk2"/>
                </a:solidFill>
                <a:latin typeface="M PLUS 1p"/>
                <a:ea typeface="M PLUS 1p"/>
                <a:cs typeface="M PLUS 1p"/>
                <a:sym typeface="M PLUS 1p"/>
              </a:rPr>
              <a:t>仕事開始日かつアクセスあり：その日が仕事開始日でアクセスをした</a:t>
            </a:r>
            <a:r>
              <a:rPr lang="ja" sz="1000">
                <a:solidFill>
                  <a:schemeClr val="dk2"/>
                </a:solidFill>
                <a:latin typeface="M PLUS 1p"/>
                <a:ea typeface="M PLUS 1p"/>
                <a:cs typeface="M PLUS 1p"/>
                <a:sym typeface="M PLUS 1p"/>
              </a:rPr>
              <a:t>店舗</a:t>
            </a:r>
            <a:endParaRPr sz="1000">
              <a:solidFill>
                <a:schemeClr val="dk2"/>
              </a:solidFill>
              <a:latin typeface="M PLUS 1p"/>
              <a:ea typeface="M PLUS 1p"/>
              <a:cs typeface="M PLUS 1p"/>
              <a:sym typeface="M PLUS 1p"/>
            </a:endParaRPr>
          </a:p>
          <a:p>
            <a:pPr indent="-292100" lvl="0" marL="457200" rtl="0" algn="l">
              <a:lnSpc>
                <a:spcPct val="120000"/>
              </a:lnSpc>
              <a:spcBef>
                <a:spcPts val="0"/>
              </a:spcBef>
              <a:spcAft>
                <a:spcPts val="0"/>
              </a:spcAft>
              <a:buClr>
                <a:schemeClr val="dk2"/>
              </a:buClr>
              <a:buSzPts val="1000"/>
              <a:buFont typeface="M PLUS 1p"/>
              <a:buAutoNum type="alphaUcPeriod"/>
            </a:pPr>
            <a:r>
              <a:rPr lang="ja" sz="1000">
                <a:solidFill>
                  <a:schemeClr val="dk2"/>
                </a:solidFill>
                <a:latin typeface="M PLUS 1p"/>
                <a:ea typeface="M PLUS 1p"/>
                <a:cs typeface="M PLUS 1p"/>
                <a:sym typeface="M PLUS 1p"/>
              </a:rPr>
              <a:t>アクセスのみあり：A,B以外でその日にアクセスをした</a:t>
            </a:r>
            <a:r>
              <a:rPr lang="ja" sz="1000">
                <a:solidFill>
                  <a:schemeClr val="dk2"/>
                </a:solidFill>
                <a:latin typeface="M PLUS 1p"/>
                <a:ea typeface="M PLUS 1p"/>
                <a:cs typeface="M PLUS 1p"/>
                <a:sym typeface="M PLUS 1p"/>
              </a:rPr>
              <a:t>店舗</a:t>
            </a:r>
            <a:endParaRPr sz="1000">
              <a:solidFill>
                <a:schemeClr val="dk2"/>
              </a:solidFill>
              <a:latin typeface="M PLUS 1p"/>
              <a:ea typeface="M PLUS 1p"/>
              <a:cs typeface="M PLUS 1p"/>
              <a:sym typeface="M PLUS 1p"/>
            </a:endParaRPr>
          </a:p>
          <a:p>
            <a:pPr indent="-292100" lvl="0" marL="457200" rtl="0" algn="l">
              <a:lnSpc>
                <a:spcPct val="120000"/>
              </a:lnSpc>
              <a:spcBef>
                <a:spcPts val="0"/>
              </a:spcBef>
              <a:spcAft>
                <a:spcPts val="0"/>
              </a:spcAft>
              <a:buClr>
                <a:schemeClr val="dk2"/>
              </a:buClr>
              <a:buSzPts val="1000"/>
              <a:buFont typeface="M PLUS 1p"/>
              <a:buAutoNum type="alphaUcPeriod"/>
            </a:pPr>
            <a:r>
              <a:rPr lang="ja" sz="1000">
                <a:solidFill>
                  <a:schemeClr val="dk2"/>
                </a:solidFill>
                <a:latin typeface="M PLUS 1p"/>
                <a:ea typeface="M PLUS 1p"/>
                <a:cs typeface="M PLUS 1p"/>
                <a:sym typeface="M PLUS 1p"/>
              </a:rPr>
              <a:t>アクセスなし：その日にアクセスをしなかった</a:t>
            </a:r>
            <a:r>
              <a:rPr lang="ja" sz="1000">
                <a:solidFill>
                  <a:schemeClr val="dk2"/>
                </a:solidFill>
                <a:latin typeface="M PLUS 1p"/>
                <a:ea typeface="M PLUS 1p"/>
                <a:cs typeface="M PLUS 1p"/>
                <a:sym typeface="M PLUS 1p"/>
              </a:rPr>
              <a:t>店舗</a:t>
            </a:r>
            <a:endParaRPr sz="1000">
              <a:solidFill>
                <a:schemeClr val="dk2"/>
              </a:solidFill>
              <a:latin typeface="M PLUS 1p"/>
              <a:ea typeface="M PLUS 1p"/>
              <a:cs typeface="M PLUS 1p"/>
              <a:sym typeface="M PLUS 1p"/>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32" name="Shape 832"/>
        <p:cNvGrpSpPr/>
        <p:nvPr/>
      </p:nvGrpSpPr>
      <p:grpSpPr>
        <a:xfrm>
          <a:off x="0" y="0"/>
          <a:ext cx="0" cy="0"/>
          <a:chOff x="0" y="0"/>
          <a:chExt cx="0" cy="0"/>
        </a:xfrm>
      </p:grpSpPr>
      <p:sp>
        <p:nvSpPr>
          <p:cNvPr id="833" name="Google Shape;833;p62"/>
          <p:cNvSpPr txBox="1"/>
          <p:nvPr/>
        </p:nvSpPr>
        <p:spPr>
          <a:xfrm>
            <a:off x="432350" y="860575"/>
            <a:ext cx="4211700" cy="3739200"/>
          </a:xfrm>
          <a:prstGeom prst="rect">
            <a:avLst/>
          </a:prstGeom>
          <a:noFill/>
          <a:ln>
            <a:noFill/>
          </a:ln>
        </p:spPr>
        <p:txBody>
          <a:bodyPr anchorCtr="0" anchor="t" bIns="91425" lIns="91425" spcFirstLastPara="1" rIns="91425" wrap="square" tIns="91425">
            <a:noAutofit/>
          </a:bodyPr>
          <a:lstStyle/>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アクセスだけしている</a:t>
            </a:r>
            <a:r>
              <a:rPr lang="ja" sz="1600">
                <a:solidFill>
                  <a:srgbClr val="1F1F1F"/>
                </a:solidFill>
                <a:latin typeface="M PLUS 1p"/>
                <a:ea typeface="M PLUS 1p"/>
                <a:cs typeface="M PLUS 1p"/>
                <a:sym typeface="M PLUS 1p"/>
              </a:rPr>
              <a:t>店舗</a:t>
            </a:r>
            <a:r>
              <a:rPr lang="ja" sz="1600">
                <a:solidFill>
                  <a:srgbClr val="1F1F1F"/>
                </a:solidFill>
                <a:latin typeface="M PLUS 1p"/>
                <a:ea typeface="M PLUS 1p"/>
                <a:cs typeface="M PLUS 1p"/>
                <a:sym typeface="M PLUS 1p"/>
              </a:rPr>
              <a:t>の40%ほどは、求人一覧やひな形一覧の画面を閲覧</a:t>
            </a:r>
            <a:endParaRPr sz="1600">
              <a:solidFill>
                <a:srgbClr val="1F1F1F"/>
              </a:solidFill>
              <a:latin typeface="M PLUS 1p"/>
              <a:ea typeface="M PLUS 1p"/>
              <a:cs typeface="M PLUS 1p"/>
              <a:sym typeface="M PLUS 1p"/>
            </a:endParaRPr>
          </a:p>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求人作成画面に来ている</a:t>
            </a:r>
            <a:r>
              <a:rPr lang="ja" sz="1600">
                <a:solidFill>
                  <a:srgbClr val="1F1F1F"/>
                </a:solidFill>
                <a:latin typeface="M PLUS 1p"/>
                <a:ea typeface="M PLUS 1p"/>
                <a:cs typeface="M PLUS 1p"/>
                <a:sym typeface="M PLUS 1p"/>
              </a:rPr>
              <a:t>店舗</a:t>
            </a:r>
            <a:r>
              <a:rPr lang="ja" sz="1600">
                <a:solidFill>
                  <a:srgbClr val="1F1F1F"/>
                </a:solidFill>
                <a:latin typeface="M PLUS 1p"/>
                <a:ea typeface="M PLUS 1p"/>
                <a:cs typeface="M PLUS 1p"/>
                <a:sym typeface="M PLUS 1p"/>
              </a:rPr>
              <a:t>も20%ほど存在</a:t>
            </a:r>
            <a:endParaRPr sz="1600">
              <a:solidFill>
                <a:srgbClr val="1F1F1F"/>
              </a:solidFill>
              <a:latin typeface="M PLUS 1p"/>
              <a:ea typeface="M PLUS 1p"/>
              <a:cs typeface="M PLUS 1p"/>
              <a:sym typeface="M PLUS 1p"/>
            </a:endParaRPr>
          </a:p>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これらの</a:t>
            </a:r>
            <a:r>
              <a:rPr lang="ja" sz="1600">
                <a:solidFill>
                  <a:srgbClr val="1F1F1F"/>
                </a:solidFill>
                <a:latin typeface="M PLUS 1p"/>
                <a:ea typeface="M PLUS 1p"/>
                <a:cs typeface="M PLUS 1p"/>
                <a:sym typeface="M PLUS 1p"/>
              </a:rPr>
              <a:t>店舗</a:t>
            </a:r>
            <a:r>
              <a:rPr lang="ja" sz="1600">
                <a:solidFill>
                  <a:srgbClr val="1F1F1F"/>
                </a:solidFill>
                <a:latin typeface="M PLUS 1p"/>
                <a:ea typeface="M PLUS 1p"/>
                <a:cs typeface="M PLUS 1p"/>
                <a:sym typeface="M PLUS 1p"/>
              </a:rPr>
              <a:t>に対してテックタッチでコミュニケーションを取ることで、募集作成を後押しすることができないか</a:t>
            </a:r>
            <a:endParaRPr sz="1600">
              <a:solidFill>
                <a:srgbClr val="1F1F1F"/>
              </a:solidFill>
              <a:latin typeface="M PLUS 1p"/>
              <a:ea typeface="M PLUS 1p"/>
              <a:cs typeface="M PLUS 1p"/>
              <a:sym typeface="M PLUS 1p"/>
            </a:endParaRPr>
          </a:p>
        </p:txBody>
      </p:sp>
      <p:sp>
        <p:nvSpPr>
          <p:cNvPr id="834" name="Google Shape;834;p62"/>
          <p:cNvSpPr/>
          <p:nvPr/>
        </p:nvSpPr>
        <p:spPr>
          <a:xfrm>
            <a:off x="342900" y="365275"/>
            <a:ext cx="342900" cy="342900"/>
          </a:xfrm>
          <a:prstGeom prst="ellipse">
            <a:avLst/>
          </a:prstGeom>
          <a:solidFill>
            <a:srgbClr val="FFD7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5" name="Google Shape;835;p62"/>
          <p:cNvSpPr txBox="1"/>
          <p:nvPr/>
        </p:nvSpPr>
        <p:spPr>
          <a:xfrm>
            <a:off x="387600" y="335450"/>
            <a:ext cx="298200" cy="30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300">
                <a:solidFill>
                  <a:srgbClr val="FFFFFF"/>
                </a:solidFill>
                <a:latin typeface="Zen Kaku Gothic New"/>
                <a:ea typeface="Zen Kaku Gothic New"/>
                <a:cs typeface="Zen Kaku Gothic New"/>
                <a:sym typeface="Zen Kaku Gothic New"/>
              </a:rPr>
              <a:t>7</a:t>
            </a:r>
            <a:endParaRPr b="1" sz="1300">
              <a:solidFill>
                <a:srgbClr val="FFFFFF"/>
              </a:solidFill>
              <a:latin typeface="Zen Kaku Gothic New"/>
              <a:ea typeface="Zen Kaku Gothic New"/>
              <a:cs typeface="Zen Kaku Gothic New"/>
              <a:sym typeface="Zen Kaku Gothic New"/>
            </a:endParaRPr>
          </a:p>
        </p:txBody>
      </p:sp>
      <p:sp>
        <p:nvSpPr>
          <p:cNvPr id="836" name="Google Shape;836;p62"/>
          <p:cNvSpPr txBox="1"/>
          <p:nvPr/>
        </p:nvSpPr>
        <p:spPr>
          <a:xfrm>
            <a:off x="8136000" y="104275"/>
            <a:ext cx="916800" cy="190200"/>
          </a:xfrm>
          <a:prstGeom prst="rect">
            <a:avLst/>
          </a:prstGeom>
          <a:solidFill>
            <a:srgbClr val="DC0451"/>
          </a:solidFill>
          <a:ln>
            <a:noFill/>
          </a:ln>
        </p:spPr>
        <p:txBody>
          <a:bodyPr anchorCtr="0" anchor="t" bIns="91425" lIns="91425" spcFirstLastPara="1" rIns="91425" wrap="square" tIns="91425">
            <a:noAutofit/>
          </a:bodyPr>
          <a:lstStyle/>
          <a:p>
            <a:pPr indent="0" lvl="0" marL="0" rtl="0" algn="ctr">
              <a:lnSpc>
                <a:spcPct val="50000"/>
              </a:lnSpc>
              <a:spcBef>
                <a:spcPts val="0"/>
              </a:spcBef>
              <a:spcAft>
                <a:spcPts val="0"/>
              </a:spcAft>
              <a:buNone/>
            </a:pPr>
            <a:r>
              <a:rPr b="1" lang="ja" sz="700">
                <a:solidFill>
                  <a:srgbClr val="FFFFFF"/>
                </a:solidFill>
                <a:latin typeface="M PLUS 1p"/>
                <a:ea typeface="M PLUS 1p"/>
                <a:cs typeface="M PLUS 1p"/>
                <a:sym typeface="M PLUS 1p"/>
              </a:rPr>
              <a:t>CONFIDENTIAL</a:t>
            </a:r>
            <a:endParaRPr b="1" sz="700">
              <a:solidFill>
                <a:srgbClr val="FFFFFF"/>
              </a:solidFill>
              <a:latin typeface="M PLUS 1p"/>
              <a:ea typeface="M PLUS 1p"/>
              <a:cs typeface="M PLUS 1p"/>
              <a:sym typeface="M PLUS 1p"/>
            </a:endParaRPr>
          </a:p>
        </p:txBody>
      </p:sp>
      <p:sp>
        <p:nvSpPr>
          <p:cNvPr id="837" name="Google Shape;837;p6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838" name="Google Shape;838;p62"/>
          <p:cNvSpPr/>
          <p:nvPr/>
        </p:nvSpPr>
        <p:spPr>
          <a:xfrm>
            <a:off x="4598475" y="4123000"/>
            <a:ext cx="417900" cy="1878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39" name="Google Shape;839;p62"/>
          <p:cNvSpPr txBox="1"/>
          <p:nvPr/>
        </p:nvSpPr>
        <p:spPr>
          <a:xfrm>
            <a:off x="712300" y="294475"/>
            <a:ext cx="7710000" cy="48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2000">
                <a:solidFill>
                  <a:srgbClr val="1F1F1F"/>
                </a:solidFill>
                <a:latin typeface="M PLUS 1p"/>
                <a:ea typeface="M PLUS 1p"/>
                <a:cs typeface="M PLUS 1p"/>
                <a:sym typeface="M PLUS 1p"/>
              </a:rPr>
              <a:t>休眠中に</a:t>
            </a:r>
            <a:r>
              <a:rPr b="1" lang="ja" sz="2000">
                <a:solidFill>
                  <a:srgbClr val="1F1F1F"/>
                </a:solidFill>
                <a:latin typeface="M PLUS 1p"/>
                <a:ea typeface="M PLUS 1p"/>
                <a:cs typeface="M PLUS 1p"/>
                <a:sym typeface="M PLUS 1p"/>
              </a:rPr>
              <a:t>求人関連の画面を閲覧している店舗も存在している</a:t>
            </a:r>
            <a:endParaRPr b="1" sz="2000">
              <a:solidFill>
                <a:srgbClr val="1F1F1F"/>
              </a:solidFill>
              <a:latin typeface="M PLUS 1p"/>
              <a:ea typeface="M PLUS 1p"/>
              <a:cs typeface="M PLUS 1p"/>
              <a:sym typeface="M PLUS 1p"/>
            </a:endParaRPr>
          </a:p>
        </p:txBody>
      </p:sp>
      <p:sp>
        <p:nvSpPr>
          <p:cNvPr id="840" name="Google Shape;840;p62"/>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pic>
        <p:nvPicPr>
          <p:cNvPr id="841" name="Google Shape;841;p62" title="グラフ"/>
          <p:cNvPicPr preferRelativeResize="0"/>
          <p:nvPr/>
        </p:nvPicPr>
        <p:blipFill>
          <a:blip r:embed="rId3">
            <a:alphaModFix/>
          </a:blip>
          <a:stretch>
            <a:fillRect/>
          </a:stretch>
        </p:blipFill>
        <p:spPr>
          <a:xfrm>
            <a:off x="4680179" y="924000"/>
            <a:ext cx="4040876" cy="3739224"/>
          </a:xfrm>
          <a:prstGeom prst="rect">
            <a:avLst/>
          </a:prstGeom>
          <a:noFill/>
          <a:ln>
            <a:noFill/>
          </a:ln>
        </p:spPr>
      </p:pic>
      <p:sp>
        <p:nvSpPr>
          <p:cNvPr id="842" name="Google Shape;842;p62"/>
          <p:cNvSpPr/>
          <p:nvPr/>
        </p:nvSpPr>
        <p:spPr>
          <a:xfrm>
            <a:off x="5016376" y="2408500"/>
            <a:ext cx="3545100" cy="1407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43" name="Google Shape;843;p62"/>
          <p:cNvSpPr/>
          <p:nvPr/>
        </p:nvSpPr>
        <p:spPr>
          <a:xfrm>
            <a:off x="5016376" y="2162950"/>
            <a:ext cx="3545100" cy="1407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44" name="Google Shape;844;p62"/>
          <p:cNvSpPr/>
          <p:nvPr/>
        </p:nvSpPr>
        <p:spPr>
          <a:xfrm>
            <a:off x="5016376" y="3413075"/>
            <a:ext cx="3545100" cy="1407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48" name="Shape 848"/>
        <p:cNvGrpSpPr/>
        <p:nvPr/>
      </p:nvGrpSpPr>
      <p:grpSpPr>
        <a:xfrm>
          <a:off x="0" y="0"/>
          <a:ext cx="0" cy="0"/>
          <a:chOff x="0" y="0"/>
          <a:chExt cx="0" cy="0"/>
        </a:xfrm>
      </p:grpSpPr>
      <p:sp>
        <p:nvSpPr>
          <p:cNvPr id="849" name="Google Shape;849;p63"/>
          <p:cNvSpPr/>
          <p:nvPr/>
        </p:nvSpPr>
        <p:spPr>
          <a:xfrm>
            <a:off x="342900" y="365275"/>
            <a:ext cx="342900" cy="342900"/>
          </a:xfrm>
          <a:prstGeom prst="ellipse">
            <a:avLst/>
          </a:prstGeom>
          <a:solidFill>
            <a:srgbClr val="FFD7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 name="Google Shape;850;p63"/>
          <p:cNvSpPr txBox="1"/>
          <p:nvPr/>
        </p:nvSpPr>
        <p:spPr>
          <a:xfrm>
            <a:off x="387600" y="335450"/>
            <a:ext cx="298200" cy="30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300">
                <a:solidFill>
                  <a:srgbClr val="FFFFFF"/>
                </a:solidFill>
                <a:latin typeface="Zen Kaku Gothic New"/>
                <a:ea typeface="Zen Kaku Gothic New"/>
                <a:cs typeface="Zen Kaku Gothic New"/>
                <a:sym typeface="Zen Kaku Gothic New"/>
              </a:rPr>
              <a:t>8</a:t>
            </a:r>
            <a:endParaRPr b="1" sz="1300">
              <a:solidFill>
                <a:srgbClr val="FFFFFF"/>
              </a:solidFill>
              <a:latin typeface="Zen Kaku Gothic New"/>
              <a:ea typeface="Zen Kaku Gothic New"/>
              <a:cs typeface="Zen Kaku Gothic New"/>
              <a:sym typeface="Zen Kaku Gothic New"/>
            </a:endParaRPr>
          </a:p>
        </p:txBody>
      </p:sp>
      <p:sp>
        <p:nvSpPr>
          <p:cNvPr id="851" name="Google Shape;851;p63"/>
          <p:cNvSpPr txBox="1"/>
          <p:nvPr/>
        </p:nvSpPr>
        <p:spPr>
          <a:xfrm>
            <a:off x="8136000" y="104275"/>
            <a:ext cx="916800" cy="190200"/>
          </a:xfrm>
          <a:prstGeom prst="rect">
            <a:avLst/>
          </a:prstGeom>
          <a:solidFill>
            <a:srgbClr val="DC0451"/>
          </a:solidFill>
          <a:ln>
            <a:noFill/>
          </a:ln>
        </p:spPr>
        <p:txBody>
          <a:bodyPr anchorCtr="0" anchor="t" bIns="91425" lIns="91425" spcFirstLastPara="1" rIns="91425" wrap="square" tIns="91425">
            <a:noAutofit/>
          </a:bodyPr>
          <a:lstStyle/>
          <a:p>
            <a:pPr indent="0" lvl="0" marL="0" rtl="0" algn="ctr">
              <a:lnSpc>
                <a:spcPct val="50000"/>
              </a:lnSpc>
              <a:spcBef>
                <a:spcPts val="0"/>
              </a:spcBef>
              <a:spcAft>
                <a:spcPts val="0"/>
              </a:spcAft>
              <a:buNone/>
            </a:pPr>
            <a:r>
              <a:rPr b="1" lang="ja" sz="700">
                <a:solidFill>
                  <a:srgbClr val="FFFFFF"/>
                </a:solidFill>
                <a:latin typeface="M PLUS 1p"/>
                <a:ea typeface="M PLUS 1p"/>
                <a:cs typeface="M PLUS 1p"/>
                <a:sym typeface="M PLUS 1p"/>
              </a:rPr>
              <a:t>CONFIDENTIAL</a:t>
            </a:r>
            <a:endParaRPr b="1" sz="700">
              <a:solidFill>
                <a:srgbClr val="FFFFFF"/>
              </a:solidFill>
              <a:latin typeface="M PLUS 1p"/>
              <a:ea typeface="M PLUS 1p"/>
              <a:cs typeface="M PLUS 1p"/>
              <a:sym typeface="M PLUS 1p"/>
            </a:endParaRPr>
          </a:p>
        </p:txBody>
      </p:sp>
      <p:sp>
        <p:nvSpPr>
          <p:cNvPr id="852" name="Google Shape;852;p6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853" name="Google Shape;853;p63"/>
          <p:cNvSpPr/>
          <p:nvPr/>
        </p:nvSpPr>
        <p:spPr>
          <a:xfrm>
            <a:off x="4598475" y="4123000"/>
            <a:ext cx="417900" cy="1878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54" name="Google Shape;854;p63"/>
          <p:cNvSpPr txBox="1"/>
          <p:nvPr/>
        </p:nvSpPr>
        <p:spPr>
          <a:xfrm>
            <a:off x="712300" y="294475"/>
            <a:ext cx="7710000" cy="48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2000">
                <a:solidFill>
                  <a:srgbClr val="1F1F1F"/>
                </a:solidFill>
                <a:latin typeface="M PLUS 1p"/>
                <a:ea typeface="M PLUS 1p"/>
                <a:cs typeface="M PLUS 1p"/>
                <a:sym typeface="M PLUS 1p"/>
              </a:rPr>
              <a:t>Appendix:</a:t>
            </a:r>
            <a:r>
              <a:rPr b="1" lang="ja" sz="2000">
                <a:solidFill>
                  <a:srgbClr val="1F1F1F"/>
                </a:solidFill>
                <a:latin typeface="M PLUS 1p"/>
                <a:ea typeface="M PLUS 1p"/>
                <a:cs typeface="M PLUS 1p"/>
                <a:sym typeface="M PLUS 1p"/>
              </a:rPr>
              <a:t>本部別①_初回連続掲載月数別_離脱月と復活後のAA率の関係性</a:t>
            </a:r>
            <a:endParaRPr b="1" sz="2000">
              <a:solidFill>
                <a:srgbClr val="1F1F1F"/>
              </a:solidFill>
              <a:latin typeface="M PLUS 1p"/>
              <a:ea typeface="M PLUS 1p"/>
              <a:cs typeface="M PLUS 1p"/>
              <a:sym typeface="M PLUS 1p"/>
            </a:endParaRPr>
          </a:p>
        </p:txBody>
      </p:sp>
      <p:sp>
        <p:nvSpPr>
          <p:cNvPr id="855" name="Google Shape;855;p63"/>
          <p:cNvSpPr txBox="1"/>
          <p:nvPr/>
        </p:nvSpPr>
        <p:spPr>
          <a:xfrm>
            <a:off x="432300" y="1061950"/>
            <a:ext cx="8620500" cy="1414200"/>
          </a:xfrm>
          <a:prstGeom prst="rect">
            <a:avLst/>
          </a:prstGeom>
          <a:noFill/>
          <a:ln>
            <a:noFill/>
          </a:ln>
        </p:spPr>
        <p:txBody>
          <a:bodyPr anchorCtr="0" anchor="t" bIns="91425" lIns="91425" spcFirstLastPara="1" rIns="91425" wrap="square" tIns="91425">
            <a:noAutofit/>
          </a:bodyPr>
          <a:lstStyle/>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飲食・流通：3ヶ月以下の連続掲載ではAA率は緩やかに下がる</a:t>
            </a:r>
            <a:endParaRPr sz="1600">
              <a:solidFill>
                <a:srgbClr val="1F1F1F"/>
              </a:solidFill>
              <a:latin typeface="M PLUS 1p"/>
              <a:ea typeface="M PLUS 1p"/>
              <a:cs typeface="M PLUS 1p"/>
              <a:sym typeface="M PLUS 1p"/>
            </a:endParaRPr>
          </a:p>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物流・製造：連続離脱月数とその後のAA率は大きく下がる傾向がある</a:t>
            </a:r>
            <a:endParaRPr sz="1600">
              <a:solidFill>
                <a:srgbClr val="1F1F1F"/>
              </a:solidFill>
              <a:latin typeface="M PLUS 1p"/>
              <a:ea typeface="M PLUS 1p"/>
              <a:cs typeface="M PLUS 1p"/>
              <a:sym typeface="M PLUS 1p"/>
            </a:endParaRPr>
          </a:p>
          <a:p>
            <a:pPr indent="0" lvl="0" marL="0" rtl="0" algn="l">
              <a:lnSpc>
                <a:spcPct val="120000"/>
              </a:lnSpc>
              <a:spcBef>
                <a:spcPts val="0"/>
              </a:spcBef>
              <a:spcAft>
                <a:spcPts val="0"/>
              </a:spcAft>
              <a:buNone/>
            </a:pPr>
            <a:r>
              <a:rPr lang="ja" sz="1600">
                <a:solidFill>
                  <a:srgbClr val="1F1F1F"/>
                </a:solidFill>
                <a:latin typeface="M PLUS 1p"/>
                <a:ea typeface="M PLUS 1p"/>
                <a:cs typeface="M PLUS 1p"/>
                <a:sym typeface="M PLUS 1p"/>
              </a:rPr>
              <a:t>※サンプルサイズが十分でないため、データがバラつく傾向があります</a:t>
            </a:r>
            <a:endParaRPr sz="1600">
              <a:solidFill>
                <a:srgbClr val="1F1F1F"/>
              </a:solidFill>
              <a:latin typeface="M PLUS 1p"/>
              <a:ea typeface="M PLUS 1p"/>
              <a:cs typeface="M PLUS 1p"/>
              <a:sym typeface="M PLUS 1p"/>
            </a:endParaRPr>
          </a:p>
        </p:txBody>
      </p:sp>
      <p:pic>
        <p:nvPicPr>
          <p:cNvPr id="856" name="Google Shape;856;p63" title="グラフ"/>
          <p:cNvPicPr preferRelativeResize="0"/>
          <p:nvPr/>
        </p:nvPicPr>
        <p:blipFill>
          <a:blip r:embed="rId3">
            <a:alphaModFix/>
          </a:blip>
          <a:stretch>
            <a:fillRect/>
          </a:stretch>
        </p:blipFill>
        <p:spPr>
          <a:xfrm>
            <a:off x="387600" y="2099925"/>
            <a:ext cx="3969910" cy="2563299"/>
          </a:xfrm>
          <a:prstGeom prst="rect">
            <a:avLst/>
          </a:prstGeom>
          <a:noFill/>
          <a:ln>
            <a:noFill/>
          </a:ln>
        </p:spPr>
      </p:pic>
      <p:pic>
        <p:nvPicPr>
          <p:cNvPr id="857" name="Google Shape;857;p63" title="グラフ"/>
          <p:cNvPicPr preferRelativeResize="0"/>
          <p:nvPr/>
        </p:nvPicPr>
        <p:blipFill>
          <a:blip r:embed="rId4">
            <a:alphaModFix/>
          </a:blip>
          <a:stretch>
            <a:fillRect/>
          </a:stretch>
        </p:blipFill>
        <p:spPr>
          <a:xfrm>
            <a:off x="4598475" y="2099925"/>
            <a:ext cx="3969900" cy="2563297"/>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61" name="Shape 861"/>
        <p:cNvGrpSpPr/>
        <p:nvPr/>
      </p:nvGrpSpPr>
      <p:grpSpPr>
        <a:xfrm>
          <a:off x="0" y="0"/>
          <a:ext cx="0" cy="0"/>
          <a:chOff x="0" y="0"/>
          <a:chExt cx="0" cy="0"/>
        </a:xfrm>
      </p:grpSpPr>
      <p:sp>
        <p:nvSpPr>
          <p:cNvPr id="862" name="Google Shape;862;p64"/>
          <p:cNvSpPr/>
          <p:nvPr/>
        </p:nvSpPr>
        <p:spPr>
          <a:xfrm>
            <a:off x="342900" y="365275"/>
            <a:ext cx="342900" cy="342900"/>
          </a:xfrm>
          <a:prstGeom prst="ellipse">
            <a:avLst/>
          </a:prstGeom>
          <a:solidFill>
            <a:srgbClr val="FFD7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 name="Google Shape;863;p64"/>
          <p:cNvSpPr txBox="1"/>
          <p:nvPr/>
        </p:nvSpPr>
        <p:spPr>
          <a:xfrm>
            <a:off x="387600" y="335450"/>
            <a:ext cx="298200" cy="30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300">
                <a:solidFill>
                  <a:srgbClr val="FFFFFF"/>
                </a:solidFill>
                <a:latin typeface="Zen Kaku Gothic New"/>
                <a:ea typeface="Zen Kaku Gothic New"/>
                <a:cs typeface="Zen Kaku Gothic New"/>
                <a:sym typeface="Zen Kaku Gothic New"/>
              </a:rPr>
              <a:t>9</a:t>
            </a:r>
            <a:endParaRPr b="1" sz="1300">
              <a:solidFill>
                <a:srgbClr val="FFFFFF"/>
              </a:solidFill>
              <a:latin typeface="Zen Kaku Gothic New"/>
              <a:ea typeface="Zen Kaku Gothic New"/>
              <a:cs typeface="Zen Kaku Gothic New"/>
              <a:sym typeface="Zen Kaku Gothic New"/>
            </a:endParaRPr>
          </a:p>
        </p:txBody>
      </p:sp>
      <p:sp>
        <p:nvSpPr>
          <p:cNvPr id="864" name="Google Shape;864;p64"/>
          <p:cNvSpPr txBox="1"/>
          <p:nvPr/>
        </p:nvSpPr>
        <p:spPr>
          <a:xfrm>
            <a:off x="8136000" y="104275"/>
            <a:ext cx="916800" cy="190200"/>
          </a:xfrm>
          <a:prstGeom prst="rect">
            <a:avLst/>
          </a:prstGeom>
          <a:solidFill>
            <a:srgbClr val="DC0451"/>
          </a:solidFill>
          <a:ln>
            <a:noFill/>
          </a:ln>
        </p:spPr>
        <p:txBody>
          <a:bodyPr anchorCtr="0" anchor="t" bIns="91425" lIns="91425" spcFirstLastPara="1" rIns="91425" wrap="square" tIns="91425">
            <a:noAutofit/>
          </a:bodyPr>
          <a:lstStyle/>
          <a:p>
            <a:pPr indent="0" lvl="0" marL="0" rtl="0" algn="ctr">
              <a:lnSpc>
                <a:spcPct val="50000"/>
              </a:lnSpc>
              <a:spcBef>
                <a:spcPts val="0"/>
              </a:spcBef>
              <a:spcAft>
                <a:spcPts val="0"/>
              </a:spcAft>
              <a:buNone/>
            </a:pPr>
            <a:r>
              <a:rPr b="1" lang="ja" sz="700">
                <a:solidFill>
                  <a:srgbClr val="FFFFFF"/>
                </a:solidFill>
                <a:latin typeface="M PLUS 1p"/>
                <a:ea typeface="M PLUS 1p"/>
                <a:cs typeface="M PLUS 1p"/>
                <a:sym typeface="M PLUS 1p"/>
              </a:rPr>
              <a:t>CONFIDENTIAL</a:t>
            </a:r>
            <a:endParaRPr b="1" sz="700">
              <a:solidFill>
                <a:srgbClr val="FFFFFF"/>
              </a:solidFill>
              <a:latin typeface="M PLUS 1p"/>
              <a:ea typeface="M PLUS 1p"/>
              <a:cs typeface="M PLUS 1p"/>
              <a:sym typeface="M PLUS 1p"/>
            </a:endParaRPr>
          </a:p>
        </p:txBody>
      </p:sp>
      <p:sp>
        <p:nvSpPr>
          <p:cNvPr id="865" name="Google Shape;865;p6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866" name="Google Shape;866;p64"/>
          <p:cNvSpPr/>
          <p:nvPr/>
        </p:nvSpPr>
        <p:spPr>
          <a:xfrm>
            <a:off x="4598475" y="4123000"/>
            <a:ext cx="417900" cy="1878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67" name="Google Shape;867;p64"/>
          <p:cNvSpPr txBox="1"/>
          <p:nvPr/>
        </p:nvSpPr>
        <p:spPr>
          <a:xfrm>
            <a:off x="712300" y="294475"/>
            <a:ext cx="7710000" cy="48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2000">
                <a:solidFill>
                  <a:srgbClr val="1F1F1F"/>
                </a:solidFill>
                <a:latin typeface="M PLUS 1p"/>
                <a:ea typeface="M PLUS 1p"/>
                <a:cs typeface="M PLUS 1p"/>
                <a:sym typeface="M PLUS 1p"/>
              </a:rPr>
              <a:t>Appendix:本部別</a:t>
            </a:r>
            <a:r>
              <a:rPr b="1" lang="ja" sz="2000">
                <a:solidFill>
                  <a:srgbClr val="1F1F1F"/>
                </a:solidFill>
                <a:latin typeface="M PLUS 1p"/>
                <a:ea typeface="M PLUS 1p"/>
                <a:cs typeface="M PLUS 1p"/>
                <a:sym typeface="M PLUS 1p"/>
              </a:rPr>
              <a:t>②</a:t>
            </a:r>
            <a:r>
              <a:rPr b="1" lang="ja" sz="2000">
                <a:solidFill>
                  <a:srgbClr val="1F1F1F"/>
                </a:solidFill>
                <a:latin typeface="M PLUS 1p"/>
                <a:ea typeface="M PLUS 1p"/>
                <a:cs typeface="M PLUS 1p"/>
                <a:sym typeface="M PLUS 1p"/>
              </a:rPr>
              <a:t>_初回連続掲載月数別_離脱月と復活後のAA率の関係性</a:t>
            </a:r>
            <a:endParaRPr b="1" sz="2000">
              <a:solidFill>
                <a:srgbClr val="1F1F1F"/>
              </a:solidFill>
              <a:latin typeface="M PLUS 1p"/>
              <a:ea typeface="M PLUS 1p"/>
              <a:cs typeface="M PLUS 1p"/>
              <a:sym typeface="M PLUS 1p"/>
            </a:endParaRPr>
          </a:p>
        </p:txBody>
      </p:sp>
      <p:sp>
        <p:nvSpPr>
          <p:cNvPr id="868" name="Google Shape;868;p64"/>
          <p:cNvSpPr txBox="1"/>
          <p:nvPr/>
        </p:nvSpPr>
        <p:spPr>
          <a:xfrm>
            <a:off x="432300" y="1061950"/>
            <a:ext cx="8620500" cy="1414200"/>
          </a:xfrm>
          <a:prstGeom prst="rect">
            <a:avLst/>
          </a:prstGeom>
          <a:noFill/>
          <a:ln>
            <a:noFill/>
          </a:ln>
        </p:spPr>
        <p:txBody>
          <a:bodyPr anchorCtr="0" anchor="t" bIns="91425" lIns="91425" spcFirstLastPara="1" rIns="91425" wrap="square" tIns="91425">
            <a:noAutofit/>
          </a:bodyPr>
          <a:lstStyle/>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SMB_high：全体の傾向に近く、連続離脱月数が増えると緩やかにAA率は下がる</a:t>
            </a:r>
            <a:endParaRPr sz="1600">
              <a:solidFill>
                <a:srgbClr val="1F1F1F"/>
              </a:solidFill>
              <a:latin typeface="M PLUS 1p"/>
              <a:ea typeface="M PLUS 1p"/>
              <a:cs typeface="M PLUS 1p"/>
              <a:sym typeface="M PLUS 1p"/>
            </a:endParaRPr>
          </a:p>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SMB_low：high touch同様の傾向だが、ベースのAA率は低い</a:t>
            </a:r>
            <a:endParaRPr sz="1600">
              <a:solidFill>
                <a:srgbClr val="1F1F1F"/>
              </a:solidFill>
              <a:latin typeface="M PLUS 1p"/>
              <a:ea typeface="M PLUS 1p"/>
              <a:cs typeface="M PLUS 1p"/>
              <a:sym typeface="M PLUS 1p"/>
            </a:endParaRPr>
          </a:p>
          <a:p>
            <a:pPr indent="0" lvl="0" marL="0" rtl="0" algn="l">
              <a:lnSpc>
                <a:spcPct val="120000"/>
              </a:lnSpc>
              <a:spcBef>
                <a:spcPts val="0"/>
              </a:spcBef>
              <a:spcAft>
                <a:spcPts val="0"/>
              </a:spcAft>
              <a:buNone/>
            </a:pPr>
            <a:r>
              <a:rPr lang="ja" sz="1600">
                <a:solidFill>
                  <a:srgbClr val="1F1F1F"/>
                </a:solidFill>
                <a:latin typeface="M PLUS 1p"/>
                <a:ea typeface="M PLUS 1p"/>
                <a:cs typeface="M PLUS 1p"/>
                <a:sym typeface="M PLUS 1p"/>
              </a:rPr>
              <a:t>※サンプルサイズが十分でないため、データがバラつく傾向があります</a:t>
            </a:r>
            <a:endParaRPr sz="1600">
              <a:solidFill>
                <a:srgbClr val="1F1F1F"/>
              </a:solidFill>
              <a:latin typeface="M PLUS 1p"/>
              <a:ea typeface="M PLUS 1p"/>
              <a:cs typeface="M PLUS 1p"/>
              <a:sym typeface="M PLUS 1p"/>
            </a:endParaRPr>
          </a:p>
        </p:txBody>
      </p:sp>
      <p:pic>
        <p:nvPicPr>
          <p:cNvPr id="869" name="Google Shape;869;p64" title="グラフ"/>
          <p:cNvPicPr preferRelativeResize="0"/>
          <p:nvPr/>
        </p:nvPicPr>
        <p:blipFill>
          <a:blip r:embed="rId3">
            <a:alphaModFix/>
          </a:blip>
          <a:stretch>
            <a:fillRect/>
          </a:stretch>
        </p:blipFill>
        <p:spPr>
          <a:xfrm>
            <a:off x="387600" y="1999250"/>
            <a:ext cx="3883275" cy="2507350"/>
          </a:xfrm>
          <a:prstGeom prst="rect">
            <a:avLst/>
          </a:prstGeom>
          <a:noFill/>
          <a:ln>
            <a:noFill/>
          </a:ln>
        </p:spPr>
      </p:pic>
      <p:pic>
        <p:nvPicPr>
          <p:cNvPr id="870" name="Google Shape;870;p64" title="グラフ"/>
          <p:cNvPicPr preferRelativeResize="0"/>
          <p:nvPr/>
        </p:nvPicPr>
        <p:blipFill>
          <a:blip r:embed="rId4">
            <a:alphaModFix/>
          </a:blip>
          <a:stretch>
            <a:fillRect/>
          </a:stretch>
        </p:blipFill>
        <p:spPr>
          <a:xfrm>
            <a:off x="4572000" y="1999250"/>
            <a:ext cx="3883275" cy="2507365"/>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74" name="Shape 874"/>
        <p:cNvGrpSpPr/>
        <p:nvPr/>
      </p:nvGrpSpPr>
      <p:grpSpPr>
        <a:xfrm>
          <a:off x="0" y="0"/>
          <a:ext cx="0" cy="0"/>
          <a:chOff x="0" y="0"/>
          <a:chExt cx="0" cy="0"/>
        </a:xfrm>
      </p:grpSpPr>
      <p:sp>
        <p:nvSpPr>
          <p:cNvPr id="875" name="Google Shape;875;p65"/>
          <p:cNvSpPr/>
          <p:nvPr/>
        </p:nvSpPr>
        <p:spPr>
          <a:xfrm>
            <a:off x="342900" y="365275"/>
            <a:ext cx="342900" cy="342900"/>
          </a:xfrm>
          <a:prstGeom prst="ellipse">
            <a:avLst/>
          </a:prstGeom>
          <a:solidFill>
            <a:srgbClr val="FFD7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6" name="Google Shape;876;p65"/>
          <p:cNvSpPr txBox="1"/>
          <p:nvPr/>
        </p:nvSpPr>
        <p:spPr>
          <a:xfrm>
            <a:off x="342900" y="335450"/>
            <a:ext cx="342900" cy="30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300">
                <a:solidFill>
                  <a:srgbClr val="FFFFFF"/>
                </a:solidFill>
                <a:latin typeface="Zen Kaku Gothic New"/>
                <a:ea typeface="Zen Kaku Gothic New"/>
                <a:cs typeface="Zen Kaku Gothic New"/>
                <a:sym typeface="Zen Kaku Gothic New"/>
              </a:rPr>
              <a:t>10</a:t>
            </a:r>
            <a:endParaRPr b="1" sz="1300">
              <a:solidFill>
                <a:srgbClr val="FFFFFF"/>
              </a:solidFill>
              <a:latin typeface="Zen Kaku Gothic New"/>
              <a:ea typeface="Zen Kaku Gothic New"/>
              <a:cs typeface="Zen Kaku Gothic New"/>
              <a:sym typeface="Zen Kaku Gothic New"/>
            </a:endParaRPr>
          </a:p>
        </p:txBody>
      </p:sp>
      <p:sp>
        <p:nvSpPr>
          <p:cNvPr id="877" name="Google Shape;877;p65"/>
          <p:cNvSpPr txBox="1"/>
          <p:nvPr/>
        </p:nvSpPr>
        <p:spPr>
          <a:xfrm>
            <a:off x="8136000" y="104275"/>
            <a:ext cx="916800" cy="190200"/>
          </a:xfrm>
          <a:prstGeom prst="rect">
            <a:avLst/>
          </a:prstGeom>
          <a:solidFill>
            <a:srgbClr val="DC0451"/>
          </a:solidFill>
          <a:ln>
            <a:noFill/>
          </a:ln>
        </p:spPr>
        <p:txBody>
          <a:bodyPr anchorCtr="0" anchor="t" bIns="91425" lIns="91425" spcFirstLastPara="1" rIns="91425" wrap="square" tIns="91425">
            <a:noAutofit/>
          </a:bodyPr>
          <a:lstStyle/>
          <a:p>
            <a:pPr indent="0" lvl="0" marL="0" rtl="0" algn="ctr">
              <a:lnSpc>
                <a:spcPct val="50000"/>
              </a:lnSpc>
              <a:spcBef>
                <a:spcPts val="0"/>
              </a:spcBef>
              <a:spcAft>
                <a:spcPts val="0"/>
              </a:spcAft>
              <a:buNone/>
            </a:pPr>
            <a:r>
              <a:rPr b="1" lang="ja" sz="700">
                <a:solidFill>
                  <a:srgbClr val="FFFFFF"/>
                </a:solidFill>
                <a:latin typeface="M PLUS 1p"/>
                <a:ea typeface="M PLUS 1p"/>
                <a:cs typeface="M PLUS 1p"/>
                <a:sym typeface="M PLUS 1p"/>
              </a:rPr>
              <a:t>CONFIDENTIAL</a:t>
            </a:r>
            <a:endParaRPr b="1" sz="700">
              <a:solidFill>
                <a:srgbClr val="FFFFFF"/>
              </a:solidFill>
              <a:latin typeface="M PLUS 1p"/>
              <a:ea typeface="M PLUS 1p"/>
              <a:cs typeface="M PLUS 1p"/>
              <a:sym typeface="M PLUS 1p"/>
            </a:endParaRPr>
          </a:p>
        </p:txBody>
      </p:sp>
      <p:sp>
        <p:nvSpPr>
          <p:cNvPr id="878" name="Google Shape;878;p6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879" name="Google Shape;879;p65"/>
          <p:cNvSpPr/>
          <p:nvPr/>
        </p:nvSpPr>
        <p:spPr>
          <a:xfrm>
            <a:off x="4598475" y="4123000"/>
            <a:ext cx="417900" cy="1878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80" name="Google Shape;880;p65"/>
          <p:cNvSpPr txBox="1"/>
          <p:nvPr/>
        </p:nvSpPr>
        <p:spPr>
          <a:xfrm>
            <a:off x="712300" y="294475"/>
            <a:ext cx="7710000" cy="48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2000">
                <a:solidFill>
                  <a:srgbClr val="1F1F1F"/>
                </a:solidFill>
                <a:latin typeface="M PLUS 1p"/>
                <a:ea typeface="M PLUS 1p"/>
                <a:cs typeface="M PLUS 1p"/>
                <a:sym typeface="M PLUS 1p"/>
              </a:rPr>
              <a:t>Appendix:本部別</a:t>
            </a:r>
            <a:r>
              <a:rPr b="1" lang="ja" sz="2000">
                <a:solidFill>
                  <a:srgbClr val="1F1F1F"/>
                </a:solidFill>
                <a:latin typeface="M PLUS 1p"/>
                <a:ea typeface="M PLUS 1p"/>
                <a:cs typeface="M PLUS 1p"/>
                <a:sym typeface="M PLUS 1p"/>
              </a:rPr>
              <a:t>③</a:t>
            </a:r>
            <a:r>
              <a:rPr b="1" lang="ja" sz="2000">
                <a:solidFill>
                  <a:srgbClr val="1F1F1F"/>
                </a:solidFill>
                <a:latin typeface="M PLUS 1p"/>
                <a:ea typeface="M PLUS 1p"/>
                <a:cs typeface="M PLUS 1p"/>
                <a:sym typeface="M PLUS 1p"/>
              </a:rPr>
              <a:t>_初回連続掲載月数別_離脱月と復活後のAA率の関係性</a:t>
            </a:r>
            <a:endParaRPr b="1" sz="2000">
              <a:solidFill>
                <a:srgbClr val="1F1F1F"/>
              </a:solidFill>
              <a:latin typeface="M PLUS 1p"/>
              <a:ea typeface="M PLUS 1p"/>
              <a:cs typeface="M PLUS 1p"/>
              <a:sym typeface="M PLUS 1p"/>
            </a:endParaRPr>
          </a:p>
        </p:txBody>
      </p:sp>
      <p:sp>
        <p:nvSpPr>
          <p:cNvPr id="881" name="Google Shape;881;p65"/>
          <p:cNvSpPr txBox="1"/>
          <p:nvPr/>
        </p:nvSpPr>
        <p:spPr>
          <a:xfrm>
            <a:off x="432300" y="1061950"/>
            <a:ext cx="8620500" cy="1414200"/>
          </a:xfrm>
          <a:prstGeom prst="rect">
            <a:avLst/>
          </a:prstGeom>
          <a:noFill/>
          <a:ln>
            <a:noFill/>
          </a:ln>
        </p:spPr>
        <p:txBody>
          <a:bodyPr anchorCtr="0" anchor="t" bIns="91425" lIns="91425" spcFirstLastPara="1" rIns="91425" wrap="square" tIns="91425">
            <a:noAutofit/>
          </a:bodyPr>
          <a:lstStyle/>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市場開発：飲食・小売に傾向が近く、3ヶ月以下の連続掲載ではAA率は緩やかに下がる</a:t>
            </a:r>
            <a:endParaRPr sz="1600">
              <a:solidFill>
                <a:srgbClr val="1F1F1F"/>
              </a:solidFill>
              <a:latin typeface="M PLUS 1p"/>
              <a:ea typeface="M PLUS 1p"/>
              <a:cs typeface="M PLUS 1p"/>
              <a:sym typeface="M PLUS 1p"/>
            </a:endParaRPr>
          </a:p>
          <a:p>
            <a:pPr indent="0" lvl="0" marL="0" rtl="0" algn="l">
              <a:lnSpc>
                <a:spcPct val="120000"/>
              </a:lnSpc>
              <a:spcBef>
                <a:spcPts val="0"/>
              </a:spcBef>
              <a:spcAft>
                <a:spcPts val="0"/>
              </a:spcAft>
              <a:buNone/>
            </a:pPr>
            <a:r>
              <a:rPr lang="ja" sz="1600">
                <a:solidFill>
                  <a:srgbClr val="1F1F1F"/>
                </a:solidFill>
                <a:latin typeface="M PLUS 1p"/>
                <a:ea typeface="M PLUS 1p"/>
                <a:cs typeface="M PLUS 1p"/>
                <a:sym typeface="M PLUS 1p"/>
              </a:rPr>
              <a:t>※サンプルサイズが十分でないため、データがバラつく傾向があります</a:t>
            </a:r>
            <a:endParaRPr sz="1600">
              <a:solidFill>
                <a:srgbClr val="1F1F1F"/>
              </a:solidFill>
              <a:latin typeface="M PLUS 1p"/>
              <a:ea typeface="M PLUS 1p"/>
              <a:cs typeface="M PLUS 1p"/>
              <a:sym typeface="M PLUS 1p"/>
            </a:endParaRPr>
          </a:p>
        </p:txBody>
      </p:sp>
      <p:pic>
        <p:nvPicPr>
          <p:cNvPr id="882" name="Google Shape;882;p65" title="グラフ"/>
          <p:cNvPicPr preferRelativeResize="0"/>
          <p:nvPr/>
        </p:nvPicPr>
        <p:blipFill>
          <a:blip r:embed="rId3">
            <a:alphaModFix/>
          </a:blip>
          <a:stretch>
            <a:fillRect/>
          </a:stretch>
        </p:blipFill>
        <p:spPr>
          <a:xfrm>
            <a:off x="2202313" y="1721800"/>
            <a:ext cx="4739375" cy="3060125"/>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86" name="Shape 886"/>
        <p:cNvGrpSpPr/>
        <p:nvPr/>
      </p:nvGrpSpPr>
      <p:grpSpPr>
        <a:xfrm>
          <a:off x="0" y="0"/>
          <a:ext cx="0" cy="0"/>
          <a:chOff x="0" y="0"/>
          <a:chExt cx="0" cy="0"/>
        </a:xfrm>
      </p:grpSpPr>
      <p:sp>
        <p:nvSpPr>
          <p:cNvPr id="887" name="Google Shape;887;p66"/>
          <p:cNvSpPr/>
          <p:nvPr/>
        </p:nvSpPr>
        <p:spPr>
          <a:xfrm>
            <a:off x="342900" y="365275"/>
            <a:ext cx="342900" cy="342900"/>
          </a:xfrm>
          <a:prstGeom prst="ellipse">
            <a:avLst/>
          </a:prstGeom>
          <a:solidFill>
            <a:srgbClr val="FFD7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8" name="Google Shape;888;p66"/>
          <p:cNvSpPr txBox="1"/>
          <p:nvPr/>
        </p:nvSpPr>
        <p:spPr>
          <a:xfrm>
            <a:off x="8136000" y="104275"/>
            <a:ext cx="916800" cy="190200"/>
          </a:xfrm>
          <a:prstGeom prst="rect">
            <a:avLst/>
          </a:prstGeom>
          <a:solidFill>
            <a:srgbClr val="DC0451"/>
          </a:solidFill>
          <a:ln>
            <a:noFill/>
          </a:ln>
        </p:spPr>
        <p:txBody>
          <a:bodyPr anchorCtr="0" anchor="t" bIns="91425" lIns="91425" spcFirstLastPara="1" rIns="91425" wrap="square" tIns="91425">
            <a:noAutofit/>
          </a:bodyPr>
          <a:lstStyle/>
          <a:p>
            <a:pPr indent="0" lvl="0" marL="0" rtl="0" algn="ctr">
              <a:lnSpc>
                <a:spcPct val="50000"/>
              </a:lnSpc>
              <a:spcBef>
                <a:spcPts val="0"/>
              </a:spcBef>
              <a:spcAft>
                <a:spcPts val="0"/>
              </a:spcAft>
              <a:buNone/>
            </a:pPr>
            <a:r>
              <a:rPr b="1" lang="ja" sz="700">
                <a:solidFill>
                  <a:srgbClr val="FFFFFF"/>
                </a:solidFill>
                <a:latin typeface="M PLUS 1p"/>
                <a:ea typeface="M PLUS 1p"/>
                <a:cs typeface="M PLUS 1p"/>
                <a:sym typeface="M PLUS 1p"/>
              </a:rPr>
              <a:t>CONFIDENTIAL</a:t>
            </a:r>
            <a:endParaRPr b="1" sz="700">
              <a:solidFill>
                <a:srgbClr val="FFFFFF"/>
              </a:solidFill>
              <a:latin typeface="M PLUS 1p"/>
              <a:ea typeface="M PLUS 1p"/>
              <a:cs typeface="M PLUS 1p"/>
              <a:sym typeface="M PLUS 1p"/>
            </a:endParaRPr>
          </a:p>
        </p:txBody>
      </p:sp>
      <p:sp>
        <p:nvSpPr>
          <p:cNvPr id="889" name="Google Shape;889;p6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890" name="Google Shape;890;p66"/>
          <p:cNvSpPr/>
          <p:nvPr/>
        </p:nvSpPr>
        <p:spPr>
          <a:xfrm>
            <a:off x="4598475" y="4123000"/>
            <a:ext cx="417900" cy="1878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91" name="Google Shape;891;p66"/>
          <p:cNvSpPr txBox="1"/>
          <p:nvPr/>
        </p:nvSpPr>
        <p:spPr>
          <a:xfrm>
            <a:off x="712300" y="294475"/>
            <a:ext cx="7710000" cy="48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2000">
                <a:solidFill>
                  <a:srgbClr val="1F1F1F"/>
                </a:solidFill>
                <a:latin typeface="M PLUS 1p"/>
                <a:ea typeface="M PLUS 1p"/>
                <a:cs typeface="M PLUS 1p"/>
                <a:sym typeface="M PLUS 1p"/>
              </a:rPr>
              <a:t>Appendix:本部別①_</a:t>
            </a:r>
            <a:r>
              <a:rPr b="1" lang="ja" sz="2000">
                <a:solidFill>
                  <a:srgbClr val="1F1F1F"/>
                </a:solidFill>
                <a:latin typeface="M PLUS 1p"/>
                <a:ea typeface="M PLUS 1p"/>
                <a:cs typeface="M PLUS 1p"/>
                <a:sym typeface="M PLUS 1p"/>
              </a:rPr>
              <a:t>初回掲載から3ヶ月以内_復活率</a:t>
            </a:r>
            <a:endParaRPr b="1" sz="2000">
              <a:solidFill>
                <a:srgbClr val="1F1F1F"/>
              </a:solidFill>
              <a:latin typeface="M PLUS 1p"/>
              <a:ea typeface="M PLUS 1p"/>
              <a:cs typeface="M PLUS 1p"/>
              <a:sym typeface="M PLUS 1p"/>
            </a:endParaRPr>
          </a:p>
        </p:txBody>
      </p:sp>
      <p:sp>
        <p:nvSpPr>
          <p:cNvPr id="892" name="Google Shape;892;p66"/>
          <p:cNvSpPr txBox="1"/>
          <p:nvPr/>
        </p:nvSpPr>
        <p:spPr>
          <a:xfrm>
            <a:off x="432300" y="1061950"/>
            <a:ext cx="8620500" cy="1414200"/>
          </a:xfrm>
          <a:prstGeom prst="rect">
            <a:avLst/>
          </a:prstGeom>
          <a:noFill/>
          <a:ln>
            <a:noFill/>
          </a:ln>
        </p:spPr>
        <p:txBody>
          <a:bodyPr anchorCtr="0" anchor="t" bIns="91425" lIns="91425" spcFirstLastPara="1" rIns="91425" wrap="square" tIns="91425">
            <a:noAutofit/>
          </a:bodyPr>
          <a:lstStyle/>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飲食・流通：</a:t>
            </a:r>
            <a:r>
              <a:rPr lang="ja" sz="1600">
                <a:solidFill>
                  <a:srgbClr val="1F1F1F"/>
                </a:solidFill>
                <a:latin typeface="M PLUS 1p"/>
                <a:ea typeface="M PLUS 1p"/>
                <a:cs typeface="M PLUS 1p"/>
                <a:sym typeface="M PLUS 1p"/>
              </a:rPr>
              <a:t>全体と傾向は同じ</a:t>
            </a:r>
            <a:endParaRPr sz="1600">
              <a:solidFill>
                <a:srgbClr val="1F1F1F"/>
              </a:solidFill>
              <a:latin typeface="M PLUS 1p"/>
              <a:ea typeface="M PLUS 1p"/>
              <a:cs typeface="M PLUS 1p"/>
              <a:sym typeface="M PLUS 1p"/>
            </a:endParaRPr>
          </a:p>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物流・製造：</a:t>
            </a:r>
            <a:r>
              <a:rPr lang="ja" sz="1600">
                <a:solidFill>
                  <a:srgbClr val="1F1F1F"/>
                </a:solidFill>
                <a:latin typeface="M PLUS 1p"/>
                <a:ea typeface="M PLUS 1p"/>
                <a:cs typeface="M PLUS 1p"/>
                <a:sym typeface="M PLUS 1p"/>
              </a:rPr>
              <a:t>復活率の傾向は同じだが、ログインしている店舗が比較的多い</a:t>
            </a:r>
            <a:endParaRPr sz="1600">
              <a:solidFill>
                <a:srgbClr val="1F1F1F"/>
              </a:solidFill>
              <a:latin typeface="M PLUS 1p"/>
              <a:ea typeface="M PLUS 1p"/>
              <a:cs typeface="M PLUS 1p"/>
              <a:sym typeface="M PLUS 1p"/>
            </a:endParaRPr>
          </a:p>
        </p:txBody>
      </p:sp>
      <p:pic>
        <p:nvPicPr>
          <p:cNvPr id="893" name="Google Shape;893;p66" title="グラフ"/>
          <p:cNvPicPr preferRelativeResize="0"/>
          <p:nvPr/>
        </p:nvPicPr>
        <p:blipFill>
          <a:blip r:embed="rId3">
            <a:alphaModFix/>
          </a:blip>
          <a:stretch>
            <a:fillRect/>
          </a:stretch>
        </p:blipFill>
        <p:spPr>
          <a:xfrm>
            <a:off x="539775" y="2144350"/>
            <a:ext cx="3812297" cy="2362550"/>
          </a:xfrm>
          <a:prstGeom prst="rect">
            <a:avLst/>
          </a:prstGeom>
          <a:noFill/>
          <a:ln>
            <a:noFill/>
          </a:ln>
        </p:spPr>
      </p:pic>
      <p:pic>
        <p:nvPicPr>
          <p:cNvPr id="894" name="Google Shape;894;p66" title="グラフ"/>
          <p:cNvPicPr preferRelativeResize="0"/>
          <p:nvPr/>
        </p:nvPicPr>
        <p:blipFill>
          <a:blip r:embed="rId4">
            <a:alphaModFix/>
          </a:blip>
          <a:stretch>
            <a:fillRect/>
          </a:stretch>
        </p:blipFill>
        <p:spPr>
          <a:xfrm>
            <a:off x="4695325" y="2144350"/>
            <a:ext cx="3812300" cy="2362557"/>
          </a:xfrm>
          <a:prstGeom prst="rect">
            <a:avLst/>
          </a:prstGeom>
          <a:noFill/>
          <a:ln>
            <a:noFill/>
          </a:ln>
        </p:spPr>
      </p:pic>
      <p:sp>
        <p:nvSpPr>
          <p:cNvPr id="895" name="Google Shape;895;p66"/>
          <p:cNvSpPr txBox="1"/>
          <p:nvPr/>
        </p:nvSpPr>
        <p:spPr>
          <a:xfrm>
            <a:off x="342900" y="335450"/>
            <a:ext cx="342900" cy="30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300">
                <a:solidFill>
                  <a:srgbClr val="FFFFFF"/>
                </a:solidFill>
                <a:latin typeface="Zen Kaku Gothic New"/>
                <a:ea typeface="Zen Kaku Gothic New"/>
                <a:cs typeface="Zen Kaku Gothic New"/>
                <a:sym typeface="Zen Kaku Gothic New"/>
              </a:rPr>
              <a:t>11</a:t>
            </a:r>
            <a:endParaRPr b="1" sz="1300">
              <a:solidFill>
                <a:srgbClr val="FFFFFF"/>
              </a:solidFill>
              <a:latin typeface="Zen Kaku Gothic New"/>
              <a:ea typeface="Zen Kaku Gothic New"/>
              <a:cs typeface="Zen Kaku Gothic New"/>
              <a:sym typeface="Zen Kaku Gothic New"/>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99" name="Shape 899"/>
        <p:cNvGrpSpPr/>
        <p:nvPr/>
      </p:nvGrpSpPr>
      <p:grpSpPr>
        <a:xfrm>
          <a:off x="0" y="0"/>
          <a:ext cx="0" cy="0"/>
          <a:chOff x="0" y="0"/>
          <a:chExt cx="0" cy="0"/>
        </a:xfrm>
      </p:grpSpPr>
      <p:sp>
        <p:nvSpPr>
          <p:cNvPr id="900" name="Google Shape;900;p67"/>
          <p:cNvSpPr/>
          <p:nvPr/>
        </p:nvSpPr>
        <p:spPr>
          <a:xfrm>
            <a:off x="342900" y="365275"/>
            <a:ext cx="342900" cy="342900"/>
          </a:xfrm>
          <a:prstGeom prst="ellipse">
            <a:avLst/>
          </a:prstGeom>
          <a:solidFill>
            <a:srgbClr val="FFD7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 name="Google Shape;901;p67"/>
          <p:cNvSpPr txBox="1"/>
          <p:nvPr/>
        </p:nvSpPr>
        <p:spPr>
          <a:xfrm>
            <a:off x="8136000" y="104275"/>
            <a:ext cx="916800" cy="190200"/>
          </a:xfrm>
          <a:prstGeom prst="rect">
            <a:avLst/>
          </a:prstGeom>
          <a:solidFill>
            <a:srgbClr val="DC0451"/>
          </a:solidFill>
          <a:ln>
            <a:noFill/>
          </a:ln>
        </p:spPr>
        <p:txBody>
          <a:bodyPr anchorCtr="0" anchor="t" bIns="91425" lIns="91425" spcFirstLastPara="1" rIns="91425" wrap="square" tIns="91425">
            <a:noAutofit/>
          </a:bodyPr>
          <a:lstStyle/>
          <a:p>
            <a:pPr indent="0" lvl="0" marL="0" rtl="0" algn="ctr">
              <a:lnSpc>
                <a:spcPct val="50000"/>
              </a:lnSpc>
              <a:spcBef>
                <a:spcPts val="0"/>
              </a:spcBef>
              <a:spcAft>
                <a:spcPts val="0"/>
              </a:spcAft>
              <a:buNone/>
            </a:pPr>
            <a:r>
              <a:rPr b="1" lang="ja" sz="700">
                <a:solidFill>
                  <a:srgbClr val="FFFFFF"/>
                </a:solidFill>
                <a:latin typeface="M PLUS 1p"/>
                <a:ea typeface="M PLUS 1p"/>
                <a:cs typeface="M PLUS 1p"/>
                <a:sym typeface="M PLUS 1p"/>
              </a:rPr>
              <a:t>CONFIDENTIAL</a:t>
            </a:r>
            <a:endParaRPr b="1" sz="700">
              <a:solidFill>
                <a:srgbClr val="FFFFFF"/>
              </a:solidFill>
              <a:latin typeface="M PLUS 1p"/>
              <a:ea typeface="M PLUS 1p"/>
              <a:cs typeface="M PLUS 1p"/>
              <a:sym typeface="M PLUS 1p"/>
            </a:endParaRPr>
          </a:p>
        </p:txBody>
      </p:sp>
      <p:sp>
        <p:nvSpPr>
          <p:cNvPr id="902" name="Google Shape;902;p6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903" name="Google Shape;903;p67"/>
          <p:cNvSpPr/>
          <p:nvPr/>
        </p:nvSpPr>
        <p:spPr>
          <a:xfrm>
            <a:off x="4598475" y="4123000"/>
            <a:ext cx="417900" cy="1878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04" name="Google Shape;904;p67"/>
          <p:cNvSpPr txBox="1"/>
          <p:nvPr/>
        </p:nvSpPr>
        <p:spPr>
          <a:xfrm>
            <a:off x="712300" y="294475"/>
            <a:ext cx="7710000" cy="48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2000">
                <a:solidFill>
                  <a:srgbClr val="1F1F1F"/>
                </a:solidFill>
                <a:latin typeface="M PLUS 1p"/>
                <a:ea typeface="M PLUS 1p"/>
                <a:cs typeface="M PLUS 1p"/>
                <a:sym typeface="M PLUS 1p"/>
              </a:rPr>
              <a:t>Appendix:本部別②_</a:t>
            </a:r>
            <a:r>
              <a:rPr b="1" lang="ja" sz="2000">
                <a:solidFill>
                  <a:srgbClr val="1F1F1F"/>
                </a:solidFill>
                <a:latin typeface="M PLUS 1p"/>
                <a:ea typeface="M PLUS 1p"/>
                <a:cs typeface="M PLUS 1p"/>
                <a:sym typeface="M PLUS 1p"/>
              </a:rPr>
              <a:t>初回掲載から3ヶ月以内_復活率</a:t>
            </a:r>
            <a:endParaRPr b="1" sz="2000">
              <a:solidFill>
                <a:srgbClr val="1F1F1F"/>
              </a:solidFill>
              <a:latin typeface="M PLUS 1p"/>
              <a:ea typeface="M PLUS 1p"/>
              <a:cs typeface="M PLUS 1p"/>
              <a:sym typeface="M PLUS 1p"/>
            </a:endParaRPr>
          </a:p>
        </p:txBody>
      </p:sp>
      <p:sp>
        <p:nvSpPr>
          <p:cNvPr id="905" name="Google Shape;905;p67"/>
          <p:cNvSpPr txBox="1"/>
          <p:nvPr/>
        </p:nvSpPr>
        <p:spPr>
          <a:xfrm>
            <a:off x="432300" y="1061950"/>
            <a:ext cx="8620500" cy="1414200"/>
          </a:xfrm>
          <a:prstGeom prst="rect">
            <a:avLst/>
          </a:prstGeom>
          <a:noFill/>
          <a:ln>
            <a:noFill/>
          </a:ln>
        </p:spPr>
        <p:txBody>
          <a:bodyPr anchorCtr="0" anchor="t" bIns="91425" lIns="91425" spcFirstLastPara="1" rIns="91425" wrap="square" tIns="91425">
            <a:noAutofit/>
          </a:bodyPr>
          <a:lstStyle/>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SMB_high,SMB_low</a:t>
            </a:r>
            <a:r>
              <a:rPr lang="ja" sz="1600">
                <a:solidFill>
                  <a:srgbClr val="1F1F1F"/>
                </a:solidFill>
                <a:latin typeface="M PLUS 1p"/>
                <a:ea typeface="M PLUS 1p"/>
                <a:cs typeface="M PLUS 1p"/>
                <a:sym typeface="M PLUS 1p"/>
              </a:rPr>
              <a:t>ともに全体の傾向と変わりはない</a:t>
            </a:r>
            <a:endParaRPr sz="1600">
              <a:solidFill>
                <a:srgbClr val="1F1F1F"/>
              </a:solidFill>
              <a:latin typeface="M PLUS 1p"/>
              <a:ea typeface="M PLUS 1p"/>
              <a:cs typeface="M PLUS 1p"/>
              <a:sym typeface="M PLUS 1p"/>
            </a:endParaRPr>
          </a:p>
        </p:txBody>
      </p:sp>
      <p:pic>
        <p:nvPicPr>
          <p:cNvPr id="906" name="Google Shape;906;p67" title="グラフ"/>
          <p:cNvPicPr preferRelativeResize="0"/>
          <p:nvPr/>
        </p:nvPicPr>
        <p:blipFill>
          <a:blip r:embed="rId3">
            <a:alphaModFix/>
          </a:blip>
          <a:stretch>
            <a:fillRect/>
          </a:stretch>
        </p:blipFill>
        <p:spPr>
          <a:xfrm>
            <a:off x="4533875" y="2012825"/>
            <a:ext cx="3888426" cy="2409725"/>
          </a:xfrm>
          <a:prstGeom prst="rect">
            <a:avLst/>
          </a:prstGeom>
          <a:noFill/>
          <a:ln>
            <a:noFill/>
          </a:ln>
        </p:spPr>
      </p:pic>
      <p:pic>
        <p:nvPicPr>
          <p:cNvPr id="907" name="Google Shape;907;p67" title="グラフ"/>
          <p:cNvPicPr preferRelativeResize="0"/>
          <p:nvPr/>
        </p:nvPicPr>
        <p:blipFill>
          <a:blip r:embed="rId4">
            <a:alphaModFix/>
          </a:blip>
          <a:stretch>
            <a:fillRect/>
          </a:stretch>
        </p:blipFill>
        <p:spPr>
          <a:xfrm>
            <a:off x="342900" y="2012825"/>
            <a:ext cx="3888426" cy="2409732"/>
          </a:xfrm>
          <a:prstGeom prst="rect">
            <a:avLst/>
          </a:prstGeom>
          <a:noFill/>
          <a:ln>
            <a:noFill/>
          </a:ln>
        </p:spPr>
      </p:pic>
      <p:sp>
        <p:nvSpPr>
          <p:cNvPr id="908" name="Google Shape;908;p67"/>
          <p:cNvSpPr txBox="1"/>
          <p:nvPr/>
        </p:nvSpPr>
        <p:spPr>
          <a:xfrm>
            <a:off x="342900" y="335450"/>
            <a:ext cx="342900" cy="30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300">
                <a:solidFill>
                  <a:srgbClr val="FFFFFF"/>
                </a:solidFill>
                <a:latin typeface="Zen Kaku Gothic New"/>
                <a:ea typeface="Zen Kaku Gothic New"/>
                <a:cs typeface="Zen Kaku Gothic New"/>
                <a:sym typeface="Zen Kaku Gothic New"/>
              </a:rPr>
              <a:t>12</a:t>
            </a:r>
            <a:endParaRPr b="1" sz="1300">
              <a:solidFill>
                <a:srgbClr val="FFFFFF"/>
              </a:solidFill>
              <a:latin typeface="Zen Kaku Gothic New"/>
              <a:ea typeface="Zen Kaku Gothic New"/>
              <a:cs typeface="Zen Kaku Gothic New"/>
              <a:sym typeface="Zen Kaku Gothic New"/>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12" name="Shape 912"/>
        <p:cNvGrpSpPr/>
        <p:nvPr/>
      </p:nvGrpSpPr>
      <p:grpSpPr>
        <a:xfrm>
          <a:off x="0" y="0"/>
          <a:ext cx="0" cy="0"/>
          <a:chOff x="0" y="0"/>
          <a:chExt cx="0" cy="0"/>
        </a:xfrm>
      </p:grpSpPr>
      <p:sp>
        <p:nvSpPr>
          <p:cNvPr id="913" name="Google Shape;913;p68"/>
          <p:cNvSpPr/>
          <p:nvPr/>
        </p:nvSpPr>
        <p:spPr>
          <a:xfrm>
            <a:off x="342900" y="365275"/>
            <a:ext cx="342900" cy="342900"/>
          </a:xfrm>
          <a:prstGeom prst="ellipse">
            <a:avLst/>
          </a:prstGeom>
          <a:solidFill>
            <a:srgbClr val="FFD7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4" name="Google Shape;914;p68"/>
          <p:cNvSpPr txBox="1"/>
          <p:nvPr/>
        </p:nvSpPr>
        <p:spPr>
          <a:xfrm>
            <a:off x="8136000" y="104275"/>
            <a:ext cx="916800" cy="190200"/>
          </a:xfrm>
          <a:prstGeom prst="rect">
            <a:avLst/>
          </a:prstGeom>
          <a:solidFill>
            <a:srgbClr val="DC0451"/>
          </a:solidFill>
          <a:ln>
            <a:noFill/>
          </a:ln>
        </p:spPr>
        <p:txBody>
          <a:bodyPr anchorCtr="0" anchor="t" bIns="91425" lIns="91425" spcFirstLastPara="1" rIns="91425" wrap="square" tIns="91425">
            <a:noAutofit/>
          </a:bodyPr>
          <a:lstStyle/>
          <a:p>
            <a:pPr indent="0" lvl="0" marL="0" rtl="0" algn="ctr">
              <a:lnSpc>
                <a:spcPct val="50000"/>
              </a:lnSpc>
              <a:spcBef>
                <a:spcPts val="0"/>
              </a:spcBef>
              <a:spcAft>
                <a:spcPts val="0"/>
              </a:spcAft>
              <a:buNone/>
            </a:pPr>
            <a:r>
              <a:rPr b="1" lang="ja" sz="700">
                <a:solidFill>
                  <a:srgbClr val="FFFFFF"/>
                </a:solidFill>
                <a:latin typeface="M PLUS 1p"/>
                <a:ea typeface="M PLUS 1p"/>
                <a:cs typeface="M PLUS 1p"/>
                <a:sym typeface="M PLUS 1p"/>
              </a:rPr>
              <a:t>CONFIDENTIAL</a:t>
            </a:r>
            <a:endParaRPr b="1" sz="700">
              <a:solidFill>
                <a:srgbClr val="FFFFFF"/>
              </a:solidFill>
              <a:latin typeface="M PLUS 1p"/>
              <a:ea typeface="M PLUS 1p"/>
              <a:cs typeface="M PLUS 1p"/>
              <a:sym typeface="M PLUS 1p"/>
            </a:endParaRPr>
          </a:p>
        </p:txBody>
      </p:sp>
      <p:sp>
        <p:nvSpPr>
          <p:cNvPr id="915" name="Google Shape;915;p6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916" name="Google Shape;916;p68"/>
          <p:cNvSpPr/>
          <p:nvPr/>
        </p:nvSpPr>
        <p:spPr>
          <a:xfrm>
            <a:off x="4598475" y="4123000"/>
            <a:ext cx="417900" cy="1878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17" name="Google Shape;917;p68"/>
          <p:cNvSpPr txBox="1"/>
          <p:nvPr/>
        </p:nvSpPr>
        <p:spPr>
          <a:xfrm>
            <a:off x="712300" y="294475"/>
            <a:ext cx="7710000" cy="48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2000">
                <a:solidFill>
                  <a:srgbClr val="1F1F1F"/>
                </a:solidFill>
                <a:latin typeface="M PLUS 1p"/>
                <a:ea typeface="M PLUS 1p"/>
                <a:cs typeface="M PLUS 1p"/>
                <a:sym typeface="M PLUS 1p"/>
              </a:rPr>
              <a:t>Appendix:本部別③_</a:t>
            </a:r>
            <a:r>
              <a:rPr b="1" lang="ja" sz="2000">
                <a:solidFill>
                  <a:srgbClr val="1F1F1F"/>
                </a:solidFill>
                <a:latin typeface="M PLUS 1p"/>
                <a:ea typeface="M PLUS 1p"/>
                <a:cs typeface="M PLUS 1p"/>
                <a:sym typeface="M PLUS 1p"/>
              </a:rPr>
              <a:t>初回掲載から3ヶ月以内_復活率</a:t>
            </a:r>
            <a:endParaRPr b="1" sz="2000">
              <a:solidFill>
                <a:srgbClr val="1F1F1F"/>
              </a:solidFill>
              <a:latin typeface="M PLUS 1p"/>
              <a:ea typeface="M PLUS 1p"/>
              <a:cs typeface="M PLUS 1p"/>
              <a:sym typeface="M PLUS 1p"/>
            </a:endParaRPr>
          </a:p>
        </p:txBody>
      </p:sp>
      <p:sp>
        <p:nvSpPr>
          <p:cNvPr id="918" name="Google Shape;918;p68"/>
          <p:cNvSpPr txBox="1"/>
          <p:nvPr/>
        </p:nvSpPr>
        <p:spPr>
          <a:xfrm>
            <a:off x="432300" y="1061950"/>
            <a:ext cx="8620500" cy="1414200"/>
          </a:xfrm>
          <a:prstGeom prst="rect">
            <a:avLst/>
          </a:prstGeom>
          <a:noFill/>
          <a:ln>
            <a:noFill/>
          </a:ln>
        </p:spPr>
        <p:txBody>
          <a:bodyPr anchorCtr="0" anchor="t" bIns="91425" lIns="91425" spcFirstLastPara="1" rIns="91425" wrap="square" tIns="91425">
            <a:noAutofit/>
          </a:bodyPr>
          <a:lstStyle/>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市場開発：</a:t>
            </a:r>
            <a:r>
              <a:rPr lang="ja" sz="1600">
                <a:solidFill>
                  <a:srgbClr val="1F1F1F"/>
                </a:solidFill>
                <a:latin typeface="M PLUS 1p"/>
                <a:ea typeface="M PLUS 1p"/>
                <a:cs typeface="M PLUS 1p"/>
                <a:sym typeface="M PLUS 1p"/>
              </a:rPr>
              <a:t>全体の傾向と変わりはない</a:t>
            </a:r>
            <a:endParaRPr sz="1600">
              <a:solidFill>
                <a:srgbClr val="1F1F1F"/>
              </a:solidFill>
              <a:latin typeface="M PLUS 1p"/>
              <a:ea typeface="M PLUS 1p"/>
              <a:cs typeface="M PLUS 1p"/>
              <a:sym typeface="M PLUS 1p"/>
            </a:endParaRPr>
          </a:p>
        </p:txBody>
      </p:sp>
      <p:pic>
        <p:nvPicPr>
          <p:cNvPr id="919" name="Google Shape;919;p68" title="グラフ"/>
          <p:cNvPicPr preferRelativeResize="0"/>
          <p:nvPr/>
        </p:nvPicPr>
        <p:blipFill>
          <a:blip r:embed="rId3">
            <a:alphaModFix/>
          </a:blip>
          <a:stretch>
            <a:fillRect/>
          </a:stretch>
        </p:blipFill>
        <p:spPr>
          <a:xfrm>
            <a:off x="2194813" y="1760450"/>
            <a:ext cx="4754376" cy="2946376"/>
          </a:xfrm>
          <a:prstGeom prst="rect">
            <a:avLst/>
          </a:prstGeom>
          <a:noFill/>
          <a:ln>
            <a:noFill/>
          </a:ln>
        </p:spPr>
      </p:pic>
      <p:sp>
        <p:nvSpPr>
          <p:cNvPr id="920" name="Google Shape;920;p68"/>
          <p:cNvSpPr txBox="1"/>
          <p:nvPr/>
        </p:nvSpPr>
        <p:spPr>
          <a:xfrm>
            <a:off x="342900" y="335450"/>
            <a:ext cx="342900" cy="30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300">
                <a:solidFill>
                  <a:srgbClr val="FFFFFF"/>
                </a:solidFill>
                <a:latin typeface="Zen Kaku Gothic New"/>
                <a:ea typeface="Zen Kaku Gothic New"/>
                <a:cs typeface="Zen Kaku Gothic New"/>
                <a:sym typeface="Zen Kaku Gothic New"/>
              </a:rPr>
              <a:t>13</a:t>
            </a:r>
            <a:endParaRPr b="1" sz="1300">
              <a:solidFill>
                <a:srgbClr val="FFFFFF"/>
              </a:solidFill>
              <a:latin typeface="Zen Kaku Gothic New"/>
              <a:ea typeface="Zen Kaku Gothic New"/>
              <a:cs typeface="Zen Kaku Gothic New"/>
              <a:sym typeface="Zen Kaku Gothic New"/>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24" name="Shape 924"/>
        <p:cNvGrpSpPr/>
        <p:nvPr/>
      </p:nvGrpSpPr>
      <p:grpSpPr>
        <a:xfrm>
          <a:off x="0" y="0"/>
          <a:ext cx="0" cy="0"/>
          <a:chOff x="0" y="0"/>
          <a:chExt cx="0" cy="0"/>
        </a:xfrm>
      </p:grpSpPr>
      <p:sp>
        <p:nvSpPr>
          <p:cNvPr id="925" name="Google Shape;925;p69"/>
          <p:cNvSpPr/>
          <p:nvPr/>
        </p:nvSpPr>
        <p:spPr>
          <a:xfrm>
            <a:off x="342900" y="365275"/>
            <a:ext cx="342900" cy="342900"/>
          </a:xfrm>
          <a:prstGeom prst="ellipse">
            <a:avLst/>
          </a:prstGeom>
          <a:solidFill>
            <a:srgbClr val="FFD7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6" name="Google Shape;926;p69"/>
          <p:cNvSpPr txBox="1"/>
          <p:nvPr/>
        </p:nvSpPr>
        <p:spPr>
          <a:xfrm>
            <a:off x="8136000" y="104275"/>
            <a:ext cx="916800" cy="190200"/>
          </a:xfrm>
          <a:prstGeom prst="rect">
            <a:avLst/>
          </a:prstGeom>
          <a:solidFill>
            <a:srgbClr val="DC0451"/>
          </a:solidFill>
          <a:ln>
            <a:noFill/>
          </a:ln>
        </p:spPr>
        <p:txBody>
          <a:bodyPr anchorCtr="0" anchor="t" bIns="91425" lIns="91425" spcFirstLastPara="1" rIns="91425" wrap="square" tIns="91425">
            <a:noAutofit/>
          </a:bodyPr>
          <a:lstStyle/>
          <a:p>
            <a:pPr indent="0" lvl="0" marL="0" rtl="0" algn="ctr">
              <a:lnSpc>
                <a:spcPct val="50000"/>
              </a:lnSpc>
              <a:spcBef>
                <a:spcPts val="0"/>
              </a:spcBef>
              <a:spcAft>
                <a:spcPts val="0"/>
              </a:spcAft>
              <a:buNone/>
            </a:pPr>
            <a:r>
              <a:rPr b="1" lang="ja" sz="700">
                <a:solidFill>
                  <a:srgbClr val="FFFFFF"/>
                </a:solidFill>
                <a:latin typeface="M PLUS 1p"/>
                <a:ea typeface="M PLUS 1p"/>
                <a:cs typeface="M PLUS 1p"/>
                <a:sym typeface="M PLUS 1p"/>
              </a:rPr>
              <a:t>CONFIDENTIAL</a:t>
            </a:r>
            <a:endParaRPr b="1" sz="700">
              <a:solidFill>
                <a:srgbClr val="FFFFFF"/>
              </a:solidFill>
              <a:latin typeface="M PLUS 1p"/>
              <a:ea typeface="M PLUS 1p"/>
              <a:cs typeface="M PLUS 1p"/>
              <a:sym typeface="M PLUS 1p"/>
            </a:endParaRPr>
          </a:p>
        </p:txBody>
      </p:sp>
      <p:sp>
        <p:nvSpPr>
          <p:cNvPr id="927" name="Google Shape;927;p6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928" name="Google Shape;928;p69"/>
          <p:cNvSpPr/>
          <p:nvPr/>
        </p:nvSpPr>
        <p:spPr>
          <a:xfrm>
            <a:off x="4598475" y="4123000"/>
            <a:ext cx="417900" cy="1878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29" name="Google Shape;929;p69"/>
          <p:cNvSpPr txBox="1"/>
          <p:nvPr/>
        </p:nvSpPr>
        <p:spPr>
          <a:xfrm>
            <a:off x="712300" y="294475"/>
            <a:ext cx="7710000" cy="48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2000">
                <a:solidFill>
                  <a:srgbClr val="1F1F1F"/>
                </a:solidFill>
                <a:latin typeface="M PLUS 1p"/>
                <a:ea typeface="M PLUS 1p"/>
                <a:cs typeface="M PLUS 1p"/>
                <a:sym typeface="M PLUS 1p"/>
              </a:rPr>
              <a:t>Appendix:</a:t>
            </a:r>
            <a:r>
              <a:rPr b="1" lang="ja" sz="2000">
                <a:solidFill>
                  <a:srgbClr val="1F1F1F"/>
                </a:solidFill>
                <a:latin typeface="M PLUS 1p"/>
                <a:ea typeface="M PLUS 1p"/>
                <a:cs typeface="M PLUS 1p"/>
                <a:sym typeface="M PLUS 1p"/>
              </a:rPr>
              <a:t>事業</a:t>
            </a:r>
            <a:r>
              <a:rPr b="1" lang="ja" sz="2000">
                <a:solidFill>
                  <a:srgbClr val="1F1F1F"/>
                </a:solidFill>
                <a:latin typeface="M PLUS 1p"/>
                <a:ea typeface="M PLUS 1p"/>
                <a:cs typeface="M PLUS 1p"/>
                <a:sym typeface="M PLUS 1p"/>
              </a:rPr>
              <a:t>本部別</a:t>
            </a:r>
            <a:r>
              <a:rPr b="1" lang="ja" sz="2000">
                <a:solidFill>
                  <a:srgbClr val="1F1F1F"/>
                </a:solidFill>
                <a:latin typeface="M PLUS 1p"/>
                <a:ea typeface="M PLUS 1p"/>
                <a:cs typeface="M PLUS 1p"/>
                <a:sym typeface="M PLUS 1p"/>
              </a:rPr>
              <a:t>①_休眠中のアクセス店舗率</a:t>
            </a:r>
            <a:endParaRPr b="1" sz="2000">
              <a:solidFill>
                <a:srgbClr val="1F1F1F"/>
              </a:solidFill>
              <a:latin typeface="M PLUS 1p"/>
              <a:ea typeface="M PLUS 1p"/>
              <a:cs typeface="M PLUS 1p"/>
              <a:sym typeface="M PLUS 1p"/>
            </a:endParaRPr>
          </a:p>
        </p:txBody>
      </p:sp>
      <p:pic>
        <p:nvPicPr>
          <p:cNvPr id="930" name="Google Shape;930;p69" title="グラフ"/>
          <p:cNvPicPr preferRelativeResize="0"/>
          <p:nvPr/>
        </p:nvPicPr>
        <p:blipFill>
          <a:blip r:embed="rId3">
            <a:alphaModFix/>
          </a:blip>
          <a:stretch>
            <a:fillRect/>
          </a:stretch>
        </p:blipFill>
        <p:spPr>
          <a:xfrm>
            <a:off x="145350" y="1746785"/>
            <a:ext cx="4264901" cy="2818014"/>
          </a:xfrm>
          <a:prstGeom prst="rect">
            <a:avLst/>
          </a:prstGeom>
          <a:noFill/>
          <a:ln>
            <a:noFill/>
          </a:ln>
        </p:spPr>
      </p:pic>
      <p:pic>
        <p:nvPicPr>
          <p:cNvPr id="931" name="Google Shape;931;p69" title="グラフ"/>
          <p:cNvPicPr preferRelativeResize="0"/>
          <p:nvPr/>
        </p:nvPicPr>
        <p:blipFill>
          <a:blip r:embed="rId4">
            <a:alphaModFix/>
          </a:blip>
          <a:stretch>
            <a:fillRect/>
          </a:stretch>
        </p:blipFill>
        <p:spPr>
          <a:xfrm>
            <a:off x="4733750" y="1746787"/>
            <a:ext cx="4264901" cy="2818000"/>
          </a:xfrm>
          <a:prstGeom prst="rect">
            <a:avLst/>
          </a:prstGeom>
          <a:noFill/>
          <a:ln>
            <a:noFill/>
          </a:ln>
        </p:spPr>
      </p:pic>
      <p:sp>
        <p:nvSpPr>
          <p:cNvPr id="932" name="Google Shape;932;p69"/>
          <p:cNvSpPr txBox="1"/>
          <p:nvPr/>
        </p:nvSpPr>
        <p:spPr>
          <a:xfrm>
            <a:off x="432350" y="778975"/>
            <a:ext cx="8620500" cy="754500"/>
          </a:xfrm>
          <a:prstGeom prst="rect">
            <a:avLst/>
          </a:prstGeom>
          <a:noFill/>
          <a:ln>
            <a:noFill/>
          </a:ln>
        </p:spPr>
        <p:txBody>
          <a:bodyPr anchorCtr="0" anchor="t" bIns="91425" lIns="91425" spcFirstLastPara="1" rIns="91425" wrap="square" tIns="91425">
            <a:noAutofit/>
          </a:bodyPr>
          <a:lstStyle/>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飲食・流通</a:t>
            </a:r>
            <a:r>
              <a:rPr lang="ja" sz="1600">
                <a:solidFill>
                  <a:srgbClr val="1F1F1F"/>
                </a:solidFill>
                <a:latin typeface="M PLUS 1p"/>
                <a:ea typeface="M PLUS 1p"/>
                <a:cs typeface="M PLUS 1p"/>
                <a:sym typeface="M PLUS 1p"/>
              </a:rPr>
              <a:t>は全体の傾向と類似</a:t>
            </a:r>
            <a:endParaRPr sz="1600">
              <a:solidFill>
                <a:srgbClr val="1F1F1F"/>
              </a:solidFill>
              <a:latin typeface="M PLUS 1p"/>
              <a:ea typeface="M PLUS 1p"/>
              <a:cs typeface="M PLUS 1p"/>
              <a:sym typeface="M PLUS 1p"/>
            </a:endParaRPr>
          </a:p>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物流・製造はアクセスのみの</a:t>
            </a:r>
            <a:r>
              <a:rPr lang="ja" sz="1600">
                <a:solidFill>
                  <a:srgbClr val="1F1F1F"/>
                </a:solidFill>
                <a:latin typeface="M PLUS 1p"/>
                <a:ea typeface="M PLUS 1p"/>
                <a:cs typeface="M PLUS 1p"/>
                <a:sym typeface="M PLUS 1p"/>
              </a:rPr>
              <a:t>店舗</a:t>
            </a:r>
            <a:r>
              <a:rPr lang="ja" sz="1600">
                <a:solidFill>
                  <a:srgbClr val="1F1F1F"/>
                </a:solidFill>
                <a:latin typeface="M PLUS 1p"/>
                <a:ea typeface="M PLUS 1p"/>
                <a:cs typeface="M PLUS 1p"/>
                <a:sym typeface="M PLUS 1p"/>
              </a:rPr>
              <a:t>の割合がやや高い</a:t>
            </a:r>
            <a:endParaRPr sz="1600">
              <a:solidFill>
                <a:srgbClr val="1F1F1F"/>
              </a:solidFill>
              <a:latin typeface="M PLUS 1p"/>
              <a:ea typeface="M PLUS 1p"/>
              <a:cs typeface="M PLUS 1p"/>
              <a:sym typeface="M PLUS 1p"/>
            </a:endParaRPr>
          </a:p>
        </p:txBody>
      </p:sp>
      <p:sp>
        <p:nvSpPr>
          <p:cNvPr id="933" name="Google Shape;933;p69"/>
          <p:cNvSpPr txBox="1"/>
          <p:nvPr/>
        </p:nvSpPr>
        <p:spPr>
          <a:xfrm>
            <a:off x="342900" y="335450"/>
            <a:ext cx="342900" cy="30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300">
                <a:solidFill>
                  <a:srgbClr val="FFFFFF"/>
                </a:solidFill>
                <a:latin typeface="Zen Kaku Gothic New"/>
                <a:ea typeface="Zen Kaku Gothic New"/>
                <a:cs typeface="Zen Kaku Gothic New"/>
                <a:sym typeface="Zen Kaku Gothic New"/>
              </a:rPr>
              <a:t>14</a:t>
            </a:r>
            <a:endParaRPr b="1" sz="1300">
              <a:solidFill>
                <a:srgbClr val="FFFFFF"/>
              </a:solidFill>
              <a:latin typeface="Zen Kaku Gothic New"/>
              <a:ea typeface="Zen Kaku Gothic New"/>
              <a:cs typeface="Zen Kaku Gothic New"/>
              <a:sym typeface="Zen Kaku Gothic New"/>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37" name="Shape 937"/>
        <p:cNvGrpSpPr/>
        <p:nvPr/>
      </p:nvGrpSpPr>
      <p:grpSpPr>
        <a:xfrm>
          <a:off x="0" y="0"/>
          <a:ext cx="0" cy="0"/>
          <a:chOff x="0" y="0"/>
          <a:chExt cx="0" cy="0"/>
        </a:xfrm>
      </p:grpSpPr>
      <p:sp>
        <p:nvSpPr>
          <p:cNvPr id="938" name="Google Shape;938;p70"/>
          <p:cNvSpPr/>
          <p:nvPr/>
        </p:nvSpPr>
        <p:spPr>
          <a:xfrm>
            <a:off x="342900" y="365275"/>
            <a:ext cx="342900" cy="342900"/>
          </a:xfrm>
          <a:prstGeom prst="ellipse">
            <a:avLst/>
          </a:prstGeom>
          <a:solidFill>
            <a:srgbClr val="FFD7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9" name="Google Shape;939;p70"/>
          <p:cNvSpPr txBox="1"/>
          <p:nvPr/>
        </p:nvSpPr>
        <p:spPr>
          <a:xfrm>
            <a:off x="8136000" y="104275"/>
            <a:ext cx="916800" cy="190200"/>
          </a:xfrm>
          <a:prstGeom prst="rect">
            <a:avLst/>
          </a:prstGeom>
          <a:solidFill>
            <a:srgbClr val="DC0451"/>
          </a:solidFill>
          <a:ln>
            <a:noFill/>
          </a:ln>
        </p:spPr>
        <p:txBody>
          <a:bodyPr anchorCtr="0" anchor="t" bIns="91425" lIns="91425" spcFirstLastPara="1" rIns="91425" wrap="square" tIns="91425">
            <a:noAutofit/>
          </a:bodyPr>
          <a:lstStyle/>
          <a:p>
            <a:pPr indent="0" lvl="0" marL="0" rtl="0" algn="ctr">
              <a:lnSpc>
                <a:spcPct val="50000"/>
              </a:lnSpc>
              <a:spcBef>
                <a:spcPts val="0"/>
              </a:spcBef>
              <a:spcAft>
                <a:spcPts val="0"/>
              </a:spcAft>
              <a:buNone/>
            </a:pPr>
            <a:r>
              <a:rPr b="1" lang="ja" sz="700">
                <a:solidFill>
                  <a:srgbClr val="FFFFFF"/>
                </a:solidFill>
                <a:latin typeface="M PLUS 1p"/>
                <a:ea typeface="M PLUS 1p"/>
                <a:cs typeface="M PLUS 1p"/>
                <a:sym typeface="M PLUS 1p"/>
              </a:rPr>
              <a:t>CONFIDENTIAL</a:t>
            </a:r>
            <a:endParaRPr b="1" sz="700">
              <a:solidFill>
                <a:srgbClr val="FFFFFF"/>
              </a:solidFill>
              <a:latin typeface="M PLUS 1p"/>
              <a:ea typeface="M PLUS 1p"/>
              <a:cs typeface="M PLUS 1p"/>
              <a:sym typeface="M PLUS 1p"/>
            </a:endParaRPr>
          </a:p>
        </p:txBody>
      </p:sp>
      <p:sp>
        <p:nvSpPr>
          <p:cNvPr id="940" name="Google Shape;940;p7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941" name="Google Shape;941;p70"/>
          <p:cNvSpPr/>
          <p:nvPr/>
        </p:nvSpPr>
        <p:spPr>
          <a:xfrm>
            <a:off x="4598475" y="4123000"/>
            <a:ext cx="417900" cy="1878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42" name="Google Shape;942;p70"/>
          <p:cNvSpPr txBox="1"/>
          <p:nvPr/>
        </p:nvSpPr>
        <p:spPr>
          <a:xfrm>
            <a:off x="712300" y="294475"/>
            <a:ext cx="7710000" cy="48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2000">
                <a:solidFill>
                  <a:srgbClr val="1F1F1F"/>
                </a:solidFill>
                <a:latin typeface="M PLUS 1p"/>
                <a:ea typeface="M PLUS 1p"/>
                <a:cs typeface="M PLUS 1p"/>
                <a:sym typeface="M PLUS 1p"/>
              </a:rPr>
              <a:t>Appendix:事業</a:t>
            </a:r>
            <a:r>
              <a:rPr b="1" lang="ja" sz="2000">
                <a:solidFill>
                  <a:srgbClr val="1F1F1F"/>
                </a:solidFill>
                <a:latin typeface="M PLUS 1p"/>
                <a:ea typeface="M PLUS 1p"/>
                <a:cs typeface="M PLUS 1p"/>
                <a:sym typeface="M PLUS 1p"/>
              </a:rPr>
              <a:t>本部別</a:t>
            </a:r>
            <a:r>
              <a:rPr b="1" lang="ja" sz="2000">
                <a:solidFill>
                  <a:srgbClr val="1F1F1F"/>
                </a:solidFill>
                <a:latin typeface="M PLUS 1p"/>
                <a:ea typeface="M PLUS 1p"/>
                <a:cs typeface="M PLUS 1p"/>
                <a:sym typeface="M PLUS 1p"/>
              </a:rPr>
              <a:t>②</a:t>
            </a:r>
            <a:r>
              <a:rPr b="1" lang="ja" sz="2000">
                <a:solidFill>
                  <a:srgbClr val="1F1F1F"/>
                </a:solidFill>
                <a:latin typeface="M PLUS 1p"/>
                <a:ea typeface="M PLUS 1p"/>
                <a:cs typeface="M PLUS 1p"/>
                <a:sym typeface="M PLUS 1p"/>
              </a:rPr>
              <a:t>_休眠中のアクセス</a:t>
            </a:r>
            <a:r>
              <a:rPr b="1" lang="ja" sz="2000">
                <a:solidFill>
                  <a:srgbClr val="1F1F1F"/>
                </a:solidFill>
                <a:latin typeface="M PLUS 1p"/>
                <a:ea typeface="M PLUS 1p"/>
                <a:cs typeface="M PLUS 1p"/>
                <a:sym typeface="M PLUS 1p"/>
              </a:rPr>
              <a:t>店舗</a:t>
            </a:r>
            <a:r>
              <a:rPr b="1" lang="ja" sz="2000">
                <a:solidFill>
                  <a:srgbClr val="1F1F1F"/>
                </a:solidFill>
                <a:latin typeface="M PLUS 1p"/>
                <a:ea typeface="M PLUS 1p"/>
                <a:cs typeface="M PLUS 1p"/>
                <a:sym typeface="M PLUS 1p"/>
              </a:rPr>
              <a:t>率</a:t>
            </a:r>
            <a:endParaRPr b="1" sz="2000">
              <a:solidFill>
                <a:srgbClr val="1F1F1F"/>
              </a:solidFill>
              <a:latin typeface="M PLUS 1p"/>
              <a:ea typeface="M PLUS 1p"/>
              <a:cs typeface="M PLUS 1p"/>
              <a:sym typeface="M PLUS 1p"/>
            </a:endParaRPr>
          </a:p>
        </p:txBody>
      </p:sp>
      <p:pic>
        <p:nvPicPr>
          <p:cNvPr id="943" name="Google Shape;943;p70" title="グラフ"/>
          <p:cNvPicPr preferRelativeResize="0"/>
          <p:nvPr/>
        </p:nvPicPr>
        <p:blipFill>
          <a:blip r:embed="rId3">
            <a:alphaModFix/>
          </a:blip>
          <a:stretch>
            <a:fillRect/>
          </a:stretch>
        </p:blipFill>
        <p:spPr>
          <a:xfrm>
            <a:off x="160025" y="1788775"/>
            <a:ext cx="4264891" cy="2818000"/>
          </a:xfrm>
          <a:prstGeom prst="rect">
            <a:avLst/>
          </a:prstGeom>
          <a:noFill/>
          <a:ln>
            <a:noFill/>
          </a:ln>
        </p:spPr>
      </p:pic>
      <p:pic>
        <p:nvPicPr>
          <p:cNvPr id="944" name="Google Shape;944;p70" title="グラフ"/>
          <p:cNvPicPr preferRelativeResize="0"/>
          <p:nvPr/>
        </p:nvPicPr>
        <p:blipFill>
          <a:blip r:embed="rId4">
            <a:alphaModFix/>
          </a:blip>
          <a:stretch>
            <a:fillRect/>
          </a:stretch>
        </p:blipFill>
        <p:spPr>
          <a:xfrm>
            <a:off x="4719050" y="1788777"/>
            <a:ext cx="4264901" cy="2817998"/>
          </a:xfrm>
          <a:prstGeom prst="rect">
            <a:avLst/>
          </a:prstGeom>
          <a:noFill/>
          <a:ln>
            <a:noFill/>
          </a:ln>
        </p:spPr>
      </p:pic>
      <p:sp>
        <p:nvSpPr>
          <p:cNvPr id="945" name="Google Shape;945;p70"/>
          <p:cNvSpPr txBox="1"/>
          <p:nvPr/>
        </p:nvSpPr>
        <p:spPr>
          <a:xfrm>
            <a:off x="432350" y="778975"/>
            <a:ext cx="8620500" cy="754500"/>
          </a:xfrm>
          <a:prstGeom prst="rect">
            <a:avLst/>
          </a:prstGeom>
          <a:noFill/>
          <a:ln>
            <a:noFill/>
          </a:ln>
        </p:spPr>
        <p:txBody>
          <a:bodyPr anchorCtr="0" anchor="t" bIns="91425" lIns="91425" spcFirstLastPara="1" rIns="91425" wrap="square" tIns="91425">
            <a:noAutofit/>
          </a:bodyPr>
          <a:lstStyle/>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市場開発は全体の傾向と類似</a:t>
            </a:r>
            <a:r>
              <a:rPr lang="ja" sz="1600">
                <a:solidFill>
                  <a:srgbClr val="1F1F1F"/>
                </a:solidFill>
                <a:latin typeface="M PLUS 1p"/>
                <a:ea typeface="M PLUS 1p"/>
                <a:cs typeface="M PLUS 1p"/>
                <a:sym typeface="M PLUS 1p"/>
              </a:rPr>
              <a:t>しているが、</a:t>
            </a:r>
            <a:r>
              <a:rPr lang="ja" sz="1600">
                <a:solidFill>
                  <a:srgbClr val="1F1F1F"/>
                </a:solidFill>
                <a:latin typeface="M PLUS 1p"/>
                <a:ea typeface="M PLUS 1p"/>
                <a:cs typeface="M PLUS 1p"/>
                <a:sym typeface="M PLUS 1p"/>
              </a:rPr>
              <a:t>アクセスのみの</a:t>
            </a:r>
            <a:r>
              <a:rPr lang="ja" sz="1600">
                <a:solidFill>
                  <a:srgbClr val="1F1F1F"/>
                </a:solidFill>
                <a:latin typeface="M PLUS 1p"/>
                <a:ea typeface="M PLUS 1p"/>
                <a:cs typeface="M PLUS 1p"/>
                <a:sym typeface="M PLUS 1p"/>
              </a:rPr>
              <a:t>店舗</a:t>
            </a:r>
            <a:r>
              <a:rPr lang="ja" sz="1600">
                <a:solidFill>
                  <a:srgbClr val="1F1F1F"/>
                </a:solidFill>
                <a:latin typeface="M PLUS 1p"/>
                <a:ea typeface="M PLUS 1p"/>
                <a:cs typeface="M PLUS 1p"/>
                <a:sym typeface="M PLUS 1p"/>
              </a:rPr>
              <a:t>はやや少ない</a:t>
            </a:r>
            <a:endParaRPr sz="1600">
              <a:solidFill>
                <a:srgbClr val="1F1F1F"/>
              </a:solidFill>
              <a:latin typeface="M PLUS 1p"/>
              <a:ea typeface="M PLUS 1p"/>
              <a:cs typeface="M PLUS 1p"/>
              <a:sym typeface="M PLUS 1p"/>
            </a:endParaRPr>
          </a:p>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SMB</a:t>
            </a:r>
            <a:r>
              <a:rPr lang="ja" sz="1600">
                <a:solidFill>
                  <a:srgbClr val="1F1F1F"/>
                </a:solidFill>
                <a:latin typeface="M PLUS 1p"/>
                <a:ea typeface="M PLUS 1p"/>
                <a:cs typeface="M PLUS 1p"/>
                <a:sym typeface="M PLUS 1p"/>
              </a:rPr>
              <a:t>全体だと、15%ほどがアクセスのみの</a:t>
            </a:r>
            <a:r>
              <a:rPr lang="ja" sz="1600">
                <a:solidFill>
                  <a:srgbClr val="1F1F1F"/>
                </a:solidFill>
                <a:latin typeface="M PLUS 1p"/>
                <a:ea typeface="M PLUS 1p"/>
                <a:cs typeface="M PLUS 1p"/>
                <a:sym typeface="M PLUS 1p"/>
              </a:rPr>
              <a:t>店舗</a:t>
            </a:r>
            <a:r>
              <a:rPr lang="ja" sz="1600">
                <a:solidFill>
                  <a:srgbClr val="1F1F1F"/>
                </a:solidFill>
                <a:latin typeface="M PLUS 1p"/>
                <a:ea typeface="M PLUS 1p"/>
                <a:cs typeface="M PLUS 1p"/>
                <a:sym typeface="M PLUS 1p"/>
              </a:rPr>
              <a:t>となっている</a:t>
            </a:r>
            <a:endParaRPr sz="1600">
              <a:solidFill>
                <a:srgbClr val="1F1F1F"/>
              </a:solidFill>
              <a:latin typeface="M PLUS 1p"/>
              <a:ea typeface="M PLUS 1p"/>
              <a:cs typeface="M PLUS 1p"/>
              <a:sym typeface="M PLUS 1p"/>
            </a:endParaRPr>
          </a:p>
        </p:txBody>
      </p:sp>
      <p:sp>
        <p:nvSpPr>
          <p:cNvPr id="946" name="Google Shape;946;p70"/>
          <p:cNvSpPr txBox="1"/>
          <p:nvPr/>
        </p:nvSpPr>
        <p:spPr>
          <a:xfrm>
            <a:off x="342900" y="335450"/>
            <a:ext cx="342900" cy="30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300">
                <a:solidFill>
                  <a:srgbClr val="FFFFFF"/>
                </a:solidFill>
                <a:latin typeface="Zen Kaku Gothic New"/>
                <a:ea typeface="Zen Kaku Gothic New"/>
                <a:cs typeface="Zen Kaku Gothic New"/>
                <a:sym typeface="Zen Kaku Gothic New"/>
              </a:rPr>
              <a:t>15</a:t>
            </a:r>
            <a:endParaRPr b="1" sz="1300">
              <a:solidFill>
                <a:srgbClr val="FFFFFF"/>
              </a:solidFill>
              <a:latin typeface="Zen Kaku Gothic New"/>
              <a:ea typeface="Zen Kaku Gothic New"/>
              <a:cs typeface="Zen Kaku Gothic New"/>
              <a:sym typeface="Zen Kaku Gothic New"/>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50" name="Shape 950"/>
        <p:cNvGrpSpPr/>
        <p:nvPr/>
      </p:nvGrpSpPr>
      <p:grpSpPr>
        <a:xfrm>
          <a:off x="0" y="0"/>
          <a:ext cx="0" cy="0"/>
          <a:chOff x="0" y="0"/>
          <a:chExt cx="0" cy="0"/>
        </a:xfrm>
      </p:grpSpPr>
      <p:sp>
        <p:nvSpPr>
          <p:cNvPr id="951" name="Google Shape;951;p71"/>
          <p:cNvSpPr/>
          <p:nvPr/>
        </p:nvSpPr>
        <p:spPr>
          <a:xfrm>
            <a:off x="342900" y="365275"/>
            <a:ext cx="342900" cy="342900"/>
          </a:xfrm>
          <a:prstGeom prst="ellipse">
            <a:avLst/>
          </a:prstGeom>
          <a:solidFill>
            <a:srgbClr val="FFD7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2" name="Google Shape;952;p71"/>
          <p:cNvSpPr txBox="1"/>
          <p:nvPr/>
        </p:nvSpPr>
        <p:spPr>
          <a:xfrm>
            <a:off x="8136000" y="104275"/>
            <a:ext cx="916800" cy="190200"/>
          </a:xfrm>
          <a:prstGeom prst="rect">
            <a:avLst/>
          </a:prstGeom>
          <a:solidFill>
            <a:srgbClr val="DC0451"/>
          </a:solidFill>
          <a:ln>
            <a:noFill/>
          </a:ln>
        </p:spPr>
        <p:txBody>
          <a:bodyPr anchorCtr="0" anchor="t" bIns="91425" lIns="91425" spcFirstLastPara="1" rIns="91425" wrap="square" tIns="91425">
            <a:noAutofit/>
          </a:bodyPr>
          <a:lstStyle/>
          <a:p>
            <a:pPr indent="0" lvl="0" marL="0" rtl="0" algn="ctr">
              <a:lnSpc>
                <a:spcPct val="50000"/>
              </a:lnSpc>
              <a:spcBef>
                <a:spcPts val="0"/>
              </a:spcBef>
              <a:spcAft>
                <a:spcPts val="0"/>
              </a:spcAft>
              <a:buNone/>
            </a:pPr>
            <a:r>
              <a:rPr b="1" lang="ja" sz="700">
                <a:solidFill>
                  <a:srgbClr val="FFFFFF"/>
                </a:solidFill>
                <a:latin typeface="M PLUS 1p"/>
                <a:ea typeface="M PLUS 1p"/>
                <a:cs typeface="M PLUS 1p"/>
                <a:sym typeface="M PLUS 1p"/>
              </a:rPr>
              <a:t>CONFIDENTIAL</a:t>
            </a:r>
            <a:endParaRPr b="1" sz="700">
              <a:solidFill>
                <a:srgbClr val="FFFFFF"/>
              </a:solidFill>
              <a:latin typeface="M PLUS 1p"/>
              <a:ea typeface="M PLUS 1p"/>
              <a:cs typeface="M PLUS 1p"/>
              <a:sym typeface="M PLUS 1p"/>
            </a:endParaRPr>
          </a:p>
        </p:txBody>
      </p:sp>
      <p:sp>
        <p:nvSpPr>
          <p:cNvPr id="953" name="Google Shape;953;p7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ja"/>
              <a:t>‹#›</a:t>
            </a:fld>
            <a:endParaRPr/>
          </a:p>
        </p:txBody>
      </p:sp>
      <p:sp>
        <p:nvSpPr>
          <p:cNvPr id="954" name="Google Shape;954;p71"/>
          <p:cNvSpPr/>
          <p:nvPr/>
        </p:nvSpPr>
        <p:spPr>
          <a:xfrm>
            <a:off x="4598475" y="4123000"/>
            <a:ext cx="417900" cy="1878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55" name="Google Shape;955;p71"/>
          <p:cNvSpPr txBox="1"/>
          <p:nvPr/>
        </p:nvSpPr>
        <p:spPr>
          <a:xfrm>
            <a:off x="712300" y="294475"/>
            <a:ext cx="7710000" cy="48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2000">
                <a:solidFill>
                  <a:srgbClr val="1F1F1F"/>
                </a:solidFill>
                <a:latin typeface="M PLUS 1p"/>
                <a:ea typeface="M PLUS 1p"/>
                <a:cs typeface="M PLUS 1p"/>
                <a:sym typeface="M PLUS 1p"/>
              </a:rPr>
              <a:t>Appendix:SMB_high/low</a:t>
            </a:r>
            <a:r>
              <a:rPr b="1" lang="ja" sz="2000">
                <a:solidFill>
                  <a:srgbClr val="1F1F1F"/>
                </a:solidFill>
                <a:latin typeface="M PLUS 1p"/>
                <a:ea typeface="M PLUS 1p"/>
                <a:cs typeface="M PLUS 1p"/>
                <a:sym typeface="M PLUS 1p"/>
              </a:rPr>
              <a:t>別</a:t>
            </a:r>
            <a:r>
              <a:rPr b="1" lang="ja" sz="2000">
                <a:solidFill>
                  <a:srgbClr val="1F1F1F"/>
                </a:solidFill>
                <a:latin typeface="M PLUS 1p"/>
                <a:ea typeface="M PLUS 1p"/>
                <a:cs typeface="M PLUS 1p"/>
                <a:sym typeface="M PLUS 1p"/>
              </a:rPr>
              <a:t>_休眠中のアクセス</a:t>
            </a:r>
            <a:r>
              <a:rPr b="1" lang="ja" sz="2000">
                <a:solidFill>
                  <a:srgbClr val="1F1F1F"/>
                </a:solidFill>
                <a:latin typeface="M PLUS 1p"/>
                <a:ea typeface="M PLUS 1p"/>
                <a:cs typeface="M PLUS 1p"/>
                <a:sym typeface="M PLUS 1p"/>
              </a:rPr>
              <a:t>店舗</a:t>
            </a:r>
            <a:r>
              <a:rPr b="1" lang="ja" sz="2000">
                <a:solidFill>
                  <a:srgbClr val="1F1F1F"/>
                </a:solidFill>
                <a:latin typeface="M PLUS 1p"/>
                <a:ea typeface="M PLUS 1p"/>
                <a:cs typeface="M PLUS 1p"/>
                <a:sym typeface="M PLUS 1p"/>
              </a:rPr>
              <a:t>率</a:t>
            </a:r>
            <a:endParaRPr b="1" sz="2000">
              <a:solidFill>
                <a:srgbClr val="1F1F1F"/>
              </a:solidFill>
              <a:latin typeface="M PLUS 1p"/>
              <a:ea typeface="M PLUS 1p"/>
              <a:cs typeface="M PLUS 1p"/>
              <a:sym typeface="M PLUS 1p"/>
            </a:endParaRPr>
          </a:p>
        </p:txBody>
      </p:sp>
      <p:pic>
        <p:nvPicPr>
          <p:cNvPr id="956" name="Google Shape;956;p71" title="グラフ"/>
          <p:cNvPicPr preferRelativeResize="0"/>
          <p:nvPr/>
        </p:nvPicPr>
        <p:blipFill>
          <a:blip r:embed="rId3">
            <a:alphaModFix/>
          </a:blip>
          <a:stretch>
            <a:fillRect/>
          </a:stretch>
        </p:blipFill>
        <p:spPr>
          <a:xfrm>
            <a:off x="307100" y="1775004"/>
            <a:ext cx="4264901" cy="2817996"/>
          </a:xfrm>
          <a:prstGeom prst="rect">
            <a:avLst/>
          </a:prstGeom>
          <a:noFill/>
          <a:ln>
            <a:noFill/>
          </a:ln>
        </p:spPr>
      </p:pic>
      <p:pic>
        <p:nvPicPr>
          <p:cNvPr id="957" name="Google Shape;957;p71" title="グラフ"/>
          <p:cNvPicPr preferRelativeResize="0"/>
          <p:nvPr/>
        </p:nvPicPr>
        <p:blipFill>
          <a:blip r:embed="rId4">
            <a:alphaModFix/>
          </a:blip>
          <a:stretch>
            <a:fillRect/>
          </a:stretch>
        </p:blipFill>
        <p:spPr>
          <a:xfrm>
            <a:off x="4726700" y="1774995"/>
            <a:ext cx="4264901" cy="2818006"/>
          </a:xfrm>
          <a:prstGeom prst="rect">
            <a:avLst/>
          </a:prstGeom>
          <a:noFill/>
          <a:ln>
            <a:noFill/>
          </a:ln>
        </p:spPr>
      </p:pic>
      <p:sp>
        <p:nvSpPr>
          <p:cNvPr id="958" name="Google Shape;958;p71"/>
          <p:cNvSpPr txBox="1"/>
          <p:nvPr/>
        </p:nvSpPr>
        <p:spPr>
          <a:xfrm>
            <a:off x="432350" y="778975"/>
            <a:ext cx="8620500" cy="754500"/>
          </a:xfrm>
          <a:prstGeom prst="rect">
            <a:avLst/>
          </a:prstGeom>
          <a:noFill/>
          <a:ln>
            <a:noFill/>
          </a:ln>
        </p:spPr>
        <p:txBody>
          <a:bodyPr anchorCtr="0" anchor="t" bIns="91425" lIns="91425" spcFirstLastPara="1" rIns="91425" wrap="square" tIns="91425">
            <a:noAutofit/>
          </a:bodyPr>
          <a:lstStyle/>
          <a:p>
            <a:pPr indent="-330200" lvl="0" marL="457200" rtl="0" algn="l">
              <a:lnSpc>
                <a:spcPct val="120000"/>
              </a:lnSpc>
              <a:spcBef>
                <a:spcPts val="0"/>
              </a:spcBef>
              <a:spcAft>
                <a:spcPts val="0"/>
              </a:spcAft>
              <a:buClr>
                <a:srgbClr val="1F1F1F"/>
              </a:buClr>
              <a:buSzPts val="1600"/>
              <a:buFont typeface="M PLUS 1p"/>
              <a:buChar char="●"/>
            </a:pPr>
            <a:r>
              <a:rPr lang="ja" sz="1600">
                <a:solidFill>
                  <a:srgbClr val="1F1F1F"/>
                </a:solidFill>
                <a:latin typeface="M PLUS 1p"/>
                <a:ea typeface="M PLUS 1p"/>
                <a:cs typeface="M PLUS 1p"/>
                <a:sym typeface="M PLUS 1p"/>
              </a:rPr>
              <a:t>highに比べると、lowはアクセスのみの店舗割合が小さい</a:t>
            </a:r>
            <a:endParaRPr sz="1600">
              <a:solidFill>
                <a:srgbClr val="1F1F1F"/>
              </a:solidFill>
              <a:latin typeface="M PLUS 1p"/>
              <a:ea typeface="M PLUS 1p"/>
              <a:cs typeface="M PLUS 1p"/>
              <a:sym typeface="M PLUS 1p"/>
            </a:endParaRPr>
          </a:p>
        </p:txBody>
      </p:sp>
      <p:sp>
        <p:nvSpPr>
          <p:cNvPr id="959" name="Google Shape;959;p71"/>
          <p:cNvSpPr txBox="1"/>
          <p:nvPr/>
        </p:nvSpPr>
        <p:spPr>
          <a:xfrm>
            <a:off x="342900" y="335450"/>
            <a:ext cx="342900" cy="30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ja" sz="1300">
                <a:solidFill>
                  <a:srgbClr val="FFFFFF"/>
                </a:solidFill>
                <a:latin typeface="Zen Kaku Gothic New"/>
                <a:ea typeface="Zen Kaku Gothic New"/>
                <a:cs typeface="Zen Kaku Gothic New"/>
                <a:sym typeface="Zen Kaku Gothic New"/>
              </a:rPr>
              <a:t>16</a:t>
            </a:r>
            <a:endParaRPr b="1" sz="1300">
              <a:solidFill>
                <a:srgbClr val="FFFFFF"/>
              </a:solidFill>
              <a:latin typeface="Zen Kaku Gothic New"/>
              <a:ea typeface="Zen Kaku Gothic New"/>
              <a:cs typeface="Zen Kaku Gothic New"/>
              <a:sym typeface="Zen Kaku Gothic New"/>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imee-simple">
  <a:themeElements>
    <a:clrScheme name="Office">
      <a:dk1>
        <a:srgbClr val="000000"/>
      </a:dk1>
      <a:lt1>
        <a:srgbClr val="FFFFFF"/>
      </a:lt1>
      <a:dk2>
        <a:srgbClr val="000000"/>
      </a:dk2>
      <a:lt2>
        <a:srgbClr val="FFFFFF"/>
      </a:lt2>
      <a:accent1>
        <a:srgbClr val="FFCE00"/>
      </a:accent1>
      <a:accent2>
        <a:srgbClr val="FFCE00"/>
      </a:accent2>
      <a:accent3>
        <a:srgbClr val="FFCE00"/>
      </a:accent3>
      <a:accent4>
        <a:srgbClr val="FFCE00"/>
      </a:accent4>
      <a:accent5>
        <a:srgbClr val="FFCE00"/>
      </a:accent5>
      <a:accent6>
        <a:srgbClr val="007AFF"/>
      </a:accent6>
      <a:hlink>
        <a:srgbClr val="007AFF"/>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