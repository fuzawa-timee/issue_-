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213229-402E-4A0D-9CDC-214D5F037CBC}">
  <a:tblStyle styleId="{A1213229-402E-4A0D-9CDC-214D5F037C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h2e4dbc33fa9ad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h2e4dbc33fa9ad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e4dbc33fa9ad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e4dbc33fa9ad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2e4dbc33fa9ad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2e4dbc33fa9ad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2e4dbc33fa9a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2e4dbc33fa9a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2e4dbc33fa9ad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2e4dbc33fa9ad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2e4dbc33fa9ad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2e4dbc33fa9ad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2e4dbc33fa9ad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2e4dbc33fa9ad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2e4dbc33fa9ad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2e4dbc33fa9ad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docs.google.com/presentation/d/1BvC5SLNePoF3XGa8rXI4PWZ_GO7sFHWgcN0Wn0AHXBU/edit" TargetMode="External"/><Relationship Id="rId4" Type="http://schemas.openxmlformats.org/officeDocument/2006/relationships/hyperlink" Target="https://docs.google.com/presentation/d/1I1ZgmjIDJ--KD7U8SKC64-vq2Xo4clJODOAFZNowth4/edit" TargetMode="External"/><Relationship Id="rId5" Type="http://schemas.openxmlformats.org/officeDocument/2006/relationships/hyperlink" Target="https://docs.google.com/presentation/d/1EVDaSAkOxoD_7C5TdIMixZwvx_zQ10h3qaPqnwYwLnA/ed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63900" y="265650"/>
            <a:ext cx="7960800" cy="47316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sz="1800">
                <a:solidFill>
                  <a:schemeClr val="dk2"/>
                </a:solidFill>
              </a:rPr>
              <a:t>足元は、営業活動とマネタイズ変更の2本柱で翌月継続率70%への道筋を検討する。</a:t>
            </a:r>
            <a:endParaRPr sz="1800">
              <a:solidFill>
                <a:schemeClr val="dk2"/>
              </a:solidFill>
            </a:endParaRPr>
          </a:p>
          <a:p>
            <a:pPr indent="-298450" lvl="0" marL="457200" rtl="0" algn="l">
              <a:lnSpc>
                <a:spcPct val="115000"/>
              </a:lnSpc>
              <a:spcBef>
                <a:spcPts val="0"/>
              </a:spcBef>
              <a:spcAft>
                <a:spcPts val="0"/>
              </a:spcAft>
              <a:buClr>
                <a:schemeClr val="dk1"/>
              </a:buClr>
              <a:buSzPts val="1100"/>
              <a:buChar char="●"/>
            </a:pPr>
            <a:r>
              <a:rPr lang="ja" sz="1800">
                <a:solidFill>
                  <a:schemeClr val="dk2"/>
                </a:solidFill>
              </a:rPr>
              <a:t>同時に、オンボの売上を伸ばすために「翌月だけでなく、2〜3ヶ月の継続に改善レバーがあるのではないか」を検証する。</a:t>
            </a:r>
            <a:endParaRPr sz="1800">
              <a:solidFill>
                <a:schemeClr val="dk2"/>
              </a:solidFill>
            </a:endParaRPr>
          </a:p>
          <a:p>
            <a:pPr indent="0" lvl="0" marL="0" rtl="0" algn="l">
              <a:lnSpc>
                <a:spcPct val="115000"/>
              </a:lnSpc>
              <a:spcBef>
                <a:spcPts val="1800"/>
              </a:spcBef>
              <a:spcAft>
                <a:spcPts val="0"/>
              </a:spcAft>
              <a:buNone/>
            </a:pPr>
            <a:r>
              <a:rPr b="1" lang="ja" sz="1700">
                <a:solidFill>
                  <a:schemeClr val="dk1"/>
                </a:solidFill>
              </a:rPr>
              <a:t>オンボの売上成長に向け、翌月継続率70%への道筋と2〜3ヶ月の継続レバーを整理する</a:t>
            </a:r>
            <a:endParaRPr b="1" sz="1700">
              <a:solidFill>
                <a:schemeClr val="dk1"/>
              </a:solidFill>
            </a:endParaRPr>
          </a:p>
          <a:p>
            <a:pPr indent="0" lvl="0" marL="0" rtl="0" algn="l">
              <a:lnSpc>
                <a:spcPct val="115000"/>
              </a:lnSpc>
              <a:spcBef>
                <a:spcPts val="1200"/>
              </a:spcBef>
              <a:spcAft>
                <a:spcPts val="0"/>
              </a:spcAft>
              <a:buNone/>
            </a:pPr>
            <a:r>
              <a:rPr b="1" lang="ja" sz="1100">
                <a:solidFill>
                  <a:schemeClr val="dk1"/>
                </a:solidFill>
              </a:rPr>
              <a:t>キーメッセージ</a:t>
            </a:r>
            <a:br>
              <a:rPr b="1" lang="ja" sz="1100">
                <a:solidFill>
                  <a:schemeClr val="dk1"/>
                </a:solidFill>
              </a:rPr>
            </a:br>
            <a:r>
              <a:rPr lang="ja" sz="1100">
                <a:solidFill>
                  <a:schemeClr val="dk1"/>
                </a:solidFill>
              </a:rPr>
              <a:t> 足元の翌月継続率70%を追いつつ、その先の継続と売上につながる戦略を整える。</a:t>
            </a:r>
            <a:endParaRPr sz="1100">
              <a:solidFill>
                <a:schemeClr val="dk1"/>
              </a:solidFill>
            </a:endParaRPr>
          </a:p>
          <a:p>
            <a:pPr indent="0" lvl="0" marL="0" rtl="0" algn="l">
              <a:lnSpc>
                <a:spcPct val="115000"/>
              </a:lnSpc>
              <a:spcBef>
                <a:spcPts val="1200"/>
              </a:spcBef>
              <a:spcAft>
                <a:spcPts val="0"/>
              </a:spcAft>
              <a:buNone/>
            </a:pPr>
            <a:r>
              <a:rPr b="1" lang="ja" sz="1100">
                <a:solidFill>
                  <a:schemeClr val="dk1"/>
                </a:solidFill>
              </a:rPr>
              <a:t>掲載内容</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ja" sz="1100">
                <a:solidFill>
                  <a:schemeClr val="dk1"/>
                </a:solidFill>
              </a:rPr>
              <a:t>足元の要求：翌月継続率70%。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ja" sz="1100">
                <a:solidFill>
                  <a:schemeClr val="dk1"/>
                </a:solidFill>
              </a:rPr>
              <a:t>目的：継続率を上げ、オンボの売上を伸ばす。</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ja" sz="1100">
                <a:solidFill>
                  <a:schemeClr val="dk1"/>
                </a:solidFill>
              </a:rPr>
              <a:t>短期：営業による改善と、協賛金・固定費などのマネタイズ変更。</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ja" sz="1100">
                <a:solidFill>
                  <a:schemeClr val="dk1"/>
                </a:solidFill>
              </a:rPr>
              <a:t>中期：翌月だけでなく、2〜3ヶ月の継続で何を変えるべきかを明らかにする。</a:t>
            </a:r>
            <a:endParaRPr sz="1100">
              <a:solidFill>
                <a:schemeClr val="dk1"/>
              </a:solidFill>
            </a:endParaRPr>
          </a:p>
          <a:p>
            <a:pPr indent="0" lvl="0" marL="0" rtl="0" algn="l">
              <a:lnSpc>
                <a:spcPct val="115000"/>
              </a:lnSpc>
              <a:spcBef>
                <a:spcPts val="1200"/>
              </a:spcBef>
              <a:spcAft>
                <a:spcPts val="0"/>
              </a:spcAft>
              <a:buNone/>
            </a:pPr>
            <a:r>
              <a:rPr b="1" lang="ja" sz="1100">
                <a:solidFill>
                  <a:schemeClr val="dk1"/>
                </a:solidFill>
              </a:rPr>
              <a:t>ストーリー</a:t>
            </a:r>
            <a:br>
              <a:rPr b="1" lang="ja" sz="1100">
                <a:solidFill>
                  <a:schemeClr val="dk1"/>
                </a:solidFill>
              </a:rPr>
            </a:br>
            <a:r>
              <a:rPr lang="ja" sz="1100">
                <a:solidFill>
                  <a:schemeClr val="dk1"/>
                </a:solidFill>
              </a:rPr>
              <a:t> 営業で動かせる範囲を捉える → 構造改善で残るGAPを検討する → 2〜3ヶ月の継続と売上の関係を調べ、追う指標を整える。</a:t>
            </a:r>
            <a:endParaRPr sz="1100">
              <a:solidFill>
                <a:schemeClr val="dk1"/>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63900" y="265650"/>
            <a:ext cx="79608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3つのイシューを、実行戦略と経営判断に分ける</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graphicFrame>
        <p:nvGraphicFramePr>
          <p:cNvPr id="60" name="Google Shape;60;p14"/>
          <p:cNvGraphicFramePr/>
          <p:nvPr/>
        </p:nvGraphicFramePr>
        <p:xfrm>
          <a:off x="114300" y="2782925"/>
          <a:ext cx="3000000" cy="3000000"/>
        </p:xfrm>
        <a:graphic>
          <a:graphicData uri="http://schemas.openxmlformats.org/drawingml/2006/table">
            <a:tbl>
              <a:tblPr>
                <a:noFill/>
                <a:tableStyleId>{A1213229-402E-4A0D-9CDC-214D5F037CBC}</a:tableStyleId>
              </a:tblPr>
              <a:tblGrid>
                <a:gridCol w="3921850"/>
                <a:gridCol w="4453400"/>
              </a:tblGrid>
              <a:tr h="247650">
                <a:tc>
                  <a:txBody>
                    <a:bodyPr/>
                    <a:lstStyle/>
                    <a:p>
                      <a:pPr indent="0" lvl="0" marL="0" rtl="0" algn="ctr">
                        <a:lnSpc>
                          <a:spcPct val="115000"/>
                        </a:lnSpc>
                        <a:spcBef>
                          <a:spcPts val="0"/>
                        </a:spcBef>
                        <a:spcAft>
                          <a:spcPts val="0"/>
                        </a:spcAft>
                        <a:buNone/>
                      </a:pPr>
                      <a:r>
                        <a:rPr b="1" lang="ja" sz="1100"/>
                        <a:t>イシュー</a:t>
                      </a:r>
                      <a:endParaRPr b="1" sz="1100"/>
                    </a:p>
                  </a:txBody>
                  <a:tcPr marT="91425" marB="91425" marR="91425" marL="91425"/>
                </a:tc>
                <a:tc>
                  <a:txBody>
                    <a:bodyPr/>
                    <a:lstStyle/>
                    <a:p>
                      <a:pPr indent="0" lvl="0" marL="0" rtl="0" algn="ctr">
                        <a:lnSpc>
                          <a:spcPct val="115000"/>
                        </a:lnSpc>
                        <a:spcBef>
                          <a:spcPts val="0"/>
                        </a:spcBef>
                        <a:spcAft>
                          <a:spcPts val="0"/>
                        </a:spcAft>
                        <a:buNone/>
                      </a:pPr>
                      <a:r>
                        <a:rPr b="1" lang="ja" sz="1100"/>
                        <a:t>明らかにしたいこと</a:t>
                      </a:r>
                      <a:endParaRPr b="1" sz="1100"/>
                    </a:p>
                  </a:txBody>
                  <a:tcPr marT="91425" marB="91425" marR="91425" marL="91425"/>
                </a:tc>
              </a:tr>
              <a:tr h="485775">
                <a:tc>
                  <a:txBody>
                    <a:bodyPr/>
                    <a:lstStyle/>
                    <a:p>
                      <a:pPr indent="0" lvl="0" marL="0" rtl="0" algn="l">
                        <a:spcBef>
                          <a:spcPts val="0"/>
                        </a:spcBef>
                        <a:spcAft>
                          <a:spcPts val="0"/>
                        </a:spcAft>
                        <a:buNone/>
                      </a:pPr>
                      <a:r>
                        <a:rPr lang="ja"/>
                        <a:t>①営業活動で翌月継続率をどこまで改善できるか</a:t>
                      </a:r>
                      <a:endParaRPr/>
                    </a:p>
                  </a:txBody>
                  <a:tcPr marT="91425" marB="91425" marR="91425" marL="91425"/>
                </a:tc>
                <a:tc>
                  <a:txBody>
                    <a:bodyPr/>
                    <a:lstStyle/>
                    <a:p>
                      <a:pPr indent="0" lvl="0" marL="0" rtl="0" algn="l">
                        <a:spcBef>
                          <a:spcPts val="0"/>
                        </a:spcBef>
                        <a:spcAft>
                          <a:spcPts val="0"/>
                        </a:spcAft>
                        <a:buNone/>
                      </a:pPr>
                      <a:r>
                        <a:rPr lang="ja"/>
                        <a:t>改善可能な顧客の規模と、現実的な改善幅</a:t>
                      </a:r>
                      <a:endParaRPr/>
                    </a:p>
                  </a:txBody>
                  <a:tcPr marT="91425" marB="91425" marR="91425" marL="91425"/>
                </a:tc>
              </a:tr>
              <a:tr h="485775">
                <a:tc>
                  <a:txBody>
                    <a:bodyPr/>
                    <a:lstStyle/>
                    <a:p>
                      <a:pPr indent="0" lvl="0" marL="0" rtl="0" algn="l">
                        <a:spcBef>
                          <a:spcPts val="0"/>
                        </a:spcBef>
                        <a:spcAft>
                          <a:spcPts val="0"/>
                        </a:spcAft>
                        <a:buNone/>
                      </a:pPr>
                      <a:r>
                        <a:rPr lang="ja"/>
                        <a:t>②営業以外の構造改善で残るGAPを埋められるか</a:t>
                      </a:r>
                      <a:endParaRPr/>
                    </a:p>
                  </a:txBody>
                  <a:tcPr marT="91425" marB="91425" marR="91425" marL="91425"/>
                </a:tc>
                <a:tc>
                  <a:txBody>
                    <a:bodyPr/>
                    <a:lstStyle/>
                    <a:p>
                      <a:pPr indent="0" lvl="0" marL="0" rtl="0" algn="l">
                        <a:spcBef>
                          <a:spcPts val="0"/>
                        </a:spcBef>
                        <a:spcAft>
                          <a:spcPts val="0"/>
                        </a:spcAft>
                        <a:buNone/>
                      </a:pPr>
                      <a:r>
                        <a:rPr lang="ja"/>
                        <a:t>料金・契約の設計変更による継続促進</a:t>
                      </a:r>
                      <a:endParaRPr/>
                    </a:p>
                  </a:txBody>
                  <a:tcPr marT="91425" marB="91425" marR="91425" marL="91425"/>
                </a:tc>
              </a:tr>
              <a:tr h="485775">
                <a:tc>
                  <a:txBody>
                    <a:bodyPr/>
                    <a:lstStyle/>
                    <a:p>
                      <a:pPr indent="0" lvl="0" marL="0" rtl="0" algn="l">
                        <a:spcBef>
                          <a:spcPts val="0"/>
                        </a:spcBef>
                        <a:spcAft>
                          <a:spcPts val="0"/>
                        </a:spcAft>
                        <a:buNone/>
                      </a:pPr>
                      <a:r>
                        <a:rPr lang="ja"/>
                        <a:t>③翌月継続率70%は売上・利益最大化に最適か</a:t>
                      </a:r>
                      <a:endParaRPr/>
                    </a:p>
                  </a:txBody>
                  <a:tcPr marT="91425" marB="91425" marR="91425" marL="91425"/>
                </a:tc>
                <a:tc>
                  <a:txBody>
                    <a:bodyPr/>
                    <a:lstStyle/>
                    <a:p>
                      <a:pPr indent="0" lvl="0" marL="0" rtl="0" algn="l">
                        <a:spcBef>
                          <a:spcPts val="0"/>
                        </a:spcBef>
                        <a:spcAft>
                          <a:spcPts val="0"/>
                        </a:spcAft>
                        <a:buNone/>
                      </a:pPr>
                      <a:r>
                        <a:rPr lang="ja"/>
                        <a:t>翌月だけでなく2〜3ヶ月の継続や利用量も踏まえた判断</a:t>
                      </a:r>
                      <a:endParaRPr/>
                    </a:p>
                  </a:txBody>
                  <a:tcPr marT="91425" marB="91425" marR="91425" marL="91425"/>
                </a:tc>
              </a:tr>
            </a:tbl>
          </a:graphicData>
        </a:graphic>
      </p:graphicFrame>
      <p:sp>
        <p:nvSpPr>
          <p:cNvPr id="61" name="Google Shape;61;p14"/>
          <p:cNvSpPr txBox="1"/>
          <p:nvPr/>
        </p:nvSpPr>
        <p:spPr>
          <a:xfrm>
            <a:off x="435750" y="147025"/>
            <a:ext cx="8134800" cy="2301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ja" sz="1100"/>
              <a:t>キーメッセージ</a:t>
            </a:r>
            <a:br>
              <a:rPr b="1" lang="ja" sz="1100"/>
            </a:br>
            <a:r>
              <a:rPr lang="ja" sz="1100"/>
              <a:t> ①②で70%への到達方法を検討し、③で売上・利益の観点から妥当性を確かめる。</a:t>
            </a:r>
            <a:endParaRPr sz="1100"/>
          </a:p>
          <a:p>
            <a:pPr indent="0" lvl="0" marL="0" rtl="0" algn="l">
              <a:lnSpc>
                <a:spcPct val="115000"/>
              </a:lnSpc>
              <a:spcBef>
                <a:spcPts val="1200"/>
              </a:spcBef>
              <a:spcAft>
                <a:spcPts val="1200"/>
              </a:spcAft>
              <a:buNone/>
            </a:pPr>
            <a:r>
              <a:rPr b="1" lang="ja" sz="1100"/>
              <a:t>補足</a:t>
            </a:r>
            <a:br>
              <a:rPr b="1" lang="ja" sz="1100"/>
            </a:br>
            <a:r>
              <a:rPr lang="ja" sz="1100"/>
              <a:t> ③はオンボが売上を伸ばすために他に追うべき指標があるかを明らかにする問い。</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363900" y="265650"/>
            <a:ext cx="79608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エグサマみたいな感じで</a:t>
            </a:r>
            <a:endParaRPr sz="1800">
              <a:solidFill>
                <a:schemeClr val="dk2"/>
              </a:solidFill>
            </a:endParaRPr>
          </a:p>
          <a:p>
            <a:pPr indent="0" lvl="0" marL="0" rtl="0" algn="l">
              <a:spcBef>
                <a:spcPts val="0"/>
              </a:spcBef>
              <a:spcAft>
                <a:spcPts val="0"/>
              </a:spcAft>
              <a:buNone/>
            </a:pPr>
            <a:r>
              <a:rPr lang="ja" sz="1800">
                <a:solidFill>
                  <a:schemeClr val="dk2"/>
                </a:solidFill>
              </a:rPr>
              <a:t>ウォーターフォールチャートで表現</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7" name="Google Shape;67;p15"/>
          <p:cNvSpPr txBox="1"/>
          <p:nvPr/>
        </p:nvSpPr>
        <p:spPr>
          <a:xfrm>
            <a:off x="401925" y="2035225"/>
            <a:ext cx="8134800" cy="2301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363900" y="265650"/>
            <a:ext cx="7960800" cy="4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03｜</a:t>
            </a:r>
            <a:r>
              <a:rPr b="1" lang="ja" sz="1300">
                <a:solidFill>
                  <a:srgbClr val="222222"/>
                </a:solidFill>
              </a:rPr>
              <a:t> </a:t>
            </a:r>
            <a:r>
              <a:rPr b="1" lang="ja" sz="1700">
                <a:solidFill>
                  <a:srgbClr val="222222"/>
                </a:solidFill>
              </a:rPr>
              <a:t>営業活動によって翌月継続率をどこまで改善できるのか？</a:t>
            </a:r>
            <a:endParaRPr b="1" sz="1300">
              <a:solidFill>
                <a:srgbClr val="222222"/>
              </a:solidFill>
            </a:endParaRPr>
          </a:p>
          <a:p>
            <a:pPr indent="0" lvl="0" marL="0" rtl="0" algn="l">
              <a:spcBef>
                <a:spcPts val="0"/>
              </a:spcBef>
              <a:spcAft>
                <a:spcPts val="0"/>
              </a:spcAft>
              <a:buNone/>
            </a:pPr>
            <a:r>
              <a:rPr b="1" lang="ja" sz="1300">
                <a:solidFill>
                  <a:srgbClr val="222222"/>
                </a:solidFill>
              </a:rPr>
              <a:t>①営業で改善可能な顧客はどれくらい存在するのか？</a:t>
            </a:r>
            <a:endParaRPr b="1" sz="1300">
              <a:solidFill>
                <a:srgbClr val="222222"/>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1800">
              <a:solidFill>
                <a:schemeClr val="dk2"/>
              </a:solidFill>
            </a:endParaRPr>
          </a:p>
        </p:txBody>
      </p:sp>
      <p:graphicFrame>
        <p:nvGraphicFramePr>
          <p:cNvPr id="73" name="Google Shape;73;p16"/>
          <p:cNvGraphicFramePr/>
          <p:nvPr/>
        </p:nvGraphicFramePr>
        <p:xfrm>
          <a:off x="923925" y="680275"/>
          <a:ext cx="3000000" cy="3000000"/>
        </p:xfrm>
        <a:graphic>
          <a:graphicData uri="http://schemas.openxmlformats.org/drawingml/2006/table">
            <a:tbl>
              <a:tblPr>
                <a:noFill/>
                <a:tableStyleId>{A1213229-402E-4A0D-9CDC-214D5F037CBC}</a:tableStyleId>
              </a:tblPr>
              <a:tblGrid>
                <a:gridCol w="1066800"/>
                <a:gridCol w="990600"/>
                <a:gridCol w="990600"/>
                <a:gridCol w="990600"/>
                <a:gridCol w="771525"/>
                <a:gridCol w="1209675"/>
                <a:gridCol w="1209675"/>
              </a:tblGrid>
              <a:tr h="352425">
                <a:tc>
                  <a:txBody>
                    <a:bodyPr/>
                    <a:lstStyle/>
                    <a:p>
                      <a:pPr indent="0" lvl="0" marL="0" rtl="0" algn="l">
                        <a:spcBef>
                          <a:spcPts val="0"/>
                        </a:spcBef>
                        <a:spcAft>
                          <a:spcPts val="0"/>
                        </a:spcAft>
                        <a:buNone/>
                      </a:pPr>
                      <a:r>
                        <a:rPr lang="ja" sz="600"/>
                        <a:t>初回掲載月</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l">
                        <a:spcBef>
                          <a:spcPts val="0"/>
                        </a:spcBef>
                        <a:spcAft>
                          <a:spcPts val="0"/>
                        </a:spcAft>
                        <a:buNone/>
                      </a:pPr>
                      <a:r>
                        <a:rPr lang="ja" sz="600"/>
                        <a:t>失注顧客数</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l">
                        <a:spcBef>
                          <a:spcPts val="0"/>
                        </a:spcBef>
                        <a:spcAft>
                          <a:spcPts val="0"/>
                        </a:spcAft>
                        <a:buNone/>
                      </a:pPr>
                      <a:r>
                        <a:rPr lang="ja" sz="600"/>
                        <a:t>可変余地あり</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l">
                        <a:spcBef>
                          <a:spcPts val="0"/>
                        </a:spcBef>
                        <a:spcAft>
                          <a:spcPts val="0"/>
                        </a:spcAft>
                        <a:buNone/>
                      </a:pPr>
                      <a:r>
                        <a:rPr lang="ja" sz="600"/>
                        <a:t>改善が厳しい</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l">
                        <a:spcBef>
                          <a:spcPts val="0"/>
                        </a:spcBef>
                        <a:spcAft>
                          <a:spcPts val="0"/>
                        </a:spcAft>
                        <a:buNone/>
                      </a:pPr>
                      <a:r>
                        <a:rPr lang="ja" sz="600"/>
                        <a:t>不明</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l">
                        <a:spcBef>
                          <a:spcPts val="0"/>
                        </a:spcBef>
                        <a:spcAft>
                          <a:spcPts val="0"/>
                        </a:spcAft>
                        <a:buNone/>
                      </a:pPr>
                      <a:r>
                        <a:rPr lang="ja" sz="600"/>
                        <a:t>可変余地あり割合</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l">
                        <a:spcBef>
                          <a:spcPts val="0"/>
                        </a:spcBef>
                        <a:spcAft>
                          <a:spcPts val="0"/>
                        </a:spcAft>
                        <a:buNone/>
                      </a:pPr>
                      <a:r>
                        <a:rPr lang="ja" sz="600"/>
                        <a:t>不明除外時の割合</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190500">
                <a:tc>
                  <a:txBody>
                    <a:bodyPr/>
                    <a:lstStyle/>
                    <a:p>
                      <a:pPr indent="0" lvl="0" marL="0" rtl="0" algn="r">
                        <a:lnSpc>
                          <a:spcPct val="115000"/>
                        </a:lnSpc>
                        <a:spcBef>
                          <a:spcPts val="0"/>
                        </a:spcBef>
                        <a:spcAft>
                          <a:spcPts val="0"/>
                        </a:spcAft>
                        <a:buNone/>
                      </a:pPr>
                      <a:r>
                        <a:rPr lang="ja" sz="600"/>
                        <a:t>2026/02</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365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88</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241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36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24.1%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26.7%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190500">
                <a:tc>
                  <a:txBody>
                    <a:bodyPr/>
                    <a:lstStyle/>
                    <a:p>
                      <a:pPr indent="0" lvl="0" marL="0" rtl="0" algn="r">
                        <a:lnSpc>
                          <a:spcPct val="115000"/>
                        </a:lnSpc>
                        <a:spcBef>
                          <a:spcPts val="0"/>
                        </a:spcBef>
                        <a:spcAft>
                          <a:spcPts val="0"/>
                        </a:spcAft>
                        <a:buNone/>
                      </a:pPr>
                      <a:r>
                        <a:rPr lang="ja" sz="600"/>
                        <a:t>2026/03</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441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104</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280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57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23.6%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27.1%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190500">
                <a:tc>
                  <a:txBody>
                    <a:bodyPr/>
                    <a:lstStyle/>
                    <a:p>
                      <a:pPr indent="0" lvl="0" marL="0" rtl="0" algn="r">
                        <a:lnSpc>
                          <a:spcPct val="115000"/>
                        </a:lnSpc>
                        <a:spcBef>
                          <a:spcPts val="0"/>
                        </a:spcBef>
                        <a:spcAft>
                          <a:spcPts val="0"/>
                        </a:spcAft>
                        <a:buNone/>
                      </a:pPr>
                      <a:r>
                        <a:rPr lang="ja" sz="600"/>
                        <a:t>2026/05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437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87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277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73</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19.9%</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23.9%</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190500">
                <a:tc>
                  <a:txBody>
                    <a:bodyPr/>
                    <a:lstStyle/>
                    <a:p>
                      <a:pPr indent="0" lvl="0" marL="0" rtl="0" algn="r">
                        <a:lnSpc>
                          <a:spcPct val="115000"/>
                        </a:lnSpc>
                        <a:spcBef>
                          <a:spcPts val="0"/>
                        </a:spcBef>
                        <a:spcAft>
                          <a:spcPts val="0"/>
                        </a:spcAft>
                        <a:buNone/>
                      </a:pPr>
                      <a:r>
                        <a:rPr lang="ja" sz="600"/>
                        <a:t>2026/06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441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126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256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59</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28.6%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33.0%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190500">
                <a:tc>
                  <a:txBody>
                    <a:bodyPr/>
                    <a:lstStyle/>
                    <a:p>
                      <a:pPr indent="0" lvl="0" marL="0" rtl="0" algn="r">
                        <a:lnSpc>
                          <a:spcPct val="115000"/>
                        </a:lnSpc>
                        <a:spcBef>
                          <a:spcPts val="0"/>
                        </a:spcBef>
                        <a:spcAft>
                          <a:spcPts val="0"/>
                        </a:spcAft>
                        <a:buNone/>
                      </a:pPr>
                      <a:r>
                        <a:rPr lang="ja" sz="600"/>
                        <a:t>2026/07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395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109</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226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60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27.6%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32.5%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190500">
                <a:tc>
                  <a:txBody>
                    <a:bodyPr/>
                    <a:lstStyle/>
                    <a:p>
                      <a:pPr indent="0" lvl="0" marL="0" rtl="0" algn="r">
                        <a:lnSpc>
                          <a:spcPct val="115000"/>
                        </a:lnSpc>
                        <a:spcBef>
                          <a:spcPts val="0"/>
                        </a:spcBef>
                        <a:spcAft>
                          <a:spcPts val="0"/>
                        </a:spcAft>
                        <a:buNone/>
                      </a:pPr>
                      <a:r>
                        <a:rPr lang="ja" sz="600"/>
                        <a:t>2026/08</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246</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51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170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20.7%</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23.1%</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r h="228600">
                <a:tc>
                  <a:txBody>
                    <a:bodyPr/>
                    <a:lstStyle/>
                    <a:p>
                      <a:pPr indent="0" lvl="0" marL="0" rtl="0" algn="l">
                        <a:spcBef>
                          <a:spcPts val="0"/>
                        </a:spcBef>
                        <a:spcAft>
                          <a:spcPts val="0"/>
                        </a:spcAft>
                        <a:buNone/>
                      </a:pPr>
                      <a:r>
                        <a:rPr lang="ja" sz="600"/>
                        <a:t>合計</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2325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565</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1450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310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24.3%</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600"/>
                        <a:t>28.0%</a:t>
                      </a:r>
                      <a:endParaRPr sz="600"/>
                    </a:p>
                  </a:txBody>
                  <a:tcPr marT="91425" marB="91425" marR="91425" marL="91425">
                    <a:lnL cap="flat" cmpd="sng" w="5950">
                      <a:solidFill>
                        <a:srgbClr val="BFBFBF"/>
                      </a:solidFill>
                      <a:prstDash val="solid"/>
                      <a:round/>
                      <a:headEnd len="sm" w="sm" type="none"/>
                      <a:tailEnd len="sm" w="sm" type="none"/>
                    </a:lnL>
                    <a:lnR cap="flat" cmpd="sng" w="5950">
                      <a:solidFill>
                        <a:srgbClr val="BFBFBF"/>
                      </a:solidFill>
                      <a:prstDash val="solid"/>
                      <a:round/>
                      <a:headEnd len="sm" w="sm" type="none"/>
                      <a:tailEnd len="sm" w="sm" type="none"/>
                    </a:lnR>
                    <a:lnT cap="flat" cmpd="sng" w="5950">
                      <a:solidFill>
                        <a:srgbClr val="BFBFBF"/>
                      </a:solidFill>
                      <a:prstDash val="solid"/>
                      <a:round/>
                      <a:headEnd len="sm" w="sm" type="none"/>
                      <a:tailEnd len="sm" w="sm" type="none"/>
                    </a:lnT>
                    <a:lnB cap="flat" cmpd="sng" w="5950">
                      <a:solidFill>
                        <a:srgbClr val="BFBFBF"/>
                      </a:solidFill>
                      <a:prstDash val="solid"/>
                      <a:round/>
                      <a:headEnd len="sm" w="sm" type="none"/>
                      <a:tailEnd len="sm" w="sm" type="none"/>
                    </a:lnB>
                  </a:tcPr>
                </a:tc>
              </a:tr>
            </a:tbl>
          </a:graphicData>
        </a:graphic>
      </p:graphicFrame>
      <p:sp>
        <p:nvSpPr>
          <p:cNvPr id="74" name="Google Shape;74;p16"/>
          <p:cNvSpPr txBox="1"/>
          <p:nvPr/>
        </p:nvSpPr>
        <p:spPr>
          <a:xfrm>
            <a:off x="363900" y="3158975"/>
            <a:ext cx="7960800" cy="19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根本の理由は何か→</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75" name="Google Shape;75;p16"/>
          <p:cNvPicPr preferRelativeResize="0"/>
          <p:nvPr/>
        </p:nvPicPr>
        <p:blipFill>
          <a:blip r:embed="rId3">
            <a:alphaModFix/>
          </a:blip>
          <a:stretch>
            <a:fillRect/>
          </a:stretch>
        </p:blipFill>
        <p:spPr>
          <a:xfrm>
            <a:off x="2804450" y="3046075"/>
            <a:ext cx="4656287" cy="2048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nvSpPr>
        <p:spPr>
          <a:xfrm>
            <a:off x="363900" y="265650"/>
            <a:ext cx="7960800" cy="27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ja" sz="1100">
                <a:solidFill>
                  <a:srgbClr val="222222"/>
                </a:solidFill>
              </a:rPr>
              <a:t>②継続率を高める再現性のある勝ちパターンは何か？</a:t>
            </a:r>
            <a:br>
              <a:rPr lang="ja" sz="1100">
                <a:solidFill>
                  <a:srgbClr val="222222"/>
                </a:solidFill>
              </a:rPr>
            </a:br>
            <a:r>
              <a:rPr lang="ja" sz="1100">
                <a:solidFill>
                  <a:srgbClr val="222222"/>
                </a:solidFill>
              </a:rPr>
              <a:t>→当月新規からの仕込み</a:t>
            </a:r>
            <a:br>
              <a:rPr lang="ja" sz="1100">
                <a:solidFill>
                  <a:srgbClr val="222222"/>
                </a:solidFill>
              </a:rPr>
            </a:br>
            <a:r>
              <a:rPr lang="ja" sz="1100">
                <a:solidFill>
                  <a:srgbClr val="222222"/>
                </a:solidFill>
              </a:rPr>
              <a:t>・そのパターンは営業活動によって再現できるのか？</a:t>
            </a:r>
            <a:br>
              <a:rPr lang="ja" sz="1100">
                <a:solidFill>
                  <a:srgbClr val="222222"/>
                </a:solidFill>
              </a:rPr>
            </a:br>
            <a:r>
              <a:rPr lang="ja" sz="1100">
                <a:solidFill>
                  <a:srgbClr val="222222"/>
                </a:solidFill>
              </a:rPr>
              <a:t>→スコアリングで見える化済</a:t>
            </a:r>
            <a:br>
              <a:rPr lang="ja" sz="1100">
                <a:solidFill>
                  <a:srgbClr val="222222"/>
                </a:solidFill>
              </a:rPr>
            </a:br>
            <a:r>
              <a:rPr lang="ja" sz="1100">
                <a:solidFill>
                  <a:srgbClr val="222222"/>
                </a:solidFill>
              </a:rPr>
              <a:t>→現時点で相関関係はありそう</a:t>
            </a:r>
            <a:endParaRPr sz="1100">
              <a:solidFill>
                <a:srgbClr val="222222"/>
              </a:solidFill>
            </a:endParaRPr>
          </a:p>
          <a:p>
            <a:pPr indent="0" lvl="0" marL="0" rtl="0" algn="l">
              <a:lnSpc>
                <a:spcPct val="115000"/>
              </a:lnSpc>
              <a:spcBef>
                <a:spcPts val="1000"/>
              </a:spcBef>
              <a:spcAft>
                <a:spcPts val="0"/>
              </a:spcAft>
              <a:buNone/>
            </a:pPr>
            <a:r>
              <a:t/>
            </a:r>
            <a:endParaRPr sz="1100">
              <a:solidFill>
                <a:srgbClr val="222222"/>
              </a:solidFill>
            </a:endParaRPr>
          </a:p>
          <a:p>
            <a:pPr indent="0" lvl="0" marL="0" rtl="0" algn="l">
              <a:lnSpc>
                <a:spcPct val="115000"/>
              </a:lnSpc>
              <a:spcBef>
                <a:spcPts val="1000"/>
              </a:spcBef>
              <a:spcAft>
                <a:spcPts val="0"/>
              </a:spcAft>
              <a:buNone/>
            </a:pPr>
            <a:r>
              <a:rPr lang="ja" sz="1100">
                <a:solidFill>
                  <a:srgbClr val="222222"/>
                </a:solidFill>
              </a:rPr>
              <a:t>スコアリングの資料をある程度入れる</a:t>
            </a:r>
            <a:endParaRPr sz="1100">
              <a:solidFill>
                <a:srgbClr val="222222"/>
              </a:solidFill>
            </a:endParaRPr>
          </a:p>
          <a:p>
            <a:pPr indent="0" lvl="0" marL="0" rtl="0" algn="l">
              <a:lnSpc>
                <a:spcPct val="115000"/>
              </a:lnSpc>
              <a:spcBef>
                <a:spcPts val="1000"/>
              </a:spcBef>
              <a:spcAft>
                <a:spcPts val="1000"/>
              </a:spcAft>
              <a:buClr>
                <a:schemeClr val="dk1"/>
              </a:buClr>
              <a:buSzPts val="1100"/>
              <a:buFont typeface="Arial"/>
              <a:buNone/>
            </a:pPr>
            <a:r>
              <a:t/>
            </a:r>
            <a:endParaRPr sz="1100">
              <a:solidFill>
                <a:srgbClr val="222222"/>
              </a:solidFill>
            </a:endParaRPr>
          </a:p>
        </p:txBody>
      </p:sp>
      <p:pic>
        <p:nvPicPr>
          <p:cNvPr id="81" name="Google Shape;81;p17"/>
          <p:cNvPicPr preferRelativeResize="0"/>
          <p:nvPr/>
        </p:nvPicPr>
        <p:blipFill>
          <a:blip r:embed="rId3">
            <a:alphaModFix/>
          </a:blip>
          <a:stretch>
            <a:fillRect/>
          </a:stretch>
        </p:blipFill>
        <p:spPr>
          <a:xfrm>
            <a:off x="152400" y="3184950"/>
            <a:ext cx="3714468" cy="1806151"/>
          </a:xfrm>
          <a:prstGeom prst="rect">
            <a:avLst/>
          </a:prstGeom>
          <a:noFill/>
          <a:ln>
            <a:noFill/>
          </a:ln>
        </p:spPr>
      </p:pic>
      <p:pic>
        <p:nvPicPr>
          <p:cNvPr id="82" name="Google Shape;82;p17"/>
          <p:cNvPicPr preferRelativeResize="0"/>
          <p:nvPr/>
        </p:nvPicPr>
        <p:blipFill>
          <a:blip r:embed="rId4">
            <a:alphaModFix/>
          </a:blip>
          <a:stretch>
            <a:fillRect/>
          </a:stretch>
        </p:blipFill>
        <p:spPr>
          <a:xfrm>
            <a:off x="3982560" y="1661524"/>
            <a:ext cx="5313842" cy="1091650"/>
          </a:xfrm>
          <a:prstGeom prst="rect">
            <a:avLst/>
          </a:prstGeom>
          <a:noFill/>
          <a:ln>
            <a:noFill/>
          </a:ln>
        </p:spPr>
      </p:pic>
      <p:pic>
        <p:nvPicPr>
          <p:cNvPr id="83" name="Google Shape;83;p17"/>
          <p:cNvPicPr preferRelativeResize="0"/>
          <p:nvPr/>
        </p:nvPicPr>
        <p:blipFill>
          <a:blip r:embed="rId5">
            <a:alphaModFix/>
          </a:blip>
          <a:stretch>
            <a:fillRect/>
          </a:stretch>
        </p:blipFill>
        <p:spPr>
          <a:xfrm>
            <a:off x="4293775" y="2753175"/>
            <a:ext cx="5162249" cy="1327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363900" y="265650"/>
            <a:ext cx="7960800" cy="4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ja" sz="1300">
                <a:solidFill>
                  <a:srgbClr val="222222"/>
                </a:solidFill>
              </a:rPr>
              <a:t>3. 優先すべき営業施策は何か？ 何pt改善できるのか？</a:t>
            </a:r>
            <a:endParaRPr b="1" sz="1300">
              <a:solidFill>
                <a:srgbClr val="222222"/>
              </a:solidFill>
            </a:endParaRPr>
          </a:p>
          <a:p>
            <a:pPr indent="0" lvl="0" marL="0" rtl="0" algn="l">
              <a:spcBef>
                <a:spcPts val="40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nvSpPr>
        <p:spPr>
          <a:xfrm>
            <a:off x="363900" y="265650"/>
            <a:ext cx="7960800" cy="4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ja" sz="1700">
                <a:solidFill>
                  <a:srgbClr val="222222"/>
                </a:solidFill>
              </a:rPr>
              <a:t>② 営業以外の構造的な改善によって、残りのGAPを埋められるのか？</a:t>
            </a:r>
            <a:endParaRPr sz="1800">
              <a:solidFill>
                <a:schemeClr val="dk2"/>
              </a:solidFill>
            </a:endParaRPr>
          </a:p>
        </p:txBody>
      </p:sp>
      <p:sp>
        <p:nvSpPr>
          <p:cNvPr id="94" name="Google Shape;94;p19"/>
          <p:cNvSpPr txBox="1"/>
          <p:nvPr/>
        </p:nvSpPr>
        <p:spPr>
          <a:xfrm>
            <a:off x="47375" y="1434775"/>
            <a:ext cx="30000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ja" sz="1300">
                <a:solidFill>
                  <a:srgbClr val="222222"/>
                </a:solidFill>
              </a:rPr>
              <a:t>1. 営業で改善できない未継続の根本原因は何か？</a:t>
            </a:r>
            <a:endParaRPr b="1" sz="1300">
              <a:solidFill>
                <a:srgbClr val="22222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nvSpPr>
        <p:spPr>
          <a:xfrm>
            <a:off x="363900" y="265650"/>
            <a:ext cx="7960800" cy="4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ja" sz="1300">
                <a:solidFill>
                  <a:srgbClr val="222222"/>
                </a:solidFill>
              </a:rPr>
              <a:t>2. 構造的な改善で何pt引き上げられるのか？</a:t>
            </a:r>
            <a:endParaRPr b="1" sz="1300">
              <a:solidFill>
                <a:srgbClr val="222222"/>
              </a:solidFill>
            </a:endParaRPr>
          </a:p>
          <a:p>
            <a:pPr indent="0" lvl="0" marL="0" rtl="0" algn="l">
              <a:spcBef>
                <a:spcPts val="40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nvSpPr>
        <p:spPr>
          <a:xfrm>
            <a:off x="363900" y="265650"/>
            <a:ext cx="7960800" cy="4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ja" sz="1700">
                <a:solidFill>
                  <a:srgbClr val="222222"/>
                </a:solidFill>
              </a:rPr>
              <a:t>③ 翌月継続に加え、2〜3ヶ月の継続に売上成長のレバーがないかを探る</a:t>
            </a:r>
            <a:endParaRPr sz="1800">
              <a:solidFill>
                <a:schemeClr val="dk2"/>
              </a:solidFill>
            </a:endParaRPr>
          </a:p>
        </p:txBody>
      </p:sp>
      <p:graphicFrame>
        <p:nvGraphicFramePr>
          <p:cNvPr id="105" name="Google Shape;105;p21"/>
          <p:cNvGraphicFramePr/>
          <p:nvPr/>
        </p:nvGraphicFramePr>
        <p:xfrm>
          <a:off x="213325" y="1167550"/>
          <a:ext cx="3000000" cy="3000000"/>
        </p:xfrm>
        <a:graphic>
          <a:graphicData uri="http://schemas.openxmlformats.org/drawingml/2006/table">
            <a:tbl>
              <a:tblPr>
                <a:noFill/>
                <a:tableStyleId>{A1213229-402E-4A0D-9CDC-214D5F037CBC}</a:tableStyleId>
              </a:tblPr>
              <a:tblGrid>
                <a:gridCol w="4229100"/>
              </a:tblGrid>
              <a:tr h="247650">
                <a:tc>
                  <a:txBody>
                    <a:bodyPr/>
                    <a:lstStyle/>
                    <a:p>
                      <a:pPr indent="0" lvl="0" marL="0" rtl="0" algn="l">
                        <a:spcBef>
                          <a:spcPts val="0"/>
                        </a:spcBef>
                        <a:spcAft>
                          <a:spcPts val="0"/>
                        </a:spcAft>
                        <a:buNone/>
                      </a:pPr>
                      <a:r>
                        <a:rPr lang="ja" sz="1100" u="sng">
                          <a:solidFill>
                            <a:schemeClr val="hlink"/>
                          </a:solidFill>
                          <a:hlinkClick r:id="rId3"/>
                        </a:rPr>
                        <a:t>[FY26] GrowthSquad_翌月継続率の探索分析</a:t>
                      </a:r>
                      <a:endParaRPr sz="1100" u="sng">
                        <a:solidFill>
                          <a:schemeClr val="hlink"/>
                        </a:solidFill>
                      </a:endParaRPr>
                    </a:p>
                  </a:txBody>
                  <a:tcPr marT="91425" marB="91425" marR="91425" marL="91425"/>
                </a:tc>
              </a:tr>
              <a:tr h="247650">
                <a:tc>
                  <a:txBody>
                    <a:bodyPr/>
                    <a:lstStyle/>
                    <a:p>
                      <a:pPr indent="0" lvl="0" marL="0" rtl="0" algn="l">
                        <a:spcBef>
                          <a:spcPts val="0"/>
                        </a:spcBef>
                        <a:spcAft>
                          <a:spcPts val="0"/>
                        </a:spcAft>
                        <a:buNone/>
                      </a:pPr>
                      <a:r>
                        <a:rPr lang="ja" sz="1100" u="sng">
                          <a:solidFill>
                            <a:schemeClr val="hlink"/>
                          </a:solidFill>
                          <a:hlinkClick r:id="rId4"/>
                        </a:rPr>
                        <a:t>翌月継続率の構造化分析_Part2</a:t>
                      </a:r>
                      <a:endParaRPr sz="1100" u="sng">
                        <a:solidFill>
                          <a:schemeClr val="hlink"/>
                        </a:solidFill>
                      </a:endParaRPr>
                    </a:p>
                  </a:txBody>
                  <a:tcPr marT="91425" marB="91425" marR="91425" marL="91425"/>
                </a:tc>
              </a:tr>
              <a:tr h="247650">
                <a:tc>
                  <a:txBody>
                    <a:bodyPr/>
                    <a:lstStyle/>
                    <a:p>
                      <a:pPr indent="0" lvl="0" marL="0" rtl="0" algn="l">
                        <a:spcBef>
                          <a:spcPts val="0"/>
                        </a:spcBef>
                        <a:spcAft>
                          <a:spcPts val="0"/>
                        </a:spcAft>
                        <a:buNone/>
                      </a:pPr>
                      <a:r>
                        <a:rPr lang="ja" sz="1100" u="sng">
                          <a:solidFill>
                            <a:schemeClr val="hlink"/>
                          </a:solidFill>
                          <a:hlinkClick r:id="rId5"/>
                        </a:rPr>
                        <a:t>[FY25 4Q]3ヶ月連続継続と中長期の継続に効くレバーの探索</a:t>
                      </a:r>
                      <a:endParaRPr sz="1100" u="sng">
                        <a:solidFill>
                          <a:schemeClr val="hlink"/>
                        </a:solidFill>
                      </a:endParaRPr>
                    </a:p>
                    <a:p>
                      <a:pPr indent="0" lvl="0" marL="0" rtl="0" algn="l">
                        <a:spcBef>
                          <a:spcPts val="0"/>
                        </a:spcBef>
                        <a:spcAft>
                          <a:spcPts val="0"/>
                        </a:spcAft>
                        <a:buNone/>
                      </a:pPr>
                      <a:r>
                        <a:t/>
                      </a:r>
                      <a:endParaRPr sz="1100" u="sng">
                        <a:solidFill>
                          <a:schemeClr val="hlink"/>
                        </a:solidFill>
                      </a:endParaRPr>
                    </a:p>
                    <a:p>
                      <a:pPr indent="0" lvl="0" marL="0" rtl="0" algn="l">
                        <a:spcBef>
                          <a:spcPts val="0"/>
                        </a:spcBef>
                        <a:spcAft>
                          <a:spcPts val="0"/>
                        </a:spcAft>
                        <a:buNone/>
                      </a:pPr>
                      <a:r>
                        <a:t/>
                      </a:r>
                      <a:endParaRPr sz="1100" u="sng">
                        <a:solidFill>
                          <a:schemeClr val="hlink"/>
                        </a:solidFill>
                      </a:endParaRPr>
                    </a:p>
                    <a:p>
                      <a:pPr indent="0" lvl="0" marL="0" rtl="0" algn="l">
                        <a:spcBef>
                          <a:spcPts val="0"/>
                        </a:spcBef>
                        <a:spcAft>
                          <a:spcPts val="0"/>
                        </a:spcAft>
                        <a:buNone/>
                      </a:pPr>
                      <a:r>
                        <a:rPr lang="ja" sz="1100" u="sng">
                          <a:solidFill>
                            <a:schemeClr val="hlink"/>
                          </a:solidFill>
                        </a:rPr>
                        <a:t>ここから仮説ベースでまとめる</a:t>
                      </a:r>
                      <a:endParaRPr sz="1100" u="sng">
                        <a:solidFill>
                          <a:schemeClr val="hlink"/>
                        </a:solidFill>
                      </a:endParaRPr>
                    </a:p>
                    <a:p>
                      <a:pPr indent="0" lvl="0" marL="0" rtl="0" algn="l">
                        <a:spcBef>
                          <a:spcPts val="0"/>
                        </a:spcBef>
                        <a:spcAft>
                          <a:spcPts val="0"/>
                        </a:spcAft>
                        <a:buNone/>
                      </a:pPr>
                      <a:r>
                        <a:t/>
                      </a:r>
                      <a:endParaRPr sz="1100" u="sng">
                        <a:solidFill>
                          <a:schemeClr val="hlink"/>
                        </a:solidFill>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