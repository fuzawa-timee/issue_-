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 id="2147483665" r:id="rId6"/>
    <p:sldMasterId id="2147483666" r:id="rId7"/>
    <p:sldMasterId id="2147483667"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Lst>
  <p:sldSz cy="5143500" cx="9144000"/>
  <p:notesSz cx="6858000" cy="9144000"/>
  <p:embeddedFontLst>
    <p:embeddedFont>
      <p:font typeface="M PLUS 1p"/>
      <p:regular r:id="rId60"/>
      <p:bold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6AF41C-9295-4D4B-9023-5C70C5D13E4C}">
  <a:tblStyle styleId="{DE6AF41C-9295-4D4B-9023-5C70C5D13E4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12B7459-E852-49DB-9774-913F371DD808}"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659DB5D-94B2-4BAF-BFA3-85DCF8ECF55B}" styleName="Table_2">
    <a:wholeTbl>
      <a:tcTxStyle b="off" i="off">
        <a:font>
          <a:latin typeface="M PLUS 1p"/>
          <a:ea typeface="M PLUS 1p"/>
          <a:cs typeface="M PLUS 1p"/>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1" Type="http://schemas.openxmlformats.org/officeDocument/2006/relationships/font" Target="fonts/MPLUS1p-bold.fntdata"/><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60" Type="http://schemas.openxmlformats.org/officeDocument/2006/relationships/font" Target="fonts/MPLUS1p-regular.fntdata"/><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39c6baba436edf63_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h39c6baba436edf63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64" name="Google Shape;64;h39c6baba436edf63_5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40fbe77057d1c6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h40fbe77057d1c66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74" name="Google Shape;74;h40fbe77057d1c668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409fb60ff53_3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409fb60ff53_3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122" name="Google Shape;122;g409fb60ff53_34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39c6baba436edf63_5_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h39c6baba436edf63_5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175" name="Google Shape;175;h39c6baba436edf63_5_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39c6baba436edf63_5_6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h39c6baba436edf63_5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229" name="Google Shape;229;h39c6baba436edf63_5_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39c6baba436edf63_5_9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h39c6baba436edf63_5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254" name="Google Shape;254;h39c6baba436edf63_5_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39c6baba436edf63_5_1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h39c6baba436edf63_5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294" name="Google Shape;294;h39c6baba436edf63_5_1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h39c6baba436edf63_5_18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h39c6baba436edf63_5_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352" name="Google Shape;352;h39c6baba436edf63_5_1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39c6baba436edf63_5_2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h39c6baba436edf63_5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381" name="Google Shape;381;h39c6baba436edf63_5_2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h39c6baba436edf63_5_2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h39c6baba436edf63_5_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404" name="Google Shape;404;h39c6baba436edf63_5_2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h39c6baba436edf63_5_27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h39c6baba436edf63_5_2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438" name="Google Shape;438;h39c6baba436edf63_5_27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h39c6baba436edf63_5_29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h39c6baba436edf63_5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461" name="Google Shape;461;h39c6baba436edf63_5_2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h4cc3499a6aa3b589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2" name="Google Shape;512;h4cc3499a6aa3b589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513" name="Google Shape;513;h4cc3499a6aa3b589_1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h4cc3499a6aa3b589_1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7" name="Google Shape;547;h4cc3499a6aa3b589_1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548" name="Google Shape;548;h4cc3499a6aa3b589_1_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h4cc3499a6aa3b589_1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h4cc3499a6aa3b589_1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608" name="Google Shape;608;h4cc3499a6aa3b589_1_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h4cc3499a6aa3b589_1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h4cc3499a6aa3b589_1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624" name="Google Shape;624;h4cc3499a6aa3b589_1_1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h39c6baba436edf63_5_5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0" name="Google Shape;670;h39c6baba436edf63_5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671" name="Google Shape;671;h39c6baba436edf63_5_5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h4cc3499a6aa3b589_1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9" name="Google Shape;719;h4cc3499a6aa3b589_1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720" name="Google Shape;720;h4cc3499a6aa3b589_1_1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h4cc3499a6aa3b589_1_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5" name="Google Shape;765;h4cc3499a6aa3b589_1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766" name="Google Shape;766;h4cc3499a6aa3b589_1_20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h39c6baba436edf63_5_65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2" name="Google Shape;812;h39c6baba436edf63_5_6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813" name="Google Shape;813;h39c6baba436edf63_5_6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h4cc3499a6aa3b589_1_2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5" name="Google Shape;925;h4cc3499a6aa3b589_1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926" name="Google Shape;926;h4cc3499a6aa3b589_1_24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h4cc3499a6aa3b589_1_2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8" name="Google Shape;958;h4cc3499a6aa3b589_1_2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959" name="Google Shape;959;h4cc3499a6aa3b589_1_2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h4cc3499a6aa3b589_1_3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2" name="Google Shape;1022;h4cc3499a6aa3b589_1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023" name="Google Shape;1023;h4cc3499a6aa3b589_1_3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h4cc3499a6aa3b589_1_3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7" name="Google Shape;1057;h4cc3499a6aa3b589_1_3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058" name="Google Shape;1058;h4cc3499a6aa3b589_1_3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h39c6baba436edf63_5_9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9" name="Google Shape;1089;h39c6baba436edf63_5_9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1090" name="Google Shape;1090;h39c6baba436edf63_5_9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h39c6baba436edf63_5_9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2" name="Google Shape;1112;h39c6baba436edf63_5_9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
        <p:nvSpPr>
          <p:cNvPr id="1113" name="Google Shape;1113;h39c6baba436edf63_5_9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39c6baba436edf63_5_15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1" name="Google Shape;1121;h39c6baba436edf63_5_15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122" name="Google Shape;1122;h39c6baba436edf63_5_15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h39c6baba436edf63_5_15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0" name="Google Shape;1130;h39c6baba436edf63_5_15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131" name="Google Shape;1131;h39c6baba436edf63_5_15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h39c6baba436edf63_5_15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9" name="Google Shape;1139;h39c6baba436edf63_5_15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140" name="Google Shape;1140;h39c6baba436edf63_5_15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h39c6baba436edf63_5_15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8" name="Google Shape;1158;h39c6baba436edf63_5_15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159" name="Google Shape;1159;h39c6baba436edf63_5_156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h39c6baba436edf63_5_15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7" name="Google Shape;1177;h39c6baba436edf63_5_15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178" name="Google Shape;1178;h39c6baba436edf63_5_15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h39c6baba436edf63_5_160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6" name="Google Shape;1196;h39c6baba436edf63_5_16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197" name="Google Shape;1197;h39c6baba436edf63_5_160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h39c6baba436edf63_5_16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5" name="Google Shape;1215;h39c6baba436edf63_5_16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216" name="Google Shape;1216;h39c6baba436edf63_5_16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h39c6baba436edf63_5_16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4" name="Google Shape;1234;h39c6baba436edf63_5_16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235" name="Google Shape;1235;h39c6baba436edf63_5_16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h39c6baba436edf63_5_16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2" name="Google Shape;1262;h39c6baba436edf63_5_16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263" name="Google Shape;1263;h39c6baba436edf63_5_16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h39c6baba436edf63_5_16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1" name="Google Shape;1281;h39c6baba436edf63_5_16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282" name="Google Shape;1282;h39c6baba436edf63_5_16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h39c6baba436edf63_5_17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0" name="Google Shape;1300;h39c6baba436edf63_5_17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301" name="Google Shape;1301;h39c6baba436edf63_5_170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h39c6baba436edf63_5_17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9" name="Google Shape;1319;h39c6baba436edf63_5_17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320" name="Google Shape;1320;h39c6baba436edf63_5_17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h39c6baba436edf63_5_17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8" name="Google Shape;1338;h39c6baba436edf63_5_17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339" name="Google Shape;1339;h39c6baba436edf63_5_17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h39c6baba436edf63_5_17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6" name="Google Shape;1366;h39c6baba436edf63_5_17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367" name="Google Shape;1367;h39c6baba436edf63_5_176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h39c6baba436edf63_5_17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5" name="Google Shape;1385;h39c6baba436edf63_5_17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386" name="Google Shape;1386;h39c6baba436edf63_5_17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h39c6baba436edf63_5_17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4" name="Google Shape;1404;h39c6baba436edf63_5_17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405" name="Google Shape;1405;h39c6baba436edf63_5_179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h39c6baba436edf63_5_18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3" name="Google Shape;1423;h39c6baba436edf63_5_18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424" name="Google Shape;1424;h39c6baba436edf63_5_18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h39c6baba436edf63_5_18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1" name="Google Shape;1451;h39c6baba436edf63_5_18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452" name="Google Shape;1452;h39c6baba436edf63_5_18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h39c6baba436edf63_5_18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9" name="Google Shape;1479;h39c6baba436edf63_5_18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480" name="Google Shape;1480;h39c6baba436edf63_5_187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h39c6baba436edf63_5_188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8" name="Google Shape;1498;h39c6baba436edf63_5_18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499" name="Google Shape;1499;h39c6baba436edf63_5_188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h39c6baba436edf63_5_19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7" name="Google Shape;1517;h39c6baba436edf63_5_19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518" name="Google Shape;1518;h39c6baba436edf63_5_190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h39c6baba436edf63_5_19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5" name="Google Shape;1545;h39c6baba436edf63_5_19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546" name="Google Shape;1546;h39c6baba436edf63_5_19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h39c6baba436edf63_5_19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4" name="Google Shape;1564;h39c6baba436edf63_5_19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565" name="Google Shape;1565;h39c6baba436edf63_5_19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h39c6baba436edf63_5_19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2" name="Google Shape;1592;h39c6baba436edf63_5_19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latin typeface="M PLUS 1p"/>
              <a:ea typeface="M PLUS 1p"/>
              <a:cs typeface="M PLUS 1p"/>
              <a:sym typeface="M PLUS 1p"/>
            </a:endParaRPr>
          </a:p>
        </p:txBody>
      </p:sp>
      <p:sp>
        <p:nvSpPr>
          <p:cNvPr id="1593" name="Google Shape;1593;h39c6baba436edf63_5_197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M PLUS 1p"/>
              <a:buNone/>
            </a:pPr>
            <a:fld id="{00000000-1234-1234-1234-123412341234}" type="slidenum">
              <a:rPr b="0" i="0" lang="ja" sz="1400" u="none" cap="none" strike="noStrike">
                <a:solidFill>
                  <a:srgbClr val="000000"/>
                </a:solidFill>
                <a:latin typeface="M PLUS 1p"/>
                <a:ea typeface="M PLUS 1p"/>
                <a:cs typeface="M PLUS 1p"/>
                <a:sym typeface="M PLUS 1p"/>
              </a:rPr>
              <a:t>‹#›</a:t>
            </a:fld>
            <a:endParaRPr b="0" i="0" sz="1400" u="none" cap="none" strike="noStrike">
              <a:solidFill>
                <a:srgbClr val="000000"/>
              </a:solidFill>
              <a:latin typeface="M PLUS 1p"/>
              <a:ea typeface="M PLUS 1p"/>
              <a:cs typeface="M PLUS 1p"/>
              <a:sym typeface="M PLUS 1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6"/>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atin typeface="M PLUS 1p"/>
                <a:ea typeface="M PLUS 1p"/>
                <a:cs typeface="M PLUS 1p"/>
                <a:sym typeface="M PLUS 1p"/>
              </a:defRPr>
            </a:lvl1pPr>
            <a:lvl2pPr lvl="1" algn="l">
              <a:lnSpc>
                <a:spcPct val="100000"/>
              </a:lnSpc>
              <a:spcBef>
                <a:spcPts val="0"/>
              </a:spcBef>
              <a:spcAft>
                <a:spcPts val="0"/>
              </a:spcAft>
              <a:buSzPts val="1100"/>
              <a:buNone/>
              <a:defRPr>
                <a:latin typeface="M PLUS 1p"/>
                <a:ea typeface="M PLUS 1p"/>
                <a:cs typeface="M PLUS 1p"/>
                <a:sym typeface="M PLUS 1p"/>
              </a:defRPr>
            </a:lvl2pPr>
            <a:lvl3pPr lvl="2" algn="l">
              <a:lnSpc>
                <a:spcPct val="100000"/>
              </a:lnSpc>
              <a:spcBef>
                <a:spcPts val="0"/>
              </a:spcBef>
              <a:spcAft>
                <a:spcPts val="0"/>
              </a:spcAft>
              <a:buSzPts val="1100"/>
              <a:buNone/>
              <a:defRPr>
                <a:latin typeface="M PLUS 1p"/>
                <a:ea typeface="M PLUS 1p"/>
                <a:cs typeface="M PLUS 1p"/>
                <a:sym typeface="M PLUS 1p"/>
              </a:defRPr>
            </a:lvl3pPr>
            <a:lvl4pPr lvl="3" algn="l">
              <a:lnSpc>
                <a:spcPct val="100000"/>
              </a:lnSpc>
              <a:spcBef>
                <a:spcPts val="0"/>
              </a:spcBef>
              <a:spcAft>
                <a:spcPts val="0"/>
              </a:spcAft>
              <a:buSzPts val="1100"/>
              <a:buNone/>
              <a:defRPr>
                <a:latin typeface="M PLUS 1p"/>
                <a:ea typeface="M PLUS 1p"/>
                <a:cs typeface="M PLUS 1p"/>
                <a:sym typeface="M PLUS 1p"/>
              </a:defRPr>
            </a:lvl4pPr>
            <a:lvl5pPr lvl="4" algn="l">
              <a:lnSpc>
                <a:spcPct val="100000"/>
              </a:lnSpc>
              <a:spcBef>
                <a:spcPts val="0"/>
              </a:spcBef>
              <a:spcAft>
                <a:spcPts val="0"/>
              </a:spcAft>
              <a:buSzPts val="1100"/>
              <a:buNone/>
              <a:defRPr>
                <a:latin typeface="M PLUS 1p"/>
                <a:ea typeface="M PLUS 1p"/>
                <a:cs typeface="M PLUS 1p"/>
                <a:sym typeface="M PLUS 1p"/>
              </a:defRPr>
            </a:lvl5pPr>
            <a:lvl6pPr lvl="5" algn="l">
              <a:lnSpc>
                <a:spcPct val="100000"/>
              </a:lnSpc>
              <a:spcBef>
                <a:spcPts val="0"/>
              </a:spcBef>
              <a:spcAft>
                <a:spcPts val="0"/>
              </a:spcAft>
              <a:buSzPts val="1100"/>
              <a:buNone/>
              <a:defRPr>
                <a:latin typeface="M PLUS 1p"/>
                <a:ea typeface="M PLUS 1p"/>
                <a:cs typeface="M PLUS 1p"/>
                <a:sym typeface="M PLUS 1p"/>
              </a:defRPr>
            </a:lvl6pPr>
            <a:lvl7pPr lvl="6" algn="l">
              <a:lnSpc>
                <a:spcPct val="100000"/>
              </a:lnSpc>
              <a:spcBef>
                <a:spcPts val="0"/>
              </a:spcBef>
              <a:spcAft>
                <a:spcPts val="0"/>
              </a:spcAft>
              <a:buSzPts val="1100"/>
              <a:buNone/>
              <a:defRPr>
                <a:latin typeface="M PLUS 1p"/>
                <a:ea typeface="M PLUS 1p"/>
                <a:cs typeface="M PLUS 1p"/>
                <a:sym typeface="M PLUS 1p"/>
              </a:defRPr>
            </a:lvl7pPr>
            <a:lvl8pPr lvl="7" algn="l">
              <a:lnSpc>
                <a:spcPct val="100000"/>
              </a:lnSpc>
              <a:spcBef>
                <a:spcPts val="0"/>
              </a:spcBef>
              <a:spcAft>
                <a:spcPts val="0"/>
              </a:spcAft>
              <a:buSzPts val="1100"/>
              <a:buNone/>
              <a:defRPr>
                <a:latin typeface="M PLUS 1p"/>
                <a:ea typeface="M PLUS 1p"/>
                <a:cs typeface="M PLUS 1p"/>
                <a:sym typeface="M PLUS 1p"/>
              </a:defRPr>
            </a:lvl8pPr>
            <a:lvl9pPr lvl="8" algn="l">
              <a:lnSpc>
                <a:spcPct val="100000"/>
              </a:lnSpc>
              <a:spcBef>
                <a:spcPts val="0"/>
              </a:spcBef>
              <a:spcAft>
                <a:spcPts val="0"/>
              </a:spcAft>
              <a:buSzPts val="1100"/>
              <a:buNone/>
              <a:defRPr>
                <a:latin typeface="M PLUS 1p"/>
                <a:ea typeface="M PLUS 1p"/>
                <a:cs typeface="M PLUS 1p"/>
                <a:sym typeface="M PLUS 1p"/>
              </a:defRPr>
            </a:lvl9pPr>
          </a:lstStyle>
          <a:p/>
        </p:txBody>
      </p:sp>
      <p:sp>
        <p:nvSpPr>
          <p:cNvPr id="55" name="Google Shape;55;p16"/>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atin typeface="M PLUS 1p"/>
                <a:ea typeface="M PLUS 1p"/>
                <a:cs typeface="M PLUS 1p"/>
                <a:sym typeface="M PLUS 1p"/>
              </a:defRPr>
            </a:lvl1pPr>
            <a:lvl2pPr lvl="1" algn="l">
              <a:lnSpc>
                <a:spcPct val="100000"/>
              </a:lnSpc>
              <a:spcBef>
                <a:spcPts val="0"/>
              </a:spcBef>
              <a:spcAft>
                <a:spcPts val="0"/>
              </a:spcAft>
              <a:buSzPts val="1100"/>
              <a:buNone/>
              <a:defRPr>
                <a:latin typeface="M PLUS 1p"/>
                <a:ea typeface="M PLUS 1p"/>
                <a:cs typeface="M PLUS 1p"/>
                <a:sym typeface="M PLUS 1p"/>
              </a:defRPr>
            </a:lvl2pPr>
            <a:lvl3pPr lvl="2" algn="l">
              <a:lnSpc>
                <a:spcPct val="100000"/>
              </a:lnSpc>
              <a:spcBef>
                <a:spcPts val="0"/>
              </a:spcBef>
              <a:spcAft>
                <a:spcPts val="0"/>
              </a:spcAft>
              <a:buSzPts val="1100"/>
              <a:buNone/>
              <a:defRPr>
                <a:latin typeface="M PLUS 1p"/>
                <a:ea typeface="M PLUS 1p"/>
                <a:cs typeface="M PLUS 1p"/>
                <a:sym typeface="M PLUS 1p"/>
              </a:defRPr>
            </a:lvl3pPr>
            <a:lvl4pPr lvl="3" algn="l">
              <a:lnSpc>
                <a:spcPct val="100000"/>
              </a:lnSpc>
              <a:spcBef>
                <a:spcPts val="0"/>
              </a:spcBef>
              <a:spcAft>
                <a:spcPts val="0"/>
              </a:spcAft>
              <a:buSzPts val="1100"/>
              <a:buNone/>
              <a:defRPr>
                <a:latin typeface="M PLUS 1p"/>
                <a:ea typeface="M PLUS 1p"/>
                <a:cs typeface="M PLUS 1p"/>
                <a:sym typeface="M PLUS 1p"/>
              </a:defRPr>
            </a:lvl4pPr>
            <a:lvl5pPr lvl="4" algn="l">
              <a:lnSpc>
                <a:spcPct val="100000"/>
              </a:lnSpc>
              <a:spcBef>
                <a:spcPts val="0"/>
              </a:spcBef>
              <a:spcAft>
                <a:spcPts val="0"/>
              </a:spcAft>
              <a:buSzPts val="1100"/>
              <a:buNone/>
              <a:defRPr>
                <a:latin typeface="M PLUS 1p"/>
                <a:ea typeface="M PLUS 1p"/>
                <a:cs typeface="M PLUS 1p"/>
                <a:sym typeface="M PLUS 1p"/>
              </a:defRPr>
            </a:lvl5pPr>
            <a:lvl6pPr lvl="5" algn="l">
              <a:lnSpc>
                <a:spcPct val="100000"/>
              </a:lnSpc>
              <a:spcBef>
                <a:spcPts val="0"/>
              </a:spcBef>
              <a:spcAft>
                <a:spcPts val="0"/>
              </a:spcAft>
              <a:buSzPts val="1100"/>
              <a:buNone/>
              <a:defRPr>
                <a:latin typeface="M PLUS 1p"/>
                <a:ea typeface="M PLUS 1p"/>
                <a:cs typeface="M PLUS 1p"/>
                <a:sym typeface="M PLUS 1p"/>
              </a:defRPr>
            </a:lvl6pPr>
            <a:lvl7pPr lvl="6" algn="l">
              <a:lnSpc>
                <a:spcPct val="100000"/>
              </a:lnSpc>
              <a:spcBef>
                <a:spcPts val="0"/>
              </a:spcBef>
              <a:spcAft>
                <a:spcPts val="0"/>
              </a:spcAft>
              <a:buSzPts val="1100"/>
              <a:buNone/>
              <a:defRPr>
                <a:latin typeface="M PLUS 1p"/>
                <a:ea typeface="M PLUS 1p"/>
                <a:cs typeface="M PLUS 1p"/>
                <a:sym typeface="M PLUS 1p"/>
              </a:defRPr>
            </a:lvl7pPr>
            <a:lvl8pPr lvl="7" algn="l">
              <a:lnSpc>
                <a:spcPct val="100000"/>
              </a:lnSpc>
              <a:spcBef>
                <a:spcPts val="0"/>
              </a:spcBef>
              <a:spcAft>
                <a:spcPts val="0"/>
              </a:spcAft>
              <a:buSzPts val="1100"/>
              <a:buNone/>
              <a:defRPr>
                <a:latin typeface="M PLUS 1p"/>
                <a:ea typeface="M PLUS 1p"/>
                <a:cs typeface="M PLUS 1p"/>
                <a:sym typeface="M PLUS 1p"/>
              </a:defRPr>
            </a:lvl8pPr>
            <a:lvl9pPr lvl="8" algn="l">
              <a:lnSpc>
                <a:spcPct val="100000"/>
              </a:lnSpc>
              <a:spcBef>
                <a:spcPts val="0"/>
              </a:spcBef>
              <a:spcAft>
                <a:spcPts val="0"/>
              </a:spcAft>
              <a:buSzPts val="1100"/>
              <a:buNone/>
              <a:defRPr>
                <a:latin typeface="M PLUS 1p"/>
                <a:ea typeface="M PLUS 1p"/>
                <a:cs typeface="M PLUS 1p"/>
                <a:sym typeface="M PLUS 1p"/>
              </a:defRPr>
            </a:lvl9pPr>
          </a:lstStyle>
          <a:p/>
        </p:txBody>
      </p:sp>
      <p:sp>
        <p:nvSpPr>
          <p:cNvPr id="56" name="Google Shape;56;p16"/>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1pPr>
            <a:lvl2pPr indent="0" lvl="1"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2pPr>
            <a:lvl3pPr indent="0" lvl="2"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3pPr>
            <a:lvl4pPr indent="0" lvl="3"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4pPr>
            <a:lvl5pPr indent="0" lvl="4"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5pPr>
            <a:lvl6pPr indent="0" lvl="5"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6pPr>
            <a:lvl7pPr indent="0" lvl="6"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7pPr>
            <a:lvl8pPr indent="0" lvl="7"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8pPr>
            <a:lvl9pPr indent="0" lvl="8" marL="0" marR="0" algn="r">
              <a:lnSpc>
                <a:spcPct val="100000"/>
              </a:lnSpc>
              <a:spcBef>
                <a:spcPts val="0"/>
              </a:spcBef>
              <a:spcAft>
                <a:spcPts val="0"/>
              </a:spcAft>
              <a:buClr>
                <a:srgbClr val="000000"/>
              </a:buClr>
              <a:buSzPts val="900"/>
              <a:buFont typeface="M PLUS 1p"/>
              <a:buNone/>
              <a:defRPr b="0" i="0" sz="900" u="none" cap="none" strike="noStrike">
                <a:solidFill>
                  <a:srgbClr val="888888"/>
                </a:solidFill>
                <a:latin typeface="M PLUS 1p"/>
                <a:ea typeface="M PLUS 1p"/>
                <a:cs typeface="M PLUS 1p"/>
                <a:sym typeface="M PLUS 1p"/>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0" name="Shape 6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100"/>
        </a:solidFill>
      </p:bgPr>
    </p:bg>
    <p:spTree>
      <p:nvGrpSpPr>
        <p:cNvPr id="65" name="Shape 65"/>
        <p:cNvGrpSpPr/>
        <p:nvPr/>
      </p:nvGrpSpPr>
      <p:grpSpPr>
        <a:xfrm>
          <a:off x="0" y="0"/>
          <a:ext cx="0" cy="0"/>
          <a:chOff x="0" y="0"/>
          <a:chExt cx="0" cy="0"/>
        </a:xfrm>
      </p:grpSpPr>
      <p:sp>
        <p:nvSpPr>
          <p:cNvPr id="66" name="Google Shape;66;p21"/>
          <p:cNvSpPr txBox="1"/>
          <p:nvPr/>
        </p:nvSpPr>
        <p:spPr>
          <a:xfrm>
            <a:off x="457200" y="411480"/>
            <a:ext cx="2743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ja" sz="2400" u="none" cap="none" strike="noStrike">
                <a:solidFill>
                  <a:srgbClr val="1A1A1A"/>
                </a:solidFill>
                <a:latin typeface="M PLUS 1p"/>
                <a:ea typeface="M PLUS 1p"/>
                <a:cs typeface="M PLUS 1p"/>
                <a:sym typeface="M PLUS 1p"/>
              </a:rPr>
              <a:t>Timee</a:t>
            </a:r>
            <a:endParaRPr b="0" i="0" sz="2400" u="none" cap="none" strike="noStrike">
              <a:solidFill>
                <a:srgbClr val="000000"/>
              </a:solidFill>
              <a:latin typeface="Arial"/>
              <a:ea typeface="Arial"/>
              <a:cs typeface="Arial"/>
              <a:sym typeface="Arial"/>
            </a:endParaRPr>
          </a:p>
        </p:txBody>
      </p:sp>
      <p:sp>
        <p:nvSpPr>
          <p:cNvPr id="67" name="Google Shape;67;p21"/>
          <p:cNvSpPr txBox="1"/>
          <p:nvPr/>
        </p:nvSpPr>
        <p:spPr>
          <a:xfrm>
            <a:off x="457200" y="1417320"/>
            <a:ext cx="822960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ja" sz="3000" u="none" cap="none" strike="noStrike">
                <a:solidFill>
                  <a:srgbClr val="1A1A1A"/>
                </a:solidFill>
                <a:latin typeface="M PLUS 1p"/>
                <a:ea typeface="M PLUS 1p"/>
                <a:cs typeface="M PLUS 1p"/>
                <a:sym typeface="M PLUS 1p"/>
              </a:rPr>
              <a:t>ONBスコアリング</a:t>
            </a:r>
            <a:r>
              <a:rPr b="1" lang="ja" sz="3000">
                <a:solidFill>
                  <a:srgbClr val="1A1A1A"/>
                </a:solidFill>
                <a:latin typeface="M PLUS 1p"/>
                <a:ea typeface="M PLUS 1p"/>
                <a:cs typeface="M PLUS 1p"/>
                <a:sym typeface="M PLUS 1p"/>
              </a:rPr>
              <a:t>概要</a:t>
            </a:r>
            <a:endParaRPr b="0" i="0" sz="3000" u="none" cap="none" strike="noStrike">
              <a:solidFill>
                <a:srgbClr val="000000"/>
              </a:solidFill>
              <a:latin typeface="Arial"/>
              <a:ea typeface="Arial"/>
              <a:cs typeface="Arial"/>
              <a:sym typeface="Arial"/>
            </a:endParaRPr>
          </a:p>
        </p:txBody>
      </p:sp>
      <p:sp>
        <p:nvSpPr>
          <p:cNvPr id="68" name="Google Shape;68;p21"/>
          <p:cNvSpPr/>
          <p:nvPr/>
        </p:nvSpPr>
        <p:spPr>
          <a:xfrm>
            <a:off x="457200" y="2286000"/>
            <a:ext cx="1097280" cy="54864"/>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1"/>
          <p:cNvSpPr txBox="1"/>
          <p:nvPr/>
        </p:nvSpPr>
        <p:spPr>
          <a:xfrm>
            <a:off x="457200" y="2468880"/>
            <a:ext cx="8229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ja" sz="1600" u="none" cap="none" strike="noStrike">
                <a:solidFill>
                  <a:srgbClr val="1A1A1A"/>
                </a:solidFill>
                <a:latin typeface="M PLUS 1p"/>
                <a:ea typeface="M PLUS 1p"/>
                <a:cs typeface="M PLUS 1p"/>
                <a:sym typeface="M PLUS 1p"/>
              </a:rPr>
              <a:t>「継続確率を当てる」から「ONB卒業状態をつくる」へ</a:t>
            </a:r>
            <a:endParaRPr b="0" i="0" sz="1600" u="none" cap="none" strike="noStrike">
              <a:solidFill>
                <a:srgbClr val="000000"/>
              </a:solidFill>
              <a:latin typeface="Arial"/>
              <a:ea typeface="Arial"/>
              <a:cs typeface="Arial"/>
              <a:sym typeface="Arial"/>
            </a:endParaRPr>
          </a:p>
        </p:txBody>
      </p:sp>
      <p:sp>
        <p:nvSpPr>
          <p:cNvPr id="70" name="Google Shape;70;p21"/>
          <p:cNvSpPr txBox="1"/>
          <p:nvPr/>
        </p:nvSpPr>
        <p:spPr>
          <a:xfrm>
            <a:off x="457200" y="292608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rgbClr val="434343"/>
                </a:solidFill>
                <a:latin typeface="M PLUS 1p"/>
                <a:ea typeface="M PLUS 1p"/>
                <a:cs typeface="M PLUS 1p"/>
                <a:sym typeface="M PLUS 1p"/>
              </a:rPr>
              <a:t>現状報告と、10月からの現場運用方針の共有</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22"/>
          <p:cNvSpPr/>
          <p:nvPr/>
        </p:nvSpPr>
        <p:spPr>
          <a:xfrm>
            <a:off x="0" y="0"/>
            <a:ext cx="9144000" cy="5028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2"/>
          <p:cNvSpPr/>
          <p:nvPr/>
        </p:nvSpPr>
        <p:spPr>
          <a:xfrm>
            <a:off x="0" y="0"/>
            <a:ext cx="128100" cy="50280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2"/>
          <p:cNvSpPr txBox="1"/>
          <p:nvPr/>
        </p:nvSpPr>
        <p:spPr>
          <a:xfrm>
            <a:off x="274320" y="0"/>
            <a:ext cx="85953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エグゼクティブサマリー｜3Q終了時の理想姿</a:t>
            </a:r>
            <a:endParaRPr b="0" i="0" sz="1500" u="none" cap="none" strike="noStrike">
              <a:solidFill>
                <a:srgbClr val="000000"/>
              </a:solidFill>
              <a:latin typeface="Arial"/>
              <a:ea typeface="Arial"/>
              <a:cs typeface="Arial"/>
              <a:sym typeface="Arial"/>
            </a:endParaRPr>
          </a:p>
        </p:txBody>
      </p:sp>
      <p:sp>
        <p:nvSpPr>
          <p:cNvPr id="79" name="Google Shape;79;p22"/>
          <p:cNvSpPr txBox="1"/>
          <p:nvPr/>
        </p:nvSpPr>
        <p:spPr>
          <a:xfrm>
            <a:off x="274320" y="4846320"/>
            <a:ext cx="1097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80" name="Google Shape;80;p22"/>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81" name="Google Shape;81;p22"/>
          <p:cNvSpPr txBox="1"/>
          <p:nvPr/>
        </p:nvSpPr>
        <p:spPr>
          <a:xfrm>
            <a:off x="8549640" y="4846320"/>
            <a:ext cx="3657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2</a:t>
            </a:r>
            <a:endParaRPr b="0" i="0" sz="800" u="none" cap="none" strike="noStrike">
              <a:solidFill>
                <a:srgbClr val="000000"/>
              </a:solidFill>
              <a:latin typeface="Arial"/>
              <a:ea typeface="Arial"/>
              <a:cs typeface="Arial"/>
              <a:sym typeface="Arial"/>
            </a:endParaRPr>
          </a:p>
        </p:txBody>
      </p:sp>
      <p:sp>
        <p:nvSpPr>
          <p:cNvPr id="82" name="Google Shape;82;p22"/>
          <p:cNvSpPr txBox="1"/>
          <p:nvPr/>
        </p:nvSpPr>
        <p:spPr>
          <a:xfrm>
            <a:off x="274320" y="621792"/>
            <a:ext cx="8595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①スコアリングを中心にオンボの業務を革命し、②入口（SDR）と出口（CIM）の「繋ぎ目の負」を解消する。</a:t>
            </a:r>
            <a:endParaRPr b="0" i="0" sz="1150" u="none" cap="none" strike="noStrike">
              <a:solidFill>
                <a:srgbClr val="4A86E8"/>
              </a:solidFill>
              <a:latin typeface="Arial"/>
              <a:ea typeface="Arial"/>
              <a:cs typeface="Arial"/>
              <a:sym typeface="Arial"/>
            </a:endParaRPr>
          </a:p>
        </p:txBody>
      </p:sp>
      <p:sp>
        <p:nvSpPr>
          <p:cNvPr id="83" name="Google Shape;83;p22"/>
          <p:cNvSpPr/>
          <p:nvPr/>
        </p:nvSpPr>
        <p:spPr>
          <a:xfrm>
            <a:off x="914400" y="1024128"/>
            <a:ext cx="2651700" cy="34740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2"/>
          <p:cNvSpPr txBox="1"/>
          <p:nvPr/>
        </p:nvSpPr>
        <p:spPr>
          <a:xfrm>
            <a:off x="914400" y="1024128"/>
            <a:ext cx="26517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lang="ja" sz="950">
                <a:solidFill>
                  <a:srgbClr val="FFFFFF"/>
                </a:solidFill>
                <a:latin typeface="M PLUS 1p"/>
                <a:ea typeface="M PLUS 1p"/>
                <a:cs typeface="M PLUS 1p"/>
                <a:sym typeface="M PLUS 1p"/>
              </a:rPr>
              <a:t>SDR</a:t>
            </a:r>
            <a:endParaRPr b="0" i="0" sz="950" u="none" cap="none" strike="noStrike">
              <a:solidFill>
                <a:srgbClr val="000000"/>
              </a:solidFill>
              <a:latin typeface="Arial"/>
              <a:ea typeface="Arial"/>
              <a:cs typeface="Arial"/>
              <a:sym typeface="Arial"/>
            </a:endParaRPr>
          </a:p>
        </p:txBody>
      </p:sp>
      <p:sp>
        <p:nvSpPr>
          <p:cNvPr id="85" name="Google Shape;85;p22"/>
          <p:cNvSpPr/>
          <p:nvPr/>
        </p:nvSpPr>
        <p:spPr>
          <a:xfrm>
            <a:off x="3547872" y="1106424"/>
            <a:ext cx="128100" cy="183000"/>
          </a:xfrm>
          <a:prstGeom prst="rightArrow">
            <a:avLst>
              <a:gd fmla="val 50000" name="adj1"/>
              <a:gd fmla="val 50000" name="adj2"/>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2"/>
          <p:cNvSpPr/>
          <p:nvPr/>
        </p:nvSpPr>
        <p:spPr>
          <a:xfrm>
            <a:off x="3657600" y="1024128"/>
            <a:ext cx="2651700" cy="3474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nvSpPr>
        <p:spPr>
          <a:xfrm>
            <a:off x="3657600" y="1024128"/>
            <a:ext cx="26517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ONB</a:t>
            </a:r>
            <a:endParaRPr b="0" i="0" sz="950" u="none" cap="none" strike="noStrike">
              <a:solidFill>
                <a:srgbClr val="000000"/>
              </a:solidFill>
              <a:latin typeface="Arial"/>
              <a:ea typeface="Arial"/>
              <a:cs typeface="Arial"/>
              <a:sym typeface="Arial"/>
            </a:endParaRPr>
          </a:p>
        </p:txBody>
      </p:sp>
      <p:sp>
        <p:nvSpPr>
          <p:cNvPr id="88" name="Google Shape;88;p22"/>
          <p:cNvSpPr/>
          <p:nvPr/>
        </p:nvSpPr>
        <p:spPr>
          <a:xfrm>
            <a:off x="6291072" y="1106424"/>
            <a:ext cx="128100" cy="183000"/>
          </a:xfrm>
          <a:prstGeom prst="rightArrow">
            <a:avLst>
              <a:gd fmla="val 50000" name="adj1"/>
              <a:gd fmla="val 50000" name="adj2"/>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2"/>
          <p:cNvSpPr/>
          <p:nvPr/>
        </p:nvSpPr>
        <p:spPr>
          <a:xfrm>
            <a:off x="6400800" y="1024128"/>
            <a:ext cx="2651700" cy="34740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2"/>
          <p:cNvSpPr txBox="1"/>
          <p:nvPr/>
        </p:nvSpPr>
        <p:spPr>
          <a:xfrm>
            <a:off x="6400800" y="1024128"/>
            <a:ext cx="26517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lang="ja" sz="950">
                <a:solidFill>
                  <a:srgbClr val="FFFFFF"/>
                </a:solidFill>
                <a:latin typeface="M PLUS 1p"/>
                <a:ea typeface="M PLUS 1p"/>
                <a:cs typeface="M PLUS 1p"/>
                <a:sym typeface="M PLUS 1p"/>
              </a:rPr>
              <a:t>CIM</a:t>
            </a:r>
            <a:endParaRPr b="0" i="0" sz="950" u="none" cap="none" strike="noStrike">
              <a:solidFill>
                <a:srgbClr val="000000"/>
              </a:solidFill>
              <a:latin typeface="Arial"/>
              <a:ea typeface="Arial"/>
              <a:cs typeface="Arial"/>
              <a:sym typeface="Arial"/>
            </a:endParaRPr>
          </a:p>
        </p:txBody>
      </p:sp>
      <p:sp>
        <p:nvSpPr>
          <p:cNvPr id="91" name="Google Shape;91;p22"/>
          <p:cNvSpPr/>
          <p:nvPr/>
        </p:nvSpPr>
        <p:spPr>
          <a:xfrm>
            <a:off x="274320" y="1426464"/>
            <a:ext cx="594300" cy="87780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2"/>
          <p:cNvSpPr txBox="1"/>
          <p:nvPr/>
        </p:nvSpPr>
        <p:spPr>
          <a:xfrm>
            <a:off x="274320" y="1426464"/>
            <a:ext cx="594300" cy="877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FFFFFF"/>
                </a:solidFill>
                <a:latin typeface="M PLUS 1p"/>
                <a:ea typeface="M PLUS 1p"/>
                <a:cs typeface="M PLUS 1p"/>
                <a:sym typeface="M PLUS 1p"/>
              </a:rPr>
              <a:t>As-Is</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FFFFFF"/>
                </a:solidFill>
                <a:latin typeface="M PLUS 1p"/>
                <a:ea typeface="M PLUS 1p"/>
                <a:cs typeface="M PLUS 1p"/>
                <a:sym typeface="M PLUS 1p"/>
              </a:rPr>
              <a:t>現状</a:t>
            </a:r>
            <a:endParaRPr b="0" i="0" sz="850" u="none" cap="none" strike="noStrike">
              <a:solidFill>
                <a:srgbClr val="000000"/>
              </a:solidFill>
              <a:latin typeface="Arial"/>
              <a:ea typeface="Arial"/>
              <a:cs typeface="Arial"/>
              <a:sym typeface="Arial"/>
            </a:endParaRPr>
          </a:p>
        </p:txBody>
      </p:sp>
      <p:sp>
        <p:nvSpPr>
          <p:cNvPr id="93" name="Google Shape;93;p22"/>
          <p:cNvSpPr/>
          <p:nvPr/>
        </p:nvSpPr>
        <p:spPr>
          <a:xfrm>
            <a:off x="914400" y="1426464"/>
            <a:ext cx="2651700" cy="87780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2"/>
          <p:cNvSpPr txBox="1"/>
          <p:nvPr/>
        </p:nvSpPr>
        <p:spPr>
          <a:xfrm>
            <a:off x="1005840" y="1472184"/>
            <a:ext cx="2469000" cy="786300"/>
          </a:xfrm>
          <a:prstGeom prst="rect">
            <a:avLst/>
          </a:prstGeom>
          <a:noFill/>
          <a:ln>
            <a:noFill/>
          </a:ln>
        </p:spPr>
        <p:txBody>
          <a:bodyPr anchorCtr="0" anchor="t" bIns="0" lIns="0" spcFirstLastPara="1" rIns="0" wrap="square" tIns="0">
            <a:noAutofit/>
          </a:bodyPr>
          <a:lstStyle/>
          <a:p>
            <a:pPr indent="-101600" lvl="0" marL="101600" marR="0" rtl="0" algn="l">
              <a:lnSpc>
                <a:spcPct val="100000"/>
              </a:lnSpc>
              <a:spcBef>
                <a:spcPts val="0"/>
              </a:spcBef>
              <a:spcAft>
                <a:spcPts val="0"/>
              </a:spcAft>
              <a:buClr>
                <a:srgbClr val="000000"/>
              </a:buClr>
              <a:buSzPts val="800"/>
              <a:buFont typeface="Arial"/>
              <a:buChar char="•"/>
            </a:pPr>
            <a:r>
              <a:rPr b="0" i="0" lang="ja" sz="800" u="none" cap="none" strike="noStrike">
                <a:solidFill>
                  <a:srgbClr val="434343"/>
                </a:solidFill>
                <a:latin typeface="M PLUS 1p"/>
                <a:ea typeface="M PLUS 1p"/>
                <a:cs typeface="M PLUS 1p"/>
                <a:sym typeface="M PLUS 1p"/>
              </a:rPr>
              <a:t>掲載までしか責任を負わない構造</a:t>
            </a:r>
            <a:endParaRPr b="0" i="0" sz="800" u="none" cap="none" strike="noStrike">
              <a:solidFill>
                <a:srgbClr val="000000"/>
              </a:solidFill>
              <a:latin typeface="Arial"/>
              <a:ea typeface="Arial"/>
              <a:cs typeface="Arial"/>
              <a:sym typeface="Arial"/>
            </a:endParaRPr>
          </a:p>
          <a:p>
            <a:pPr indent="-101600" lvl="0" marL="101600" marR="0" rtl="0" algn="l">
              <a:lnSpc>
                <a:spcPct val="100000"/>
              </a:lnSpc>
              <a:spcBef>
                <a:spcPts val="400"/>
              </a:spcBef>
              <a:spcAft>
                <a:spcPts val="0"/>
              </a:spcAft>
              <a:buClr>
                <a:srgbClr val="000000"/>
              </a:buClr>
              <a:buSzPts val="800"/>
              <a:buFont typeface="Arial"/>
              <a:buChar char="•"/>
            </a:pPr>
            <a:r>
              <a:rPr b="0" i="0" lang="ja" sz="800" u="none" cap="none" strike="noStrike">
                <a:solidFill>
                  <a:srgbClr val="434343"/>
                </a:solidFill>
                <a:latin typeface="M PLUS 1p"/>
                <a:ea typeface="M PLUS 1p"/>
                <a:cs typeface="M PLUS 1p"/>
                <a:sym typeface="M PLUS 1p"/>
              </a:rPr>
              <a:t>クレーム処理や継続できない案件が多く、ONBの負担が増えている</a:t>
            </a:r>
            <a:endParaRPr b="0" i="0" sz="800" u="none" cap="none" strike="noStrike">
              <a:solidFill>
                <a:srgbClr val="000000"/>
              </a:solidFill>
              <a:latin typeface="Arial"/>
              <a:ea typeface="Arial"/>
              <a:cs typeface="Arial"/>
              <a:sym typeface="Arial"/>
            </a:endParaRPr>
          </a:p>
          <a:p>
            <a:pPr indent="-101600" lvl="0" marL="101600" marR="0" rtl="0" algn="l">
              <a:lnSpc>
                <a:spcPct val="100000"/>
              </a:lnSpc>
              <a:spcBef>
                <a:spcPts val="400"/>
              </a:spcBef>
              <a:spcAft>
                <a:spcPts val="0"/>
              </a:spcAft>
              <a:buClr>
                <a:srgbClr val="000000"/>
              </a:buClr>
              <a:buSzPts val="800"/>
              <a:buFont typeface="Arial"/>
              <a:buChar char="•"/>
            </a:pPr>
            <a:r>
              <a:rPr b="0" i="0" lang="ja" sz="800" u="none" cap="none" strike="noStrike">
                <a:solidFill>
                  <a:srgbClr val="434343"/>
                </a:solidFill>
                <a:latin typeface="M PLUS 1p"/>
                <a:ea typeface="M PLUS 1p"/>
                <a:cs typeface="M PLUS 1p"/>
                <a:sym typeface="M PLUS 1p"/>
              </a:rPr>
              <a:t>定性的な引き継ぎ情報がない</a:t>
            </a:r>
            <a:endParaRPr b="0" i="0" sz="800" u="none" cap="none" strike="noStrike">
              <a:solidFill>
                <a:srgbClr val="000000"/>
              </a:solidFill>
              <a:latin typeface="Arial"/>
              <a:ea typeface="Arial"/>
              <a:cs typeface="Arial"/>
              <a:sym typeface="Arial"/>
            </a:endParaRPr>
          </a:p>
        </p:txBody>
      </p:sp>
      <p:sp>
        <p:nvSpPr>
          <p:cNvPr id="95" name="Google Shape;95;p22"/>
          <p:cNvSpPr/>
          <p:nvPr/>
        </p:nvSpPr>
        <p:spPr>
          <a:xfrm>
            <a:off x="3657600" y="1426464"/>
            <a:ext cx="2651700" cy="87780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2"/>
          <p:cNvSpPr txBox="1"/>
          <p:nvPr/>
        </p:nvSpPr>
        <p:spPr>
          <a:xfrm>
            <a:off x="3749040" y="1472184"/>
            <a:ext cx="2469000" cy="786300"/>
          </a:xfrm>
          <a:prstGeom prst="rect">
            <a:avLst/>
          </a:prstGeom>
          <a:noFill/>
          <a:ln>
            <a:noFill/>
          </a:ln>
        </p:spPr>
        <p:txBody>
          <a:bodyPr anchorCtr="0" anchor="t" bIns="0" lIns="0" spcFirstLastPara="1" rIns="0" wrap="square" tIns="0">
            <a:noAutofit/>
          </a:bodyPr>
          <a:lstStyle/>
          <a:p>
            <a:pPr indent="-101600" lvl="0" marL="101600" marR="0" rtl="0" algn="l">
              <a:lnSpc>
                <a:spcPct val="100000"/>
              </a:lnSpc>
              <a:spcBef>
                <a:spcPts val="0"/>
              </a:spcBef>
              <a:spcAft>
                <a:spcPts val="0"/>
              </a:spcAft>
              <a:buClr>
                <a:srgbClr val="000000"/>
              </a:buClr>
              <a:buSzPts val="800"/>
              <a:buFont typeface="Arial"/>
              <a:buChar char="•"/>
            </a:pPr>
            <a:r>
              <a:rPr b="0" i="0" lang="ja" sz="800" u="none" cap="none" strike="noStrike">
                <a:solidFill>
                  <a:srgbClr val="434343"/>
                </a:solidFill>
                <a:latin typeface="M PLUS 1p"/>
                <a:ea typeface="M PLUS 1p"/>
                <a:cs typeface="M PLUS 1p"/>
                <a:sym typeface="M PLUS 1p"/>
              </a:rPr>
              <a:t>翌月継続を、翌月に追客でゴリゴリ追っている</a:t>
            </a:r>
            <a:endParaRPr b="0" i="0" sz="800" u="none" cap="none" strike="noStrike">
              <a:solidFill>
                <a:srgbClr val="000000"/>
              </a:solidFill>
              <a:latin typeface="Arial"/>
              <a:ea typeface="Arial"/>
              <a:cs typeface="Arial"/>
              <a:sym typeface="Arial"/>
            </a:endParaRPr>
          </a:p>
          <a:p>
            <a:pPr indent="-101600" lvl="0" marL="101600" marR="0" rtl="0" algn="l">
              <a:lnSpc>
                <a:spcPct val="100000"/>
              </a:lnSpc>
              <a:spcBef>
                <a:spcPts val="400"/>
              </a:spcBef>
              <a:spcAft>
                <a:spcPts val="0"/>
              </a:spcAft>
              <a:buClr>
                <a:srgbClr val="000000"/>
              </a:buClr>
              <a:buSzPts val="800"/>
              <a:buFont typeface="Arial"/>
              <a:buChar char="•"/>
            </a:pPr>
            <a:r>
              <a:rPr b="0" i="0" lang="ja" sz="800" u="none" cap="none" strike="noStrike">
                <a:solidFill>
                  <a:srgbClr val="434343"/>
                </a:solidFill>
                <a:latin typeface="M PLUS 1p"/>
                <a:ea typeface="M PLUS 1p"/>
                <a:cs typeface="M PLUS 1p"/>
                <a:sym typeface="M PLUS 1p"/>
              </a:rPr>
              <a:t>ABヨミ・予定日・接触状況を日次で管理し、月末まで積み上げる</a:t>
            </a:r>
            <a:endParaRPr b="0" i="0" sz="800" u="none" cap="none" strike="noStrike">
              <a:solidFill>
                <a:srgbClr val="000000"/>
              </a:solidFill>
              <a:latin typeface="Arial"/>
              <a:ea typeface="Arial"/>
              <a:cs typeface="Arial"/>
              <a:sym typeface="Arial"/>
            </a:endParaRPr>
          </a:p>
          <a:p>
            <a:pPr indent="-101600" lvl="0" marL="101600" marR="0" rtl="0" algn="l">
              <a:lnSpc>
                <a:spcPct val="100000"/>
              </a:lnSpc>
              <a:spcBef>
                <a:spcPts val="400"/>
              </a:spcBef>
              <a:spcAft>
                <a:spcPts val="0"/>
              </a:spcAft>
              <a:buClr>
                <a:srgbClr val="000000"/>
              </a:buClr>
              <a:buSzPts val="800"/>
              <a:buFont typeface="Arial"/>
              <a:buChar char="•"/>
            </a:pPr>
            <a:r>
              <a:rPr b="0" i="0" lang="ja" sz="800" u="none" cap="none" strike="noStrike">
                <a:solidFill>
                  <a:srgbClr val="434343"/>
                </a:solidFill>
                <a:latin typeface="M PLUS 1p"/>
                <a:ea typeface="M PLUS 1p"/>
                <a:cs typeface="M PLUS 1p"/>
                <a:sym typeface="M PLUS 1p"/>
              </a:rPr>
              <a:t>管理負荷が高く、構造としてスケールしづらい</a:t>
            </a:r>
            <a:endParaRPr b="0" i="0" sz="800" u="none" cap="none" strike="noStrike">
              <a:solidFill>
                <a:srgbClr val="000000"/>
              </a:solidFill>
              <a:latin typeface="Arial"/>
              <a:ea typeface="Arial"/>
              <a:cs typeface="Arial"/>
              <a:sym typeface="Arial"/>
            </a:endParaRPr>
          </a:p>
        </p:txBody>
      </p:sp>
      <p:sp>
        <p:nvSpPr>
          <p:cNvPr id="97" name="Google Shape;97;p22"/>
          <p:cNvSpPr/>
          <p:nvPr/>
        </p:nvSpPr>
        <p:spPr>
          <a:xfrm>
            <a:off x="6400800" y="1426464"/>
            <a:ext cx="2651700" cy="87780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2"/>
          <p:cNvSpPr txBox="1"/>
          <p:nvPr/>
        </p:nvSpPr>
        <p:spPr>
          <a:xfrm>
            <a:off x="6492240" y="1472184"/>
            <a:ext cx="2469000" cy="786300"/>
          </a:xfrm>
          <a:prstGeom prst="rect">
            <a:avLst/>
          </a:prstGeom>
          <a:noFill/>
          <a:ln>
            <a:noFill/>
          </a:ln>
        </p:spPr>
        <p:txBody>
          <a:bodyPr anchorCtr="0" anchor="t" bIns="0" lIns="0" spcFirstLastPara="1" rIns="0" wrap="square" tIns="0">
            <a:noAutofit/>
          </a:bodyPr>
          <a:lstStyle/>
          <a:p>
            <a:pPr indent="-101600" lvl="0" marL="101600" marR="0" rtl="0" algn="l">
              <a:lnSpc>
                <a:spcPct val="100000"/>
              </a:lnSpc>
              <a:spcBef>
                <a:spcPts val="0"/>
              </a:spcBef>
              <a:spcAft>
                <a:spcPts val="0"/>
              </a:spcAft>
              <a:buClr>
                <a:srgbClr val="000000"/>
              </a:buClr>
              <a:buSzPts val="800"/>
              <a:buFont typeface="Arial"/>
              <a:buChar char="•"/>
            </a:pPr>
            <a:r>
              <a:rPr b="0" i="0" lang="ja" sz="800" u="none" cap="none" strike="noStrike">
                <a:solidFill>
                  <a:srgbClr val="434343"/>
                </a:solidFill>
                <a:latin typeface="M PLUS 1p"/>
                <a:ea typeface="M PLUS 1p"/>
                <a:cs typeface="M PLUS 1p"/>
                <a:sym typeface="M PLUS 1p"/>
              </a:rPr>
              <a:t>売上上位のみで50社程度を移管。1店舗しか売上がない企業も含まれる</a:t>
            </a:r>
            <a:endParaRPr b="0" i="0" sz="800" u="none" cap="none" strike="noStrike">
              <a:solidFill>
                <a:srgbClr val="000000"/>
              </a:solidFill>
              <a:latin typeface="Arial"/>
              <a:ea typeface="Arial"/>
              <a:cs typeface="Arial"/>
              <a:sym typeface="Arial"/>
            </a:endParaRPr>
          </a:p>
          <a:p>
            <a:pPr indent="-101600" lvl="0" marL="101600" marR="0" rtl="0" algn="l">
              <a:lnSpc>
                <a:spcPct val="100000"/>
              </a:lnSpc>
              <a:spcBef>
                <a:spcPts val="400"/>
              </a:spcBef>
              <a:spcAft>
                <a:spcPts val="0"/>
              </a:spcAft>
              <a:buClr>
                <a:srgbClr val="000000"/>
              </a:buClr>
              <a:buSzPts val="800"/>
              <a:buFont typeface="Arial"/>
              <a:buChar char="•"/>
            </a:pPr>
            <a:r>
              <a:rPr b="0" i="0" lang="ja" sz="800" u="none" cap="none" strike="noStrike">
                <a:solidFill>
                  <a:srgbClr val="434343"/>
                </a:solidFill>
                <a:latin typeface="M PLUS 1p"/>
                <a:ea typeface="M PLUS 1p"/>
                <a:cs typeface="M PLUS 1p"/>
                <a:sym typeface="M PLUS 1p"/>
              </a:rPr>
              <a:t>現場から「今がMAXで拡張できない企業が多い」との声。売上毀損も発生</a:t>
            </a:r>
            <a:endParaRPr b="0" i="0" sz="800" u="none" cap="none" strike="noStrike">
              <a:solidFill>
                <a:srgbClr val="000000"/>
              </a:solidFill>
              <a:latin typeface="Arial"/>
              <a:ea typeface="Arial"/>
              <a:cs typeface="Arial"/>
              <a:sym typeface="Arial"/>
            </a:endParaRPr>
          </a:p>
        </p:txBody>
      </p:sp>
      <p:sp>
        <p:nvSpPr>
          <p:cNvPr id="99" name="Google Shape;99;p22"/>
          <p:cNvSpPr/>
          <p:nvPr/>
        </p:nvSpPr>
        <p:spPr>
          <a:xfrm>
            <a:off x="274320" y="2359152"/>
            <a:ext cx="594300" cy="813900"/>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2"/>
          <p:cNvSpPr txBox="1"/>
          <p:nvPr/>
        </p:nvSpPr>
        <p:spPr>
          <a:xfrm>
            <a:off x="274320" y="2359152"/>
            <a:ext cx="594300" cy="81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To-Be</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Phase 1</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1A1A1A"/>
                </a:solidFill>
                <a:latin typeface="M PLUS 1p"/>
                <a:ea typeface="M PLUS 1p"/>
                <a:cs typeface="M PLUS 1p"/>
                <a:sym typeface="M PLUS 1p"/>
              </a:rPr>
              <a:t>10月〜</a:t>
            </a:r>
            <a:endParaRPr b="0" i="0" sz="850" u="none" cap="none" strike="noStrike">
              <a:solidFill>
                <a:srgbClr val="000000"/>
              </a:solidFill>
              <a:latin typeface="Arial"/>
              <a:ea typeface="Arial"/>
              <a:cs typeface="Arial"/>
              <a:sym typeface="Arial"/>
            </a:endParaRPr>
          </a:p>
        </p:txBody>
      </p:sp>
      <p:sp>
        <p:nvSpPr>
          <p:cNvPr id="101" name="Google Shape;101;p22"/>
          <p:cNvSpPr/>
          <p:nvPr/>
        </p:nvSpPr>
        <p:spPr>
          <a:xfrm>
            <a:off x="914400" y="2359152"/>
            <a:ext cx="2651700" cy="813900"/>
          </a:xfrm>
          <a:prstGeom prst="rect">
            <a:avLst/>
          </a:prstGeom>
          <a:solidFill>
            <a:srgbClr val="FFF2CC"/>
          </a:solidFill>
          <a:ln cap="flat" cmpd="sng" w="1905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2"/>
          <p:cNvSpPr txBox="1"/>
          <p:nvPr/>
        </p:nvSpPr>
        <p:spPr>
          <a:xfrm>
            <a:off x="1005840" y="2404872"/>
            <a:ext cx="2469000" cy="722400"/>
          </a:xfrm>
          <a:prstGeom prst="rect">
            <a:avLst/>
          </a:prstGeom>
          <a:noFill/>
          <a:ln>
            <a:noFill/>
          </a:ln>
        </p:spPr>
        <p:txBody>
          <a:bodyPr anchorCtr="0" anchor="t" bIns="0" lIns="0" spcFirstLastPara="1" rIns="0" wrap="square" tIns="0">
            <a:noAutofit/>
          </a:bodyPr>
          <a:lstStyle/>
          <a:p>
            <a:pPr indent="0" lvl="0" marL="0" rtl="0" algn="l">
              <a:spcBef>
                <a:spcPts val="400"/>
              </a:spcBef>
              <a:spcAft>
                <a:spcPts val="0"/>
              </a:spcAft>
              <a:buClr>
                <a:schemeClr val="dk1"/>
              </a:buClr>
              <a:buSzPts val="800"/>
              <a:buFont typeface="Arial"/>
              <a:buNone/>
            </a:pPr>
            <a:r>
              <a:rPr b="1" lang="ja" sz="800">
                <a:solidFill>
                  <a:srgbClr val="1A1A1A"/>
                </a:solidFill>
                <a:latin typeface="M PLUS 1p"/>
                <a:ea typeface="M PLUS 1p"/>
                <a:cs typeface="M PLUS 1p"/>
                <a:sym typeface="M PLUS 1p"/>
              </a:rPr>
              <a:t>引き継ぎ　</a:t>
            </a:r>
            <a:br>
              <a:rPr b="1" lang="ja" sz="800">
                <a:solidFill>
                  <a:srgbClr val="1A1A1A"/>
                </a:solidFill>
                <a:latin typeface="M PLUS 1p"/>
                <a:ea typeface="M PLUS 1p"/>
                <a:cs typeface="M PLUS 1p"/>
                <a:sym typeface="M PLUS 1p"/>
              </a:rPr>
            </a:br>
            <a:r>
              <a:rPr lang="ja" sz="800">
                <a:solidFill>
                  <a:srgbClr val="1A1A1A"/>
                </a:solidFill>
                <a:latin typeface="M PLUS 1p"/>
                <a:ea typeface="M PLUS 1p"/>
                <a:cs typeface="M PLUS 1p"/>
                <a:sym typeface="M PLUS 1p"/>
              </a:rPr>
              <a:t>定性的な引き継ぎをスプシで新設</a:t>
            </a:r>
            <a:endParaRPr sz="800">
              <a:solidFill>
                <a:schemeClr val="dk1"/>
              </a:solidFill>
            </a:endParaRPr>
          </a:p>
          <a:p>
            <a:pPr indent="0" lvl="0" marL="0" rtl="0" algn="l">
              <a:spcBef>
                <a:spcPts val="400"/>
              </a:spcBef>
              <a:spcAft>
                <a:spcPts val="0"/>
              </a:spcAft>
              <a:buClr>
                <a:schemeClr val="dk1"/>
              </a:buClr>
              <a:buSzPts val="800"/>
              <a:buFont typeface="Arial"/>
              <a:buNone/>
            </a:pPr>
            <a:r>
              <a:t/>
            </a:r>
            <a:endParaRPr sz="800">
              <a:solidFill>
                <a:srgbClr val="1A1A1A"/>
              </a:solidFill>
              <a:latin typeface="M PLUS 1p"/>
              <a:ea typeface="M PLUS 1p"/>
              <a:cs typeface="M PLUS 1p"/>
              <a:sym typeface="M PLUS 1p"/>
            </a:endParaRPr>
          </a:p>
        </p:txBody>
      </p:sp>
      <p:sp>
        <p:nvSpPr>
          <p:cNvPr id="103" name="Google Shape;103;p22"/>
          <p:cNvSpPr/>
          <p:nvPr/>
        </p:nvSpPr>
        <p:spPr>
          <a:xfrm>
            <a:off x="3657600" y="2359152"/>
            <a:ext cx="2651700" cy="813900"/>
          </a:xfrm>
          <a:prstGeom prst="rect">
            <a:avLst/>
          </a:prstGeom>
          <a:solidFill>
            <a:srgbClr val="FFF6D9"/>
          </a:solidFill>
          <a:ln cap="flat" cmpd="sng" w="1905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2"/>
          <p:cNvSpPr txBox="1"/>
          <p:nvPr/>
        </p:nvSpPr>
        <p:spPr>
          <a:xfrm>
            <a:off x="3749040" y="2404872"/>
            <a:ext cx="2469000" cy="72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当月新規に注力　</a:t>
            </a:r>
            <a:endParaRPr b="1" i="0" sz="80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800"/>
              <a:buFont typeface="Arial"/>
              <a:buNone/>
            </a:pPr>
            <a:r>
              <a:rPr lang="ja" sz="800">
                <a:solidFill>
                  <a:srgbClr val="1A1A1A"/>
                </a:solidFill>
                <a:latin typeface="M PLUS 1p"/>
                <a:ea typeface="M PLUS 1p"/>
                <a:cs typeface="M PLUS 1p"/>
                <a:sym typeface="M PLUS 1p"/>
              </a:rPr>
              <a:t>当月ONB卒業スコアリングを運用し、結果として翌月継続率を引き上げる</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ゴール　</a:t>
            </a:r>
            <a:br>
              <a:rPr b="1" lang="ja" sz="800">
                <a:solidFill>
                  <a:srgbClr val="1A1A1A"/>
                </a:solidFill>
                <a:latin typeface="M PLUS 1p"/>
                <a:ea typeface="M PLUS 1p"/>
                <a:cs typeface="M PLUS 1p"/>
                <a:sym typeface="M PLUS 1p"/>
              </a:rPr>
            </a:br>
            <a:r>
              <a:rPr b="0" i="0" lang="ja" sz="800" u="none" cap="none" strike="noStrike">
                <a:solidFill>
                  <a:srgbClr val="1A1A1A"/>
                </a:solidFill>
                <a:latin typeface="M PLUS 1p"/>
                <a:ea typeface="M PLUS 1p"/>
                <a:cs typeface="M PLUS 1p"/>
                <a:sym typeface="M PLUS 1p"/>
              </a:rPr>
              <a:t>翌月継続率 12月に70%</a:t>
            </a:r>
            <a:endParaRPr b="0" i="0" sz="800" u="none" cap="none" strike="noStrike">
              <a:solidFill>
                <a:srgbClr val="000000"/>
              </a:solidFill>
              <a:latin typeface="Arial"/>
              <a:ea typeface="Arial"/>
              <a:cs typeface="Arial"/>
              <a:sym typeface="Arial"/>
            </a:endParaRPr>
          </a:p>
        </p:txBody>
      </p:sp>
      <p:sp>
        <p:nvSpPr>
          <p:cNvPr id="105" name="Google Shape;105;p22"/>
          <p:cNvSpPr/>
          <p:nvPr/>
        </p:nvSpPr>
        <p:spPr>
          <a:xfrm>
            <a:off x="6400800" y="2359152"/>
            <a:ext cx="2651700" cy="813900"/>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2"/>
          <p:cNvSpPr txBox="1"/>
          <p:nvPr/>
        </p:nvSpPr>
        <p:spPr>
          <a:xfrm>
            <a:off x="6492240" y="2404872"/>
            <a:ext cx="2469000" cy="72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1A1A1A"/>
                </a:solidFill>
                <a:latin typeface="M PLUS 1p"/>
                <a:ea typeface="M PLUS 1p"/>
                <a:cs typeface="M PLUS 1p"/>
                <a:sym typeface="M PLUS 1p"/>
              </a:rPr>
              <a:t>現行の移管基準（売上上位）を継続しつつ、移管後の状態を確認（Phase 2の評価軸の材料）</a:t>
            </a:r>
            <a:endParaRPr b="0" i="0" sz="800" u="none" cap="none" strike="noStrike">
              <a:solidFill>
                <a:srgbClr val="000000"/>
              </a:solidFill>
              <a:latin typeface="Arial"/>
              <a:ea typeface="Arial"/>
              <a:cs typeface="Arial"/>
              <a:sym typeface="Arial"/>
            </a:endParaRPr>
          </a:p>
        </p:txBody>
      </p:sp>
      <p:sp>
        <p:nvSpPr>
          <p:cNvPr id="107" name="Google Shape;107;p22"/>
          <p:cNvSpPr/>
          <p:nvPr/>
        </p:nvSpPr>
        <p:spPr>
          <a:xfrm>
            <a:off x="274320" y="3227832"/>
            <a:ext cx="594300" cy="10608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2"/>
          <p:cNvSpPr txBox="1"/>
          <p:nvPr/>
        </p:nvSpPr>
        <p:spPr>
          <a:xfrm>
            <a:off x="274320" y="3227832"/>
            <a:ext cx="594300" cy="106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To-Be</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Phase 2</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1A1A1A"/>
                </a:solidFill>
                <a:latin typeface="M PLUS 1p"/>
                <a:ea typeface="M PLUS 1p"/>
                <a:cs typeface="M PLUS 1p"/>
                <a:sym typeface="M PLUS 1p"/>
              </a:rPr>
              <a:t>11月以降</a:t>
            </a:r>
            <a:endParaRPr b="0" i="0" sz="850" u="none" cap="none" strike="noStrike">
              <a:solidFill>
                <a:srgbClr val="000000"/>
              </a:solidFill>
              <a:latin typeface="Arial"/>
              <a:ea typeface="Arial"/>
              <a:cs typeface="Arial"/>
              <a:sym typeface="Arial"/>
            </a:endParaRPr>
          </a:p>
        </p:txBody>
      </p:sp>
      <p:sp>
        <p:nvSpPr>
          <p:cNvPr id="109" name="Google Shape;109;p22"/>
          <p:cNvSpPr/>
          <p:nvPr/>
        </p:nvSpPr>
        <p:spPr>
          <a:xfrm>
            <a:off x="914400" y="3227832"/>
            <a:ext cx="2651700" cy="1060800"/>
          </a:xfrm>
          <a:prstGeom prst="rect">
            <a:avLst/>
          </a:prstGeom>
          <a:solidFill>
            <a:srgbClr val="FFF2CC"/>
          </a:solidFill>
          <a:ln cap="flat" cmpd="sng" w="1905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2"/>
          <p:cNvSpPr txBox="1"/>
          <p:nvPr/>
        </p:nvSpPr>
        <p:spPr>
          <a:xfrm>
            <a:off x="1005840" y="3273552"/>
            <a:ext cx="2469000" cy="96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KPI　</a:t>
            </a:r>
            <a:br>
              <a:rPr b="1" i="0" lang="ja" sz="800" u="none" cap="none" strike="noStrike">
                <a:solidFill>
                  <a:srgbClr val="1A1A1A"/>
                </a:solidFill>
                <a:latin typeface="M PLUS 1p"/>
                <a:ea typeface="M PLUS 1p"/>
                <a:cs typeface="M PLUS 1p"/>
                <a:sym typeface="M PLUS 1p"/>
              </a:rPr>
            </a:br>
            <a:r>
              <a:rPr b="0" i="0" lang="ja" sz="800" u="none" cap="none" strike="noStrike">
                <a:solidFill>
                  <a:srgbClr val="1A1A1A"/>
                </a:solidFill>
                <a:latin typeface="M PLUS 1p"/>
                <a:ea typeface="M PLUS 1p"/>
                <a:cs typeface="M PLUS 1p"/>
                <a:sym typeface="M PLUS 1p"/>
              </a:rPr>
              <a:t>SDRのKPIを「掲載数</a:t>
            </a:r>
            <a:r>
              <a:rPr lang="ja" sz="800">
                <a:solidFill>
                  <a:srgbClr val="1A1A1A"/>
                </a:solidFill>
                <a:latin typeface="M PLUS 1p"/>
                <a:ea typeface="M PLUS 1p"/>
                <a:cs typeface="M PLUS 1p"/>
                <a:sym typeface="M PLUS 1p"/>
              </a:rPr>
              <a:t>or</a:t>
            </a:r>
            <a:r>
              <a:rPr b="0" i="0" lang="ja" sz="800" u="none" cap="none" strike="noStrike">
                <a:solidFill>
                  <a:srgbClr val="1A1A1A"/>
                </a:solidFill>
                <a:latin typeface="M PLUS 1p"/>
                <a:ea typeface="M PLUS 1p"/>
                <a:cs typeface="M PLUS 1p"/>
                <a:sym typeface="M PLUS 1p"/>
              </a:rPr>
              <a:t>継続率」に変更し、最低品質を担保（翌月継続率60%）</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How　</a:t>
            </a:r>
            <a:br>
              <a:rPr b="1" i="0" lang="ja" sz="800" u="none" cap="none" strike="noStrike">
                <a:solidFill>
                  <a:srgbClr val="1A1A1A"/>
                </a:solidFill>
                <a:latin typeface="M PLUS 1p"/>
                <a:ea typeface="M PLUS 1p"/>
                <a:cs typeface="M PLUS 1p"/>
                <a:sym typeface="M PLUS 1p"/>
              </a:rPr>
            </a:br>
            <a:r>
              <a:rPr b="0" i="0" lang="ja" sz="800" u="none" cap="none" strike="noStrike">
                <a:solidFill>
                  <a:srgbClr val="1A1A1A"/>
                </a:solidFill>
                <a:latin typeface="M PLUS 1p"/>
                <a:ea typeface="M PLUS 1p"/>
                <a:cs typeface="M PLUS 1p"/>
                <a:sym typeface="M PLUS 1p"/>
              </a:rPr>
              <a:t>協賛金・固定費・複数掲載 等</a:t>
            </a:r>
            <a:endParaRPr b="0" i="0" sz="800" u="none" cap="none" strike="noStrike">
              <a:solidFill>
                <a:srgbClr val="000000"/>
              </a:solidFill>
              <a:latin typeface="Arial"/>
              <a:ea typeface="Arial"/>
              <a:cs typeface="Arial"/>
              <a:sym typeface="Arial"/>
            </a:endParaRPr>
          </a:p>
        </p:txBody>
      </p:sp>
      <p:sp>
        <p:nvSpPr>
          <p:cNvPr id="111" name="Google Shape;111;p22"/>
          <p:cNvSpPr/>
          <p:nvPr/>
        </p:nvSpPr>
        <p:spPr>
          <a:xfrm>
            <a:off x="3657600" y="3227832"/>
            <a:ext cx="2651700" cy="1060800"/>
          </a:xfrm>
          <a:prstGeom prst="rect">
            <a:avLst/>
          </a:prstGeom>
          <a:solidFill>
            <a:srgbClr val="FFF6D9"/>
          </a:solidFill>
          <a:ln cap="flat" cmpd="sng" w="1905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2"/>
          <p:cNvSpPr txBox="1"/>
          <p:nvPr/>
        </p:nvSpPr>
        <p:spPr>
          <a:xfrm>
            <a:off x="3749040" y="3273552"/>
            <a:ext cx="2469000" cy="96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保有期間全体へ拡張　</a:t>
            </a:r>
            <a:br>
              <a:rPr b="1" i="0" lang="ja" sz="800" u="none" cap="none" strike="noStrike">
                <a:solidFill>
                  <a:srgbClr val="1A1A1A"/>
                </a:solidFill>
                <a:latin typeface="M PLUS 1p"/>
                <a:ea typeface="M PLUS 1p"/>
                <a:cs typeface="M PLUS 1p"/>
                <a:sym typeface="M PLUS 1p"/>
              </a:rPr>
            </a:br>
            <a:r>
              <a:rPr b="0" i="0" lang="ja" sz="800" u="none" cap="none" strike="noStrike">
                <a:solidFill>
                  <a:srgbClr val="1A1A1A"/>
                </a:solidFill>
                <a:latin typeface="M PLUS 1p"/>
                <a:ea typeface="M PLUS 1p"/>
                <a:cs typeface="M PLUS 1p"/>
                <a:sym typeface="M PLUS 1p"/>
              </a:rPr>
              <a:t>スコアリングをオンボ保有期間全体（〜3ヶ月）に拡張し、繋ぎ目に全注力</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ゴール　</a:t>
            </a:r>
            <a:br>
              <a:rPr b="1" i="0" lang="ja" sz="800" u="none" cap="none" strike="noStrike">
                <a:solidFill>
                  <a:srgbClr val="1A1A1A"/>
                </a:solidFill>
                <a:latin typeface="M PLUS 1p"/>
                <a:ea typeface="M PLUS 1p"/>
                <a:cs typeface="M PLUS 1p"/>
                <a:sym typeface="M PLUS 1p"/>
              </a:rPr>
            </a:br>
            <a:r>
              <a:rPr b="0" i="0" lang="ja" sz="800" u="none" cap="none" strike="noStrike">
                <a:solidFill>
                  <a:srgbClr val="1A1A1A"/>
                </a:solidFill>
                <a:latin typeface="M PLUS 1p"/>
                <a:ea typeface="M PLUS 1p"/>
                <a:cs typeface="M PLUS 1p"/>
                <a:sym typeface="M PLUS 1p"/>
              </a:rPr>
              <a:t>翌月継続と3ヶ月目継続を引き上げる</a:t>
            </a:r>
            <a:endParaRPr b="0" i="0" sz="800" u="none" cap="none" strike="noStrike">
              <a:solidFill>
                <a:srgbClr val="000000"/>
              </a:solidFill>
              <a:latin typeface="Arial"/>
              <a:ea typeface="Arial"/>
              <a:cs typeface="Arial"/>
              <a:sym typeface="Arial"/>
            </a:endParaRPr>
          </a:p>
        </p:txBody>
      </p:sp>
      <p:sp>
        <p:nvSpPr>
          <p:cNvPr id="113" name="Google Shape;113;p22"/>
          <p:cNvSpPr/>
          <p:nvPr/>
        </p:nvSpPr>
        <p:spPr>
          <a:xfrm>
            <a:off x="6400800" y="3227832"/>
            <a:ext cx="2651700" cy="1060800"/>
          </a:xfrm>
          <a:prstGeom prst="rect">
            <a:avLst/>
          </a:prstGeom>
          <a:solidFill>
            <a:srgbClr val="FFF2CC"/>
          </a:solidFill>
          <a:ln cap="flat" cmpd="sng" w="1905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2"/>
          <p:cNvSpPr txBox="1"/>
          <p:nvPr/>
        </p:nvSpPr>
        <p:spPr>
          <a:xfrm>
            <a:off x="6492240" y="3273552"/>
            <a:ext cx="2469000" cy="96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移管の型　</a:t>
            </a:r>
            <a:br>
              <a:rPr b="1" i="0" lang="ja" sz="800" u="none" cap="none" strike="noStrike">
                <a:solidFill>
                  <a:srgbClr val="1A1A1A"/>
                </a:solidFill>
                <a:latin typeface="M PLUS 1p"/>
                <a:ea typeface="M PLUS 1p"/>
                <a:cs typeface="M PLUS 1p"/>
                <a:sym typeface="M PLUS 1p"/>
              </a:rPr>
            </a:br>
            <a:r>
              <a:rPr b="0" i="0" lang="ja" sz="800" u="none" cap="none" strike="noStrike">
                <a:solidFill>
                  <a:srgbClr val="1A1A1A"/>
                </a:solidFill>
                <a:latin typeface="M PLUS 1p"/>
                <a:ea typeface="M PLUS 1p"/>
                <a:cs typeface="M PLUS 1p"/>
                <a:sym typeface="M PLUS 1p"/>
              </a:rPr>
              <a:t>AIを使い毎月移管。CIMメンバー数 × 5〜10社程度</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評価軸　</a:t>
            </a:r>
            <a:br>
              <a:rPr b="1" i="0" lang="ja" sz="800" u="none" cap="none" strike="noStrike">
                <a:solidFill>
                  <a:srgbClr val="1A1A1A"/>
                </a:solidFill>
                <a:latin typeface="M PLUS 1p"/>
                <a:ea typeface="M PLUS 1p"/>
                <a:cs typeface="M PLUS 1p"/>
                <a:sym typeface="M PLUS 1p"/>
              </a:rPr>
            </a:br>
            <a:r>
              <a:rPr b="0" i="0" lang="ja" sz="800" u="none" cap="none" strike="noStrike">
                <a:solidFill>
                  <a:srgbClr val="1A1A1A"/>
                </a:solidFill>
                <a:latin typeface="M PLUS 1p"/>
                <a:ea typeface="M PLUS 1p"/>
                <a:cs typeface="M PLUS 1p"/>
                <a:sym typeface="M PLUS 1p"/>
              </a:rPr>
              <a:t>売上・潜在ポテンシャル（店舗数）・3ヶ月目の状態（トレンドライン）を同じウェイトでAI評価。</a:t>
            </a:r>
            <a:br>
              <a:rPr b="0" i="0" lang="ja" sz="800" u="none" cap="none" strike="noStrike">
                <a:solidFill>
                  <a:srgbClr val="1A1A1A"/>
                </a:solidFill>
                <a:latin typeface="M PLUS 1p"/>
                <a:ea typeface="M PLUS 1p"/>
                <a:cs typeface="M PLUS 1p"/>
                <a:sym typeface="M PLUS 1p"/>
              </a:rPr>
            </a:br>
            <a:r>
              <a:rPr b="0" i="0" lang="ja" sz="800" u="none" cap="none" strike="noStrike">
                <a:solidFill>
                  <a:srgbClr val="1A1A1A"/>
                </a:solidFill>
                <a:latin typeface="M PLUS 1p"/>
                <a:ea typeface="M PLUS 1p"/>
                <a:cs typeface="M PLUS 1p"/>
                <a:sym typeface="M PLUS 1p"/>
              </a:rPr>
              <a:t>トップラインだけで渡さない</a:t>
            </a:r>
            <a:endParaRPr b="0" i="0" sz="800" u="none" cap="none" strike="noStrike">
              <a:solidFill>
                <a:srgbClr val="000000"/>
              </a:solidFill>
              <a:latin typeface="Arial"/>
              <a:ea typeface="Arial"/>
              <a:cs typeface="Arial"/>
              <a:sym typeface="Arial"/>
            </a:endParaRPr>
          </a:p>
        </p:txBody>
      </p:sp>
      <p:sp>
        <p:nvSpPr>
          <p:cNvPr id="115" name="Google Shape;115;p22"/>
          <p:cNvSpPr/>
          <p:nvPr/>
        </p:nvSpPr>
        <p:spPr>
          <a:xfrm>
            <a:off x="274320" y="4361688"/>
            <a:ext cx="8595300" cy="347400"/>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2"/>
          <p:cNvSpPr/>
          <p:nvPr/>
        </p:nvSpPr>
        <p:spPr>
          <a:xfrm>
            <a:off x="274320" y="4361688"/>
            <a:ext cx="73200" cy="3474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txBox="1"/>
          <p:nvPr/>
        </p:nvSpPr>
        <p:spPr>
          <a:xfrm>
            <a:off x="457200" y="4361688"/>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3Q終了時：当月〜3ヶ月のONB保有期間をスコアリングで運用し、入口（SDR）と出口（CIM）の繋ぎ目まで含めて継続率を構造的に上げる状態</a:t>
            </a:r>
            <a:endParaRPr b="0" i="0" sz="1000" u="none" cap="none" strike="noStrike">
              <a:solidFill>
                <a:srgbClr val="000000"/>
              </a:solidFill>
              <a:latin typeface="Arial"/>
              <a:ea typeface="Arial"/>
              <a:cs typeface="Arial"/>
              <a:sym typeface="Arial"/>
            </a:endParaRPr>
          </a:p>
        </p:txBody>
      </p:sp>
      <p:sp>
        <p:nvSpPr>
          <p:cNvPr id="118" name="Google Shape;118;p22"/>
          <p:cNvSpPr txBox="1"/>
          <p:nvPr/>
        </p:nvSpPr>
        <p:spPr>
          <a:xfrm>
            <a:off x="274320" y="4754880"/>
            <a:ext cx="8595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23"/>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3"/>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3"/>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エグゼクティブサマリー｜3Q終了時の理想姿</a:t>
            </a:r>
            <a:endParaRPr b="0" i="0" sz="1500" u="none" cap="none" strike="noStrike">
              <a:solidFill>
                <a:srgbClr val="000000"/>
              </a:solidFill>
              <a:latin typeface="Arial"/>
              <a:ea typeface="Arial"/>
              <a:cs typeface="Arial"/>
              <a:sym typeface="Arial"/>
            </a:endParaRPr>
          </a:p>
        </p:txBody>
      </p:sp>
      <p:sp>
        <p:nvSpPr>
          <p:cNvPr id="127" name="Google Shape;127;p23"/>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128" name="Google Shape;128;p23"/>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129" name="Google Shape;129;p23"/>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2</a:t>
            </a:r>
            <a:endParaRPr b="0" i="0" sz="800" u="none" cap="none" strike="noStrike">
              <a:solidFill>
                <a:srgbClr val="000000"/>
              </a:solidFill>
              <a:latin typeface="Arial"/>
              <a:ea typeface="Arial"/>
              <a:cs typeface="Arial"/>
              <a:sym typeface="Arial"/>
            </a:endParaRPr>
          </a:p>
        </p:txBody>
      </p:sp>
      <p:sp>
        <p:nvSpPr>
          <p:cNvPr id="130" name="Google Shape;130;p23"/>
          <p:cNvSpPr txBox="1"/>
          <p:nvPr/>
        </p:nvSpPr>
        <p:spPr>
          <a:xfrm>
            <a:off x="274320" y="4754880"/>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1" name="Google Shape;131;p23"/>
          <p:cNvSpPr txBox="1"/>
          <p:nvPr/>
        </p:nvSpPr>
        <p:spPr>
          <a:xfrm>
            <a:off x="274320" y="621792"/>
            <a:ext cx="8595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lang="ja" sz="1150">
                <a:solidFill>
                  <a:srgbClr val="4A86E8"/>
                </a:solidFill>
                <a:latin typeface="M PLUS 1p"/>
                <a:ea typeface="M PLUS 1p"/>
                <a:cs typeface="M PLUS 1p"/>
                <a:sym typeface="M PLUS 1p"/>
              </a:rPr>
              <a:t>当月新規に最注力セグメントを変更。発射台を上げ翌月以降はbyname顧客に集中。</a:t>
            </a:r>
            <a:endParaRPr b="0" i="0" sz="1150" u="none" cap="none" strike="noStrike">
              <a:solidFill>
                <a:srgbClr val="4A86E8"/>
              </a:solidFill>
              <a:latin typeface="Arial"/>
              <a:ea typeface="Arial"/>
              <a:cs typeface="Arial"/>
              <a:sym typeface="Arial"/>
            </a:endParaRPr>
          </a:p>
        </p:txBody>
      </p:sp>
      <p:sp>
        <p:nvSpPr>
          <p:cNvPr id="132" name="Google Shape;132;p23"/>
          <p:cNvSpPr/>
          <p:nvPr/>
        </p:nvSpPr>
        <p:spPr>
          <a:xfrm>
            <a:off x="1397000" y="1016000"/>
            <a:ext cx="1905000" cy="406500"/>
          </a:xfrm>
          <a:prstGeom prst="homePlate">
            <a:avLst>
              <a:gd fmla="val 30000" name="adj"/>
            </a:avLst>
          </a:prstGeom>
          <a:solidFill>
            <a:srgbClr val="F2F2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発射台</a:t>
            </a:r>
            <a:endParaRPr/>
          </a:p>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a:t>
            </a:r>
            <a:r>
              <a:rPr b="0" i="0" lang="ja" sz="800" u="none" cap="none" strike="noStrike">
                <a:solidFill>
                  <a:srgbClr val="434343"/>
                </a:solidFill>
                <a:latin typeface="M PLUS 1p"/>
                <a:ea typeface="M PLUS 1p"/>
                <a:cs typeface="M PLUS 1p"/>
                <a:sym typeface="M PLUS 1p"/>
              </a:rPr>
              <a:t>初月</a:t>
            </a:r>
            <a:r>
              <a:rPr lang="ja" sz="800">
                <a:solidFill>
                  <a:srgbClr val="434343"/>
                </a:solidFill>
                <a:latin typeface="M PLUS 1p"/>
                <a:ea typeface="M PLUS 1p"/>
                <a:cs typeface="M PLUS 1p"/>
                <a:sym typeface="M PLUS 1p"/>
              </a:rPr>
              <a:t>末時点</a:t>
            </a:r>
            <a:r>
              <a:rPr lang="ja" sz="800">
                <a:solidFill>
                  <a:srgbClr val="434343"/>
                </a:solidFill>
                <a:latin typeface="M PLUS 1p"/>
                <a:ea typeface="M PLUS 1p"/>
                <a:cs typeface="M PLUS 1p"/>
                <a:sym typeface="M PLUS 1p"/>
              </a:rPr>
              <a:t>の翌月継続率</a:t>
            </a:r>
            <a:r>
              <a:rPr b="0" i="0" lang="ja" sz="800" u="none" cap="none" strike="noStrike">
                <a:solidFill>
                  <a:srgbClr val="434343"/>
                </a:solidFill>
                <a:latin typeface="M PLUS 1p"/>
                <a:ea typeface="M PLUS 1p"/>
                <a:cs typeface="M PLUS 1p"/>
                <a:sym typeface="M PLUS 1p"/>
              </a:rPr>
              <a:t>）</a:t>
            </a:r>
            <a:endParaRPr/>
          </a:p>
        </p:txBody>
      </p:sp>
      <p:sp>
        <p:nvSpPr>
          <p:cNvPr id="133" name="Google Shape;133;p23"/>
          <p:cNvSpPr/>
          <p:nvPr/>
        </p:nvSpPr>
        <p:spPr>
          <a:xfrm>
            <a:off x="3263900" y="1016000"/>
            <a:ext cx="1905000" cy="406500"/>
          </a:xfrm>
          <a:prstGeom prst="chevron">
            <a:avLst>
              <a:gd fmla="val 30000" name="adj"/>
            </a:avLst>
          </a:prstGeom>
          <a:solidFill>
            <a:srgbClr val="F2F2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1ヶ月後</a:t>
            </a:r>
            <a:endParaRPr/>
          </a:p>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（翌月継続）</a:t>
            </a:r>
            <a:endParaRPr/>
          </a:p>
        </p:txBody>
      </p:sp>
      <p:sp>
        <p:nvSpPr>
          <p:cNvPr id="134" name="Google Shape;134;p23"/>
          <p:cNvSpPr/>
          <p:nvPr/>
        </p:nvSpPr>
        <p:spPr>
          <a:xfrm>
            <a:off x="5130800" y="1016000"/>
            <a:ext cx="1905000" cy="406500"/>
          </a:xfrm>
          <a:prstGeom prst="chevron">
            <a:avLst>
              <a:gd fmla="val 30000" name="adj"/>
            </a:avLst>
          </a:prstGeom>
          <a:solidFill>
            <a:srgbClr val="F2F2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2ヶ月後</a:t>
            </a:r>
            <a:endParaRPr/>
          </a:p>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（2ヶ月</a:t>
            </a:r>
            <a:r>
              <a:rPr lang="ja" sz="800">
                <a:solidFill>
                  <a:srgbClr val="434343"/>
                </a:solidFill>
                <a:latin typeface="M PLUS 1p"/>
                <a:ea typeface="M PLUS 1p"/>
                <a:cs typeface="M PLUS 1p"/>
                <a:sym typeface="M PLUS 1p"/>
              </a:rPr>
              <a:t>後</a:t>
            </a:r>
            <a:r>
              <a:rPr b="0" i="0" lang="ja" sz="800" u="none" cap="none" strike="noStrike">
                <a:solidFill>
                  <a:srgbClr val="434343"/>
                </a:solidFill>
                <a:latin typeface="M PLUS 1p"/>
                <a:ea typeface="M PLUS 1p"/>
                <a:cs typeface="M PLUS 1p"/>
                <a:sym typeface="M PLUS 1p"/>
              </a:rPr>
              <a:t>継続）</a:t>
            </a:r>
            <a:endParaRPr/>
          </a:p>
        </p:txBody>
      </p:sp>
      <p:sp>
        <p:nvSpPr>
          <p:cNvPr id="135" name="Google Shape;135;p23"/>
          <p:cNvSpPr/>
          <p:nvPr/>
        </p:nvSpPr>
        <p:spPr>
          <a:xfrm>
            <a:off x="6997700" y="1016000"/>
            <a:ext cx="1905000" cy="406500"/>
          </a:xfrm>
          <a:prstGeom prst="chevron">
            <a:avLst>
              <a:gd fmla="val 30000" name="adj"/>
            </a:avLst>
          </a:prstGeom>
          <a:solidFill>
            <a:srgbClr val="F2F2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3ヶ月後</a:t>
            </a:r>
            <a:endParaRPr/>
          </a:p>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（3ヶ月</a:t>
            </a:r>
            <a:r>
              <a:rPr lang="ja" sz="800">
                <a:solidFill>
                  <a:srgbClr val="434343"/>
                </a:solidFill>
                <a:latin typeface="M PLUS 1p"/>
                <a:ea typeface="M PLUS 1p"/>
                <a:cs typeface="M PLUS 1p"/>
                <a:sym typeface="M PLUS 1p"/>
              </a:rPr>
              <a:t>後</a:t>
            </a:r>
            <a:r>
              <a:rPr b="0" i="0" lang="ja" sz="800" u="none" cap="none" strike="noStrike">
                <a:solidFill>
                  <a:srgbClr val="434343"/>
                </a:solidFill>
                <a:latin typeface="M PLUS 1p"/>
                <a:ea typeface="M PLUS 1p"/>
                <a:cs typeface="M PLUS 1p"/>
                <a:sym typeface="M PLUS 1p"/>
              </a:rPr>
              <a:t>継続）</a:t>
            </a:r>
            <a:endParaRPr/>
          </a:p>
        </p:txBody>
      </p:sp>
      <p:sp>
        <p:nvSpPr>
          <p:cNvPr id="136" name="Google Shape;136;p23"/>
          <p:cNvSpPr/>
          <p:nvPr/>
        </p:nvSpPr>
        <p:spPr>
          <a:xfrm>
            <a:off x="279400" y="1574800"/>
            <a:ext cx="990600" cy="558900"/>
          </a:xfrm>
          <a:prstGeom prst="rect">
            <a:avLst/>
          </a:prstGeom>
          <a:solidFill>
            <a:srgbClr val="FFD1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1A1A1A"/>
                </a:solidFill>
                <a:latin typeface="M PLUS 1p"/>
                <a:ea typeface="M PLUS 1p"/>
                <a:cs typeface="M PLUS 1p"/>
                <a:sym typeface="M PLUS 1p"/>
              </a:rPr>
              <a:t>ToBe</a:t>
            </a:r>
            <a:endParaRPr/>
          </a:p>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1A1A1A"/>
                </a:solidFill>
                <a:latin typeface="M PLUS 1p"/>
                <a:ea typeface="M PLUS 1p"/>
                <a:cs typeface="M PLUS 1p"/>
                <a:sym typeface="M PLUS 1p"/>
              </a:rPr>
              <a:t>（施策後）</a:t>
            </a:r>
            <a:endParaRPr/>
          </a:p>
        </p:txBody>
      </p:sp>
      <p:sp>
        <p:nvSpPr>
          <p:cNvPr id="137" name="Google Shape;137;p23"/>
          <p:cNvSpPr/>
          <p:nvPr/>
        </p:nvSpPr>
        <p:spPr>
          <a:xfrm>
            <a:off x="279400" y="2616200"/>
            <a:ext cx="990600" cy="558900"/>
          </a:xfrm>
          <a:prstGeom prst="rect">
            <a:avLst/>
          </a:prstGeom>
          <a:solidFill>
            <a:srgbClr val="5F5F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FFFFFF"/>
                </a:solidFill>
                <a:latin typeface="M PLUS 1p"/>
                <a:ea typeface="M PLUS 1p"/>
                <a:cs typeface="M PLUS 1p"/>
                <a:sym typeface="M PLUS 1p"/>
              </a:rPr>
              <a:t>AsIs</a:t>
            </a:r>
            <a:endParaRPr/>
          </a:p>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FFFFFF"/>
                </a:solidFill>
                <a:latin typeface="M PLUS 1p"/>
                <a:ea typeface="M PLUS 1p"/>
                <a:cs typeface="M PLUS 1p"/>
                <a:sym typeface="M PLUS 1p"/>
              </a:rPr>
              <a:t>（現状）</a:t>
            </a:r>
            <a:endParaRPr/>
          </a:p>
        </p:txBody>
      </p:sp>
      <p:cxnSp>
        <p:nvCxnSpPr>
          <p:cNvPr id="138" name="Google Shape;138;p23"/>
          <p:cNvCxnSpPr>
            <a:stCxn id="139" idx="6"/>
          </p:cNvCxnSpPr>
          <p:nvPr/>
        </p:nvCxnSpPr>
        <p:spPr>
          <a:xfrm flipH="1" rot="10800000">
            <a:off x="2609950" y="1676450"/>
            <a:ext cx="1269900" cy="90600"/>
          </a:xfrm>
          <a:prstGeom prst="straightConnector1">
            <a:avLst/>
          </a:prstGeom>
          <a:noFill/>
          <a:ln cap="flat" cmpd="sng" w="19050">
            <a:solidFill>
              <a:srgbClr val="1A1A1A"/>
            </a:solidFill>
            <a:prstDash val="solid"/>
            <a:round/>
            <a:headEnd len="sm" w="sm" type="none"/>
            <a:tailEnd len="med" w="med" type="triangle"/>
          </a:ln>
        </p:spPr>
      </p:cxnSp>
      <p:cxnSp>
        <p:nvCxnSpPr>
          <p:cNvPr id="140" name="Google Shape;140;p23"/>
          <p:cNvCxnSpPr/>
          <p:nvPr/>
        </p:nvCxnSpPr>
        <p:spPr>
          <a:xfrm flipH="1" rot="10800000">
            <a:off x="2597150" y="2717700"/>
            <a:ext cx="1320900" cy="177900"/>
          </a:xfrm>
          <a:prstGeom prst="straightConnector1">
            <a:avLst/>
          </a:prstGeom>
          <a:noFill/>
          <a:ln cap="flat" cmpd="sng" w="19050">
            <a:solidFill>
              <a:srgbClr val="8C8C8C"/>
            </a:solidFill>
            <a:prstDash val="solid"/>
            <a:round/>
            <a:headEnd len="sm" w="sm" type="none"/>
            <a:tailEnd len="med" w="med" type="triangle"/>
          </a:ln>
        </p:spPr>
      </p:cxnSp>
      <p:cxnSp>
        <p:nvCxnSpPr>
          <p:cNvPr id="141" name="Google Shape;141;p23"/>
          <p:cNvCxnSpPr/>
          <p:nvPr/>
        </p:nvCxnSpPr>
        <p:spPr>
          <a:xfrm>
            <a:off x="4502150" y="1676400"/>
            <a:ext cx="1244700" cy="177900"/>
          </a:xfrm>
          <a:prstGeom prst="straightConnector1">
            <a:avLst/>
          </a:prstGeom>
          <a:noFill/>
          <a:ln cap="flat" cmpd="sng" w="19050">
            <a:solidFill>
              <a:srgbClr val="1A1A1A"/>
            </a:solidFill>
            <a:prstDash val="solid"/>
            <a:round/>
            <a:headEnd len="sm" w="sm" type="none"/>
            <a:tailEnd len="med" w="med" type="triangle"/>
          </a:ln>
        </p:spPr>
      </p:cxnSp>
      <p:cxnSp>
        <p:nvCxnSpPr>
          <p:cNvPr id="142" name="Google Shape;142;p23"/>
          <p:cNvCxnSpPr/>
          <p:nvPr/>
        </p:nvCxnSpPr>
        <p:spPr>
          <a:xfrm>
            <a:off x="4464050" y="2717800"/>
            <a:ext cx="1320900" cy="177900"/>
          </a:xfrm>
          <a:prstGeom prst="straightConnector1">
            <a:avLst/>
          </a:prstGeom>
          <a:noFill/>
          <a:ln cap="flat" cmpd="sng" w="19050">
            <a:solidFill>
              <a:srgbClr val="8C8C8C"/>
            </a:solidFill>
            <a:prstDash val="solid"/>
            <a:round/>
            <a:headEnd len="sm" w="sm" type="none"/>
            <a:tailEnd len="med" w="med" type="triangle"/>
          </a:ln>
        </p:spPr>
      </p:cxnSp>
      <p:cxnSp>
        <p:nvCxnSpPr>
          <p:cNvPr id="143" name="Google Shape;143;p23"/>
          <p:cNvCxnSpPr/>
          <p:nvPr/>
        </p:nvCxnSpPr>
        <p:spPr>
          <a:xfrm>
            <a:off x="6369050" y="1854200"/>
            <a:ext cx="1244700" cy="126900"/>
          </a:xfrm>
          <a:prstGeom prst="straightConnector1">
            <a:avLst/>
          </a:prstGeom>
          <a:noFill/>
          <a:ln cap="flat" cmpd="sng" w="19050">
            <a:solidFill>
              <a:srgbClr val="1A1A1A"/>
            </a:solidFill>
            <a:prstDash val="solid"/>
            <a:round/>
            <a:headEnd len="sm" w="sm" type="none"/>
            <a:tailEnd len="med" w="med" type="triangle"/>
          </a:ln>
        </p:spPr>
      </p:cxnSp>
      <p:cxnSp>
        <p:nvCxnSpPr>
          <p:cNvPr id="144" name="Google Shape;144;p23"/>
          <p:cNvCxnSpPr/>
          <p:nvPr/>
        </p:nvCxnSpPr>
        <p:spPr>
          <a:xfrm>
            <a:off x="6330950" y="2895600"/>
            <a:ext cx="1320900" cy="126900"/>
          </a:xfrm>
          <a:prstGeom prst="straightConnector1">
            <a:avLst/>
          </a:prstGeom>
          <a:noFill/>
          <a:ln cap="flat" cmpd="sng" w="19050">
            <a:solidFill>
              <a:srgbClr val="8C8C8C"/>
            </a:solidFill>
            <a:prstDash val="solid"/>
            <a:round/>
            <a:headEnd len="sm" w="sm" type="none"/>
            <a:tailEnd len="med" w="med" type="triangle"/>
          </a:ln>
        </p:spPr>
      </p:cxnSp>
      <p:sp>
        <p:nvSpPr>
          <p:cNvPr id="139" name="Google Shape;139;p23"/>
          <p:cNvSpPr/>
          <p:nvPr/>
        </p:nvSpPr>
        <p:spPr>
          <a:xfrm>
            <a:off x="2051050" y="1487600"/>
            <a:ext cx="558900" cy="558900"/>
          </a:xfrm>
          <a:prstGeom prst="ellipse">
            <a:avLst/>
          </a:prstGeom>
          <a:solidFill>
            <a:srgbClr val="FFD1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1A1A1A"/>
                </a:solidFill>
                <a:latin typeface="M PLUS 1p"/>
                <a:ea typeface="M PLUS 1p"/>
                <a:cs typeface="M PLUS 1p"/>
                <a:sym typeface="M PLUS 1p"/>
              </a:rPr>
              <a:t>60%</a:t>
            </a:r>
            <a:endParaRPr/>
          </a:p>
        </p:txBody>
      </p:sp>
      <p:sp>
        <p:nvSpPr>
          <p:cNvPr id="145" name="Google Shape;145;p23"/>
          <p:cNvSpPr/>
          <p:nvPr/>
        </p:nvSpPr>
        <p:spPr>
          <a:xfrm>
            <a:off x="2089150" y="2654300"/>
            <a:ext cx="482700" cy="482700"/>
          </a:xfrm>
          <a:prstGeom prst="ellipse">
            <a:avLst/>
          </a:prstGeom>
          <a:solidFill>
            <a:srgbClr val="E6E6E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lang="ja" sz="1200">
                <a:solidFill>
                  <a:srgbClr val="434343"/>
                </a:solidFill>
                <a:latin typeface="M PLUS 1p"/>
                <a:ea typeface="M PLUS 1p"/>
                <a:cs typeface="M PLUS 1p"/>
                <a:sym typeface="M PLUS 1p"/>
              </a:rPr>
              <a:t>35</a:t>
            </a:r>
            <a:r>
              <a:rPr b="1" i="0" lang="ja" sz="1200" u="none" cap="none" strike="noStrike">
                <a:solidFill>
                  <a:srgbClr val="434343"/>
                </a:solidFill>
                <a:latin typeface="M PLUS 1p"/>
                <a:ea typeface="M PLUS 1p"/>
                <a:cs typeface="M PLUS 1p"/>
                <a:sym typeface="M PLUS 1p"/>
              </a:rPr>
              <a:t>%</a:t>
            </a:r>
            <a:endParaRPr/>
          </a:p>
        </p:txBody>
      </p:sp>
      <p:sp>
        <p:nvSpPr>
          <p:cNvPr id="146" name="Google Shape;146;p23"/>
          <p:cNvSpPr/>
          <p:nvPr/>
        </p:nvSpPr>
        <p:spPr>
          <a:xfrm>
            <a:off x="2266950" y="2235200"/>
            <a:ext cx="126900" cy="317400"/>
          </a:xfrm>
          <a:prstGeom prst="upArrow">
            <a:avLst>
              <a:gd fmla="val 50000" name="adj1"/>
              <a:gd fmla="val 60000" name="adj2"/>
            </a:avLst>
          </a:prstGeom>
          <a:solidFill>
            <a:srgbClr val="FFE68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23"/>
          <p:cNvSpPr/>
          <p:nvPr/>
        </p:nvSpPr>
        <p:spPr>
          <a:xfrm>
            <a:off x="2432050" y="2292350"/>
            <a:ext cx="507900" cy="20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a:t>
            </a:r>
            <a:r>
              <a:rPr b="1" lang="ja" sz="1000">
                <a:solidFill>
                  <a:srgbClr val="1A1A1A"/>
                </a:solidFill>
                <a:latin typeface="M PLUS 1p"/>
                <a:ea typeface="M PLUS 1p"/>
                <a:cs typeface="M PLUS 1p"/>
                <a:sym typeface="M PLUS 1p"/>
              </a:rPr>
              <a:t>25</a:t>
            </a:r>
            <a:r>
              <a:rPr b="1" i="0" lang="ja" sz="1000" u="none" cap="none" strike="noStrike">
                <a:solidFill>
                  <a:srgbClr val="1A1A1A"/>
                </a:solidFill>
                <a:latin typeface="M PLUS 1p"/>
                <a:ea typeface="M PLUS 1p"/>
                <a:cs typeface="M PLUS 1p"/>
                <a:sym typeface="M PLUS 1p"/>
              </a:rPr>
              <a:t>pt</a:t>
            </a:r>
            <a:endParaRPr/>
          </a:p>
        </p:txBody>
      </p:sp>
      <p:sp>
        <p:nvSpPr>
          <p:cNvPr id="148" name="Google Shape;148;p23"/>
          <p:cNvSpPr/>
          <p:nvPr/>
        </p:nvSpPr>
        <p:spPr>
          <a:xfrm>
            <a:off x="3917950" y="1397000"/>
            <a:ext cx="558900" cy="558900"/>
          </a:xfrm>
          <a:prstGeom prst="ellipse">
            <a:avLst/>
          </a:prstGeom>
          <a:solidFill>
            <a:srgbClr val="FFD1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1A1A1A"/>
                </a:solidFill>
                <a:latin typeface="M PLUS 1p"/>
                <a:ea typeface="M PLUS 1p"/>
                <a:cs typeface="M PLUS 1p"/>
                <a:sym typeface="M PLUS 1p"/>
              </a:rPr>
              <a:t>70%</a:t>
            </a:r>
            <a:endParaRPr/>
          </a:p>
        </p:txBody>
      </p:sp>
      <p:sp>
        <p:nvSpPr>
          <p:cNvPr id="149" name="Google Shape;149;p23"/>
          <p:cNvSpPr/>
          <p:nvPr/>
        </p:nvSpPr>
        <p:spPr>
          <a:xfrm>
            <a:off x="3956050" y="2476500"/>
            <a:ext cx="482700" cy="482700"/>
          </a:xfrm>
          <a:prstGeom prst="ellipse">
            <a:avLst/>
          </a:prstGeom>
          <a:solidFill>
            <a:srgbClr val="E6E6E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434343"/>
                </a:solidFill>
                <a:latin typeface="M PLUS 1p"/>
                <a:ea typeface="M PLUS 1p"/>
                <a:cs typeface="M PLUS 1p"/>
                <a:sym typeface="M PLUS 1p"/>
              </a:rPr>
              <a:t>60%</a:t>
            </a:r>
            <a:endParaRPr/>
          </a:p>
        </p:txBody>
      </p:sp>
      <p:sp>
        <p:nvSpPr>
          <p:cNvPr id="150" name="Google Shape;150;p23"/>
          <p:cNvSpPr/>
          <p:nvPr/>
        </p:nvSpPr>
        <p:spPr>
          <a:xfrm>
            <a:off x="4133850" y="2057400"/>
            <a:ext cx="126900" cy="317400"/>
          </a:xfrm>
          <a:prstGeom prst="upArrow">
            <a:avLst>
              <a:gd fmla="val 50000" name="adj1"/>
              <a:gd fmla="val 60000" name="adj2"/>
            </a:avLst>
          </a:prstGeom>
          <a:solidFill>
            <a:srgbClr val="FFE68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23"/>
          <p:cNvSpPr/>
          <p:nvPr/>
        </p:nvSpPr>
        <p:spPr>
          <a:xfrm>
            <a:off x="4298950" y="2114550"/>
            <a:ext cx="507900" cy="20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+10pt</a:t>
            </a:r>
            <a:endParaRPr/>
          </a:p>
        </p:txBody>
      </p:sp>
      <p:sp>
        <p:nvSpPr>
          <p:cNvPr id="152" name="Google Shape;152;p23"/>
          <p:cNvSpPr/>
          <p:nvPr/>
        </p:nvSpPr>
        <p:spPr>
          <a:xfrm>
            <a:off x="5784850" y="1574800"/>
            <a:ext cx="558900" cy="558900"/>
          </a:xfrm>
          <a:prstGeom prst="ellipse">
            <a:avLst/>
          </a:prstGeom>
          <a:solidFill>
            <a:srgbClr val="FFD1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1A1A1A"/>
                </a:solidFill>
                <a:latin typeface="M PLUS 1p"/>
                <a:ea typeface="M PLUS 1p"/>
                <a:cs typeface="M PLUS 1p"/>
                <a:sym typeface="M PLUS 1p"/>
              </a:rPr>
              <a:t>55%</a:t>
            </a:r>
            <a:endParaRPr/>
          </a:p>
        </p:txBody>
      </p:sp>
      <p:sp>
        <p:nvSpPr>
          <p:cNvPr id="153" name="Google Shape;153;p23"/>
          <p:cNvSpPr/>
          <p:nvPr/>
        </p:nvSpPr>
        <p:spPr>
          <a:xfrm>
            <a:off x="5822950" y="2654300"/>
            <a:ext cx="482700" cy="482700"/>
          </a:xfrm>
          <a:prstGeom prst="ellipse">
            <a:avLst/>
          </a:prstGeom>
          <a:solidFill>
            <a:srgbClr val="E6E6E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434343"/>
                </a:solidFill>
                <a:latin typeface="M PLUS 1p"/>
                <a:ea typeface="M PLUS 1p"/>
                <a:cs typeface="M PLUS 1p"/>
                <a:sym typeface="M PLUS 1p"/>
              </a:rPr>
              <a:t>45%</a:t>
            </a:r>
            <a:endParaRPr/>
          </a:p>
        </p:txBody>
      </p:sp>
      <p:sp>
        <p:nvSpPr>
          <p:cNvPr id="154" name="Google Shape;154;p23"/>
          <p:cNvSpPr/>
          <p:nvPr/>
        </p:nvSpPr>
        <p:spPr>
          <a:xfrm>
            <a:off x="6000750" y="2235200"/>
            <a:ext cx="126900" cy="317400"/>
          </a:xfrm>
          <a:prstGeom prst="upArrow">
            <a:avLst>
              <a:gd fmla="val 50000" name="adj1"/>
              <a:gd fmla="val 60000" name="adj2"/>
            </a:avLst>
          </a:prstGeom>
          <a:solidFill>
            <a:srgbClr val="FFE68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5" name="Google Shape;155;p23"/>
          <p:cNvSpPr/>
          <p:nvPr/>
        </p:nvSpPr>
        <p:spPr>
          <a:xfrm>
            <a:off x="6165850" y="2292350"/>
            <a:ext cx="507900" cy="20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+10pt</a:t>
            </a:r>
            <a:endParaRPr/>
          </a:p>
        </p:txBody>
      </p:sp>
      <p:sp>
        <p:nvSpPr>
          <p:cNvPr id="156" name="Google Shape;156;p23"/>
          <p:cNvSpPr/>
          <p:nvPr/>
        </p:nvSpPr>
        <p:spPr>
          <a:xfrm>
            <a:off x="7651750" y="1701800"/>
            <a:ext cx="558900" cy="558900"/>
          </a:xfrm>
          <a:prstGeom prst="ellipse">
            <a:avLst/>
          </a:prstGeom>
          <a:solidFill>
            <a:srgbClr val="FFD1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1A1A1A"/>
                </a:solidFill>
                <a:latin typeface="M PLUS 1p"/>
                <a:ea typeface="M PLUS 1p"/>
                <a:cs typeface="M PLUS 1p"/>
                <a:sym typeface="M PLUS 1p"/>
              </a:rPr>
              <a:t>45%</a:t>
            </a:r>
            <a:endParaRPr/>
          </a:p>
        </p:txBody>
      </p:sp>
      <p:sp>
        <p:nvSpPr>
          <p:cNvPr id="157" name="Google Shape;157;p23"/>
          <p:cNvSpPr/>
          <p:nvPr/>
        </p:nvSpPr>
        <p:spPr>
          <a:xfrm>
            <a:off x="7689850" y="2781300"/>
            <a:ext cx="482700" cy="482700"/>
          </a:xfrm>
          <a:prstGeom prst="ellipse">
            <a:avLst/>
          </a:prstGeom>
          <a:solidFill>
            <a:srgbClr val="E6E6E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434343"/>
                </a:solidFill>
                <a:latin typeface="M PLUS 1p"/>
                <a:ea typeface="M PLUS 1p"/>
                <a:cs typeface="M PLUS 1p"/>
                <a:sym typeface="M PLUS 1p"/>
              </a:rPr>
              <a:t>35%</a:t>
            </a:r>
            <a:endParaRPr/>
          </a:p>
        </p:txBody>
      </p:sp>
      <p:sp>
        <p:nvSpPr>
          <p:cNvPr id="158" name="Google Shape;158;p23"/>
          <p:cNvSpPr/>
          <p:nvPr/>
        </p:nvSpPr>
        <p:spPr>
          <a:xfrm>
            <a:off x="7867650" y="2362200"/>
            <a:ext cx="126900" cy="317400"/>
          </a:xfrm>
          <a:prstGeom prst="upArrow">
            <a:avLst>
              <a:gd fmla="val 50000" name="adj1"/>
              <a:gd fmla="val 60000" name="adj2"/>
            </a:avLst>
          </a:prstGeom>
          <a:solidFill>
            <a:srgbClr val="FFE68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p23"/>
          <p:cNvSpPr/>
          <p:nvPr/>
        </p:nvSpPr>
        <p:spPr>
          <a:xfrm>
            <a:off x="8032750" y="2419350"/>
            <a:ext cx="507900" cy="20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+10pt</a:t>
            </a:r>
            <a:endParaRPr/>
          </a:p>
        </p:txBody>
      </p:sp>
      <p:sp>
        <p:nvSpPr>
          <p:cNvPr id="160" name="Google Shape;160;p23"/>
          <p:cNvSpPr/>
          <p:nvPr/>
        </p:nvSpPr>
        <p:spPr>
          <a:xfrm>
            <a:off x="1397000" y="3187650"/>
            <a:ext cx="1854300" cy="609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t/>
            </a:r>
            <a:endParaRPr b="1" sz="1050">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1050"/>
              <a:buFont typeface="Arial"/>
              <a:buNone/>
            </a:pPr>
            <a:r>
              <a:rPr b="1" lang="ja" sz="1050">
                <a:solidFill>
                  <a:srgbClr val="1A1A1A"/>
                </a:solidFill>
                <a:latin typeface="M PLUS 1p"/>
                <a:ea typeface="M PLUS 1p"/>
                <a:cs typeface="M PLUS 1p"/>
                <a:sym typeface="M PLUS 1p"/>
              </a:rPr>
              <a:t>翌月継続率の</a:t>
            </a:r>
            <a:r>
              <a:rPr b="1" i="0" lang="ja" sz="1050" u="none" cap="none" strike="noStrike">
                <a:solidFill>
                  <a:srgbClr val="1A1A1A"/>
                </a:solidFill>
                <a:latin typeface="M PLUS 1p"/>
                <a:ea typeface="M PLUS 1p"/>
                <a:cs typeface="M PLUS 1p"/>
                <a:sym typeface="M PLUS 1p"/>
              </a:rPr>
              <a:t>発射台 </a:t>
            </a:r>
            <a:endParaRPr b="1" i="0" sz="1050" u="none" cap="none" strike="noStrike">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1050"/>
              <a:buFont typeface="Arial"/>
              <a:buNone/>
            </a:pPr>
            <a:r>
              <a:rPr b="1" lang="ja" sz="1050">
                <a:solidFill>
                  <a:srgbClr val="1A1A1A"/>
                </a:solidFill>
                <a:latin typeface="M PLUS 1p"/>
                <a:ea typeface="M PLUS 1p"/>
                <a:cs typeface="M PLUS 1p"/>
                <a:sym typeface="M PLUS 1p"/>
              </a:rPr>
              <a:t>35</a:t>
            </a:r>
            <a:r>
              <a:rPr b="1" i="0" lang="ja" sz="1050" u="none" cap="none" strike="noStrike">
                <a:solidFill>
                  <a:srgbClr val="1A1A1A"/>
                </a:solidFill>
                <a:latin typeface="M PLUS 1p"/>
                <a:ea typeface="M PLUS 1p"/>
                <a:cs typeface="M PLUS 1p"/>
                <a:sym typeface="M PLUS 1p"/>
              </a:rPr>
              <a:t>% → 50%</a:t>
            </a:r>
            <a:endParaRPr/>
          </a:p>
          <a:p>
            <a:pPr indent="0" lvl="0" marL="0" marR="0" rtl="0" algn="ctr">
              <a:lnSpc>
                <a:spcPct val="100000"/>
              </a:lnSpc>
              <a:spcBef>
                <a:spcPts val="300"/>
              </a:spcBef>
              <a:spcAft>
                <a:spcPts val="0"/>
              </a:spcAft>
              <a:buClr>
                <a:srgbClr val="000000"/>
              </a:buClr>
              <a:buSzPts val="900"/>
              <a:buFont typeface="Arial"/>
              <a:buNone/>
            </a:pPr>
            <a:r>
              <a:t/>
            </a:r>
            <a:endParaRPr/>
          </a:p>
        </p:txBody>
      </p:sp>
      <p:sp>
        <p:nvSpPr>
          <p:cNvPr id="161" name="Google Shape;161;p23"/>
          <p:cNvSpPr/>
          <p:nvPr/>
        </p:nvSpPr>
        <p:spPr>
          <a:xfrm>
            <a:off x="3263900" y="3187650"/>
            <a:ext cx="1854300" cy="609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t/>
            </a:r>
            <a:endParaRPr b="1" sz="1050">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翌月継続</a:t>
            </a:r>
            <a:r>
              <a:rPr b="1" lang="ja" sz="1050">
                <a:solidFill>
                  <a:srgbClr val="1A1A1A"/>
                </a:solidFill>
                <a:latin typeface="M PLUS 1p"/>
                <a:ea typeface="M PLUS 1p"/>
                <a:cs typeface="M PLUS 1p"/>
                <a:sym typeface="M PLUS 1p"/>
              </a:rPr>
              <a:t>率</a:t>
            </a:r>
            <a:r>
              <a:rPr b="1" i="0" lang="ja" sz="1050" u="none" cap="none" strike="noStrike">
                <a:solidFill>
                  <a:srgbClr val="1A1A1A"/>
                </a:solidFill>
                <a:latin typeface="M PLUS 1p"/>
                <a:ea typeface="M PLUS 1p"/>
                <a:cs typeface="M PLUS 1p"/>
                <a:sym typeface="M PLUS 1p"/>
              </a:rPr>
              <a:t> </a:t>
            </a:r>
            <a:endParaRPr b="1" i="0" sz="1050" u="none" cap="none" strike="noStrike">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60% → 70%</a:t>
            </a:r>
            <a:endParaRPr/>
          </a:p>
          <a:p>
            <a:pPr indent="0" lvl="0" marL="0" marR="0" rtl="0" algn="ctr">
              <a:lnSpc>
                <a:spcPct val="100000"/>
              </a:lnSpc>
              <a:spcBef>
                <a:spcPts val="300"/>
              </a:spcBef>
              <a:spcAft>
                <a:spcPts val="0"/>
              </a:spcAft>
              <a:buClr>
                <a:srgbClr val="000000"/>
              </a:buClr>
              <a:buSzPts val="900"/>
              <a:buFont typeface="Arial"/>
              <a:buNone/>
            </a:pPr>
            <a:r>
              <a:t/>
            </a:r>
            <a:endParaRPr/>
          </a:p>
        </p:txBody>
      </p:sp>
      <p:sp>
        <p:nvSpPr>
          <p:cNvPr id="162" name="Google Shape;162;p23"/>
          <p:cNvSpPr/>
          <p:nvPr/>
        </p:nvSpPr>
        <p:spPr>
          <a:xfrm>
            <a:off x="5130800" y="3187650"/>
            <a:ext cx="1854300" cy="609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t/>
            </a:r>
            <a:endParaRPr b="1" sz="1050">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2ヶ月</a:t>
            </a:r>
            <a:r>
              <a:rPr b="1" lang="ja" sz="1050">
                <a:solidFill>
                  <a:srgbClr val="1A1A1A"/>
                </a:solidFill>
                <a:latin typeface="M PLUS 1p"/>
                <a:ea typeface="M PLUS 1p"/>
                <a:cs typeface="M PLUS 1p"/>
                <a:sym typeface="M PLUS 1p"/>
              </a:rPr>
              <a:t>後</a:t>
            </a:r>
            <a:r>
              <a:rPr b="1" i="0" lang="ja" sz="1050" u="none" cap="none" strike="noStrike">
                <a:solidFill>
                  <a:srgbClr val="1A1A1A"/>
                </a:solidFill>
                <a:latin typeface="M PLUS 1p"/>
                <a:ea typeface="M PLUS 1p"/>
                <a:cs typeface="M PLUS 1p"/>
                <a:sym typeface="M PLUS 1p"/>
              </a:rPr>
              <a:t>継続</a:t>
            </a:r>
            <a:r>
              <a:rPr b="1" lang="ja" sz="1050">
                <a:solidFill>
                  <a:srgbClr val="1A1A1A"/>
                </a:solidFill>
                <a:latin typeface="M PLUS 1p"/>
                <a:ea typeface="M PLUS 1p"/>
                <a:cs typeface="M PLUS 1p"/>
                <a:sym typeface="M PLUS 1p"/>
              </a:rPr>
              <a:t>率</a:t>
            </a:r>
            <a:r>
              <a:rPr b="1" i="0" lang="ja" sz="1050" u="none" cap="none" strike="noStrike">
                <a:solidFill>
                  <a:srgbClr val="1A1A1A"/>
                </a:solidFill>
                <a:latin typeface="M PLUS 1p"/>
                <a:ea typeface="M PLUS 1p"/>
                <a:cs typeface="M PLUS 1p"/>
                <a:sym typeface="M PLUS 1p"/>
              </a:rPr>
              <a:t> </a:t>
            </a:r>
            <a:endParaRPr b="1" i="0" sz="1050" u="none" cap="none" strike="noStrike">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45% → 55%</a:t>
            </a:r>
            <a:endParaRPr/>
          </a:p>
          <a:p>
            <a:pPr indent="0" lvl="0" marL="0" marR="0" rtl="0" algn="ctr">
              <a:lnSpc>
                <a:spcPct val="100000"/>
              </a:lnSpc>
              <a:spcBef>
                <a:spcPts val="300"/>
              </a:spcBef>
              <a:spcAft>
                <a:spcPts val="0"/>
              </a:spcAft>
              <a:buClr>
                <a:srgbClr val="000000"/>
              </a:buClr>
              <a:buSzPts val="900"/>
              <a:buFont typeface="Arial"/>
              <a:buNone/>
            </a:pPr>
            <a:r>
              <a:t/>
            </a:r>
            <a:endParaRPr/>
          </a:p>
        </p:txBody>
      </p:sp>
      <p:sp>
        <p:nvSpPr>
          <p:cNvPr id="163" name="Google Shape;163;p23"/>
          <p:cNvSpPr/>
          <p:nvPr/>
        </p:nvSpPr>
        <p:spPr>
          <a:xfrm>
            <a:off x="6997700" y="3187650"/>
            <a:ext cx="1854300" cy="609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t/>
            </a:r>
            <a:endParaRPr b="1" sz="1050">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3ヶ月</a:t>
            </a:r>
            <a:r>
              <a:rPr b="1" lang="ja" sz="1050">
                <a:solidFill>
                  <a:srgbClr val="1A1A1A"/>
                </a:solidFill>
                <a:latin typeface="M PLUS 1p"/>
                <a:ea typeface="M PLUS 1p"/>
                <a:cs typeface="M PLUS 1p"/>
                <a:sym typeface="M PLUS 1p"/>
              </a:rPr>
              <a:t>後</a:t>
            </a:r>
            <a:r>
              <a:rPr b="1" i="0" lang="ja" sz="1050" u="none" cap="none" strike="noStrike">
                <a:solidFill>
                  <a:srgbClr val="1A1A1A"/>
                </a:solidFill>
                <a:latin typeface="M PLUS 1p"/>
                <a:ea typeface="M PLUS 1p"/>
                <a:cs typeface="M PLUS 1p"/>
                <a:sym typeface="M PLUS 1p"/>
              </a:rPr>
              <a:t>継続</a:t>
            </a:r>
            <a:r>
              <a:rPr b="1" lang="ja" sz="1050">
                <a:solidFill>
                  <a:srgbClr val="1A1A1A"/>
                </a:solidFill>
                <a:latin typeface="M PLUS 1p"/>
                <a:ea typeface="M PLUS 1p"/>
                <a:cs typeface="M PLUS 1p"/>
                <a:sym typeface="M PLUS 1p"/>
              </a:rPr>
              <a:t>率</a:t>
            </a:r>
            <a:r>
              <a:rPr b="1" i="0" lang="ja" sz="1050" u="none" cap="none" strike="noStrike">
                <a:solidFill>
                  <a:srgbClr val="1A1A1A"/>
                </a:solidFill>
                <a:latin typeface="M PLUS 1p"/>
                <a:ea typeface="M PLUS 1p"/>
                <a:cs typeface="M PLUS 1p"/>
                <a:sym typeface="M PLUS 1p"/>
              </a:rPr>
              <a:t> </a:t>
            </a:r>
            <a:endParaRPr b="1" i="0" sz="1050" u="none" cap="none" strike="noStrike">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35% → 45%</a:t>
            </a:r>
            <a:endParaRPr/>
          </a:p>
          <a:p>
            <a:pPr indent="0" lvl="0" marL="0" marR="0" rtl="0" algn="ctr">
              <a:lnSpc>
                <a:spcPct val="100000"/>
              </a:lnSpc>
              <a:spcBef>
                <a:spcPts val="300"/>
              </a:spcBef>
              <a:spcAft>
                <a:spcPts val="0"/>
              </a:spcAft>
              <a:buClr>
                <a:srgbClr val="000000"/>
              </a:buClr>
              <a:buSzPts val="900"/>
              <a:buFont typeface="Arial"/>
              <a:buNone/>
            </a:pPr>
            <a:r>
              <a:t/>
            </a:r>
            <a:endParaRPr/>
          </a:p>
        </p:txBody>
      </p:sp>
      <p:sp>
        <p:nvSpPr>
          <p:cNvPr id="164" name="Google Shape;164;p23"/>
          <p:cNvSpPr/>
          <p:nvPr/>
        </p:nvSpPr>
        <p:spPr>
          <a:xfrm>
            <a:off x="279400" y="3810000"/>
            <a:ext cx="990600" cy="685800"/>
          </a:xfrm>
          <a:prstGeom prst="rect">
            <a:avLst/>
          </a:prstGeom>
          <a:solidFill>
            <a:srgbClr val="1A1A1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FFD100"/>
                </a:solidFill>
                <a:latin typeface="M PLUS 1p"/>
                <a:ea typeface="M PLUS 1p"/>
                <a:cs typeface="M PLUS 1p"/>
                <a:sym typeface="M PLUS 1p"/>
              </a:rPr>
              <a:t>施策の</a:t>
            </a:r>
            <a:endParaRPr/>
          </a:p>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FFD100"/>
                </a:solidFill>
                <a:latin typeface="M PLUS 1p"/>
                <a:ea typeface="M PLUS 1p"/>
                <a:cs typeface="M PLUS 1p"/>
                <a:sym typeface="M PLUS 1p"/>
              </a:rPr>
              <a:t>ポイント</a:t>
            </a:r>
            <a:endParaRPr/>
          </a:p>
        </p:txBody>
      </p:sp>
      <p:sp>
        <p:nvSpPr>
          <p:cNvPr id="165" name="Google Shape;165;p23"/>
          <p:cNvSpPr/>
          <p:nvPr/>
        </p:nvSpPr>
        <p:spPr>
          <a:xfrm>
            <a:off x="1397000" y="3810000"/>
            <a:ext cx="3695700" cy="685800"/>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0" lIns="127000" spcFirstLastPara="1" rIns="12700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翌月継続スコア｜発射台〜翌月着地</a:t>
            </a:r>
            <a:endParaRPr/>
          </a:p>
          <a:p>
            <a:pPr indent="0" lvl="0" marL="0" marR="0" rtl="0" algn="l">
              <a:lnSpc>
                <a:spcPct val="100000"/>
              </a:lnSpc>
              <a:spcBef>
                <a:spcPts val="300"/>
              </a:spcBef>
              <a:spcAft>
                <a:spcPts val="0"/>
              </a:spcAft>
              <a:buClr>
                <a:srgbClr val="000000"/>
              </a:buClr>
              <a:buSzPts val="900"/>
              <a:buFont typeface="Arial"/>
              <a:buNone/>
            </a:pPr>
            <a:r>
              <a:rPr b="0" i="0" lang="ja" sz="900" u="none" cap="none" strike="noStrike">
                <a:solidFill>
                  <a:srgbClr val="434343"/>
                </a:solidFill>
                <a:latin typeface="M PLUS 1p"/>
                <a:ea typeface="M PLUS 1p"/>
                <a:cs typeface="M PLUS 1p"/>
                <a:sym typeface="M PLUS 1p"/>
              </a:rPr>
              <a:t>追加ひな形作成・当月2回募集</a:t>
            </a:r>
            <a:endParaRPr/>
          </a:p>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rgbClr val="434343"/>
                </a:solidFill>
                <a:latin typeface="M PLUS 1p"/>
                <a:ea typeface="M PLUS 1p"/>
                <a:cs typeface="M PLUS 1p"/>
                <a:sym typeface="M PLUS 1p"/>
              </a:rPr>
              <a:t>レビュー／未評価解消・お気に入り登録</a:t>
            </a:r>
            <a:endParaRPr/>
          </a:p>
        </p:txBody>
      </p:sp>
      <p:sp>
        <p:nvSpPr>
          <p:cNvPr id="166" name="Google Shape;166;p23"/>
          <p:cNvSpPr/>
          <p:nvPr/>
        </p:nvSpPr>
        <p:spPr>
          <a:xfrm>
            <a:off x="5168900" y="3810000"/>
            <a:ext cx="3695700" cy="685800"/>
          </a:xfrm>
          <a:prstGeom prst="rect">
            <a:avLst/>
          </a:prstGeom>
          <a:solidFill>
            <a:srgbClr val="F5F5F5"/>
          </a:solidFill>
          <a:ln cap="flat" cmpd="sng" w="12700">
            <a:solidFill>
              <a:srgbClr val="404040"/>
            </a:solidFill>
            <a:prstDash val="solid"/>
            <a:round/>
            <a:headEnd len="sm" w="sm" type="none"/>
            <a:tailEnd len="sm" w="sm" type="none"/>
          </a:ln>
        </p:spPr>
        <p:txBody>
          <a:bodyPr anchorCtr="0" anchor="ctr" bIns="0" lIns="127000" spcFirstLastPara="1" rIns="12700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3ヶ月継続スコア｜2ヶ月〜3ヶ月</a:t>
            </a:r>
            <a:endParaRPr/>
          </a:p>
          <a:p>
            <a:pPr indent="0" lvl="0" marL="0" marR="0" rtl="0" algn="l">
              <a:lnSpc>
                <a:spcPct val="100000"/>
              </a:lnSpc>
              <a:spcBef>
                <a:spcPts val="300"/>
              </a:spcBef>
              <a:spcAft>
                <a:spcPts val="0"/>
              </a:spcAft>
              <a:buClr>
                <a:srgbClr val="000000"/>
              </a:buClr>
              <a:buSzPts val="900"/>
              <a:buFont typeface="Arial"/>
              <a:buNone/>
            </a:pPr>
            <a:r>
              <a:rPr b="0" i="0" lang="ja" sz="900" u="none" cap="none" strike="noStrike">
                <a:solidFill>
                  <a:srgbClr val="434343"/>
                </a:solidFill>
                <a:latin typeface="M PLUS 1p"/>
                <a:ea typeface="M PLUS 1p"/>
                <a:cs typeface="M PLUS 1p"/>
                <a:sym typeface="M PLUS 1p"/>
              </a:rPr>
              <a:t>追加したひな形の利用・グループ限定公開</a:t>
            </a:r>
            <a:endParaRPr/>
          </a:p>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rgbClr val="434343"/>
                </a:solidFill>
                <a:latin typeface="M PLUS 1p"/>
                <a:ea typeface="M PLUS 1p"/>
                <a:cs typeface="M PLUS 1p"/>
                <a:sym typeface="M PLUS 1p"/>
              </a:rPr>
              <a:t>新規AA開設・レビュー／未評価解消</a:t>
            </a:r>
            <a:endParaRPr/>
          </a:p>
        </p:txBody>
      </p:sp>
      <p:sp>
        <p:nvSpPr>
          <p:cNvPr id="167" name="Google Shape;167;p23"/>
          <p:cNvSpPr/>
          <p:nvPr/>
        </p:nvSpPr>
        <p:spPr>
          <a:xfrm>
            <a:off x="279400" y="4597400"/>
            <a:ext cx="8598000" cy="20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※数字は仮置き。残存率＝当月の継続率÷前月の継続率（現状 75%・78%、施策後 79%・82%）。円の上下位置は値に比例しないイメージ図。</a:t>
            </a:r>
            <a:endParaRPr/>
          </a:p>
        </p:txBody>
      </p:sp>
      <p:sp>
        <p:nvSpPr>
          <p:cNvPr id="168" name="Google Shape;168;p23"/>
          <p:cNvSpPr/>
          <p:nvPr/>
        </p:nvSpPr>
        <p:spPr>
          <a:xfrm>
            <a:off x="3733225" y="2378575"/>
            <a:ext cx="923700" cy="796500"/>
          </a:xfrm>
          <a:prstGeom prst="rect">
            <a:avLst/>
          </a:prstGeom>
          <a:no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3"/>
          <p:cNvSpPr/>
          <p:nvPr/>
        </p:nvSpPr>
        <p:spPr>
          <a:xfrm>
            <a:off x="1885276" y="1387975"/>
            <a:ext cx="923700" cy="796500"/>
          </a:xfrm>
          <a:prstGeom prst="rect">
            <a:avLst/>
          </a:prstGeom>
          <a:noFill/>
          <a:ln cap="flat" cmpd="sng" w="9525">
            <a:solidFill>
              <a:srgbClr val="D930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3"/>
          <p:cNvSpPr/>
          <p:nvPr/>
        </p:nvSpPr>
        <p:spPr>
          <a:xfrm rot="1448614">
            <a:off x="2996416" y="2075389"/>
            <a:ext cx="549356" cy="459376"/>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3"/>
          <p:cNvSpPr txBox="1"/>
          <p:nvPr/>
        </p:nvSpPr>
        <p:spPr>
          <a:xfrm>
            <a:off x="2968050" y="1796600"/>
            <a:ext cx="1171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rgbClr val="D93025"/>
                </a:solidFill>
              </a:rPr>
              <a:t>営業注力</a:t>
            </a:r>
            <a:endParaRPr sz="600">
              <a:solidFill>
                <a:srgbClr val="D93025"/>
              </a:solidFill>
            </a:endParaRPr>
          </a:p>
          <a:p>
            <a:pPr indent="0" lvl="0" marL="0" rtl="0" algn="l">
              <a:spcBef>
                <a:spcPts val="0"/>
              </a:spcBef>
              <a:spcAft>
                <a:spcPts val="0"/>
              </a:spcAft>
              <a:buNone/>
            </a:pPr>
            <a:r>
              <a:rPr lang="ja" sz="600">
                <a:solidFill>
                  <a:srgbClr val="D93025"/>
                </a:solidFill>
              </a:rPr>
              <a:t>箇所を変更</a:t>
            </a:r>
            <a:endParaRPr sz="600">
              <a:solidFill>
                <a:srgbClr val="D9302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24"/>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4"/>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4"/>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本資料の流れ</a:t>
            </a:r>
            <a:endParaRPr b="0" i="0" sz="1500" u="none" cap="none" strike="noStrike">
              <a:solidFill>
                <a:srgbClr val="000000"/>
              </a:solidFill>
              <a:latin typeface="Arial"/>
              <a:ea typeface="Arial"/>
              <a:cs typeface="Arial"/>
              <a:sym typeface="Arial"/>
            </a:endParaRPr>
          </a:p>
        </p:txBody>
      </p:sp>
      <p:sp>
        <p:nvSpPr>
          <p:cNvPr id="180" name="Google Shape;180;p24"/>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181" name="Google Shape;181;p24"/>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182" name="Google Shape;182;p24"/>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2</a:t>
            </a:r>
            <a:endParaRPr b="0" i="0" sz="800" u="none" cap="none" strike="noStrike">
              <a:solidFill>
                <a:srgbClr val="000000"/>
              </a:solidFill>
              <a:latin typeface="Arial"/>
              <a:ea typeface="Arial"/>
              <a:cs typeface="Arial"/>
              <a:sym typeface="Arial"/>
            </a:endParaRPr>
          </a:p>
        </p:txBody>
      </p:sp>
      <p:sp>
        <p:nvSpPr>
          <p:cNvPr id="183" name="Google Shape;183;p24"/>
          <p:cNvSpPr txBox="1"/>
          <p:nvPr/>
        </p:nvSpPr>
        <p:spPr>
          <a:xfrm>
            <a:off x="274325" y="621800"/>
            <a:ext cx="87495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「現在地 → 積み上げてきた運用の課題 → 旧スコアリング → 分かったこと → 10月からの変更 → 3ヶ月ONBへ」の順で共有します</a:t>
            </a:r>
            <a:endParaRPr b="0" i="0" sz="1150" u="none" cap="none" strike="noStrike">
              <a:solidFill>
                <a:srgbClr val="4A86E8"/>
              </a:solidFill>
              <a:latin typeface="Arial"/>
              <a:ea typeface="Arial"/>
              <a:cs typeface="Arial"/>
              <a:sym typeface="Arial"/>
            </a:endParaRPr>
          </a:p>
        </p:txBody>
      </p:sp>
      <p:sp>
        <p:nvSpPr>
          <p:cNvPr id="184" name="Google Shape;184;p24"/>
          <p:cNvSpPr/>
          <p:nvPr/>
        </p:nvSpPr>
        <p:spPr>
          <a:xfrm>
            <a:off x="274320" y="1143000"/>
            <a:ext cx="2011680" cy="36576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4"/>
          <p:cNvSpPr txBox="1"/>
          <p:nvPr/>
        </p:nvSpPr>
        <p:spPr>
          <a:xfrm>
            <a:off x="274320" y="1143000"/>
            <a:ext cx="2011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FFFFFF"/>
                </a:solidFill>
                <a:latin typeface="M PLUS 1p"/>
                <a:ea typeface="M PLUS 1p"/>
                <a:cs typeface="M PLUS 1p"/>
                <a:sym typeface="M PLUS 1p"/>
              </a:rPr>
              <a:t>現在地</a:t>
            </a:r>
            <a:endParaRPr b="0" i="0" sz="1100" u="none" cap="none" strike="noStrike">
              <a:solidFill>
                <a:srgbClr val="000000"/>
              </a:solidFill>
              <a:latin typeface="Arial"/>
              <a:ea typeface="Arial"/>
              <a:cs typeface="Arial"/>
              <a:sym typeface="Arial"/>
            </a:endParaRPr>
          </a:p>
        </p:txBody>
      </p:sp>
      <p:sp>
        <p:nvSpPr>
          <p:cNvPr id="186" name="Google Shape;186;p24"/>
          <p:cNvSpPr/>
          <p:nvPr/>
        </p:nvSpPr>
        <p:spPr>
          <a:xfrm>
            <a:off x="274320" y="1508760"/>
            <a:ext cx="2011680" cy="28803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4"/>
          <p:cNvSpPr/>
          <p:nvPr/>
        </p:nvSpPr>
        <p:spPr>
          <a:xfrm>
            <a:off x="384048" y="164592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4"/>
          <p:cNvSpPr txBox="1"/>
          <p:nvPr/>
        </p:nvSpPr>
        <p:spPr>
          <a:xfrm>
            <a:off x="384048" y="164592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01</a:t>
            </a:r>
            <a:endParaRPr b="0" i="0" sz="900" u="none" cap="none" strike="noStrike">
              <a:solidFill>
                <a:srgbClr val="000000"/>
              </a:solidFill>
              <a:latin typeface="Arial"/>
              <a:ea typeface="Arial"/>
              <a:cs typeface="Arial"/>
              <a:sym typeface="Arial"/>
            </a:endParaRPr>
          </a:p>
        </p:txBody>
      </p:sp>
      <p:sp>
        <p:nvSpPr>
          <p:cNvPr id="189" name="Google Shape;189;p24"/>
          <p:cNvSpPr txBox="1"/>
          <p:nvPr/>
        </p:nvSpPr>
        <p:spPr>
          <a:xfrm>
            <a:off x="749808" y="160934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現在の立ち位置・実績</a:t>
            </a:r>
            <a:endParaRPr b="0" i="0" sz="950" u="none" cap="none" strike="noStrike">
              <a:solidFill>
                <a:srgbClr val="000000"/>
              </a:solidFill>
              <a:latin typeface="Arial"/>
              <a:ea typeface="Arial"/>
              <a:cs typeface="Arial"/>
              <a:sym typeface="Arial"/>
            </a:endParaRPr>
          </a:p>
        </p:txBody>
      </p:sp>
      <p:sp>
        <p:nvSpPr>
          <p:cNvPr id="190" name="Google Shape;190;p24"/>
          <p:cNvSpPr/>
          <p:nvPr/>
        </p:nvSpPr>
        <p:spPr>
          <a:xfrm>
            <a:off x="384048" y="251460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4"/>
          <p:cNvSpPr txBox="1"/>
          <p:nvPr/>
        </p:nvSpPr>
        <p:spPr>
          <a:xfrm>
            <a:off x="384048" y="251460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02</a:t>
            </a:r>
            <a:endParaRPr b="0" i="0" sz="900" u="none" cap="none" strike="noStrike">
              <a:solidFill>
                <a:srgbClr val="000000"/>
              </a:solidFill>
              <a:latin typeface="Arial"/>
              <a:ea typeface="Arial"/>
              <a:cs typeface="Arial"/>
              <a:sym typeface="Arial"/>
            </a:endParaRPr>
          </a:p>
        </p:txBody>
      </p:sp>
      <p:sp>
        <p:nvSpPr>
          <p:cNvPr id="192" name="Google Shape;192;p24"/>
          <p:cNvSpPr txBox="1"/>
          <p:nvPr/>
        </p:nvSpPr>
        <p:spPr>
          <a:xfrm>
            <a:off x="749808" y="247802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翌月継続率を改善してきた背景／現状運用</a:t>
            </a:r>
            <a:endParaRPr b="0" i="0" sz="950" u="none" cap="none" strike="noStrike">
              <a:solidFill>
                <a:srgbClr val="000000"/>
              </a:solidFill>
              <a:latin typeface="Arial"/>
              <a:ea typeface="Arial"/>
              <a:cs typeface="Arial"/>
              <a:sym typeface="Arial"/>
            </a:endParaRPr>
          </a:p>
        </p:txBody>
      </p:sp>
      <p:sp>
        <p:nvSpPr>
          <p:cNvPr id="193" name="Google Shape;193;p24"/>
          <p:cNvSpPr/>
          <p:nvPr/>
        </p:nvSpPr>
        <p:spPr>
          <a:xfrm>
            <a:off x="384048" y="338328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4"/>
          <p:cNvSpPr txBox="1"/>
          <p:nvPr/>
        </p:nvSpPr>
        <p:spPr>
          <a:xfrm>
            <a:off x="384048" y="338328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03</a:t>
            </a:r>
            <a:endParaRPr b="0" i="0" sz="900" u="none" cap="none" strike="noStrike">
              <a:solidFill>
                <a:srgbClr val="000000"/>
              </a:solidFill>
              <a:latin typeface="Arial"/>
              <a:ea typeface="Arial"/>
              <a:cs typeface="Arial"/>
              <a:sym typeface="Arial"/>
            </a:endParaRPr>
          </a:p>
        </p:txBody>
      </p:sp>
      <p:sp>
        <p:nvSpPr>
          <p:cNvPr id="195" name="Google Shape;195;p24"/>
          <p:cNvSpPr txBox="1"/>
          <p:nvPr/>
        </p:nvSpPr>
        <p:spPr>
          <a:xfrm>
            <a:off x="749808" y="334670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管理・追客が増え、構造的な課題が出てきた</a:t>
            </a:r>
            <a:endParaRPr b="0" i="0" sz="950" u="none" cap="none" strike="noStrike">
              <a:solidFill>
                <a:srgbClr val="000000"/>
              </a:solidFill>
              <a:latin typeface="Arial"/>
              <a:ea typeface="Arial"/>
              <a:cs typeface="Arial"/>
              <a:sym typeface="Arial"/>
            </a:endParaRPr>
          </a:p>
        </p:txBody>
      </p:sp>
      <p:sp>
        <p:nvSpPr>
          <p:cNvPr id="196" name="Google Shape;196;p24"/>
          <p:cNvSpPr/>
          <p:nvPr/>
        </p:nvSpPr>
        <p:spPr>
          <a:xfrm>
            <a:off x="2377440" y="1143000"/>
            <a:ext cx="2011680" cy="36576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4"/>
          <p:cNvSpPr txBox="1"/>
          <p:nvPr/>
        </p:nvSpPr>
        <p:spPr>
          <a:xfrm>
            <a:off x="2377440" y="1143000"/>
            <a:ext cx="2011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FFFFFF"/>
                </a:solidFill>
                <a:latin typeface="M PLUS 1p"/>
                <a:ea typeface="M PLUS 1p"/>
                <a:cs typeface="M PLUS 1p"/>
                <a:sym typeface="M PLUS 1p"/>
              </a:rPr>
              <a:t>旧スコアリング</a:t>
            </a:r>
            <a:endParaRPr b="0" i="0" sz="1100" u="none" cap="none" strike="noStrike">
              <a:solidFill>
                <a:srgbClr val="000000"/>
              </a:solidFill>
              <a:latin typeface="Arial"/>
              <a:ea typeface="Arial"/>
              <a:cs typeface="Arial"/>
              <a:sym typeface="Arial"/>
            </a:endParaRPr>
          </a:p>
        </p:txBody>
      </p:sp>
      <p:sp>
        <p:nvSpPr>
          <p:cNvPr id="198" name="Google Shape;198;p24"/>
          <p:cNvSpPr/>
          <p:nvPr/>
        </p:nvSpPr>
        <p:spPr>
          <a:xfrm>
            <a:off x="2377440" y="1508760"/>
            <a:ext cx="2011680" cy="28803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4"/>
          <p:cNvSpPr/>
          <p:nvPr/>
        </p:nvSpPr>
        <p:spPr>
          <a:xfrm>
            <a:off x="2487168" y="164592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
          <p:cNvSpPr txBox="1"/>
          <p:nvPr/>
        </p:nvSpPr>
        <p:spPr>
          <a:xfrm>
            <a:off x="2487168" y="164592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04</a:t>
            </a:r>
            <a:endParaRPr b="0" i="0" sz="900" u="none" cap="none" strike="noStrike">
              <a:solidFill>
                <a:srgbClr val="000000"/>
              </a:solidFill>
              <a:latin typeface="Arial"/>
              <a:ea typeface="Arial"/>
              <a:cs typeface="Arial"/>
              <a:sym typeface="Arial"/>
            </a:endParaRPr>
          </a:p>
        </p:txBody>
      </p:sp>
      <p:sp>
        <p:nvSpPr>
          <p:cNvPr id="201" name="Google Shape;201;p24"/>
          <p:cNvSpPr txBox="1"/>
          <p:nvPr/>
        </p:nvSpPr>
        <p:spPr>
          <a:xfrm>
            <a:off x="2852928" y="160934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課題解決のために設計した「継続確率を当てる」スコアリング</a:t>
            </a:r>
            <a:endParaRPr b="0" i="0" sz="950" u="none" cap="none" strike="noStrike">
              <a:solidFill>
                <a:srgbClr val="000000"/>
              </a:solidFill>
              <a:latin typeface="Arial"/>
              <a:ea typeface="Arial"/>
              <a:cs typeface="Arial"/>
              <a:sym typeface="Arial"/>
            </a:endParaRPr>
          </a:p>
        </p:txBody>
      </p:sp>
      <p:sp>
        <p:nvSpPr>
          <p:cNvPr id="202" name="Google Shape;202;p24"/>
          <p:cNvSpPr/>
          <p:nvPr/>
        </p:nvSpPr>
        <p:spPr>
          <a:xfrm>
            <a:off x="2487168" y="251460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4"/>
          <p:cNvSpPr txBox="1"/>
          <p:nvPr/>
        </p:nvSpPr>
        <p:spPr>
          <a:xfrm>
            <a:off x="2487168" y="251460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05</a:t>
            </a:r>
            <a:endParaRPr b="0" i="0" sz="900" u="none" cap="none" strike="noStrike">
              <a:solidFill>
                <a:srgbClr val="000000"/>
              </a:solidFill>
              <a:latin typeface="Arial"/>
              <a:ea typeface="Arial"/>
              <a:cs typeface="Arial"/>
              <a:sym typeface="Arial"/>
            </a:endParaRPr>
          </a:p>
        </p:txBody>
      </p:sp>
      <p:sp>
        <p:nvSpPr>
          <p:cNvPr id="204" name="Google Shape;204;p24"/>
          <p:cNvSpPr txBox="1"/>
          <p:nvPr/>
        </p:nvSpPr>
        <p:spPr>
          <a:xfrm>
            <a:off x="2852928" y="247802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実際に運用して分かった課題</a:t>
            </a:r>
            <a:endParaRPr b="0" i="0" sz="950" u="none" cap="none" strike="noStrike">
              <a:solidFill>
                <a:srgbClr val="000000"/>
              </a:solidFill>
              <a:latin typeface="Arial"/>
              <a:ea typeface="Arial"/>
              <a:cs typeface="Arial"/>
              <a:sym typeface="Arial"/>
            </a:endParaRPr>
          </a:p>
        </p:txBody>
      </p:sp>
      <p:sp>
        <p:nvSpPr>
          <p:cNvPr id="205" name="Google Shape;205;p24"/>
          <p:cNvSpPr/>
          <p:nvPr/>
        </p:nvSpPr>
        <p:spPr>
          <a:xfrm>
            <a:off x="4480560" y="1143000"/>
            <a:ext cx="201168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4"/>
          <p:cNvSpPr txBox="1"/>
          <p:nvPr/>
        </p:nvSpPr>
        <p:spPr>
          <a:xfrm>
            <a:off x="4480560" y="1143000"/>
            <a:ext cx="2011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10月から</a:t>
            </a:r>
            <a:endParaRPr b="0" i="0" sz="1100" u="none" cap="none" strike="noStrike">
              <a:solidFill>
                <a:srgbClr val="000000"/>
              </a:solidFill>
              <a:latin typeface="Arial"/>
              <a:ea typeface="Arial"/>
              <a:cs typeface="Arial"/>
              <a:sym typeface="Arial"/>
            </a:endParaRPr>
          </a:p>
        </p:txBody>
      </p:sp>
      <p:sp>
        <p:nvSpPr>
          <p:cNvPr id="207" name="Google Shape;207;p24"/>
          <p:cNvSpPr/>
          <p:nvPr/>
        </p:nvSpPr>
        <p:spPr>
          <a:xfrm>
            <a:off x="4480560" y="1508760"/>
            <a:ext cx="2011680" cy="2880360"/>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4"/>
          <p:cNvSpPr/>
          <p:nvPr/>
        </p:nvSpPr>
        <p:spPr>
          <a:xfrm>
            <a:off x="4590288" y="164592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4"/>
          <p:cNvSpPr txBox="1"/>
          <p:nvPr/>
        </p:nvSpPr>
        <p:spPr>
          <a:xfrm>
            <a:off x="4590288" y="164592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06</a:t>
            </a:r>
            <a:endParaRPr b="0" i="0" sz="900" u="none" cap="none" strike="noStrike">
              <a:solidFill>
                <a:srgbClr val="000000"/>
              </a:solidFill>
              <a:latin typeface="Arial"/>
              <a:ea typeface="Arial"/>
              <a:cs typeface="Arial"/>
              <a:sym typeface="Arial"/>
            </a:endParaRPr>
          </a:p>
        </p:txBody>
      </p:sp>
      <p:sp>
        <p:nvSpPr>
          <p:cNvPr id="210" name="Google Shape;210;p24"/>
          <p:cNvSpPr txBox="1"/>
          <p:nvPr/>
        </p:nvSpPr>
        <p:spPr>
          <a:xfrm>
            <a:off x="4956048" y="160934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「継続確率を当てる」→</a:t>
            </a:r>
            <a:endParaRPr b="0" i="0" sz="9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「ONB卒業状態をつくる」へ変更</a:t>
            </a:r>
            <a:endParaRPr b="0" i="0" sz="950" u="none" cap="none" strike="noStrike">
              <a:solidFill>
                <a:srgbClr val="000000"/>
              </a:solidFill>
              <a:latin typeface="Arial"/>
              <a:ea typeface="Arial"/>
              <a:cs typeface="Arial"/>
              <a:sym typeface="Arial"/>
            </a:endParaRPr>
          </a:p>
        </p:txBody>
      </p:sp>
      <p:sp>
        <p:nvSpPr>
          <p:cNvPr id="211" name="Google Shape;211;p24"/>
          <p:cNvSpPr/>
          <p:nvPr/>
        </p:nvSpPr>
        <p:spPr>
          <a:xfrm>
            <a:off x="4590288" y="251460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4"/>
          <p:cNvSpPr txBox="1"/>
          <p:nvPr/>
        </p:nvSpPr>
        <p:spPr>
          <a:xfrm>
            <a:off x="4590288" y="251460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07</a:t>
            </a:r>
            <a:endParaRPr b="0" i="0" sz="900" u="none" cap="none" strike="noStrike">
              <a:solidFill>
                <a:srgbClr val="000000"/>
              </a:solidFill>
              <a:latin typeface="Arial"/>
              <a:ea typeface="Arial"/>
              <a:cs typeface="Arial"/>
              <a:sym typeface="Arial"/>
            </a:endParaRPr>
          </a:p>
        </p:txBody>
      </p:sp>
      <p:sp>
        <p:nvSpPr>
          <p:cNvPr id="213" name="Google Shape;213;p24"/>
          <p:cNvSpPr txBox="1"/>
          <p:nvPr/>
        </p:nvSpPr>
        <p:spPr>
          <a:xfrm>
            <a:off x="4956048" y="247802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当月で自走の土台をつくる（卒業条件・現場の動き・KPI・PoC）</a:t>
            </a:r>
            <a:endParaRPr b="0" i="0" sz="950" u="none" cap="none" strike="noStrike">
              <a:solidFill>
                <a:srgbClr val="000000"/>
              </a:solidFill>
              <a:latin typeface="Arial"/>
              <a:ea typeface="Arial"/>
              <a:cs typeface="Arial"/>
              <a:sym typeface="Arial"/>
            </a:endParaRPr>
          </a:p>
        </p:txBody>
      </p:sp>
      <p:sp>
        <p:nvSpPr>
          <p:cNvPr id="214" name="Google Shape;214;p24"/>
          <p:cNvSpPr/>
          <p:nvPr/>
        </p:nvSpPr>
        <p:spPr>
          <a:xfrm>
            <a:off x="6583680" y="1143000"/>
            <a:ext cx="201168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4"/>
          <p:cNvSpPr txBox="1"/>
          <p:nvPr/>
        </p:nvSpPr>
        <p:spPr>
          <a:xfrm>
            <a:off x="6583680" y="1143000"/>
            <a:ext cx="2011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3ヶ月ONBへ</a:t>
            </a:r>
            <a:endParaRPr b="0" i="0" sz="1100" u="none" cap="none" strike="noStrike">
              <a:solidFill>
                <a:srgbClr val="000000"/>
              </a:solidFill>
              <a:latin typeface="Arial"/>
              <a:ea typeface="Arial"/>
              <a:cs typeface="Arial"/>
              <a:sym typeface="Arial"/>
            </a:endParaRPr>
          </a:p>
        </p:txBody>
      </p:sp>
      <p:sp>
        <p:nvSpPr>
          <p:cNvPr id="216" name="Google Shape;216;p24"/>
          <p:cNvSpPr/>
          <p:nvPr/>
        </p:nvSpPr>
        <p:spPr>
          <a:xfrm>
            <a:off x="6583680" y="1508760"/>
            <a:ext cx="2011680" cy="2880360"/>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4"/>
          <p:cNvSpPr/>
          <p:nvPr/>
        </p:nvSpPr>
        <p:spPr>
          <a:xfrm>
            <a:off x="6693408" y="164592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txBox="1"/>
          <p:nvPr/>
        </p:nvSpPr>
        <p:spPr>
          <a:xfrm>
            <a:off x="6693408" y="164592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08</a:t>
            </a:r>
            <a:endParaRPr b="0" i="0" sz="900" u="none" cap="none" strike="noStrike">
              <a:solidFill>
                <a:srgbClr val="000000"/>
              </a:solidFill>
              <a:latin typeface="Arial"/>
              <a:ea typeface="Arial"/>
              <a:cs typeface="Arial"/>
              <a:sym typeface="Arial"/>
            </a:endParaRPr>
          </a:p>
        </p:txBody>
      </p:sp>
      <p:sp>
        <p:nvSpPr>
          <p:cNvPr id="219" name="Google Shape;219;p24"/>
          <p:cNvSpPr txBox="1"/>
          <p:nvPr/>
        </p:nvSpPr>
        <p:spPr>
          <a:xfrm>
            <a:off x="7059168" y="160934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3ヶ月継続までスコアリングを拡張</a:t>
            </a:r>
            <a:endParaRPr b="0" i="0" sz="950" u="none" cap="none" strike="noStrike">
              <a:solidFill>
                <a:srgbClr val="000000"/>
              </a:solidFill>
              <a:latin typeface="Arial"/>
              <a:ea typeface="Arial"/>
              <a:cs typeface="Arial"/>
              <a:sym typeface="Arial"/>
            </a:endParaRPr>
          </a:p>
        </p:txBody>
      </p:sp>
      <p:sp>
        <p:nvSpPr>
          <p:cNvPr id="220" name="Google Shape;220;p24"/>
          <p:cNvSpPr/>
          <p:nvPr/>
        </p:nvSpPr>
        <p:spPr>
          <a:xfrm>
            <a:off x="6693408" y="2514600"/>
            <a:ext cx="310896" cy="310896"/>
          </a:xfrm>
          <a:prstGeom prst="ellipse">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
          <p:cNvSpPr txBox="1"/>
          <p:nvPr/>
        </p:nvSpPr>
        <p:spPr>
          <a:xfrm>
            <a:off x="6693408" y="251460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09</a:t>
            </a:r>
            <a:endParaRPr b="0" i="0" sz="900" u="none" cap="none" strike="noStrike">
              <a:solidFill>
                <a:srgbClr val="000000"/>
              </a:solidFill>
              <a:latin typeface="Arial"/>
              <a:ea typeface="Arial"/>
              <a:cs typeface="Arial"/>
              <a:sym typeface="Arial"/>
            </a:endParaRPr>
          </a:p>
        </p:txBody>
      </p:sp>
      <p:sp>
        <p:nvSpPr>
          <p:cNvPr id="222" name="Google Shape;222;p24"/>
          <p:cNvSpPr txBox="1"/>
          <p:nvPr/>
        </p:nvSpPr>
        <p:spPr>
          <a:xfrm>
            <a:off x="7059168" y="2478024"/>
            <a:ext cx="1463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1A1A1A"/>
                </a:solidFill>
                <a:latin typeface="M PLUS 1p"/>
                <a:ea typeface="M PLUS 1p"/>
                <a:cs typeface="M PLUS 1p"/>
                <a:sym typeface="M PLUS 1p"/>
              </a:rPr>
              <a:t>Human × Worker × Tech で3ヶ月ONB完了を目指す</a:t>
            </a:r>
            <a:endParaRPr b="0" i="0" sz="950" u="none" cap="none" strike="noStrike">
              <a:solidFill>
                <a:srgbClr val="000000"/>
              </a:solidFill>
              <a:latin typeface="Arial"/>
              <a:ea typeface="Arial"/>
              <a:cs typeface="Arial"/>
              <a:sym typeface="Arial"/>
            </a:endParaRPr>
          </a:p>
        </p:txBody>
      </p:sp>
      <p:sp>
        <p:nvSpPr>
          <p:cNvPr id="223" name="Google Shape;223;p24"/>
          <p:cNvSpPr/>
          <p:nvPr/>
        </p:nvSpPr>
        <p:spPr>
          <a:xfrm>
            <a:off x="274320" y="4480560"/>
            <a:ext cx="8595360" cy="310896"/>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a:off x="274320" y="4480560"/>
            <a:ext cx="73152" cy="310896"/>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nvSpPr>
        <p:spPr>
          <a:xfrm>
            <a:off x="457200" y="4480560"/>
            <a:ext cx="83210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本資料は上位レイヤーへの意思決定依頼ではなく、「報告 ＋ 現場への方針共有」です</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25"/>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5"/>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01｜現在の立ち位置｜翌月継続率を中心に改善し、3ヶ月継続率も改善傾向</a:t>
            </a:r>
            <a:endParaRPr b="0" i="0" sz="1500" u="none" cap="none" strike="noStrike">
              <a:solidFill>
                <a:srgbClr val="000000"/>
              </a:solidFill>
              <a:latin typeface="Arial"/>
              <a:ea typeface="Arial"/>
              <a:cs typeface="Arial"/>
              <a:sym typeface="Arial"/>
            </a:endParaRPr>
          </a:p>
        </p:txBody>
      </p:sp>
      <p:sp>
        <p:nvSpPr>
          <p:cNvPr id="234" name="Google Shape;234;p25"/>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235" name="Google Shape;235;p25"/>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236" name="Google Shape;236;p25"/>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3</a:t>
            </a:r>
            <a:endParaRPr b="0" i="0" sz="800" u="none" cap="none" strike="noStrike">
              <a:solidFill>
                <a:srgbClr val="000000"/>
              </a:solidFill>
              <a:latin typeface="Arial"/>
              <a:ea typeface="Arial"/>
              <a:cs typeface="Arial"/>
              <a:sym typeface="Arial"/>
            </a:endParaRPr>
          </a:p>
        </p:txBody>
      </p:sp>
      <p:sp>
        <p:nvSpPr>
          <p:cNvPr id="237" name="Google Shape;237;p25"/>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翌月継続率を中心に改善を進め、一定の成果が出ている。翌月継続率の改善に伴い、3ヶ月継続率も改善傾向にある</a:t>
            </a:r>
            <a:endParaRPr b="0" i="0" sz="1150" u="none" cap="none" strike="noStrike">
              <a:solidFill>
                <a:srgbClr val="4A86E8"/>
              </a:solidFill>
              <a:latin typeface="Arial"/>
              <a:ea typeface="Arial"/>
              <a:cs typeface="Arial"/>
              <a:sym typeface="Arial"/>
            </a:endParaRPr>
          </a:p>
        </p:txBody>
      </p:sp>
      <p:sp>
        <p:nvSpPr>
          <p:cNvPr id="238" name="Google Shape;238;p25"/>
          <p:cNvSpPr txBox="1"/>
          <p:nvPr/>
        </p:nvSpPr>
        <p:spPr>
          <a:xfrm>
            <a:off x="274320" y="1005840"/>
            <a:ext cx="4206240" cy="228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434343"/>
                </a:solidFill>
                <a:latin typeface="M PLUS 1p"/>
                <a:ea typeface="M PLUS 1p"/>
                <a:cs typeface="M PLUS 1p"/>
                <a:sym typeface="M PLUS 1p"/>
              </a:rPr>
              <a:t>翌月継続率の推移</a:t>
            </a:r>
            <a:endParaRPr b="0" i="0" sz="900" u="none" cap="none" strike="noStrike">
              <a:solidFill>
                <a:srgbClr val="000000"/>
              </a:solidFill>
              <a:latin typeface="Arial"/>
              <a:ea typeface="Arial"/>
              <a:cs typeface="Arial"/>
              <a:sym typeface="Arial"/>
            </a:endParaRPr>
          </a:p>
        </p:txBody>
      </p:sp>
      <p:pic>
        <p:nvPicPr>
          <p:cNvPr descr="Google Shape_86_p21.png" id="239" name="Google Shape;239;p25"/>
          <p:cNvPicPr preferRelativeResize="0"/>
          <p:nvPr/>
        </p:nvPicPr>
        <p:blipFill rotWithShape="1">
          <a:blip r:embed="rId3">
            <a:alphaModFix/>
          </a:blip>
          <a:srcRect b="0" l="0" r="0" t="0"/>
          <a:stretch/>
        </p:blipFill>
        <p:spPr>
          <a:xfrm>
            <a:off x="274320" y="1234440"/>
            <a:ext cx="4206240" cy="2688336"/>
          </a:xfrm>
          <a:prstGeom prst="rect">
            <a:avLst/>
          </a:prstGeom>
          <a:noFill/>
          <a:ln>
            <a:noFill/>
          </a:ln>
        </p:spPr>
      </p:pic>
      <p:sp>
        <p:nvSpPr>
          <p:cNvPr id="240" name="Google Shape;240;p25"/>
          <p:cNvSpPr txBox="1"/>
          <p:nvPr/>
        </p:nvSpPr>
        <p:spPr>
          <a:xfrm>
            <a:off x="4663440" y="1005840"/>
            <a:ext cx="4206240" cy="228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434343"/>
                </a:solidFill>
                <a:latin typeface="M PLUS 1p"/>
                <a:ea typeface="M PLUS 1p"/>
                <a:cs typeface="M PLUS 1p"/>
                <a:sym typeface="M PLUS 1p"/>
              </a:rPr>
              <a:t>3ヶ月後継続率の推移</a:t>
            </a:r>
            <a:endParaRPr b="0" i="0" sz="900" u="none" cap="none" strike="noStrike">
              <a:solidFill>
                <a:srgbClr val="000000"/>
              </a:solidFill>
              <a:latin typeface="Arial"/>
              <a:ea typeface="Arial"/>
              <a:cs typeface="Arial"/>
              <a:sym typeface="Arial"/>
            </a:endParaRPr>
          </a:p>
        </p:txBody>
      </p:sp>
      <p:pic>
        <p:nvPicPr>
          <p:cNvPr descr="Google Shape_87_p21.png" id="241" name="Google Shape;241;p25"/>
          <p:cNvPicPr preferRelativeResize="0"/>
          <p:nvPr/>
        </p:nvPicPr>
        <p:blipFill rotWithShape="1">
          <a:blip r:embed="rId4">
            <a:alphaModFix/>
          </a:blip>
          <a:srcRect b="0" l="0" r="0" t="0"/>
          <a:stretch/>
        </p:blipFill>
        <p:spPr>
          <a:xfrm>
            <a:off x="4663440" y="1234440"/>
            <a:ext cx="4206239" cy="2606041"/>
          </a:xfrm>
          <a:prstGeom prst="rect">
            <a:avLst/>
          </a:prstGeom>
          <a:noFill/>
          <a:ln>
            <a:noFill/>
          </a:ln>
        </p:spPr>
      </p:pic>
      <p:sp>
        <p:nvSpPr>
          <p:cNvPr id="242" name="Google Shape;242;p25"/>
          <p:cNvSpPr/>
          <p:nvPr/>
        </p:nvSpPr>
        <p:spPr>
          <a:xfrm>
            <a:off x="274328" y="3950200"/>
            <a:ext cx="4206300" cy="567000"/>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txBox="1"/>
          <p:nvPr/>
        </p:nvSpPr>
        <p:spPr>
          <a:xfrm>
            <a:off x="365760" y="3959352"/>
            <a:ext cx="2560200" cy="1830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434343"/>
                </a:solidFill>
                <a:latin typeface="M PLUS 1p"/>
                <a:ea typeface="M PLUS 1p"/>
                <a:cs typeface="M PLUS 1p"/>
                <a:sym typeface="M PLUS 1p"/>
              </a:rPr>
              <a:t>翌月継続率</a:t>
            </a:r>
            <a:endParaRPr b="0" i="0" sz="750" u="none" cap="none" strike="noStrike">
              <a:solidFill>
                <a:srgbClr val="000000"/>
              </a:solidFill>
              <a:latin typeface="Arial"/>
              <a:ea typeface="Arial"/>
              <a:cs typeface="Arial"/>
              <a:sym typeface="Arial"/>
            </a:endParaRPr>
          </a:p>
        </p:txBody>
      </p:sp>
      <p:sp>
        <p:nvSpPr>
          <p:cNvPr id="244" name="Google Shape;244;p25"/>
          <p:cNvSpPr txBox="1"/>
          <p:nvPr/>
        </p:nvSpPr>
        <p:spPr>
          <a:xfrm>
            <a:off x="365760" y="4114800"/>
            <a:ext cx="2560200" cy="237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300"/>
              <a:buFont typeface="Arial"/>
              <a:buNone/>
            </a:pPr>
            <a:r>
              <a:rPr b="1" i="0" lang="ja" sz="1300" u="none" cap="none" strike="noStrike">
                <a:solidFill>
                  <a:srgbClr val="1A1A1A"/>
                </a:solidFill>
                <a:latin typeface="M PLUS 1p"/>
                <a:ea typeface="M PLUS 1p"/>
                <a:cs typeface="M PLUS 1p"/>
                <a:sym typeface="M PLUS 1p"/>
              </a:rPr>
              <a:t>48.4% → </a:t>
            </a:r>
            <a:r>
              <a:rPr b="1" lang="ja" sz="1300">
                <a:solidFill>
                  <a:srgbClr val="1A1A1A"/>
                </a:solidFill>
                <a:latin typeface="M PLUS 1p"/>
                <a:ea typeface="M PLUS 1p"/>
                <a:cs typeface="M PLUS 1p"/>
                <a:sym typeface="M PLUS 1p"/>
              </a:rPr>
              <a:t>61</a:t>
            </a:r>
            <a:r>
              <a:rPr b="1" i="0" lang="ja" sz="1300" u="none" cap="none" strike="noStrike">
                <a:solidFill>
                  <a:srgbClr val="1A1A1A"/>
                </a:solidFill>
                <a:latin typeface="M PLUS 1p"/>
                <a:ea typeface="M PLUS 1p"/>
                <a:cs typeface="M PLUS 1p"/>
                <a:sym typeface="M PLUS 1p"/>
              </a:rPr>
              <a:t>.6%</a:t>
            </a:r>
            <a:endParaRPr b="0" i="0" sz="1300" u="none" cap="none" strike="noStrike">
              <a:solidFill>
                <a:srgbClr val="000000"/>
              </a:solidFill>
              <a:latin typeface="Arial"/>
              <a:ea typeface="Arial"/>
              <a:cs typeface="Arial"/>
              <a:sym typeface="Arial"/>
            </a:endParaRPr>
          </a:p>
        </p:txBody>
      </p:sp>
      <p:sp>
        <p:nvSpPr>
          <p:cNvPr id="245" name="Google Shape;245;p25"/>
          <p:cNvSpPr txBox="1"/>
          <p:nvPr/>
        </p:nvSpPr>
        <p:spPr>
          <a:xfrm>
            <a:off x="365760" y="4334256"/>
            <a:ext cx="2560200" cy="1830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2024/11 → </a:t>
            </a:r>
            <a:r>
              <a:rPr lang="ja" sz="650">
                <a:solidFill>
                  <a:srgbClr val="767676"/>
                </a:solidFill>
                <a:latin typeface="M PLUS 1p"/>
                <a:ea typeface="M PLUS 1p"/>
                <a:cs typeface="M PLUS 1p"/>
                <a:sym typeface="M PLUS 1p"/>
              </a:rPr>
              <a:t>ギネス</a:t>
            </a:r>
            <a:r>
              <a:rPr b="0" i="0" lang="ja" sz="650" u="none" cap="none" strike="noStrike">
                <a:solidFill>
                  <a:srgbClr val="767676"/>
                </a:solidFill>
                <a:latin typeface="M PLUS 1p"/>
                <a:ea typeface="M PLUS 1p"/>
                <a:cs typeface="M PLUS 1p"/>
                <a:sym typeface="M PLUS 1p"/>
              </a:rPr>
              <a:t>。トレンドラインは右肩上がり</a:t>
            </a:r>
            <a:endParaRPr b="0" i="0" sz="650" u="none" cap="none" strike="noStrike">
              <a:solidFill>
                <a:srgbClr val="000000"/>
              </a:solidFill>
              <a:latin typeface="Arial"/>
              <a:ea typeface="Arial"/>
              <a:cs typeface="Arial"/>
              <a:sym typeface="Arial"/>
            </a:endParaRPr>
          </a:p>
        </p:txBody>
      </p:sp>
      <p:sp>
        <p:nvSpPr>
          <p:cNvPr id="246" name="Google Shape;246;p25"/>
          <p:cNvSpPr/>
          <p:nvPr/>
        </p:nvSpPr>
        <p:spPr>
          <a:xfrm>
            <a:off x="4663410" y="3950175"/>
            <a:ext cx="4206300" cy="567000"/>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
          <p:cNvSpPr txBox="1"/>
          <p:nvPr/>
        </p:nvSpPr>
        <p:spPr>
          <a:xfrm>
            <a:off x="4754858" y="3959315"/>
            <a:ext cx="2560200" cy="1830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434343"/>
                </a:solidFill>
                <a:latin typeface="M PLUS 1p"/>
                <a:ea typeface="M PLUS 1p"/>
                <a:cs typeface="M PLUS 1p"/>
                <a:sym typeface="M PLUS 1p"/>
              </a:rPr>
              <a:t>3ヶ月継続率</a:t>
            </a:r>
            <a:endParaRPr b="0" i="0" sz="750" u="none" cap="none" strike="noStrike">
              <a:solidFill>
                <a:srgbClr val="000000"/>
              </a:solidFill>
              <a:latin typeface="Arial"/>
              <a:ea typeface="Arial"/>
              <a:cs typeface="Arial"/>
              <a:sym typeface="Arial"/>
            </a:endParaRPr>
          </a:p>
        </p:txBody>
      </p:sp>
      <p:sp>
        <p:nvSpPr>
          <p:cNvPr id="248" name="Google Shape;248;p25"/>
          <p:cNvSpPr txBox="1"/>
          <p:nvPr/>
        </p:nvSpPr>
        <p:spPr>
          <a:xfrm>
            <a:off x="4754858" y="4114763"/>
            <a:ext cx="2560200" cy="237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300"/>
              <a:buFont typeface="Arial"/>
              <a:buNone/>
            </a:pPr>
            <a:r>
              <a:rPr b="1" i="0" lang="ja" sz="1300" u="none" cap="none" strike="noStrike">
                <a:solidFill>
                  <a:srgbClr val="1A1A1A"/>
                </a:solidFill>
                <a:latin typeface="M PLUS 1p"/>
                <a:ea typeface="M PLUS 1p"/>
                <a:cs typeface="M PLUS 1p"/>
                <a:sym typeface="M PLUS 1p"/>
              </a:rPr>
              <a:t>31.8% → 3</a:t>
            </a:r>
            <a:r>
              <a:rPr b="1" lang="ja" sz="1300">
                <a:solidFill>
                  <a:srgbClr val="1A1A1A"/>
                </a:solidFill>
                <a:latin typeface="M PLUS 1p"/>
                <a:ea typeface="M PLUS 1p"/>
                <a:cs typeface="M PLUS 1p"/>
                <a:sym typeface="M PLUS 1p"/>
              </a:rPr>
              <a:t>7</a:t>
            </a:r>
            <a:r>
              <a:rPr b="1" i="0" lang="ja" sz="1300" u="none" cap="none" strike="noStrike">
                <a:solidFill>
                  <a:srgbClr val="1A1A1A"/>
                </a:solidFill>
                <a:latin typeface="M PLUS 1p"/>
                <a:ea typeface="M PLUS 1p"/>
                <a:cs typeface="M PLUS 1p"/>
                <a:sym typeface="M PLUS 1p"/>
              </a:rPr>
              <a:t>.4%</a:t>
            </a:r>
            <a:endParaRPr b="0" i="0" sz="1300" u="none" cap="none" strike="noStrike">
              <a:solidFill>
                <a:srgbClr val="000000"/>
              </a:solidFill>
              <a:latin typeface="Arial"/>
              <a:ea typeface="Arial"/>
              <a:cs typeface="Arial"/>
              <a:sym typeface="Arial"/>
            </a:endParaRPr>
          </a:p>
        </p:txBody>
      </p:sp>
      <p:sp>
        <p:nvSpPr>
          <p:cNvPr id="249" name="Google Shape;249;p25"/>
          <p:cNvSpPr txBox="1"/>
          <p:nvPr/>
        </p:nvSpPr>
        <p:spPr>
          <a:xfrm>
            <a:off x="4754858" y="4334219"/>
            <a:ext cx="2560200" cy="1830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直近は35%前後。トレンドラインは緩やかに上昇</a:t>
            </a:r>
            <a:endParaRPr b="0" i="0" sz="650" u="none" cap="none" strike="noStrike">
              <a:solidFill>
                <a:srgbClr val="000000"/>
              </a:solidFill>
              <a:latin typeface="Arial"/>
              <a:ea typeface="Arial"/>
              <a:cs typeface="Arial"/>
              <a:sym typeface="Arial"/>
            </a:endParaRPr>
          </a:p>
        </p:txBody>
      </p:sp>
      <p:sp>
        <p:nvSpPr>
          <p:cNvPr id="250" name="Google Shape;250;p25"/>
          <p:cNvSpPr txBox="1"/>
          <p:nvPr/>
        </p:nvSpPr>
        <p:spPr>
          <a:xfrm>
            <a:off x="274320" y="4572000"/>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数値はグラフ上のラベル値を転記。</a:t>
            </a:r>
            <a:r>
              <a:rPr lang="ja" sz="700">
                <a:solidFill>
                  <a:srgbClr val="767676"/>
                </a:solidFill>
                <a:latin typeface="M PLUS 1p"/>
                <a:ea typeface="M PLUS 1p"/>
                <a:cs typeface="M PLUS 1p"/>
                <a:sym typeface="M PLUS 1p"/>
              </a:rPr>
              <a:t>Low</a:t>
            </a:r>
            <a:r>
              <a:rPr b="0" i="0" lang="ja" sz="700" u="none" cap="none" strike="noStrike">
                <a:solidFill>
                  <a:srgbClr val="767676"/>
                </a:solidFill>
                <a:latin typeface="M PLUS 1p"/>
                <a:ea typeface="M PLUS 1p"/>
                <a:cs typeface="M PLUS 1p"/>
                <a:sym typeface="M PLUS 1p"/>
              </a:rPr>
              <a:t>／</a:t>
            </a:r>
            <a:r>
              <a:rPr lang="ja" sz="700">
                <a:solidFill>
                  <a:srgbClr val="767676"/>
                </a:solidFill>
                <a:latin typeface="M PLUS 1p"/>
                <a:ea typeface="M PLUS 1p"/>
                <a:cs typeface="M PLUS 1p"/>
                <a:sym typeface="M PLUS 1p"/>
              </a:rPr>
              <a:t>High</a:t>
            </a:r>
            <a:r>
              <a:rPr b="0" i="0" lang="ja" sz="700" u="none" cap="none" strike="noStrike">
                <a:solidFill>
                  <a:srgbClr val="767676"/>
                </a:solidFill>
                <a:latin typeface="M PLUS 1p"/>
                <a:ea typeface="M PLUS 1p"/>
                <a:cs typeface="M PLUS 1p"/>
                <a:sym typeface="M PLUS 1p"/>
              </a:rPr>
              <a:t>の区分と継続率定義は元資料に準拠</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26"/>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6"/>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02｜成果を出す一方で増えた、管理とアクション</a:t>
            </a:r>
            <a:endParaRPr b="0" i="0" sz="1500" u="none" cap="none" strike="noStrike">
              <a:solidFill>
                <a:srgbClr val="000000"/>
              </a:solidFill>
              <a:latin typeface="Arial"/>
              <a:ea typeface="Arial"/>
              <a:cs typeface="Arial"/>
              <a:sym typeface="Arial"/>
            </a:endParaRPr>
          </a:p>
        </p:txBody>
      </p:sp>
      <p:sp>
        <p:nvSpPr>
          <p:cNvPr id="259" name="Google Shape;259;p26"/>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260" name="Google Shape;260;p26"/>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261" name="Google Shape;261;p26"/>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4</a:t>
            </a:r>
            <a:endParaRPr b="0" i="0" sz="800" u="none" cap="none" strike="noStrike">
              <a:solidFill>
                <a:srgbClr val="000000"/>
              </a:solidFill>
              <a:latin typeface="Arial"/>
              <a:ea typeface="Arial"/>
              <a:cs typeface="Arial"/>
              <a:sym typeface="Arial"/>
            </a:endParaRPr>
          </a:p>
        </p:txBody>
      </p:sp>
      <p:sp>
        <p:nvSpPr>
          <p:cNvPr id="262" name="Google Shape;262;p26"/>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成果は出ている。ただし、その成果をつくるための管理負荷が高く、構造としてスケールしづらい</a:t>
            </a:r>
            <a:endParaRPr b="0" i="0" sz="1150" u="none" cap="none" strike="noStrike">
              <a:solidFill>
                <a:srgbClr val="4A86E8"/>
              </a:solidFill>
              <a:latin typeface="Arial"/>
              <a:ea typeface="Arial"/>
              <a:cs typeface="Arial"/>
              <a:sym typeface="Arial"/>
            </a:endParaRPr>
          </a:p>
        </p:txBody>
      </p:sp>
      <p:sp>
        <p:nvSpPr>
          <p:cNvPr id="263" name="Google Shape;263;p26"/>
          <p:cNvSpPr txBox="1"/>
          <p:nvPr/>
        </p:nvSpPr>
        <p:spPr>
          <a:xfrm>
            <a:off x="274320" y="1051560"/>
            <a:ext cx="411480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434343"/>
                </a:solidFill>
                <a:latin typeface="M PLUS 1p"/>
                <a:ea typeface="M PLUS 1p"/>
                <a:cs typeface="M PLUS 1p"/>
                <a:sym typeface="M PLUS 1p"/>
              </a:rPr>
              <a:t>成果を出すために積み上げてきた管理・アクション</a:t>
            </a:r>
            <a:endParaRPr b="0" i="0" sz="1050" u="none" cap="none" strike="noStrike">
              <a:solidFill>
                <a:srgbClr val="000000"/>
              </a:solidFill>
              <a:latin typeface="Arial"/>
              <a:ea typeface="Arial"/>
              <a:cs typeface="Arial"/>
              <a:sym typeface="Arial"/>
            </a:endParaRPr>
          </a:p>
        </p:txBody>
      </p:sp>
      <p:sp>
        <p:nvSpPr>
          <p:cNvPr id="264" name="Google Shape;264;p26"/>
          <p:cNvSpPr/>
          <p:nvPr/>
        </p:nvSpPr>
        <p:spPr>
          <a:xfrm>
            <a:off x="274320" y="13716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6"/>
          <p:cNvSpPr txBox="1"/>
          <p:nvPr/>
        </p:nvSpPr>
        <p:spPr>
          <a:xfrm>
            <a:off x="274320" y="13716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lang="ja" sz="850">
                <a:solidFill>
                  <a:srgbClr val="1A1A1A"/>
                </a:solidFill>
                <a:latin typeface="M PLUS 1p"/>
                <a:ea typeface="M PLUS 1p"/>
                <a:cs typeface="M PLUS 1p"/>
                <a:sym typeface="M PLUS 1p"/>
              </a:rPr>
              <a:t>掲載</a:t>
            </a:r>
            <a:r>
              <a:rPr b="0" i="0" lang="ja" sz="850" u="none" cap="none" strike="noStrike">
                <a:solidFill>
                  <a:srgbClr val="1A1A1A"/>
                </a:solidFill>
                <a:latin typeface="M PLUS 1p"/>
                <a:ea typeface="M PLUS 1p"/>
                <a:cs typeface="M PLUS 1p"/>
                <a:sym typeface="M PLUS 1p"/>
              </a:rPr>
              <a:t>ヨミ</a:t>
            </a:r>
            <a:endParaRPr b="0" i="0" sz="850" u="none" cap="none" strike="noStrike">
              <a:solidFill>
                <a:srgbClr val="000000"/>
              </a:solidFill>
              <a:latin typeface="Arial"/>
              <a:ea typeface="Arial"/>
              <a:cs typeface="Arial"/>
              <a:sym typeface="Arial"/>
            </a:endParaRPr>
          </a:p>
        </p:txBody>
      </p:sp>
      <p:sp>
        <p:nvSpPr>
          <p:cNvPr id="266" name="Google Shape;266;p26"/>
          <p:cNvSpPr/>
          <p:nvPr/>
        </p:nvSpPr>
        <p:spPr>
          <a:xfrm>
            <a:off x="1645920" y="13716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6"/>
          <p:cNvSpPr txBox="1"/>
          <p:nvPr/>
        </p:nvSpPr>
        <p:spPr>
          <a:xfrm>
            <a:off x="1645920" y="13716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掲載予定日</a:t>
            </a:r>
            <a:endParaRPr b="0" i="0" sz="850" u="none" cap="none" strike="noStrike">
              <a:solidFill>
                <a:srgbClr val="000000"/>
              </a:solidFill>
              <a:latin typeface="Arial"/>
              <a:ea typeface="Arial"/>
              <a:cs typeface="Arial"/>
              <a:sym typeface="Arial"/>
            </a:endParaRPr>
          </a:p>
        </p:txBody>
      </p:sp>
      <p:sp>
        <p:nvSpPr>
          <p:cNvPr id="268" name="Google Shape;268;p26"/>
          <p:cNvSpPr/>
          <p:nvPr/>
        </p:nvSpPr>
        <p:spPr>
          <a:xfrm>
            <a:off x="3017520" y="13716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6"/>
          <p:cNvSpPr txBox="1"/>
          <p:nvPr/>
        </p:nvSpPr>
        <p:spPr>
          <a:xfrm>
            <a:off x="3017520" y="13716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接触状況</a:t>
            </a:r>
            <a:endParaRPr b="0" i="0" sz="850" u="none" cap="none" strike="noStrike">
              <a:solidFill>
                <a:srgbClr val="000000"/>
              </a:solidFill>
              <a:latin typeface="Arial"/>
              <a:ea typeface="Arial"/>
              <a:cs typeface="Arial"/>
              <a:sym typeface="Arial"/>
            </a:endParaRPr>
          </a:p>
        </p:txBody>
      </p:sp>
      <p:sp>
        <p:nvSpPr>
          <p:cNvPr id="270" name="Google Shape;270;p26"/>
          <p:cNvSpPr/>
          <p:nvPr/>
        </p:nvSpPr>
        <p:spPr>
          <a:xfrm>
            <a:off x="274320" y="18288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
          <p:cNvSpPr txBox="1"/>
          <p:nvPr/>
        </p:nvSpPr>
        <p:spPr>
          <a:xfrm>
            <a:off x="274320" y="18288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放置顧客管理</a:t>
            </a:r>
            <a:endParaRPr b="0" i="0" sz="850" u="none" cap="none" strike="noStrike">
              <a:solidFill>
                <a:srgbClr val="000000"/>
              </a:solidFill>
              <a:latin typeface="Arial"/>
              <a:ea typeface="Arial"/>
              <a:cs typeface="Arial"/>
              <a:sym typeface="Arial"/>
            </a:endParaRPr>
          </a:p>
        </p:txBody>
      </p:sp>
      <p:sp>
        <p:nvSpPr>
          <p:cNvPr id="272" name="Google Shape;272;p26"/>
          <p:cNvSpPr/>
          <p:nvPr/>
        </p:nvSpPr>
        <p:spPr>
          <a:xfrm>
            <a:off x="1645920" y="18288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6"/>
          <p:cNvSpPr txBox="1"/>
          <p:nvPr/>
        </p:nvSpPr>
        <p:spPr>
          <a:xfrm>
            <a:off x="1645920" y="18288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追客</a:t>
            </a:r>
            <a:endParaRPr b="0" i="0" sz="850" u="none" cap="none" strike="noStrike">
              <a:solidFill>
                <a:srgbClr val="000000"/>
              </a:solidFill>
              <a:latin typeface="Arial"/>
              <a:ea typeface="Arial"/>
              <a:cs typeface="Arial"/>
              <a:sym typeface="Arial"/>
            </a:endParaRPr>
          </a:p>
        </p:txBody>
      </p:sp>
      <p:sp>
        <p:nvSpPr>
          <p:cNvPr id="274" name="Google Shape;274;p26"/>
          <p:cNvSpPr/>
          <p:nvPr/>
        </p:nvSpPr>
        <p:spPr>
          <a:xfrm>
            <a:off x="3017520" y="18288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6"/>
          <p:cNvSpPr txBox="1"/>
          <p:nvPr/>
        </p:nvSpPr>
        <p:spPr>
          <a:xfrm>
            <a:off x="3017520" y="18288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新規AA</a:t>
            </a:r>
            <a:endParaRPr b="0" i="0" sz="850" u="none" cap="none" strike="noStrike">
              <a:solidFill>
                <a:srgbClr val="000000"/>
              </a:solidFill>
              <a:latin typeface="Arial"/>
              <a:ea typeface="Arial"/>
              <a:cs typeface="Arial"/>
              <a:sym typeface="Arial"/>
            </a:endParaRPr>
          </a:p>
        </p:txBody>
      </p:sp>
      <p:sp>
        <p:nvSpPr>
          <p:cNvPr id="276" name="Google Shape;276;p26"/>
          <p:cNvSpPr/>
          <p:nvPr/>
        </p:nvSpPr>
        <p:spPr>
          <a:xfrm>
            <a:off x="274320" y="22860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6"/>
          <p:cNvSpPr txBox="1"/>
          <p:nvPr/>
        </p:nvSpPr>
        <p:spPr>
          <a:xfrm>
            <a:off x="274320" y="22860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翌月継続</a:t>
            </a:r>
            <a:endParaRPr b="0" i="0" sz="850" u="none" cap="none" strike="noStrike">
              <a:solidFill>
                <a:srgbClr val="000000"/>
              </a:solidFill>
              <a:latin typeface="Arial"/>
              <a:ea typeface="Arial"/>
              <a:cs typeface="Arial"/>
              <a:sym typeface="Arial"/>
            </a:endParaRPr>
          </a:p>
        </p:txBody>
      </p:sp>
      <p:sp>
        <p:nvSpPr>
          <p:cNvPr id="278" name="Google Shape;278;p26"/>
          <p:cNvSpPr/>
          <p:nvPr/>
        </p:nvSpPr>
        <p:spPr>
          <a:xfrm>
            <a:off x="1645920" y="22860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
          <p:cNvSpPr txBox="1"/>
          <p:nvPr/>
        </p:nvSpPr>
        <p:spPr>
          <a:xfrm>
            <a:off x="1645920" y="22860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2ヶ月／3ヶ月継続</a:t>
            </a:r>
            <a:endParaRPr b="0" i="0" sz="850" u="none" cap="none" strike="noStrike">
              <a:solidFill>
                <a:srgbClr val="000000"/>
              </a:solidFill>
              <a:latin typeface="Arial"/>
              <a:ea typeface="Arial"/>
              <a:cs typeface="Arial"/>
              <a:sym typeface="Arial"/>
            </a:endParaRPr>
          </a:p>
        </p:txBody>
      </p:sp>
      <p:sp>
        <p:nvSpPr>
          <p:cNvPr id="280" name="Google Shape;280;p26"/>
          <p:cNvSpPr/>
          <p:nvPr/>
        </p:nvSpPr>
        <p:spPr>
          <a:xfrm>
            <a:off x="3017520" y="2286000"/>
            <a:ext cx="1280160" cy="365760"/>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6"/>
          <p:cNvSpPr txBox="1"/>
          <p:nvPr/>
        </p:nvSpPr>
        <p:spPr>
          <a:xfrm>
            <a:off x="3017520" y="2286000"/>
            <a:ext cx="1280160" cy="36576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その他施策</a:t>
            </a:r>
            <a:endParaRPr b="0" i="0" sz="850" u="none" cap="none" strike="noStrike">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850"/>
              <a:buFont typeface="Arial"/>
              <a:buNone/>
            </a:pPr>
            <a:r>
              <a:rPr b="0" i="0" lang="ja" sz="850" u="none" cap="none" strike="noStrike">
                <a:solidFill>
                  <a:srgbClr val="1A1A1A"/>
                </a:solidFill>
                <a:latin typeface="M PLUS 1p"/>
                <a:ea typeface="M PLUS 1p"/>
                <a:cs typeface="M PLUS 1p"/>
                <a:sym typeface="M PLUS 1p"/>
              </a:rPr>
              <a:t>（3ヶ月パック等）</a:t>
            </a:r>
            <a:endParaRPr b="0" i="0" sz="850" u="none" cap="none" strike="noStrike">
              <a:solidFill>
                <a:srgbClr val="000000"/>
              </a:solidFill>
              <a:latin typeface="Arial"/>
              <a:ea typeface="Arial"/>
              <a:cs typeface="Arial"/>
              <a:sym typeface="Arial"/>
            </a:endParaRPr>
          </a:p>
        </p:txBody>
      </p:sp>
      <p:sp>
        <p:nvSpPr>
          <p:cNvPr id="282" name="Google Shape;282;p26"/>
          <p:cNvSpPr txBox="1"/>
          <p:nvPr/>
        </p:nvSpPr>
        <p:spPr>
          <a:xfrm>
            <a:off x="274320" y="2834640"/>
            <a:ext cx="4114800" cy="228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434343"/>
                </a:solidFill>
                <a:latin typeface="M PLUS 1p"/>
                <a:ea typeface="M PLUS 1p"/>
                <a:cs typeface="M PLUS 1p"/>
                <a:sym typeface="M PLUS 1p"/>
              </a:rPr>
              <a:t>現状の運用</a:t>
            </a:r>
            <a:endParaRPr b="0" i="0" sz="950" u="none" cap="none" strike="noStrike">
              <a:solidFill>
                <a:srgbClr val="000000"/>
              </a:solidFill>
              <a:latin typeface="Arial"/>
              <a:ea typeface="Arial"/>
              <a:cs typeface="Arial"/>
              <a:sym typeface="Arial"/>
            </a:endParaRPr>
          </a:p>
        </p:txBody>
      </p:sp>
      <p:sp>
        <p:nvSpPr>
          <p:cNvPr id="283" name="Google Shape;283;p26"/>
          <p:cNvSpPr txBox="1"/>
          <p:nvPr/>
        </p:nvSpPr>
        <p:spPr>
          <a:xfrm>
            <a:off x="274325" y="3063250"/>
            <a:ext cx="4297800" cy="11886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ABヨミ・予定日・接触状況を細かく管理し、ヨミ・放置顧客を日次で追う</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連絡時期・追客範囲・積み上げ件数を確認し、月末まで継続見込み顧客を積み上げる</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新規AA・翌月継続・接触数・2,3ヶ月継続・3ヶ月パックと、追う指標も多い</a:t>
            </a:r>
            <a:endParaRPr b="0" i="0" sz="850" u="none" cap="none" strike="noStrike">
              <a:solidFill>
                <a:srgbClr val="000000"/>
              </a:solidFill>
              <a:latin typeface="Arial"/>
              <a:ea typeface="Arial"/>
              <a:cs typeface="Arial"/>
              <a:sym typeface="Arial"/>
            </a:endParaRPr>
          </a:p>
        </p:txBody>
      </p:sp>
      <p:sp>
        <p:nvSpPr>
          <p:cNvPr id="284" name="Google Shape;284;p26"/>
          <p:cNvSpPr/>
          <p:nvPr/>
        </p:nvSpPr>
        <p:spPr>
          <a:xfrm>
            <a:off x="4526280" y="2377440"/>
            <a:ext cx="411480" cy="45720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6"/>
          <p:cNvSpPr/>
          <p:nvPr/>
        </p:nvSpPr>
        <p:spPr>
          <a:xfrm>
            <a:off x="5029200" y="1051560"/>
            <a:ext cx="3840480" cy="324612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6"/>
          <p:cNvSpPr txBox="1"/>
          <p:nvPr/>
        </p:nvSpPr>
        <p:spPr>
          <a:xfrm>
            <a:off x="5166360" y="1115568"/>
            <a:ext cx="365760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434343"/>
                </a:solidFill>
                <a:latin typeface="M PLUS 1p"/>
                <a:ea typeface="M PLUS 1p"/>
                <a:cs typeface="M PLUS 1p"/>
                <a:sym typeface="M PLUS 1p"/>
              </a:rPr>
              <a:t>その結果、現場で起きている構造的な課題</a:t>
            </a:r>
            <a:endParaRPr b="0" i="0" sz="1050" u="none" cap="none" strike="noStrike">
              <a:solidFill>
                <a:srgbClr val="000000"/>
              </a:solidFill>
              <a:latin typeface="Arial"/>
              <a:ea typeface="Arial"/>
              <a:cs typeface="Arial"/>
              <a:sym typeface="Arial"/>
            </a:endParaRPr>
          </a:p>
        </p:txBody>
      </p:sp>
      <p:sp>
        <p:nvSpPr>
          <p:cNvPr id="287" name="Google Shape;287;p26"/>
          <p:cNvSpPr txBox="1"/>
          <p:nvPr/>
        </p:nvSpPr>
        <p:spPr>
          <a:xfrm>
            <a:off x="5166360" y="1463040"/>
            <a:ext cx="3611880" cy="27432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管理項目が増え続けている</a:t>
            </a:r>
            <a:endParaRPr sz="950">
              <a:solidFill>
                <a:srgbClr val="1A1A1A"/>
              </a:solidFill>
              <a:latin typeface="M PLUS 1p"/>
              <a:ea typeface="M PLUS 1p"/>
              <a:cs typeface="M PLUS 1p"/>
              <a:sym typeface="M PLUS 1p"/>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「ヨミを上げる」「予定日を入れる」が目的化しやすい</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ONBとして顧客をどこまで持っていけば完了か分かりづらい</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追客・管理に工数がかかり、改善を考える余白が少ない</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成果の再現性が、</a:t>
            </a:r>
            <a:r>
              <a:rPr lang="ja" sz="950">
                <a:solidFill>
                  <a:srgbClr val="1A1A1A"/>
                </a:solidFill>
                <a:latin typeface="M PLUS 1p"/>
                <a:ea typeface="M PLUS 1p"/>
                <a:cs typeface="M PLUS 1p"/>
                <a:sym typeface="M PLUS 1p"/>
              </a:rPr>
              <a:t>TL</a:t>
            </a:r>
            <a:r>
              <a:rPr b="0" i="0" lang="ja" sz="950" u="none" cap="none" strike="noStrike">
                <a:solidFill>
                  <a:srgbClr val="1A1A1A"/>
                </a:solidFill>
                <a:latin typeface="M PLUS 1p"/>
                <a:ea typeface="M PLUS 1p"/>
                <a:cs typeface="M PLUS 1p"/>
                <a:sym typeface="M PLUS 1p"/>
              </a:rPr>
              <a:t>の細かな指示に依存しやすい</a:t>
            </a:r>
            <a:endParaRPr b="0" i="0" sz="950" u="none" cap="none" strike="noStrike">
              <a:solidFill>
                <a:srgbClr val="000000"/>
              </a:solidFill>
              <a:latin typeface="Arial"/>
              <a:ea typeface="Arial"/>
              <a:cs typeface="Arial"/>
              <a:sym typeface="Arial"/>
            </a:endParaRPr>
          </a:p>
        </p:txBody>
      </p:sp>
      <p:sp>
        <p:nvSpPr>
          <p:cNvPr id="288" name="Google Shape;288;p26"/>
          <p:cNvSpPr/>
          <p:nvPr/>
        </p:nvSpPr>
        <p:spPr>
          <a:xfrm>
            <a:off x="274320" y="4434840"/>
            <a:ext cx="8595360" cy="384048"/>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6"/>
          <p:cNvSpPr/>
          <p:nvPr/>
        </p:nvSpPr>
        <p:spPr>
          <a:xfrm>
            <a:off x="274320" y="4434840"/>
            <a:ext cx="73152" cy="38404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6"/>
          <p:cNvSpPr txBox="1"/>
          <p:nvPr/>
        </p:nvSpPr>
        <p:spPr>
          <a:xfrm>
            <a:off x="457200" y="4434840"/>
            <a:ext cx="83210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顧客を良い状態にするための「勝ち条件」を明確にし、管理の量ではなく構造で成果を再現する必要がある</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27"/>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03｜だから、スコアリングを設計した｜全顧客を同じように追わず、営業工数を最適化する</a:t>
            </a:r>
            <a:endParaRPr b="0" i="0" sz="1500" u="none" cap="none" strike="noStrike">
              <a:solidFill>
                <a:srgbClr val="000000"/>
              </a:solidFill>
              <a:latin typeface="Arial"/>
              <a:ea typeface="Arial"/>
              <a:cs typeface="Arial"/>
              <a:sym typeface="Arial"/>
            </a:endParaRPr>
          </a:p>
        </p:txBody>
      </p:sp>
      <p:sp>
        <p:nvSpPr>
          <p:cNvPr id="299" name="Google Shape;299;p27"/>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300" name="Google Shape;300;p27"/>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301" name="Google Shape;301;p27"/>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5</a:t>
            </a:r>
            <a:endParaRPr b="0" i="0" sz="800" u="none" cap="none" strike="noStrike">
              <a:solidFill>
                <a:srgbClr val="000000"/>
              </a:solidFill>
              <a:latin typeface="Arial"/>
              <a:ea typeface="Arial"/>
              <a:cs typeface="Arial"/>
              <a:sym typeface="Arial"/>
            </a:endParaRPr>
          </a:p>
        </p:txBody>
      </p:sp>
      <p:sp>
        <p:nvSpPr>
          <p:cNvPr id="302" name="Google Shape;302;p27"/>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「放っておいても継続する顧客」と「営業介入で継続可能性が変わる顧客」を分け、後者へ営業リソースを集中する</a:t>
            </a:r>
            <a:endParaRPr b="0" i="0" sz="1150" u="none" cap="none" strike="noStrike">
              <a:solidFill>
                <a:srgbClr val="4A86E8"/>
              </a:solidFill>
              <a:latin typeface="Arial"/>
              <a:ea typeface="Arial"/>
              <a:cs typeface="Arial"/>
              <a:sym typeface="Arial"/>
            </a:endParaRPr>
          </a:p>
        </p:txBody>
      </p:sp>
      <p:sp>
        <p:nvSpPr>
          <p:cNvPr id="303" name="Google Shape;303;p27"/>
          <p:cNvSpPr/>
          <p:nvPr/>
        </p:nvSpPr>
        <p:spPr>
          <a:xfrm>
            <a:off x="274320" y="1051560"/>
            <a:ext cx="2468880" cy="201168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
          <p:cNvSpPr txBox="1"/>
          <p:nvPr/>
        </p:nvSpPr>
        <p:spPr>
          <a:xfrm>
            <a:off x="411480" y="1115568"/>
            <a:ext cx="2194560" cy="228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767676"/>
                </a:solidFill>
                <a:latin typeface="M PLUS 1p"/>
                <a:ea typeface="M PLUS 1p"/>
                <a:cs typeface="M PLUS 1p"/>
                <a:sym typeface="M PLUS 1p"/>
              </a:rPr>
              <a:t>課題</a:t>
            </a:r>
            <a:endParaRPr b="0" i="0" sz="900" u="none" cap="none" strike="noStrike">
              <a:solidFill>
                <a:srgbClr val="000000"/>
              </a:solidFill>
              <a:latin typeface="Arial"/>
              <a:ea typeface="Arial"/>
              <a:cs typeface="Arial"/>
              <a:sym typeface="Arial"/>
            </a:endParaRPr>
          </a:p>
        </p:txBody>
      </p:sp>
      <p:sp>
        <p:nvSpPr>
          <p:cNvPr id="305" name="Google Shape;305;p27"/>
          <p:cNvSpPr txBox="1"/>
          <p:nvPr/>
        </p:nvSpPr>
        <p:spPr>
          <a:xfrm>
            <a:off x="411480" y="1371600"/>
            <a:ext cx="2194560" cy="914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全顧客に一律でアプローチし、継続可能性が高い顧客と離脱リスクが高い顧客に同じ工数を使っていた</a:t>
            </a:r>
            <a:endParaRPr b="0" i="0" sz="1000" u="none" cap="none" strike="noStrike">
              <a:solidFill>
                <a:srgbClr val="000000"/>
              </a:solidFill>
              <a:latin typeface="Arial"/>
              <a:ea typeface="Arial"/>
              <a:cs typeface="Arial"/>
              <a:sym typeface="Arial"/>
            </a:endParaRPr>
          </a:p>
        </p:txBody>
      </p:sp>
      <p:sp>
        <p:nvSpPr>
          <p:cNvPr id="306" name="Google Shape;306;p27"/>
          <p:cNvSpPr txBox="1"/>
          <p:nvPr/>
        </p:nvSpPr>
        <p:spPr>
          <a:xfrm>
            <a:off x="411480" y="2240280"/>
            <a:ext cx="2194560" cy="77724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0" i="0" lang="ja" sz="850" u="none" cap="none" strike="noStrike">
                <a:solidFill>
                  <a:srgbClr val="434343"/>
                </a:solidFill>
                <a:latin typeface="M PLUS 1p"/>
                <a:ea typeface="M PLUS 1p"/>
                <a:cs typeface="M PLUS 1p"/>
                <a:sym typeface="M PLUS 1p"/>
              </a:rPr>
              <a:t>既存のA・Bヨミのような「放っておいても継続する可能性が極めて高い顧客」への架電も</a:t>
            </a:r>
            <a:r>
              <a:rPr lang="ja" sz="850">
                <a:solidFill>
                  <a:srgbClr val="434343"/>
                </a:solidFill>
                <a:latin typeface="M PLUS 1p"/>
                <a:ea typeface="M PLUS 1p"/>
                <a:cs typeface="M PLUS 1p"/>
                <a:sym typeface="M PLUS 1p"/>
              </a:rPr>
              <a:t>過剰に行っていた</a:t>
            </a:r>
            <a:endParaRPr b="0" i="0" sz="850" u="none" cap="none" strike="noStrike">
              <a:solidFill>
                <a:srgbClr val="000000"/>
              </a:solidFill>
              <a:latin typeface="Arial"/>
              <a:ea typeface="Arial"/>
              <a:cs typeface="Arial"/>
              <a:sym typeface="Arial"/>
            </a:endParaRPr>
          </a:p>
        </p:txBody>
      </p:sp>
      <p:sp>
        <p:nvSpPr>
          <p:cNvPr id="307" name="Google Shape;307;p27"/>
          <p:cNvSpPr/>
          <p:nvPr/>
        </p:nvSpPr>
        <p:spPr>
          <a:xfrm>
            <a:off x="2834640" y="1828800"/>
            <a:ext cx="365760" cy="41148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3291840" y="1051560"/>
            <a:ext cx="2651760" cy="914400"/>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txBox="1"/>
          <p:nvPr/>
        </p:nvSpPr>
        <p:spPr>
          <a:xfrm>
            <a:off x="3429000" y="1097280"/>
            <a:ext cx="246888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放っておいても継続する顧客</a:t>
            </a:r>
            <a:endParaRPr b="0" i="0" sz="1000" u="none" cap="none" strike="noStrike">
              <a:solidFill>
                <a:srgbClr val="000000"/>
              </a:solidFill>
              <a:latin typeface="Arial"/>
              <a:ea typeface="Arial"/>
              <a:cs typeface="Arial"/>
              <a:sym typeface="Arial"/>
            </a:endParaRPr>
          </a:p>
        </p:txBody>
      </p:sp>
      <p:sp>
        <p:nvSpPr>
          <p:cNvPr id="310" name="Google Shape;310;p27"/>
          <p:cNvSpPr txBox="1"/>
          <p:nvPr/>
        </p:nvSpPr>
        <p:spPr>
          <a:xfrm>
            <a:off x="3429000" y="1371600"/>
            <a:ext cx="2468880" cy="54864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0" i="0" lang="ja" sz="850" u="none" cap="none" strike="noStrike">
                <a:solidFill>
                  <a:srgbClr val="434343"/>
                </a:solidFill>
                <a:latin typeface="M PLUS 1p"/>
                <a:ea typeface="M PLUS 1p"/>
                <a:cs typeface="M PLUS 1p"/>
                <a:sym typeface="M PLUS 1p"/>
              </a:rPr>
              <a:t>営業架電をやめ、Worker／Techのタッチに切り替える</a:t>
            </a:r>
            <a:endParaRPr b="0" i="0" sz="850" u="none" cap="none" strike="noStrike">
              <a:solidFill>
                <a:srgbClr val="000000"/>
              </a:solidFill>
              <a:latin typeface="Arial"/>
              <a:ea typeface="Arial"/>
              <a:cs typeface="Arial"/>
              <a:sym typeface="Arial"/>
            </a:endParaRPr>
          </a:p>
        </p:txBody>
      </p:sp>
      <p:sp>
        <p:nvSpPr>
          <p:cNvPr id="311" name="Google Shape;311;p27"/>
          <p:cNvSpPr/>
          <p:nvPr/>
        </p:nvSpPr>
        <p:spPr>
          <a:xfrm>
            <a:off x="3291840" y="2103120"/>
            <a:ext cx="2651760" cy="960120"/>
          </a:xfrm>
          <a:prstGeom prst="rect">
            <a:avLst/>
          </a:prstGeom>
          <a:solidFill>
            <a:srgbClr val="FFF6D9"/>
          </a:solidFill>
          <a:ln cap="flat" cmpd="sng" w="1905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txBox="1"/>
          <p:nvPr/>
        </p:nvSpPr>
        <p:spPr>
          <a:xfrm>
            <a:off x="3429000" y="2148840"/>
            <a:ext cx="246888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営業介入で継続可能性が変わる顧客</a:t>
            </a:r>
            <a:endParaRPr b="0" i="0" sz="1000" u="none" cap="none" strike="noStrike">
              <a:solidFill>
                <a:srgbClr val="000000"/>
              </a:solidFill>
              <a:latin typeface="Arial"/>
              <a:ea typeface="Arial"/>
              <a:cs typeface="Arial"/>
              <a:sym typeface="Arial"/>
            </a:endParaRPr>
          </a:p>
        </p:txBody>
      </p:sp>
      <p:sp>
        <p:nvSpPr>
          <p:cNvPr id="313" name="Google Shape;313;p27"/>
          <p:cNvSpPr txBox="1"/>
          <p:nvPr/>
        </p:nvSpPr>
        <p:spPr>
          <a:xfrm>
            <a:off x="3429000" y="2423160"/>
            <a:ext cx="2468880" cy="54864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0" i="0" lang="ja" sz="850" u="none" cap="none" strike="noStrike">
                <a:solidFill>
                  <a:srgbClr val="434343"/>
                </a:solidFill>
                <a:latin typeface="M PLUS 1p"/>
                <a:ea typeface="M PLUS 1p"/>
                <a:cs typeface="M PLUS 1p"/>
                <a:sym typeface="M PLUS 1p"/>
              </a:rPr>
              <a:t>浮いた工数を集中し、当月中に利用を仕込む</a:t>
            </a:r>
            <a:endParaRPr b="0" i="0" sz="850" u="none" cap="none" strike="noStrike">
              <a:solidFill>
                <a:srgbClr val="000000"/>
              </a:solidFill>
              <a:latin typeface="Arial"/>
              <a:ea typeface="Arial"/>
              <a:cs typeface="Arial"/>
              <a:sym typeface="Arial"/>
            </a:endParaRPr>
          </a:p>
        </p:txBody>
      </p:sp>
      <p:sp>
        <p:nvSpPr>
          <p:cNvPr id="314" name="Google Shape;314;p27"/>
          <p:cNvSpPr/>
          <p:nvPr/>
        </p:nvSpPr>
        <p:spPr>
          <a:xfrm>
            <a:off x="6035040" y="1828800"/>
            <a:ext cx="365760" cy="41148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a:off x="6492240" y="1051560"/>
            <a:ext cx="2377440" cy="2011680"/>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txBox="1"/>
          <p:nvPr/>
        </p:nvSpPr>
        <p:spPr>
          <a:xfrm>
            <a:off x="6629400" y="1115568"/>
            <a:ext cx="2194560" cy="228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767676"/>
                </a:solidFill>
                <a:latin typeface="M PLUS 1p"/>
                <a:ea typeface="M PLUS 1p"/>
                <a:cs typeface="M PLUS 1p"/>
                <a:sym typeface="M PLUS 1p"/>
              </a:rPr>
              <a:t>データから判断すること</a:t>
            </a:r>
            <a:endParaRPr b="0" i="0" sz="900" u="none" cap="none" strike="noStrike">
              <a:solidFill>
                <a:srgbClr val="000000"/>
              </a:solidFill>
              <a:latin typeface="Arial"/>
              <a:ea typeface="Arial"/>
              <a:cs typeface="Arial"/>
              <a:sym typeface="Arial"/>
            </a:endParaRPr>
          </a:p>
        </p:txBody>
      </p:sp>
      <p:sp>
        <p:nvSpPr>
          <p:cNvPr id="317" name="Google Shape;317;p27"/>
          <p:cNvSpPr/>
          <p:nvPr/>
        </p:nvSpPr>
        <p:spPr>
          <a:xfrm>
            <a:off x="6629400" y="1417320"/>
            <a:ext cx="2103120" cy="384048"/>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
          <p:cNvSpPr txBox="1"/>
          <p:nvPr/>
        </p:nvSpPr>
        <p:spPr>
          <a:xfrm>
            <a:off x="6629400" y="1417320"/>
            <a:ext cx="210312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どの顧客に</a:t>
            </a:r>
            <a:endParaRPr b="0" i="0" sz="950" u="none" cap="none" strike="noStrike">
              <a:solidFill>
                <a:srgbClr val="000000"/>
              </a:solidFill>
              <a:latin typeface="Arial"/>
              <a:ea typeface="Arial"/>
              <a:cs typeface="Arial"/>
              <a:sym typeface="Arial"/>
            </a:endParaRPr>
          </a:p>
        </p:txBody>
      </p:sp>
      <p:sp>
        <p:nvSpPr>
          <p:cNvPr id="319" name="Google Shape;319;p27"/>
          <p:cNvSpPr/>
          <p:nvPr/>
        </p:nvSpPr>
        <p:spPr>
          <a:xfrm>
            <a:off x="6629400" y="1920240"/>
            <a:ext cx="2103120" cy="384048"/>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7"/>
          <p:cNvSpPr txBox="1"/>
          <p:nvPr/>
        </p:nvSpPr>
        <p:spPr>
          <a:xfrm>
            <a:off x="6629400" y="1920240"/>
            <a:ext cx="210312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どのタイミングで</a:t>
            </a:r>
            <a:endParaRPr b="0" i="0" sz="950" u="none" cap="none" strike="noStrike">
              <a:solidFill>
                <a:srgbClr val="000000"/>
              </a:solidFill>
              <a:latin typeface="Arial"/>
              <a:ea typeface="Arial"/>
              <a:cs typeface="Arial"/>
              <a:sym typeface="Arial"/>
            </a:endParaRPr>
          </a:p>
        </p:txBody>
      </p:sp>
      <p:sp>
        <p:nvSpPr>
          <p:cNvPr id="321" name="Google Shape;321;p27"/>
          <p:cNvSpPr/>
          <p:nvPr/>
        </p:nvSpPr>
        <p:spPr>
          <a:xfrm>
            <a:off x="6629400" y="2423160"/>
            <a:ext cx="2103120" cy="384048"/>
          </a:xfrm>
          <a:prstGeom prst="rect">
            <a:avLst/>
          </a:prstGeom>
          <a:solidFill>
            <a:srgbClr val="FFD100"/>
          </a:solidFill>
          <a:ln cap="flat" cmpd="sng" w="952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txBox="1"/>
          <p:nvPr/>
        </p:nvSpPr>
        <p:spPr>
          <a:xfrm>
            <a:off x="6629400" y="2423160"/>
            <a:ext cx="210312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どの程度、営業が介入するか</a:t>
            </a:r>
            <a:endParaRPr b="0" i="0" sz="950" u="none" cap="none" strike="noStrike">
              <a:solidFill>
                <a:srgbClr val="000000"/>
              </a:solidFill>
              <a:latin typeface="Arial"/>
              <a:ea typeface="Arial"/>
              <a:cs typeface="Arial"/>
              <a:sym typeface="Arial"/>
            </a:endParaRPr>
          </a:p>
        </p:txBody>
      </p:sp>
      <p:sp>
        <p:nvSpPr>
          <p:cNvPr id="323" name="Google Shape;323;p27"/>
          <p:cNvSpPr txBox="1"/>
          <p:nvPr/>
        </p:nvSpPr>
        <p:spPr>
          <a:xfrm>
            <a:off x="274320" y="3246120"/>
            <a:ext cx="8595360" cy="228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434343"/>
                </a:solidFill>
                <a:latin typeface="M PLUS 1p"/>
                <a:ea typeface="M PLUS 1p"/>
                <a:cs typeface="M PLUS 1p"/>
                <a:sym typeface="M PLUS 1p"/>
              </a:rPr>
              <a:t>項目の決め方（思いつきではなく、過去分析と仮説を定量検証して絞った）</a:t>
            </a:r>
            <a:endParaRPr b="0" i="0" sz="950" u="none" cap="none" strike="noStrike">
              <a:solidFill>
                <a:srgbClr val="000000"/>
              </a:solidFill>
              <a:latin typeface="Arial"/>
              <a:ea typeface="Arial"/>
              <a:cs typeface="Arial"/>
              <a:sym typeface="Arial"/>
            </a:endParaRPr>
          </a:p>
        </p:txBody>
      </p:sp>
      <p:sp>
        <p:nvSpPr>
          <p:cNvPr id="324" name="Google Shape;324;p27"/>
          <p:cNvSpPr/>
          <p:nvPr/>
        </p:nvSpPr>
        <p:spPr>
          <a:xfrm>
            <a:off x="274320" y="3520440"/>
            <a:ext cx="1600200" cy="256032"/>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
          <p:cNvSpPr txBox="1"/>
          <p:nvPr/>
        </p:nvSpPr>
        <p:spPr>
          <a:xfrm>
            <a:off x="274320" y="3520440"/>
            <a:ext cx="16002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FFFFFF"/>
                </a:solidFill>
                <a:latin typeface="M PLUS 1p"/>
                <a:ea typeface="M PLUS 1p"/>
                <a:cs typeface="M PLUS 1p"/>
                <a:sym typeface="M PLUS 1p"/>
              </a:rPr>
              <a:t>STEP 1</a:t>
            </a:r>
            <a:endParaRPr b="0" i="0" sz="800" u="none" cap="none" strike="noStrike">
              <a:solidFill>
                <a:srgbClr val="000000"/>
              </a:solidFill>
              <a:latin typeface="Arial"/>
              <a:ea typeface="Arial"/>
              <a:cs typeface="Arial"/>
              <a:sym typeface="Arial"/>
            </a:endParaRPr>
          </a:p>
        </p:txBody>
      </p:sp>
      <p:sp>
        <p:nvSpPr>
          <p:cNvPr id="326" name="Google Shape;326;p27"/>
          <p:cNvSpPr/>
          <p:nvPr/>
        </p:nvSpPr>
        <p:spPr>
          <a:xfrm>
            <a:off x="274320" y="3776472"/>
            <a:ext cx="1600200" cy="65836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txBox="1"/>
          <p:nvPr/>
        </p:nvSpPr>
        <p:spPr>
          <a:xfrm>
            <a:off x="320040" y="3794760"/>
            <a:ext cx="1508760" cy="6400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過去のDA分析を棚卸し</a:t>
            </a:r>
            <a:endParaRPr b="0" i="0" sz="750" u="none" cap="none" strike="noStrike">
              <a:solidFill>
                <a:srgbClr val="000000"/>
              </a:solidFill>
              <a:latin typeface="Arial"/>
              <a:ea typeface="Arial"/>
              <a:cs typeface="Arial"/>
              <a:sym typeface="Arial"/>
            </a:endParaRPr>
          </a:p>
        </p:txBody>
      </p:sp>
      <p:sp>
        <p:nvSpPr>
          <p:cNvPr id="328" name="Google Shape;328;p27"/>
          <p:cNvSpPr/>
          <p:nvPr/>
        </p:nvSpPr>
        <p:spPr>
          <a:xfrm>
            <a:off x="1883664" y="4023360"/>
            <a:ext cx="118872" cy="18288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7"/>
          <p:cNvSpPr/>
          <p:nvPr/>
        </p:nvSpPr>
        <p:spPr>
          <a:xfrm>
            <a:off x="2011680" y="3520440"/>
            <a:ext cx="1600200" cy="256032"/>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txBox="1"/>
          <p:nvPr/>
        </p:nvSpPr>
        <p:spPr>
          <a:xfrm>
            <a:off x="2011680" y="3520440"/>
            <a:ext cx="16002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FFFFFF"/>
                </a:solidFill>
                <a:latin typeface="M PLUS 1p"/>
                <a:ea typeface="M PLUS 1p"/>
                <a:cs typeface="M PLUS 1p"/>
                <a:sym typeface="M PLUS 1p"/>
              </a:rPr>
              <a:t>STEP 2</a:t>
            </a:r>
            <a:endParaRPr b="0" i="0" sz="800" u="none" cap="none" strike="noStrike">
              <a:solidFill>
                <a:srgbClr val="000000"/>
              </a:solidFill>
              <a:latin typeface="Arial"/>
              <a:ea typeface="Arial"/>
              <a:cs typeface="Arial"/>
              <a:sym typeface="Arial"/>
            </a:endParaRPr>
          </a:p>
        </p:txBody>
      </p:sp>
      <p:sp>
        <p:nvSpPr>
          <p:cNvPr id="331" name="Google Shape;331;p27"/>
          <p:cNvSpPr/>
          <p:nvPr/>
        </p:nvSpPr>
        <p:spPr>
          <a:xfrm>
            <a:off x="2011680" y="3776472"/>
            <a:ext cx="1600200" cy="65836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txBox="1"/>
          <p:nvPr/>
        </p:nvSpPr>
        <p:spPr>
          <a:xfrm>
            <a:off x="2057400" y="3794760"/>
            <a:ext cx="1508760" cy="6400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仮説「翌月にフォローするより、当月中にどこまで利用を仕込めたかが効く」</a:t>
            </a:r>
            <a:endParaRPr b="0" i="0" sz="750" u="none" cap="none" strike="noStrike">
              <a:solidFill>
                <a:srgbClr val="000000"/>
              </a:solidFill>
              <a:latin typeface="Arial"/>
              <a:ea typeface="Arial"/>
              <a:cs typeface="Arial"/>
              <a:sym typeface="Arial"/>
            </a:endParaRPr>
          </a:p>
        </p:txBody>
      </p:sp>
      <p:sp>
        <p:nvSpPr>
          <p:cNvPr id="333" name="Google Shape;333;p27"/>
          <p:cNvSpPr/>
          <p:nvPr/>
        </p:nvSpPr>
        <p:spPr>
          <a:xfrm>
            <a:off x="3621024" y="4023360"/>
            <a:ext cx="118872" cy="18288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7"/>
          <p:cNvSpPr/>
          <p:nvPr/>
        </p:nvSpPr>
        <p:spPr>
          <a:xfrm>
            <a:off x="3749040" y="3520440"/>
            <a:ext cx="1600200" cy="256032"/>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txBox="1"/>
          <p:nvPr/>
        </p:nvSpPr>
        <p:spPr>
          <a:xfrm>
            <a:off x="3749040" y="3520440"/>
            <a:ext cx="16002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FFFFFF"/>
                </a:solidFill>
                <a:latin typeface="M PLUS 1p"/>
                <a:ea typeface="M PLUS 1p"/>
                <a:cs typeface="M PLUS 1p"/>
                <a:sym typeface="M PLUS 1p"/>
              </a:rPr>
              <a:t>STEP 3</a:t>
            </a:r>
            <a:endParaRPr b="0" i="0" sz="800" u="none" cap="none" strike="noStrike">
              <a:solidFill>
                <a:srgbClr val="000000"/>
              </a:solidFill>
              <a:latin typeface="Arial"/>
              <a:ea typeface="Arial"/>
              <a:cs typeface="Arial"/>
              <a:sym typeface="Arial"/>
            </a:endParaRPr>
          </a:p>
        </p:txBody>
      </p:sp>
      <p:sp>
        <p:nvSpPr>
          <p:cNvPr id="336" name="Google Shape;336;p27"/>
          <p:cNvSpPr/>
          <p:nvPr/>
        </p:nvSpPr>
        <p:spPr>
          <a:xfrm>
            <a:off x="3749040" y="3776472"/>
            <a:ext cx="1600200" cy="65836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
          <p:cNvSpPr txBox="1"/>
          <p:nvPr/>
        </p:nvSpPr>
        <p:spPr>
          <a:xfrm>
            <a:off x="3794760" y="3794760"/>
            <a:ext cx="1508760" cy="6400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AIに過去分析・仮説・実績を投入し定量分析</a:t>
            </a:r>
            <a:endParaRPr b="0" i="0" sz="750" u="none" cap="none" strike="noStrike">
              <a:solidFill>
                <a:srgbClr val="000000"/>
              </a:solidFill>
              <a:latin typeface="Arial"/>
              <a:ea typeface="Arial"/>
              <a:cs typeface="Arial"/>
              <a:sym typeface="Arial"/>
            </a:endParaRPr>
          </a:p>
        </p:txBody>
      </p:sp>
      <p:sp>
        <p:nvSpPr>
          <p:cNvPr id="338" name="Google Shape;338;p27"/>
          <p:cNvSpPr/>
          <p:nvPr/>
        </p:nvSpPr>
        <p:spPr>
          <a:xfrm>
            <a:off x="5358384" y="4023360"/>
            <a:ext cx="118872" cy="18288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
          <p:cNvSpPr/>
          <p:nvPr/>
        </p:nvSpPr>
        <p:spPr>
          <a:xfrm>
            <a:off x="5486400" y="3520440"/>
            <a:ext cx="1600200" cy="256032"/>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txBox="1"/>
          <p:nvPr/>
        </p:nvSpPr>
        <p:spPr>
          <a:xfrm>
            <a:off x="5486400" y="3520440"/>
            <a:ext cx="16002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FFFFFF"/>
                </a:solidFill>
                <a:latin typeface="M PLUS 1p"/>
                <a:ea typeface="M PLUS 1p"/>
                <a:cs typeface="M PLUS 1p"/>
                <a:sym typeface="M PLUS 1p"/>
              </a:rPr>
              <a:t>STEP 4</a:t>
            </a:r>
            <a:endParaRPr b="0" i="0" sz="800" u="none" cap="none" strike="noStrike">
              <a:solidFill>
                <a:srgbClr val="000000"/>
              </a:solidFill>
              <a:latin typeface="Arial"/>
              <a:ea typeface="Arial"/>
              <a:cs typeface="Arial"/>
              <a:sym typeface="Arial"/>
            </a:endParaRPr>
          </a:p>
        </p:txBody>
      </p:sp>
      <p:sp>
        <p:nvSpPr>
          <p:cNvPr id="341" name="Google Shape;341;p27"/>
          <p:cNvSpPr/>
          <p:nvPr/>
        </p:nvSpPr>
        <p:spPr>
          <a:xfrm>
            <a:off x="5486400" y="3776472"/>
            <a:ext cx="1600200" cy="65836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txBox="1"/>
          <p:nvPr/>
        </p:nvSpPr>
        <p:spPr>
          <a:xfrm>
            <a:off x="5532120" y="3794760"/>
            <a:ext cx="1508760" cy="6400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継続率と関係があり、営業が把握・介入できる変数に限定</a:t>
            </a:r>
            <a:endParaRPr b="0" i="0" sz="750" u="none" cap="none" strike="noStrike">
              <a:solidFill>
                <a:srgbClr val="000000"/>
              </a:solidFill>
              <a:latin typeface="Arial"/>
              <a:ea typeface="Arial"/>
              <a:cs typeface="Arial"/>
              <a:sym typeface="Arial"/>
            </a:endParaRPr>
          </a:p>
        </p:txBody>
      </p:sp>
      <p:sp>
        <p:nvSpPr>
          <p:cNvPr id="343" name="Google Shape;343;p27"/>
          <p:cNvSpPr/>
          <p:nvPr/>
        </p:nvSpPr>
        <p:spPr>
          <a:xfrm>
            <a:off x="7095744" y="4023360"/>
            <a:ext cx="118872" cy="18288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7"/>
          <p:cNvSpPr/>
          <p:nvPr/>
        </p:nvSpPr>
        <p:spPr>
          <a:xfrm>
            <a:off x="7223760" y="3520440"/>
            <a:ext cx="1600200" cy="256032"/>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txBox="1"/>
          <p:nvPr/>
        </p:nvSpPr>
        <p:spPr>
          <a:xfrm>
            <a:off x="7223760" y="3520440"/>
            <a:ext cx="16002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FFFFFF"/>
                </a:solidFill>
                <a:latin typeface="M PLUS 1p"/>
                <a:ea typeface="M PLUS 1p"/>
                <a:cs typeface="M PLUS 1p"/>
                <a:sym typeface="M PLUS 1p"/>
              </a:rPr>
              <a:t>STEP 5</a:t>
            </a:r>
            <a:endParaRPr b="0" i="0" sz="800" u="none" cap="none" strike="noStrike">
              <a:solidFill>
                <a:srgbClr val="000000"/>
              </a:solidFill>
              <a:latin typeface="Arial"/>
              <a:ea typeface="Arial"/>
              <a:cs typeface="Arial"/>
              <a:sym typeface="Arial"/>
            </a:endParaRPr>
          </a:p>
        </p:txBody>
      </p:sp>
      <p:sp>
        <p:nvSpPr>
          <p:cNvPr id="346" name="Google Shape;346;p27"/>
          <p:cNvSpPr/>
          <p:nvPr/>
        </p:nvSpPr>
        <p:spPr>
          <a:xfrm>
            <a:off x="7223760" y="3776472"/>
            <a:ext cx="1600200" cy="65836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txBox="1"/>
          <p:nvPr/>
        </p:nvSpPr>
        <p:spPr>
          <a:xfrm>
            <a:off x="7269480" y="3794760"/>
            <a:ext cx="1508760" cy="6400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それぞれ5項目前後にスコア化</a:t>
            </a:r>
            <a:endParaRPr b="0" i="0" sz="750" u="none" cap="none" strike="noStrike">
              <a:solidFill>
                <a:srgbClr val="000000"/>
              </a:solidFill>
              <a:latin typeface="Arial"/>
              <a:ea typeface="Arial"/>
              <a:cs typeface="Arial"/>
              <a:sym typeface="Arial"/>
            </a:endParaRPr>
          </a:p>
        </p:txBody>
      </p:sp>
      <p:sp>
        <p:nvSpPr>
          <p:cNvPr id="348" name="Google Shape;348;p27"/>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8"/>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8"/>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8"/>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04｜旧スコアリングの概要（1/2）｜対象2グループを5項目で採点し、A〜Eに分ける</a:t>
            </a:r>
            <a:endParaRPr b="0" i="0" sz="1500" u="none" cap="none" strike="noStrike">
              <a:solidFill>
                <a:srgbClr val="000000"/>
              </a:solidFill>
              <a:latin typeface="Arial"/>
              <a:ea typeface="Arial"/>
              <a:cs typeface="Arial"/>
              <a:sym typeface="Arial"/>
            </a:endParaRPr>
          </a:p>
        </p:txBody>
      </p:sp>
      <p:sp>
        <p:nvSpPr>
          <p:cNvPr id="357" name="Google Shape;357;p28"/>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358" name="Google Shape;358;p28"/>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359" name="Google Shape;359;p28"/>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6</a:t>
            </a:r>
            <a:endParaRPr b="0" i="0" sz="800" u="none" cap="none" strike="noStrike">
              <a:solidFill>
                <a:srgbClr val="000000"/>
              </a:solidFill>
              <a:latin typeface="Arial"/>
              <a:ea typeface="Arial"/>
              <a:cs typeface="Arial"/>
              <a:sym typeface="Arial"/>
            </a:endParaRPr>
          </a:p>
        </p:txBody>
      </p:sp>
      <p:sp>
        <p:nvSpPr>
          <p:cNvPr id="360" name="Google Shape;360;p28"/>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対象は「当月新規」と「翌月未継続」。掲載行動・ヨミ・Bad体験を加点・減点し、合計点でA〜Eランクに分類する</a:t>
            </a:r>
            <a:endParaRPr b="0" i="0" sz="1150" u="none" cap="none" strike="noStrike">
              <a:solidFill>
                <a:srgbClr val="4A86E8"/>
              </a:solidFill>
              <a:latin typeface="Arial"/>
              <a:ea typeface="Arial"/>
              <a:cs typeface="Arial"/>
              <a:sym typeface="Arial"/>
            </a:endParaRPr>
          </a:p>
        </p:txBody>
      </p:sp>
      <p:sp>
        <p:nvSpPr>
          <p:cNvPr id="361" name="Google Shape;361;p28"/>
          <p:cNvSpPr/>
          <p:nvPr/>
        </p:nvSpPr>
        <p:spPr>
          <a:xfrm>
            <a:off x="274320" y="1051560"/>
            <a:ext cx="1005840" cy="105156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8"/>
          <p:cNvSpPr txBox="1"/>
          <p:nvPr/>
        </p:nvSpPr>
        <p:spPr>
          <a:xfrm>
            <a:off x="274320" y="1051560"/>
            <a:ext cx="1005840" cy="1051560"/>
          </a:xfrm>
          <a:prstGeom prst="rect">
            <a:avLst/>
          </a:prstGeom>
          <a:noFill/>
          <a:ln>
            <a:noFill/>
          </a:ln>
        </p:spPr>
        <p:txBody>
          <a:bodyPr anchorCtr="0" anchor="ctr" bIns="375" lIns="375" spcFirstLastPara="1" rIns="375" wrap="square" tIns="375">
            <a:noAutofit/>
          </a:bodyPr>
          <a:lstStyle/>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FFD100"/>
                </a:solidFill>
                <a:latin typeface="M PLUS 1p"/>
                <a:ea typeface="M PLUS 1p"/>
                <a:cs typeface="M PLUS 1p"/>
                <a:sym typeface="M PLUS 1p"/>
              </a:rPr>
              <a:t>当月新規</a:t>
            </a:r>
            <a:endParaRPr b="0" i="0" sz="1050" u="none" cap="none" strike="noStrike">
              <a:solidFill>
                <a:srgbClr val="000000"/>
              </a:solidFill>
              <a:latin typeface="Arial"/>
              <a:ea typeface="Arial"/>
              <a:cs typeface="Arial"/>
              <a:sym typeface="Arial"/>
            </a:endParaRPr>
          </a:p>
        </p:txBody>
      </p:sp>
      <p:sp>
        <p:nvSpPr>
          <p:cNvPr id="363" name="Google Shape;363;p28"/>
          <p:cNvSpPr/>
          <p:nvPr/>
        </p:nvSpPr>
        <p:spPr>
          <a:xfrm>
            <a:off x="1280160" y="1051560"/>
            <a:ext cx="2514600" cy="105156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8"/>
          <p:cNvSpPr txBox="1"/>
          <p:nvPr/>
        </p:nvSpPr>
        <p:spPr>
          <a:xfrm>
            <a:off x="1371600" y="1097280"/>
            <a:ext cx="237744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その月に初めて掲載した顧客</a:t>
            </a:r>
            <a:endParaRPr b="0" i="0" sz="850" u="none" cap="none" strike="noStrike">
              <a:solidFill>
                <a:srgbClr val="000000"/>
              </a:solidFill>
              <a:latin typeface="Arial"/>
              <a:ea typeface="Arial"/>
              <a:cs typeface="Arial"/>
              <a:sym typeface="Arial"/>
            </a:endParaRPr>
          </a:p>
        </p:txBody>
      </p:sp>
      <p:sp>
        <p:nvSpPr>
          <p:cNvPr id="365" name="Google Shape;365;p28"/>
          <p:cNvSpPr txBox="1"/>
          <p:nvPr/>
        </p:nvSpPr>
        <p:spPr>
          <a:xfrm>
            <a:off x="1371600" y="1380744"/>
            <a:ext cx="2377440" cy="713232"/>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750"/>
              <a:buFont typeface="Arial"/>
              <a:buChar char="•"/>
            </a:pPr>
            <a:r>
              <a:rPr b="0" i="0" lang="ja" sz="750" u="none" cap="none" strike="noStrike">
                <a:solidFill>
                  <a:srgbClr val="434343"/>
                </a:solidFill>
                <a:latin typeface="M PLUS 1p"/>
                <a:ea typeface="M PLUS 1p"/>
                <a:cs typeface="M PLUS 1p"/>
                <a:sym typeface="M PLUS 1p"/>
              </a:rPr>
              <a:t>初回掲載が発生した月に対象</a:t>
            </a:r>
            <a:endParaRPr b="0" i="0" sz="750" u="none" cap="none" strike="noStrike">
              <a:solidFill>
                <a:srgbClr val="000000"/>
              </a:solidFill>
              <a:latin typeface="Arial"/>
              <a:ea typeface="Arial"/>
              <a:cs typeface="Arial"/>
              <a:sym typeface="Arial"/>
            </a:endParaRPr>
          </a:p>
          <a:p>
            <a:pPr indent="-127000" lvl="0" marL="127000" marR="0" rtl="0" algn="l">
              <a:lnSpc>
                <a:spcPct val="100000"/>
              </a:lnSpc>
              <a:spcBef>
                <a:spcPts val="100"/>
              </a:spcBef>
              <a:spcAft>
                <a:spcPts val="0"/>
              </a:spcAft>
              <a:buClr>
                <a:srgbClr val="000000"/>
              </a:buClr>
              <a:buSzPts val="750"/>
              <a:buFont typeface="Arial"/>
              <a:buChar char="•"/>
            </a:pPr>
            <a:r>
              <a:rPr b="0" i="0" lang="ja" sz="750" u="none" cap="none" strike="noStrike">
                <a:solidFill>
                  <a:srgbClr val="434343"/>
                </a:solidFill>
                <a:latin typeface="M PLUS 1p"/>
                <a:ea typeface="M PLUS 1p"/>
                <a:cs typeface="M PLUS 1p"/>
                <a:sym typeface="M PLUS 1p"/>
              </a:rPr>
              <a:t>当月の採点基準（5項目）でスコア</a:t>
            </a:r>
            <a:endParaRPr b="0" i="0" sz="750" u="none" cap="none" strike="noStrike">
              <a:solidFill>
                <a:srgbClr val="000000"/>
              </a:solidFill>
              <a:latin typeface="Arial"/>
              <a:ea typeface="Arial"/>
              <a:cs typeface="Arial"/>
              <a:sym typeface="Arial"/>
            </a:endParaRPr>
          </a:p>
          <a:p>
            <a:pPr indent="-127000" lvl="0" marL="127000" marR="0" rtl="0" algn="l">
              <a:lnSpc>
                <a:spcPct val="100000"/>
              </a:lnSpc>
              <a:spcBef>
                <a:spcPts val="100"/>
              </a:spcBef>
              <a:spcAft>
                <a:spcPts val="0"/>
              </a:spcAft>
              <a:buClr>
                <a:srgbClr val="000000"/>
              </a:buClr>
              <a:buSzPts val="750"/>
              <a:buFont typeface="Arial"/>
              <a:buChar char="•"/>
            </a:pPr>
            <a:r>
              <a:rPr b="0" i="0" lang="ja" sz="750" u="none" cap="none" strike="noStrike">
                <a:solidFill>
                  <a:srgbClr val="434343"/>
                </a:solidFill>
                <a:latin typeface="M PLUS 1p"/>
                <a:ea typeface="M PLUS 1p"/>
                <a:cs typeface="M PLUS 1p"/>
                <a:sym typeface="M PLUS 1p"/>
              </a:rPr>
              <a:t>当月中に営業・テック施策を実施</a:t>
            </a:r>
            <a:endParaRPr b="0" i="0" sz="750" u="none" cap="none" strike="noStrike">
              <a:solidFill>
                <a:srgbClr val="000000"/>
              </a:solidFill>
              <a:latin typeface="Arial"/>
              <a:ea typeface="Arial"/>
              <a:cs typeface="Arial"/>
              <a:sym typeface="Arial"/>
            </a:endParaRPr>
          </a:p>
        </p:txBody>
      </p:sp>
      <p:sp>
        <p:nvSpPr>
          <p:cNvPr id="366" name="Google Shape;366;p28"/>
          <p:cNvSpPr/>
          <p:nvPr/>
        </p:nvSpPr>
        <p:spPr>
          <a:xfrm>
            <a:off x="274320" y="2240280"/>
            <a:ext cx="1005840" cy="105156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8"/>
          <p:cNvSpPr txBox="1"/>
          <p:nvPr/>
        </p:nvSpPr>
        <p:spPr>
          <a:xfrm>
            <a:off x="274320" y="2240280"/>
            <a:ext cx="1005840" cy="1051560"/>
          </a:xfrm>
          <a:prstGeom prst="rect">
            <a:avLst/>
          </a:prstGeom>
          <a:noFill/>
          <a:ln>
            <a:noFill/>
          </a:ln>
        </p:spPr>
        <p:txBody>
          <a:bodyPr anchorCtr="0" anchor="ctr" bIns="375" lIns="375" spcFirstLastPara="1" rIns="375" wrap="square" tIns="375">
            <a:noAutofit/>
          </a:bodyPr>
          <a:lstStyle/>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FFD100"/>
                </a:solidFill>
                <a:latin typeface="M PLUS 1p"/>
                <a:ea typeface="M PLUS 1p"/>
                <a:cs typeface="M PLUS 1p"/>
                <a:sym typeface="M PLUS 1p"/>
              </a:rPr>
              <a:t>翌月未継続</a:t>
            </a:r>
            <a:endParaRPr b="0" i="0" sz="1050" u="none" cap="none" strike="noStrike">
              <a:solidFill>
                <a:srgbClr val="000000"/>
              </a:solidFill>
              <a:latin typeface="Arial"/>
              <a:ea typeface="Arial"/>
              <a:cs typeface="Arial"/>
              <a:sym typeface="Arial"/>
            </a:endParaRPr>
          </a:p>
        </p:txBody>
      </p:sp>
      <p:sp>
        <p:nvSpPr>
          <p:cNvPr id="368" name="Google Shape;368;p28"/>
          <p:cNvSpPr/>
          <p:nvPr/>
        </p:nvSpPr>
        <p:spPr>
          <a:xfrm>
            <a:off x="1280160" y="2240280"/>
            <a:ext cx="2514600" cy="105156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8"/>
          <p:cNvSpPr txBox="1"/>
          <p:nvPr/>
        </p:nvSpPr>
        <p:spPr>
          <a:xfrm>
            <a:off x="1371600" y="2286000"/>
            <a:ext cx="237744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前月に初回掲載し、翌月まだ掲載がない顧客</a:t>
            </a:r>
            <a:endParaRPr b="0" i="0" sz="850" u="none" cap="none" strike="noStrike">
              <a:solidFill>
                <a:srgbClr val="000000"/>
              </a:solidFill>
              <a:latin typeface="Arial"/>
              <a:ea typeface="Arial"/>
              <a:cs typeface="Arial"/>
              <a:sym typeface="Arial"/>
            </a:endParaRPr>
          </a:p>
        </p:txBody>
      </p:sp>
      <p:sp>
        <p:nvSpPr>
          <p:cNvPr id="370" name="Google Shape;370;p28"/>
          <p:cNvSpPr txBox="1"/>
          <p:nvPr/>
        </p:nvSpPr>
        <p:spPr>
          <a:xfrm>
            <a:off x="1371600" y="2569464"/>
            <a:ext cx="2377440" cy="713232"/>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750"/>
              <a:buFont typeface="Arial"/>
              <a:buChar char="•"/>
            </a:pPr>
            <a:r>
              <a:rPr b="0" i="0" lang="ja" sz="750" u="none" cap="none" strike="noStrike">
                <a:solidFill>
                  <a:srgbClr val="434343"/>
                </a:solidFill>
                <a:latin typeface="M PLUS 1p"/>
                <a:ea typeface="M PLUS 1p"/>
                <a:cs typeface="M PLUS 1p"/>
                <a:sym typeface="M PLUS 1p"/>
              </a:rPr>
              <a:t>初回掲載の翌月に対象</a:t>
            </a:r>
            <a:endParaRPr b="0" i="0" sz="750" u="none" cap="none" strike="noStrike">
              <a:solidFill>
                <a:srgbClr val="000000"/>
              </a:solidFill>
              <a:latin typeface="Arial"/>
              <a:ea typeface="Arial"/>
              <a:cs typeface="Arial"/>
              <a:sym typeface="Arial"/>
            </a:endParaRPr>
          </a:p>
          <a:p>
            <a:pPr indent="-127000" lvl="0" marL="127000" marR="0" rtl="0" algn="l">
              <a:lnSpc>
                <a:spcPct val="100000"/>
              </a:lnSpc>
              <a:spcBef>
                <a:spcPts val="100"/>
              </a:spcBef>
              <a:spcAft>
                <a:spcPts val="0"/>
              </a:spcAft>
              <a:buClr>
                <a:srgbClr val="000000"/>
              </a:buClr>
              <a:buSzPts val="750"/>
              <a:buFont typeface="Arial"/>
              <a:buChar char="•"/>
            </a:pPr>
            <a:r>
              <a:rPr b="0" i="0" lang="ja" sz="750" u="none" cap="none" strike="noStrike">
                <a:solidFill>
                  <a:srgbClr val="434343"/>
                </a:solidFill>
                <a:latin typeface="M PLUS 1p"/>
                <a:ea typeface="M PLUS 1p"/>
                <a:cs typeface="M PLUS 1p"/>
                <a:sym typeface="M PLUS 1p"/>
              </a:rPr>
              <a:t>翌月の採点基準（5項目）でスコア</a:t>
            </a:r>
            <a:endParaRPr b="0" i="0" sz="750" u="none" cap="none" strike="noStrike">
              <a:solidFill>
                <a:srgbClr val="000000"/>
              </a:solidFill>
              <a:latin typeface="Arial"/>
              <a:ea typeface="Arial"/>
              <a:cs typeface="Arial"/>
              <a:sym typeface="Arial"/>
            </a:endParaRPr>
          </a:p>
          <a:p>
            <a:pPr indent="-127000" lvl="0" marL="127000" marR="0" rtl="0" algn="l">
              <a:lnSpc>
                <a:spcPct val="100000"/>
              </a:lnSpc>
              <a:spcBef>
                <a:spcPts val="100"/>
              </a:spcBef>
              <a:spcAft>
                <a:spcPts val="0"/>
              </a:spcAft>
              <a:buClr>
                <a:srgbClr val="000000"/>
              </a:buClr>
              <a:buSzPts val="750"/>
              <a:buFont typeface="Arial"/>
              <a:buChar char="•"/>
            </a:pPr>
            <a:r>
              <a:rPr b="0" i="0" lang="ja" sz="750" u="none" cap="none" strike="noStrike">
                <a:solidFill>
                  <a:srgbClr val="434343"/>
                </a:solidFill>
                <a:latin typeface="M PLUS 1p"/>
                <a:ea typeface="M PLUS 1p"/>
                <a:cs typeface="M PLUS 1p"/>
                <a:sym typeface="M PLUS 1p"/>
              </a:rPr>
              <a:t>翌月17日時点で未継続の事業所に施策</a:t>
            </a:r>
            <a:endParaRPr b="0" i="0" sz="750" u="none" cap="none" strike="noStrike">
              <a:solidFill>
                <a:srgbClr val="000000"/>
              </a:solidFill>
              <a:latin typeface="Arial"/>
              <a:ea typeface="Arial"/>
              <a:cs typeface="Arial"/>
              <a:sym typeface="Arial"/>
            </a:endParaRPr>
          </a:p>
        </p:txBody>
      </p:sp>
      <p:sp>
        <p:nvSpPr>
          <p:cNvPr id="371" name="Google Shape;371;p28"/>
          <p:cNvSpPr txBox="1"/>
          <p:nvPr/>
        </p:nvSpPr>
        <p:spPr>
          <a:xfrm>
            <a:off x="274320" y="3474720"/>
            <a:ext cx="3520440" cy="4114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卒業：翌月に1件以上の掲載が発生した顧客はスコア対象外とし、以降のアプローチから外す</a:t>
            </a:r>
            <a:endParaRPr b="0" i="0" sz="800" u="none" cap="none" strike="noStrike">
              <a:solidFill>
                <a:srgbClr val="000000"/>
              </a:solidFill>
              <a:latin typeface="Arial"/>
              <a:ea typeface="Arial"/>
              <a:cs typeface="Arial"/>
              <a:sym typeface="Arial"/>
            </a:endParaRPr>
          </a:p>
        </p:txBody>
      </p:sp>
      <p:graphicFrame>
        <p:nvGraphicFramePr>
          <p:cNvPr id="372" name="Google Shape;372;p28"/>
          <p:cNvGraphicFramePr/>
          <p:nvPr/>
        </p:nvGraphicFramePr>
        <p:xfrm>
          <a:off x="3977640" y="1051560"/>
          <a:ext cx="3000000" cy="3000000"/>
        </p:xfrm>
        <a:graphic>
          <a:graphicData uri="http://schemas.openxmlformats.org/drawingml/2006/table">
            <a:tbl>
              <a:tblPr>
                <a:noFill/>
                <a:tableStyleId>{DE6AF41C-9295-4D4B-9023-5C70C5D13E4C}</a:tableStyleId>
              </a:tblPr>
              <a:tblGrid>
                <a:gridCol w="1828800"/>
                <a:gridCol w="640075"/>
                <a:gridCol w="1783075"/>
                <a:gridCol w="640075"/>
              </a:tblGrid>
              <a:tr h="329175">
                <a:tc>
                  <a:txBody>
                    <a:bodyPr/>
                    <a:lstStyle/>
                    <a:p>
                      <a:pPr indent="0" lvl="0" marL="0" marR="0" rtl="0" algn="l">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当月・採点基準（当月新規）</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l">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点</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l">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翌月・採点基準（翌月未継続）</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l">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点</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r>
              <a:tr h="329175">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2回以上掲載しているか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＋1</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現在のヨミがA・B・Cのどれか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＋2〜−1</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29175">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初回の募集作成日から次の作成までの日数（1〜7日／8〜14日）</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＋2〜＋1</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C＋ヨミのまま15日以上接触していないか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−1</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29175">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当月に5回以上掲載しているか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＋2</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前月の初回掲載から日数が経っているか（1〜10日／11〜20日／21日〜）</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−2〜0</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29175">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翌月ヨミがA・B・Cのどれか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＋2〜−1</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前月に5回以上掲載しているか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＋1</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29175">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Bad体験が起きているか（🚨アラート）</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−1</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Bad体験が起きているか（🚨アラート）</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−1</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373" name="Google Shape;373;p28"/>
          <p:cNvSpPr txBox="1"/>
          <p:nvPr/>
        </p:nvSpPr>
        <p:spPr>
          <a:xfrm>
            <a:off x="3977640" y="3108960"/>
            <a:ext cx="4892040" cy="4114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加点は「掲載が積み上がっているか」と「ヨミ」。減点はCヨミ・C＋の放置・前月からの経過日数・Bad体験。採点は週次で更新</a:t>
            </a:r>
            <a:endParaRPr b="0" i="0" sz="800" u="none" cap="none" strike="noStrike">
              <a:solidFill>
                <a:srgbClr val="000000"/>
              </a:solidFill>
              <a:latin typeface="Arial"/>
              <a:ea typeface="Arial"/>
              <a:cs typeface="Arial"/>
              <a:sym typeface="Arial"/>
            </a:endParaRPr>
          </a:p>
        </p:txBody>
      </p:sp>
      <p:sp>
        <p:nvSpPr>
          <p:cNvPr id="374" name="Google Shape;374;p28"/>
          <p:cNvSpPr/>
          <p:nvPr/>
        </p:nvSpPr>
        <p:spPr>
          <a:xfrm>
            <a:off x="274320" y="3977640"/>
            <a:ext cx="8595360" cy="4572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8"/>
          <p:cNvSpPr/>
          <p:nvPr/>
        </p:nvSpPr>
        <p:spPr>
          <a:xfrm>
            <a:off x="274320" y="3977640"/>
            <a:ext cx="73152" cy="45720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8"/>
          <p:cNvSpPr txBox="1"/>
          <p:nvPr/>
        </p:nvSpPr>
        <p:spPr>
          <a:xfrm>
            <a:off x="457200" y="3977640"/>
            <a:ext cx="8321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ランクの考え方：A＝放っておいても掲載（5点）／B＝少しの押しで掲載（3〜4点）／C＝迷い・ハードルあり（2点）／</a:t>
            </a:r>
            <a:endParaRPr b="1" i="0" sz="90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900"/>
              <a:buFont typeface="Arial"/>
              <a:buNone/>
            </a:pPr>
            <a:r>
              <a:rPr b="1" lang="ja" sz="900">
                <a:solidFill>
                  <a:srgbClr val="1A1A1A"/>
                </a:solidFill>
                <a:latin typeface="M PLUS 1p"/>
                <a:ea typeface="M PLUS 1p"/>
                <a:cs typeface="M PLUS 1p"/>
                <a:sym typeface="M PLUS 1p"/>
              </a:rPr>
              <a:t>　　　　　　　　</a:t>
            </a:r>
            <a:r>
              <a:rPr b="1" i="0" lang="ja" sz="900" u="none" cap="none" strike="noStrike">
                <a:solidFill>
                  <a:srgbClr val="1A1A1A"/>
                </a:solidFill>
                <a:latin typeface="M PLUS 1p"/>
                <a:ea typeface="M PLUS 1p"/>
                <a:cs typeface="M PLUS 1p"/>
                <a:sym typeface="M PLUS 1p"/>
              </a:rPr>
              <a:t>D＝関心が薄い（0〜1点）／E＝可能性が極めて低い（−1点以下）</a:t>
            </a:r>
            <a:endParaRPr b="0" i="0" sz="900" u="none" cap="none" strike="noStrike">
              <a:solidFill>
                <a:srgbClr val="000000"/>
              </a:solidFill>
              <a:latin typeface="Arial"/>
              <a:ea typeface="Arial"/>
              <a:cs typeface="Arial"/>
              <a:sym typeface="Arial"/>
            </a:endParaRPr>
          </a:p>
        </p:txBody>
      </p:sp>
      <p:sp>
        <p:nvSpPr>
          <p:cNvPr id="377" name="Google Shape;377;p28"/>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29"/>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9"/>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9"/>
          <p:cNvSpPr txBox="1"/>
          <p:nvPr/>
        </p:nvSpPr>
        <p:spPr>
          <a:xfrm>
            <a:off x="274325" y="0"/>
            <a:ext cx="8869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04｜旧スコアリングの概要（2/2）｜ランクで営業の介入強度を変え、Worker／Techを組み合わせる</a:t>
            </a:r>
            <a:endParaRPr b="0" i="0" sz="1500" u="none" cap="none" strike="noStrike">
              <a:solidFill>
                <a:srgbClr val="000000"/>
              </a:solidFill>
              <a:latin typeface="Arial"/>
              <a:ea typeface="Arial"/>
              <a:cs typeface="Arial"/>
              <a:sym typeface="Arial"/>
            </a:endParaRPr>
          </a:p>
        </p:txBody>
      </p:sp>
      <p:sp>
        <p:nvSpPr>
          <p:cNvPr id="386" name="Google Shape;386;p29"/>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387" name="Google Shape;387;p29"/>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388" name="Google Shape;388;p29"/>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7</a:t>
            </a:r>
            <a:endParaRPr b="0" i="0" sz="800" u="none" cap="none" strike="noStrike">
              <a:solidFill>
                <a:srgbClr val="000000"/>
              </a:solidFill>
              <a:latin typeface="Arial"/>
              <a:ea typeface="Arial"/>
              <a:cs typeface="Arial"/>
              <a:sym typeface="Arial"/>
            </a:endParaRPr>
          </a:p>
        </p:txBody>
      </p:sp>
      <p:sp>
        <p:nvSpPr>
          <p:cNvPr id="389" name="Google Shape;389;p29"/>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営業はC・Dの当月架電と翌月フォローに集中。A・Bは翌月未継続時のみ架電。Techはワーカー中心にランク別に手段を足し引き</a:t>
            </a:r>
            <a:endParaRPr b="0" i="0" sz="1150" u="none" cap="none" strike="noStrike">
              <a:solidFill>
                <a:srgbClr val="4A86E8"/>
              </a:solidFill>
              <a:latin typeface="Arial"/>
              <a:ea typeface="Arial"/>
              <a:cs typeface="Arial"/>
              <a:sym typeface="Arial"/>
            </a:endParaRPr>
          </a:p>
        </p:txBody>
      </p:sp>
      <p:graphicFrame>
        <p:nvGraphicFramePr>
          <p:cNvPr id="390" name="Google Shape;390;p29"/>
          <p:cNvGraphicFramePr/>
          <p:nvPr/>
        </p:nvGraphicFramePr>
        <p:xfrm>
          <a:off x="274320" y="1051560"/>
          <a:ext cx="3000000" cy="3000000"/>
        </p:xfrm>
        <a:graphic>
          <a:graphicData uri="http://schemas.openxmlformats.org/drawingml/2006/table">
            <a:tbl>
              <a:tblPr>
                <a:noFill/>
                <a:tableStyleId>{DE6AF41C-9295-4D4B-9023-5C70C5D13E4C}</a:tableStyleId>
              </a:tblPr>
              <a:tblGrid>
                <a:gridCol w="502925"/>
                <a:gridCol w="1234450"/>
                <a:gridCol w="822950"/>
                <a:gridCol w="1280150"/>
                <a:gridCol w="1280150"/>
              </a:tblGrid>
              <a:tr h="329175">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ランク</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顧客の状態（想定）</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営業【当月】</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営業【翌月】</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Tech【当月・翌月共通】</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r>
              <a:tr h="329175">
                <a:tc>
                  <a:txBody>
                    <a:bodyPr/>
                    <a:lstStyle/>
                    <a:p>
                      <a:pPr indent="0" lvl="0" marL="0" marR="0" rtl="0" algn="ctr">
                        <a:spcBef>
                          <a:spcPts val="0"/>
                        </a:spcBef>
                        <a:spcAft>
                          <a:spcPts val="0"/>
                        </a:spcAft>
                        <a:buClr>
                          <a:srgbClr val="000000"/>
                        </a:buClr>
                        <a:buSzPts val="1000"/>
                        <a:buFont typeface="M PLUS 1p"/>
                        <a:buNone/>
                      </a:pPr>
                      <a:r>
                        <a:rPr b="1" lang="ja" sz="1000" u="none" cap="none" strike="noStrike">
                          <a:solidFill>
                            <a:srgbClr val="000000"/>
                          </a:solidFill>
                          <a:latin typeface="M PLUS 1p"/>
                          <a:ea typeface="M PLUS 1p"/>
                          <a:cs typeface="M PLUS 1p"/>
                          <a:sym typeface="M PLUS 1p"/>
                        </a:rPr>
                        <a:t>A</a:t>
                      </a:r>
                      <a:endParaRPr sz="10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放っておいても掲載する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個別介入なし</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電話（17日時点で未継続なら）</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日程調整メール／個別LINE案内</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29175">
                <a:tc>
                  <a:txBody>
                    <a:bodyPr/>
                    <a:lstStyle/>
                    <a:p>
                      <a:pPr indent="0" lvl="0" marL="0" marR="0" rtl="0" algn="ctr">
                        <a:spcBef>
                          <a:spcPts val="0"/>
                        </a:spcBef>
                        <a:spcAft>
                          <a:spcPts val="0"/>
                        </a:spcAft>
                        <a:buClr>
                          <a:srgbClr val="000000"/>
                        </a:buClr>
                        <a:buSzPts val="1000"/>
                        <a:buFont typeface="M PLUS 1p"/>
                        <a:buNone/>
                      </a:pPr>
                      <a:r>
                        <a:rPr b="1" lang="ja" sz="1000" u="none" cap="none" strike="noStrike">
                          <a:solidFill>
                            <a:srgbClr val="000000"/>
                          </a:solidFill>
                          <a:latin typeface="M PLUS 1p"/>
                          <a:ea typeface="M PLUS 1p"/>
                          <a:cs typeface="M PLUS 1p"/>
                          <a:sym typeface="M PLUS 1p"/>
                        </a:rPr>
                        <a:t>B</a:t>
                      </a:r>
                      <a:endParaRPr sz="10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少しの押しで掲載する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個別介入なし</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電話（17日時点で未継続なら）</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DM／日程調整メール／資料・ノベルティ／LINE</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29175">
                <a:tc>
                  <a:txBody>
                    <a:bodyPr/>
                    <a:lstStyle/>
                    <a:p>
                      <a:pPr indent="0" lvl="0" marL="0" marR="0" rtl="0" algn="ctr">
                        <a:spcBef>
                          <a:spcPts val="0"/>
                        </a:spcBef>
                        <a:spcAft>
                          <a:spcPts val="0"/>
                        </a:spcAft>
                        <a:buClr>
                          <a:srgbClr val="000000"/>
                        </a:buClr>
                        <a:buSzPts val="1000"/>
                        <a:buFont typeface="M PLUS 1p"/>
                        <a:buNone/>
                      </a:pPr>
                      <a:r>
                        <a:rPr b="1" lang="ja" sz="1000" u="none" cap="none" strike="noStrike">
                          <a:solidFill>
                            <a:srgbClr val="000000"/>
                          </a:solidFill>
                          <a:latin typeface="M PLUS 1p"/>
                          <a:ea typeface="M PLUS 1p"/>
                          <a:cs typeface="M PLUS 1p"/>
                          <a:sym typeface="M PLUS 1p"/>
                        </a:rPr>
                        <a:t>C</a:t>
                      </a:r>
                      <a:endParaRPr sz="10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D100"/>
                    </a:solidFill>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迷い・ハードルがある</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M PLUS 1p"/>
                        <a:buNone/>
                      </a:pPr>
                      <a:r>
                        <a:rPr b="1" lang="ja" sz="750" u="none" cap="none" strike="noStrike">
                          <a:solidFill>
                            <a:srgbClr val="000000"/>
                          </a:solidFill>
                          <a:latin typeface="M PLUS 1p"/>
                          <a:ea typeface="M PLUS 1p"/>
                          <a:cs typeface="M PLUS 1p"/>
                          <a:sym typeface="M PLUS 1p"/>
                        </a:rPr>
                        <a:t>電話</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spcBef>
                          <a:spcPts val="0"/>
                        </a:spcBef>
                        <a:spcAft>
                          <a:spcPts val="0"/>
                        </a:spcAft>
                        <a:buClr>
                          <a:srgbClr val="000000"/>
                        </a:buClr>
                        <a:buSzPts val="750"/>
                        <a:buFont typeface="M PLUS 1p"/>
                        <a:buNone/>
                      </a:pPr>
                      <a:r>
                        <a:rPr b="1" lang="ja" sz="750" u="none" cap="none" strike="noStrike">
                          <a:solidFill>
                            <a:srgbClr val="000000"/>
                          </a:solidFill>
                          <a:latin typeface="M PLUS 1p"/>
                          <a:ea typeface="M PLUS 1p"/>
                          <a:cs typeface="M PLUS 1p"/>
                          <a:sym typeface="M PLUS 1p"/>
                        </a:rPr>
                        <a:t>【関東】対面商談</a:t>
                      </a:r>
                      <a:endParaRPr b="1" sz="750">
                        <a:latin typeface="M PLUS 1p"/>
                        <a:ea typeface="M PLUS 1p"/>
                        <a:cs typeface="M PLUS 1p"/>
                        <a:sym typeface="M PLUS 1p"/>
                      </a:endParaRPr>
                    </a:p>
                    <a:p>
                      <a:pPr indent="0" lvl="0" marL="0" marR="0" rtl="0" algn="l">
                        <a:spcBef>
                          <a:spcPts val="0"/>
                        </a:spcBef>
                        <a:spcAft>
                          <a:spcPts val="0"/>
                        </a:spcAft>
                        <a:buClr>
                          <a:srgbClr val="000000"/>
                        </a:buClr>
                        <a:buSzPts val="750"/>
                        <a:buFont typeface="M PLUS 1p"/>
                        <a:buNone/>
                      </a:pPr>
                      <a:r>
                        <a:rPr b="1" lang="ja" sz="750" u="none" cap="none" strike="noStrike">
                          <a:solidFill>
                            <a:srgbClr val="000000"/>
                          </a:solidFill>
                          <a:latin typeface="M PLUS 1p"/>
                          <a:ea typeface="M PLUS 1p"/>
                          <a:cs typeface="M PLUS 1p"/>
                          <a:sym typeface="M PLUS 1p"/>
                        </a:rPr>
                        <a:t>【地方】WEB商談</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DM／日程調整メール／資料・ノベルティ／LINE</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29175">
                <a:tc>
                  <a:txBody>
                    <a:bodyPr/>
                    <a:lstStyle/>
                    <a:p>
                      <a:pPr indent="0" lvl="0" marL="0" marR="0" rtl="0" algn="ctr">
                        <a:spcBef>
                          <a:spcPts val="0"/>
                        </a:spcBef>
                        <a:spcAft>
                          <a:spcPts val="0"/>
                        </a:spcAft>
                        <a:buClr>
                          <a:srgbClr val="000000"/>
                        </a:buClr>
                        <a:buSzPts val="1000"/>
                        <a:buFont typeface="M PLUS 1p"/>
                        <a:buNone/>
                      </a:pPr>
                      <a:r>
                        <a:rPr b="1" lang="ja" sz="1000" u="none" cap="none" strike="noStrike">
                          <a:solidFill>
                            <a:srgbClr val="000000"/>
                          </a:solidFill>
                          <a:latin typeface="M PLUS 1p"/>
                          <a:ea typeface="M PLUS 1p"/>
                          <a:cs typeface="M PLUS 1p"/>
                          <a:sym typeface="M PLUS 1p"/>
                        </a:rPr>
                        <a:t>D</a:t>
                      </a:r>
                      <a:endParaRPr sz="10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D100"/>
                    </a:solidFill>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優先度低・関心が薄い</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M PLUS 1p"/>
                        <a:buNone/>
                      </a:pPr>
                      <a:r>
                        <a:rPr b="1" lang="ja" sz="750" u="none" cap="none" strike="noStrike">
                          <a:solidFill>
                            <a:srgbClr val="000000"/>
                          </a:solidFill>
                          <a:latin typeface="M PLUS 1p"/>
                          <a:ea typeface="M PLUS 1p"/>
                          <a:cs typeface="M PLUS 1p"/>
                          <a:sym typeface="M PLUS 1p"/>
                        </a:rPr>
                        <a:t>電話</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spcBef>
                          <a:spcPts val="0"/>
                        </a:spcBef>
                        <a:spcAft>
                          <a:spcPts val="0"/>
                        </a:spcAft>
                        <a:buClr>
                          <a:srgbClr val="000000"/>
                        </a:buClr>
                        <a:buSzPts val="750"/>
                        <a:buFont typeface="M PLUS 1p"/>
                        <a:buNone/>
                      </a:pPr>
                      <a:r>
                        <a:rPr b="1" lang="ja" sz="750" u="none" cap="none" strike="noStrike">
                          <a:solidFill>
                            <a:srgbClr val="000000"/>
                          </a:solidFill>
                          <a:latin typeface="M PLUS 1p"/>
                          <a:ea typeface="M PLUS 1p"/>
                          <a:cs typeface="M PLUS 1p"/>
                          <a:sym typeface="M PLUS 1p"/>
                        </a:rPr>
                        <a:t>【関東】対面商談</a:t>
                      </a:r>
                      <a:endParaRPr b="1" sz="750" u="none" cap="none" strike="noStrike">
                        <a:solidFill>
                          <a:srgbClr val="000000"/>
                        </a:solidFill>
                        <a:latin typeface="M PLUS 1p"/>
                        <a:ea typeface="M PLUS 1p"/>
                        <a:cs typeface="M PLUS 1p"/>
                        <a:sym typeface="M PLUS 1p"/>
                      </a:endParaRPr>
                    </a:p>
                    <a:p>
                      <a:pPr indent="0" lvl="0" marL="0" marR="0" rtl="0" algn="l">
                        <a:spcBef>
                          <a:spcPts val="0"/>
                        </a:spcBef>
                        <a:spcAft>
                          <a:spcPts val="0"/>
                        </a:spcAft>
                        <a:buClr>
                          <a:srgbClr val="000000"/>
                        </a:buClr>
                        <a:buSzPts val="750"/>
                        <a:buFont typeface="M PLUS 1p"/>
                        <a:buNone/>
                      </a:pPr>
                      <a:r>
                        <a:rPr b="1" lang="ja" sz="750" u="none" cap="none" strike="noStrike">
                          <a:solidFill>
                            <a:srgbClr val="000000"/>
                          </a:solidFill>
                          <a:latin typeface="M PLUS 1p"/>
                          <a:ea typeface="M PLUS 1p"/>
                          <a:cs typeface="M PLUS 1p"/>
                          <a:sym typeface="M PLUS 1p"/>
                        </a:rPr>
                        <a:t>【地方】WEB商談</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DM／日程調整メール／資料・ノベルティ</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29175">
                <a:tc>
                  <a:txBody>
                    <a:bodyPr/>
                    <a:lstStyle/>
                    <a:p>
                      <a:pPr indent="0" lvl="0" marL="0" marR="0" rtl="0" algn="ctr">
                        <a:spcBef>
                          <a:spcPts val="0"/>
                        </a:spcBef>
                        <a:spcAft>
                          <a:spcPts val="0"/>
                        </a:spcAft>
                        <a:buClr>
                          <a:srgbClr val="000000"/>
                        </a:buClr>
                        <a:buSzPts val="1000"/>
                        <a:buFont typeface="M PLUS 1p"/>
                        <a:buNone/>
                      </a:pPr>
                      <a:r>
                        <a:rPr b="1" lang="ja" sz="1000" u="none" cap="none" strike="noStrike">
                          <a:solidFill>
                            <a:srgbClr val="000000"/>
                          </a:solidFill>
                          <a:latin typeface="M PLUS 1p"/>
                          <a:ea typeface="M PLUS 1p"/>
                          <a:cs typeface="M PLUS 1p"/>
                          <a:sym typeface="M PLUS 1p"/>
                        </a:rPr>
                        <a:t>E</a:t>
                      </a:r>
                      <a:endParaRPr sz="10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掲載可能性が極めて低い</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個別介入なし</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個別介入なし</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DM（メール／ハガキ）のみ</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391" name="Google Shape;391;p29"/>
          <p:cNvSpPr txBox="1"/>
          <p:nvPr/>
        </p:nvSpPr>
        <p:spPr>
          <a:xfrm>
            <a:off x="274320" y="3108960"/>
            <a:ext cx="5120700" cy="411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434343"/>
                </a:solidFill>
                <a:latin typeface="M PLUS 1p"/>
                <a:ea typeface="M PLUS 1p"/>
                <a:cs typeface="M PLUS 1p"/>
                <a:sym typeface="M PLUS 1p"/>
              </a:rPr>
              <a:t>対応者：架電は営業＋営業経験ありワーカー。Techはワーカー中心（Aランクの日程調整メールは営業）。</a:t>
            </a:r>
            <a:endParaRPr b="0" i="0" sz="750" u="none" cap="none" strike="noStrike">
              <a:solidFill>
                <a:srgbClr val="000000"/>
              </a:solidFill>
              <a:latin typeface="Arial"/>
              <a:ea typeface="Arial"/>
              <a:cs typeface="Arial"/>
              <a:sym typeface="Arial"/>
            </a:endParaRPr>
          </a:p>
        </p:txBody>
      </p:sp>
      <p:sp>
        <p:nvSpPr>
          <p:cNvPr id="392" name="Google Shape;392;p29"/>
          <p:cNvSpPr txBox="1"/>
          <p:nvPr/>
        </p:nvSpPr>
        <p:spPr>
          <a:xfrm>
            <a:off x="5577840" y="1005840"/>
            <a:ext cx="3291840" cy="228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434343"/>
                </a:solidFill>
                <a:latin typeface="M PLUS 1p"/>
                <a:ea typeface="M PLUS 1p"/>
                <a:cs typeface="M PLUS 1p"/>
                <a:sym typeface="M PLUS 1p"/>
              </a:rPr>
              <a:t>ランク別 翌月継続率（2026年8月 当月新規、暫定スコア）</a:t>
            </a:r>
            <a:endParaRPr b="0" i="0" sz="900" u="none" cap="none" strike="noStrike">
              <a:solidFill>
                <a:srgbClr val="000000"/>
              </a:solidFill>
              <a:latin typeface="Arial"/>
              <a:ea typeface="Arial"/>
              <a:cs typeface="Arial"/>
              <a:sym typeface="Arial"/>
            </a:endParaRPr>
          </a:p>
        </p:txBody>
      </p:sp>
      <p:pic>
        <p:nvPicPr>
          <p:cNvPr id="393" name="Google Shape;393;p29"/>
          <p:cNvPicPr preferRelativeResize="0"/>
          <p:nvPr/>
        </p:nvPicPr>
        <p:blipFill rotWithShape="1">
          <a:blip r:embed="rId3">
            <a:alphaModFix/>
          </a:blip>
          <a:srcRect b="0" l="0" r="0" t="0"/>
          <a:stretch/>
        </p:blipFill>
        <p:spPr>
          <a:xfrm>
            <a:off x="5577840" y="1234440"/>
            <a:ext cx="3291840" cy="1828800"/>
          </a:xfrm>
          <a:prstGeom prst="rect">
            <a:avLst/>
          </a:prstGeom>
          <a:noFill/>
          <a:ln>
            <a:noFill/>
          </a:ln>
        </p:spPr>
      </p:pic>
      <p:graphicFrame>
        <p:nvGraphicFramePr>
          <p:cNvPr id="394" name="Google Shape;394;p29"/>
          <p:cNvGraphicFramePr/>
          <p:nvPr/>
        </p:nvGraphicFramePr>
        <p:xfrm>
          <a:off x="5577840" y="3063240"/>
          <a:ext cx="3000000" cy="3000000"/>
        </p:xfrm>
        <a:graphic>
          <a:graphicData uri="http://schemas.openxmlformats.org/drawingml/2006/table">
            <a:tbl>
              <a:tblPr>
                <a:noFill/>
                <a:tableStyleId>{DE6AF41C-9295-4D4B-9023-5C70C5D13E4C}</a:tableStyleId>
              </a:tblPr>
              <a:tblGrid>
                <a:gridCol w="548650"/>
                <a:gridCol w="457200"/>
                <a:gridCol w="457200"/>
                <a:gridCol w="457200"/>
                <a:gridCol w="457200"/>
                <a:gridCol w="457200"/>
                <a:gridCol w="457200"/>
              </a:tblGrid>
              <a:tr h="182875">
                <a:tc>
                  <a:txBody>
                    <a:bodyPr/>
                    <a:lstStyle/>
                    <a:p>
                      <a:pPr indent="0" lvl="0" marL="0" marR="0" rtl="0" algn="l">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ランク</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A</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B</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C</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D</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E</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合計</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母数</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284</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356</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501</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607</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55</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1,803</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継続</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274</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244</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245</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237</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41</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1,041</a:t>
                      </a:r>
                      <a:endParaRPr sz="70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395" name="Google Shape;395;p29"/>
          <p:cNvSpPr txBox="1"/>
          <p:nvPr/>
        </p:nvSpPr>
        <p:spPr>
          <a:xfrm>
            <a:off x="5577840" y="3639312"/>
            <a:ext cx="3291840" cy="36576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434343"/>
                </a:solidFill>
                <a:latin typeface="M PLUS 1p"/>
                <a:ea typeface="M PLUS 1p"/>
                <a:cs typeface="M PLUS 1p"/>
                <a:sym typeface="M PLUS 1p"/>
              </a:rPr>
              <a:t>AとEで</a:t>
            </a:r>
            <a:r>
              <a:rPr lang="ja" sz="750">
                <a:solidFill>
                  <a:srgbClr val="434343"/>
                </a:solidFill>
                <a:latin typeface="M PLUS 1p"/>
                <a:ea typeface="M PLUS 1p"/>
                <a:cs typeface="M PLUS 1p"/>
                <a:sym typeface="M PLUS 1p"/>
              </a:rPr>
              <a:t>21</a:t>
            </a:r>
            <a:r>
              <a:rPr b="0" i="0" lang="ja" sz="750" u="none" cap="none" strike="noStrike">
                <a:solidFill>
                  <a:srgbClr val="434343"/>
                </a:solidFill>
                <a:latin typeface="M PLUS 1p"/>
                <a:ea typeface="M PLUS 1p"/>
                <a:cs typeface="M PLUS 1p"/>
                <a:sym typeface="M PLUS 1p"/>
              </a:rPr>
              <a:t>.</a:t>
            </a:r>
            <a:r>
              <a:rPr lang="ja" sz="750">
                <a:solidFill>
                  <a:srgbClr val="434343"/>
                </a:solidFill>
                <a:latin typeface="M PLUS 1p"/>
                <a:ea typeface="M PLUS 1p"/>
                <a:cs typeface="M PLUS 1p"/>
                <a:sym typeface="M PLUS 1p"/>
              </a:rPr>
              <a:t>9</a:t>
            </a:r>
            <a:r>
              <a:rPr b="0" i="0" lang="ja" sz="750" u="none" cap="none" strike="noStrike">
                <a:solidFill>
                  <a:srgbClr val="434343"/>
                </a:solidFill>
                <a:latin typeface="M PLUS 1p"/>
                <a:ea typeface="M PLUS 1p"/>
                <a:cs typeface="M PLUS 1p"/>
                <a:sym typeface="M PLUS 1p"/>
              </a:rPr>
              <a:t>ptの差。判定ロジックに一定の整合性はあるが、Eは母数55と小さくDを上回る</a:t>
            </a:r>
            <a:endParaRPr b="0" i="0" sz="750" u="none" cap="none" strike="noStrike">
              <a:solidFill>
                <a:srgbClr val="000000"/>
              </a:solidFill>
              <a:latin typeface="Arial"/>
              <a:ea typeface="Arial"/>
              <a:cs typeface="Arial"/>
              <a:sym typeface="Arial"/>
            </a:endParaRPr>
          </a:p>
        </p:txBody>
      </p:sp>
      <p:sp>
        <p:nvSpPr>
          <p:cNvPr id="396" name="Google Shape;396;p29"/>
          <p:cNvSpPr/>
          <p:nvPr/>
        </p:nvSpPr>
        <p:spPr>
          <a:xfrm>
            <a:off x="274320" y="4069080"/>
            <a:ext cx="8595360" cy="384048"/>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9"/>
          <p:cNvSpPr/>
          <p:nvPr/>
        </p:nvSpPr>
        <p:spPr>
          <a:xfrm>
            <a:off x="274320" y="4069080"/>
            <a:ext cx="73152" cy="38404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9"/>
          <p:cNvSpPr txBox="1"/>
          <p:nvPr/>
        </p:nvSpPr>
        <p:spPr>
          <a:xfrm>
            <a:off x="457200" y="4069080"/>
            <a:ext cx="83210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このパートの結論：旧スコアリングは「継続確率を予測し、“誰に動くか”を決める仕組み」</a:t>
            </a:r>
            <a:endParaRPr b="0" i="0" sz="1100" u="none" cap="none" strike="noStrike">
              <a:solidFill>
                <a:srgbClr val="000000"/>
              </a:solidFill>
              <a:latin typeface="Arial"/>
              <a:ea typeface="Arial"/>
              <a:cs typeface="Arial"/>
              <a:sym typeface="Arial"/>
            </a:endParaRPr>
          </a:p>
        </p:txBody>
      </p:sp>
      <p:sp>
        <p:nvSpPr>
          <p:cNvPr id="399" name="Google Shape;399;p29"/>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8月に初めて掲載した店舗を当時の暫定スコアでランク分けし、翌月の掲載有無を集計。母数の表記（1,680店／1,803）は元資料の記載差あり（定義要確認）。</a:t>
            </a:r>
            <a:endParaRPr b="0" i="0" sz="700" u="none" cap="none" strike="noStrike">
              <a:solidFill>
                <a:srgbClr val="000000"/>
              </a:solidFill>
              <a:latin typeface="Arial"/>
              <a:ea typeface="Arial"/>
              <a:cs typeface="Arial"/>
              <a:sym typeface="Arial"/>
            </a:endParaRPr>
          </a:p>
        </p:txBody>
      </p:sp>
      <p:sp>
        <p:nvSpPr>
          <p:cNvPr id="400" name="Google Shape;400;p29"/>
          <p:cNvSpPr txBox="1"/>
          <p:nvPr/>
        </p:nvSpPr>
        <p:spPr>
          <a:xfrm>
            <a:off x="5706475" y="2788150"/>
            <a:ext cx="3071700" cy="228600"/>
          </a:xfrm>
          <a:prstGeom prst="rect">
            <a:avLst/>
          </a:prstGeom>
          <a:solidFill>
            <a:schemeClr val="lt1"/>
          </a:solid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50"/>
              <a:buFont typeface="Arial"/>
              <a:buNone/>
            </a:pPr>
            <a:r>
              <a:rPr lang="ja" sz="750">
                <a:solidFill>
                  <a:srgbClr val="434343"/>
                </a:solidFill>
                <a:latin typeface="M PLUS 1p"/>
                <a:ea typeface="M PLUS 1p"/>
                <a:cs typeface="M PLUS 1p"/>
                <a:sym typeface="M PLUS 1p"/>
              </a:rPr>
              <a:t>　　  A                    B                   C                    D                   E</a:t>
            </a:r>
            <a:endParaRPr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30"/>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0"/>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0"/>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05｜実際に運用して分かったこと（1/2）｜ランク別の結果と、見えてきた3つの課題</a:t>
            </a:r>
            <a:endParaRPr b="0" i="0" sz="1500" u="none" cap="none" strike="noStrike">
              <a:solidFill>
                <a:srgbClr val="000000"/>
              </a:solidFill>
              <a:latin typeface="Arial"/>
              <a:ea typeface="Arial"/>
              <a:cs typeface="Arial"/>
              <a:sym typeface="Arial"/>
            </a:endParaRPr>
          </a:p>
        </p:txBody>
      </p:sp>
      <p:sp>
        <p:nvSpPr>
          <p:cNvPr id="409" name="Google Shape;409;p30"/>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410" name="Google Shape;410;p30"/>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411" name="Google Shape;411;p30"/>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8</a:t>
            </a:r>
            <a:endParaRPr b="0" i="0" sz="800" u="none" cap="none" strike="noStrike">
              <a:solidFill>
                <a:srgbClr val="000000"/>
              </a:solidFill>
              <a:latin typeface="Arial"/>
              <a:ea typeface="Arial"/>
              <a:cs typeface="Arial"/>
              <a:sym typeface="Arial"/>
            </a:endParaRPr>
          </a:p>
        </p:txBody>
      </p:sp>
      <p:sp>
        <p:nvSpPr>
          <p:cNvPr id="412" name="Google Shape;412;p30"/>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9月はB・Cが過去基準を上回り、D・Eは未達。ただし営業介入の効果とは断定できない</a:t>
            </a:r>
            <a:endParaRPr b="0" i="0" sz="1150" u="none" cap="none" strike="noStrike">
              <a:solidFill>
                <a:srgbClr val="4A86E8"/>
              </a:solidFill>
              <a:latin typeface="Arial"/>
              <a:ea typeface="Arial"/>
              <a:cs typeface="Arial"/>
              <a:sym typeface="Arial"/>
            </a:endParaRPr>
          </a:p>
        </p:txBody>
      </p:sp>
      <p:graphicFrame>
        <p:nvGraphicFramePr>
          <p:cNvPr id="413" name="Google Shape;413;p30"/>
          <p:cNvGraphicFramePr/>
          <p:nvPr/>
        </p:nvGraphicFramePr>
        <p:xfrm>
          <a:off x="274320" y="1051560"/>
          <a:ext cx="3000000" cy="3000000"/>
        </p:xfrm>
        <a:graphic>
          <a:graphicData uri="http://schemas.openxmlformats.org/drawingml/2006/table">
            <a:tbl>
              <a:tblPr>
                <a:noFill/>
                <a:tableStyleId>{DE6AF41C-9295-4D4B-9023-5C70C5D13E4C}</a:tableStyleId>
              </a:tblPr>
              <a:tblGrid>
                <a:gridCol w="640075"/>
                <a:gridCol w="1005850"/>
                <a:gridCol w="1005850"/>
                <a:gridCol w="914400"/>
              </a:tblGrid>
              <a:tr h="310900">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ランク</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過去の基準値</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9月の継続率</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達成率</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r>
              <a:tr h="310900">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A</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96.48%</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96.49%</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100%</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10900">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B</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68.54%</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74.39%</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109%</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r>
              <a:tr h="310900">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C</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48.90%</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57.57%</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118%</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r>
              <a:tr h="310900">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D</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39.04%</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35.22%</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90%</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10900">
                <a:tc>
                  <a:txBody>
                    <a:bodyPr/>
                    <a:lstStyle/>
                    <a:p>
                      <a:pPr indent="0" lvl="0" marL="0" marR="0" rtl="0" algn="ctr">
                        <a:spcBef>
                          <a:spcPts val="0"/>
                        </a:spcBef>
                        <a:spcAft>
                          <a:spcPts val="0"/>
                        </a:spcAft>
                        <a:buClr>
                          <a:srgbClr val="1A1A1A"/>
                        </a:buClr>
                        <a:buSzPts val="850"/>
                        <a:buFont typeface="M PLUS 1p"/>
                        <a:buNone/>
                      </a:pPr>
                      <a:r>
                        <a:rPr b="1" lang="ja" sz="850" u="none" cap="none" strike="noStrike">
                          <a:solidFill>
                            <a:srgbClr val="1A1A1A"/>
                          </a:solidFill>
                          <a:latin typeface="M PLUS 1p"/>
                          <a:ea typeface="M PLUS 1p"/>
                          <a:cs typeface="M PLUS 1p"/>
                          <a:sym typeface="M PLUS 1p"/>
                        </a:rPr>
                        <a:t>E</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74.55%</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32.02%</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850"/>
                        <a:buFont typeface="M PLUS 1p"/>
                        <a:buNone/>
                      </a:pPr>
                      <a:r>
                        <a:rPr lang="ja" sz="850" u="none" cap="none" strike="noStrike">
                          <a:solidFill>
                            <a:srgbClr val="1A1A1A"/>
                          </a:solidFill>
                          <a:latin typeface="M PLUS 1p"/>
                          <a:ea typeface="M PLUS 1p"/>
                          <a:cs typeface="M PLUS 1p"/>
                          <a:sym typeface="M PLUS 1p"/>
                        </a:rPr>
                        <a:t>43%</a:t>
                      </a:r>
                      <a:endParaRPr sz="85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414" name="Google Shape;414;p30"/>
          <p:cNvSpPr txBox="1"/>
          <p:nvPr/>
        </p:nvSpPr>
        <p:spPr>
          <a:xfrm>
            <a:off x="274320" y="2971800"/>
            <a:ext cx="3566160" cy="4114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700"/>
              <a:buFont typeface="Arial"/>
              <a:buNone/>
            </a:pPr>
            <a:r>
              <a:rPr lang="ja" sz="700">
                <a:solidFill>
                  <a:srgbClr val="767676"/>
                </a:solidFill>
                <a:latin typeface="M PLUS 1p"/>
                <a:ea typeface="M PLUS 1p"/>
                <a:cs typeface="M PLUS 1p"/>
                <a:sym typeface="M PLUS 1p"/>
              </a:rPr>
              <a:t>※9/15時点実績</a:t>
            </a:r>
            <a:endParaRPr sz="700">
              <a:solidFill>
                <a:srgbClr val="767676"/>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00"/>
              <a:buFont typeface="Arial"/>
              <a:buNone/>
            </a:pPr>
            <a:r>
              <a:rPr lang="ja" sz="700">
                <a:solidFill>
                  <a:srgbClr val="767676"/>
                </a:solidFill>
                <a:latin typeface="M PLUS 1p"/>
                <a:ea typeface="M PLUS 1p"/>
                <a:cs typeface="M PLUS 1p"/>
                <a:sym typeface="M PLUS 1p"/>
              </a:rPr>
              <a:t>　</a:t>
            </a:r>
            <a:r>
              <a:rPr b="0" i="0" lang="ja" sz="700" u="none" cap="none" strike="noStrike">
                <a:solidFill>
                  <a:srgbClr val="767676"/>
                </a:solidFill>
                <a:latin typeface="M PLUS 1p"/>
                <a:ea typeface="M PLUS 1p"/>
                <a:cs typeface="M PLUS 1p"/>
                <a:sym typeface="M PLUS 1p"/>
              </a:rPr>
              <a:t>過去基準はEがDを上回る。集計時点・対象の違いは要確認</a:t>
            </a:r>
            <a:endParaRPr b="0" i="0" sz="700" u="none" cap="none" strike="noStrike">
              <a:solidFill>
                <a:srgbClr val="000000"/>
              </a:solidFill>
              <a:latin typeface="Arial"/>
              <a:ea typeface="Arial"/>
              <a:cs typeface="Arial"/>
              <a:sym typeface="Arial"/>
            </a:endParaRPr>
          </a:p>
        </p:txBody>
      </p:sp>
      <p:sp>
        <p:nvSpPr>
          <p:cNvPr id="415" name="Google Shape;415;p30"/>
          <p:cNvSpPr/>
          <p:nvPr/>
        </p:nvSpPr>
        <p:spPr>
          <a:xfrm>
            <a:off x="4114800" y="1161288"/>
            <a:ext cx="384048" cy="384048"/>
          </a:xfrm>
          <a:prstGeom prst="ellipse">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0"/>
          <p:cNvSpPr txBox="1"/>
          <p:nvPr/>
        </p:nvSpPr>
        <p:spPr>
          <a:xfrm>
            <a:off x="4114800" y="116128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1A1A1A"/>
                </a:solidFill>
                <a:latin typeface="M PLUS 1p"/>
                <a:ea typeface="M PLUS 1p"/>
                <a:cs typeface="M PLUS 1p"/>
                <a:sym typeface="M PLUS 1p"/>
              </a:rPr>
              <a:t>1</a:t>
            </a:r>
            <a:endParaRPr b="0" i="0" sz="1200" u="none" cap="none" strike="noStrike">
              <a:solidFill>
                <a:srgbClr val="000000"/>
              </a:solidFill>
              <a:latin typeface="Arial"/>
              <a:ea typeface="Arial"/>
              <a:cs typeface="Arial"/>
              <a:sym typeface="Arial"/>
            </a:endParaRPr>
          </a:p>
        </p:txBody>
      </p:sp>
      <p:sp>
        <p:nvSpPr>
          <p:cNvPr id="417" name="Google Shape;417;p30"/>
          <p:cNvSpPr/>
          <p:nvPr/>
        </p:nvSpPr>
        <p:spPr>
          <a:xfrm>
            <a:off x="4617720" y="1051560"/>
            <a:ext cx="4251960" cy="74980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0"/>
          <p:cNvSpPr txBox="1"/>
          <p:nvPr/>
        </p:nvSpPr>
        <p:spPr>
          <a:xfrm>
            <a:off x="4754880" y="1106424"/>
            <a:ext cx="4023360" cy="256032"/>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ランクは「誰に動くか」まで</a:t>
            </a:r>
            <a:endParaRPr b="0" i="0" sz="1050" u="none" cap="none" strike="noStrike">
              <a:solidFill>
                <a:srgbClr val="000000"/>
              </a:solidFill>
              <a:latin typeface="Arial"/>
              <a:ea typeface="Arial"/>
              <a:cs typeface="Arial"/>
              <a:sym typeface="Arial"/>
            </a:endParaRPr>
          </a:p>
        </p:txBody>
      </p:sp>
      <p:sp>
        <p:nvSpPr>
          <p:cNvPr id="419" name="Google Shape;419;p30"/>
          <p:cNvSpPr txBox="1"/>
          <p:nvPr/>
        </p:nvSpPr>
        <p:spPr>
          <a:xfrm>
            <a:off x="4754880" y="1380744"/>
            <a:ext cx="4023360" cy="4114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0" i="0" lang="ja" sz="850" u="none" cap="none" strike="noStrike">
                <a:solidFill>
                  <a:srgbClr val="434343"/>
                </a:solidFill>
                <a:latin typeface="M PLUS 1p"/>
                <a:ea typeface="M PLUS 1p"/>
                <a:cs typeface="M PLUS 1p"/>
                <a:sym typeface="M PLUS 1p"/>
              </a:rPr>
              <a:t>優先順位は分かるが、「何を達成させるか」「何を提案するか」「どこまで行けばONB完了か」が曖昧</a:t>
            </a:r>
            <a:endParaRPr b="0" i="0" sz="850" u="none" cap="none" strike="noStrike">
              <a:solidFill>
                <a:srgbClr val="000000"/>
              </a:solidFill>
              <a:latin typeface="Arial"/>
              <a:ea typeface="Arial"/>
              <a:cs typeface="Arial"/>
              <a:sym typeface="Arial"/>
            </a:endParaRPr>
          </a:p>
        </p:txBody>
      </p:sp>
      <p:sp>
        <p:nvSpPr>
          <p:cNvPr id="420" name="Google Shape;420;p30"/>
          <p:cNvSpPr/>
          <p:nvPr/>
        </p:nvSpPr>
        <p:spPr>
          <a:xfrm>
            <a:off x="4114800" y="2029968"/>
            <a:ext cx="384048" cy="384048"/>
          </a:xfrm>
          <a:prstGeom prst="ellipse">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0"/>
          <p:cNvSpPr txBox="1"/>
          <p:nvPr/>
        </p:nvSpPr>
        <p:spPr>
          <a:xfrm>
            <a:off x="4114800" y="202996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1A1A1A"/>
                </a:solidFill>
                <a:latin typeface="M PLUS 1p"/>
                <a:ea typeface="M PLUS 1p"/>
                <a:cs typeface="M PLUS 1p"/>
                <a:sym typeface="M PLUS 1p"/>
              </a:rPr>
              <a:t>2</a:t>
            </a:r>
            <a:endParaRPr b="0" i="0" sz="1200" u="none" cap="none" strike="noStrike">
              <a:solidFill>
                <a:srgbClr val="000000"/>
              </a:solidFill>
              <a:latin typeface="Arial"/>
              <a:ea typeface="Arial"/>
              <a:cs typeface="Arial"/>
              <a:sym typeface="Arial"/>
            </a:endParaRPr>
          </a:p>
        </p:txBody>
      </p:sp>
      <p:sp>
        <p:nvSpPr>
          <p:cNvPr id="422" name="Google Shape;422;p30"/>
          <p:cNvSpPr/>
          <p:nvPr/>
        </p:nvSpPr>
        <p:spPr>
          <a:xfrm>
            <a:off x="4617720" y="1920240"/>
            <a:ext cx="4251960" cy="74980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0"/>
          <p:cNvSpPr txBox="1"/>
          <p:nvPr/>
        </p:nvSpPr>
        <p:spPr>
          <a:xfrm>
            <a:off x="4754880" y="1975104"/>
            <a:ext cx="4023360" cy="256032"/>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営業介入の効果が切り分けづらい</a:t>
            </a:r>
            <a:endParaRPr b="0" i="0" sz="1050" u="none" cap="none" strike="noStrike">
              <a:solidFill>
                <a:srgbClr val="000000"/>
              </a:solidFill>
              <a:latin typeface="Arial"/>
              <a:ea typeface="Arial"/>
              <a:cs typeface="Arial"/>
              <a:sym typeface="Arial"/>
            </a:endParaRPr>
          </a:p>
        </p:txBody>
      </p:sp>
      <p:sp>
        <p:nvSpPr>
          <p:cNvPr id="424" name="Google Shape;424;p30"/>
          <p:cNvSpPr txBox="1"/>
          <p:nvPr/>
        </p:nvSpPr>
        <p:spPr>
          <a:xfrm>
            <a:off x="4754880" y="2249424"/>
            <a:ext cx="4023360" cy="4114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0" i="0" lang="ja" sz="850" u="none" cap="none" strike="noStrike">
                <a:solidFill>
                  <a:srgbClr val="434343"/>
                </a:solidFill>
                <a:latin typeface="M PLUS 1p"/>
                <a:ea typeface="M PLUS 1p"/>
                <a:cs typeface="M PLUS 1p"/>
                <a:sym typeface="M PLUS 1p"/>
              </a:rPr>
              <a:t>スコアが高かったから継続したのか、営業介入によって改善したのかを判別しづらい</a:t>
            </a:r>
            <a:endParaRPr b="0" i="0" sz="850" u="none" cap="none" strike="noStrike">
              <a:solidFill>
                <a:srgbClr val="000000"/>
              </a:solidFill>
              <a:latin typeface="Arial"/>
              <a:ea typeface="Arial"/>
              <a:cs typeface="Arial"/>
              <a:sym typeface="Arial"/>
            </a:endParaRPr>
          </a:p>
        </p:txBody>
      </p:sp>
      <p:sp>
        <p:nvSpPr>
          <p:cNvPr id="425" name="Google Shape;425;p30"/>
          <p:cNvSpPr/>
          <p:nvPr/>
        </p:nvSpPr>
        <p:spPr>
          <a:xfrm>
            <a:off x="4114800" y="2898648"/>
            <a:ext cx="384048" cy="384048"/>
          </a:xfrm>
          <a:prstGeom prst="ellipse">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0"/>
          <p:cNvSpPr txBox="1"/>
          <p:nvPr/>
        </p:nvSpPr>
        <p:spPr>
          <a:xfrm>
            <a:off x="4114800" y="289864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1A1A1A"/>
                </a:solidFill>
                <a:latin typeface="M PLUS 1p"/>
                <a:ea typeface="M PLUS 1p"/>
                <a:cs typeface="M PLUS 1p"/>
                <a:sym typeface="M PLUS 1p"/>
              </a:rPr>
              <a:t>3</a:t>
            </a:r>
            <a:endParaRPr b="0" i="0" sz="1200" u="none" cap="none" strike="noStrike">
              <a:solidFill>
                <a:srgbClr val="000000"/>
              </a:solidFill>
              <a:latin typeface="Arial"/>
              <a:ea typeface="Arial"/>
              <a:cs typeface="Arial"/>
              <a:sym typeface="Arial"/>
            </a:endParaRPr>
          </a:p>
        </p:txBody>
      </p:sp>
      <p:sp>
        <p:nvSpPr>
          <p:cNvPr id="427" name="Google Shape;427;p30"/>
          <p:cNvSpPr/>
          <p:nvPr/>
        </p:nvSpPr>
        <p:spPr>
          <a:xfrm>
            <a:off x="4617720" y="2788920"/>
            <a:ext cx="4251960" cy="74980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0"/>
          <p:cNvSpPr txBox="1"/>
          <p:nvPr/>
        </p:nvSpPr>
        <p:spPr>
          <a:xfrm>
            <a:off x="4754880" y="2843784"/>
            <a:ext cx="4023360" cy="256032"/>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ランク順＝継続率にならない</a:t>
            </a:r>
            <a:endParaRPr b="0" i="0" sz="1050" u="none" cap="none" strike="noStrike">
              <a:solidFill>
                <a:srgbClr val="000000"/>
              </a:solidFill>
              <a:latin typeface="Arial"/>
              <a:ea typeface="Arial"/>
              <a:cs typeface="Arial"/>
              <a:sym typeface="Arial"/>
            </a:endParaRPr>
          </a:p>
        </p:txBody>
      </p:sp>
      <p:sp>
        <p:nvSpPr>
          <p:cNvPr id="429" name="Google Shape;429;p30"/>
          <p:cNvSpPr txBox="1"/>
          <p:nvPr/>
        </p:nvSpPr>
        <p:spPr>
          <a:xfrm>
            <a:off x="4754880" y="3118104"/>
            <a:ext cx="4023360" cy="41148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0" i="0" lang="ja" sz="850" u="none" cap="none" strike="noStrike">
                <a:solidFill>
                  <a:srgbClr val="434343"/>
                </a:solidFill>
                <a:latin typeface="M PLUS 1p"/>
                <a:ea typeface="M PLUS 1p"/>
                <a:cs typeface="M PLUS 1p"/>
                <a:sym typeface="M PLUS 1p"/>
              </a:rPr>
              <a:t>EがDを上回る月もあり、単純な序列として安定しないケースがある</a:t>
            </a:r>
            <a:endParaRPr b="0" i="0" sz="850" u="none" cap="none" strike="noStrike">
              <a:solidFill>
                <a:srgbClr val="000000"/>
              </a:solidFill>
              <a:latin typeface="Arial"/>
              <a:ea typeface="Arial"/>
              <a:cs typeface="Arial"/>
              <a:sym typeface="Arial"/>
            </a:endParaRPr>
          </a:p>
        </p:txBody>
      </p:sp>
      <p:sp>
        <p:nvSpPr>
          <p:cNvPr id="430" name="Google Shape;430;p30"/>
          <p:cNvSpPr txBox="1"/>
          <p:nvPr/>
        </p:nvSpPr>
        <p:spPr>
          <a:xfrm>
            <a:off x="274320" y="3520440"/>
            <a:ext cx="859536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rgbClr val="1A1A1A"/>
                </a:solidFill>
                <a:latin typeface="M PLUS 1p"/>
                <a:ea typeface="M PLUS 1p"/>
                <a:cs typeface="M PLUS 1p"/>
                <a:sym typeface="M PLUS 1p"/>
              </a:rPr>
              <a:t>現行運用の課題：商談までの時間、提案の属人化、掲載ヨミとの判断基準の重複（ランクとヨミの併存）</a:t>
            </a:r>
            <a:endParaRPr b="0" i="0" sz="900" u="none" cap="none" strike="noStrike">
              <a:solidFill>
                <a:srgbClr val="000000"/>
              </a:solidFill>
              <a:latin typeface="Arial"/>
              <a:ea typeface="Arial"/>
              <a:cs typeface="Arial"/>
              <a:sym typeface="Arial"/>
            </a:endParaRPr>
          </a:p>
        </p:txBody>
      </p:sp>
      <p:sp>
        <p:nvSpPr>
          <p:cNvPr id="431" name="Google Shape;431;p30"/>
          <p:cNvSpPr/>
          <p:nvPr/>
        </p:nvSpPr>
        <p:spPr>
          <a:xfrm>
            <a:off x="274320" y="3977640"/>
            <a:ext cx="8595360" cy="384048"/>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0"/>
          <p:cNvSpPr/>
          <p:nvPr/>
        </p:nvSpPr>
        <p:spPr>
          <a:xfrm>
            <a:off x="274320" y="3977640"/>
            <a:ext cx="73152" cy="38404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0"/>
          <p:cNvSpPr txBox="1"/>
          <p:nvPr/>
        </p:nvSpPr>
        <p:spPr>
          <a:xfrm>
            <a:off x="457200" y="3977640"/>
            <a:ext cx="83210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1A1A1A"/>
                </a:solidFill>
                <a:latin typeface="M PLUS 1p"/>
                <a:ea typeface="M PLUS 1p"/>
                <a:cs typeface="M PLUS 1p"/>
                <a:sym typeface="M PLUS 1p"/>
              </a:rPr>
              <a:t>“継続しそうか”は分かっても、現場が“何をやれば顧客が良くなるか”には繋がりづらかった</a:t>
            </a:r>
            <a:endParaRPr b="0" i="0" sz="1150" u="none" cap="none" strike="noStrike">
              <a:solidFill>
                <a:srgbClr val="000000"/>
              </a:solidFill>
              <a:latin typeface="Arial"/>
              <a:ea typeface="Arial"/>
              <a:cs typeface="Arial"/>
              <a:sym typeface="Arial"/>
            </a:endParaRPr>
          </a:p>
        </p:txBody>
      </p:sp>
      <p:sp>
        <p:nvSpPr>
          <p:cNvPr id="434" name="Google Shape;434;p30"/>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Dにも営業介入の設計があるため、D未達を介入不足が原因と断定しない。9月数値は保存値の丸め。</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9" name="Shape 439"/>
        <p:cNvGrpSpPr/>
        <p:nvPr/>
      </p:nvGrpSpPr>
      <p:grpSpPr>
        <a:xfrm>
          <a:off x="0" y="0"/>
          <a:ext cx="0" cy="0"/>
          <a:chOff x="0" y="0"/>
          <a:chExt cx="0" cy="0"/>
        </a:xfrm>
      </p:grpSpPr>
      <p:sp>
        <p:nvSpPr>
          <p:cNvPr id="440" name="Google Shape;440;p31"/>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1"/>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1"/>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05｜実際に運用して分かったこと（2/2）｜ランクで決められたこと、決められなかったこと</a:t>
            </a:r>
            <a:endParaRPr b="0" i="0" sz="1500" u="none" cap="none" strike="noStrike">
              <a:solidFill>
                <a:srgbClr val="000000"/>
              </a:solidFill>
              <a:latin typeface="Arial"/>
              <a:ea typeface="Arial"/>
              <a:cs typeface="Arial"/>
              <a:sym typeface="Arial"/>
            </a:endParaRPr>
          </a:p>
        </p:txBody>
      </p:sp>
      <p:sp>
        <p:nvSpPr>
          <p:cNvPr id="443" name="Google Shape;443;p31"/>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444" name="Google Shape;444;p31"/>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445" name="Google Shape;445;p31"/>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9</a:t>
            </a:r>
            <a:endParaRPr b="0" i="0" sz="800" u="none" cap="none" strike="noStrike">
              <a:solidFill>
                <a:srgbClr val="000000"/>
              </a:solidFill>
              <a:latin typeface="Arial"/>
              <a:ea typeface="Arial"/>
              <a:cs typeface="Arial"/>
              <a:sym typeface="Arial"/>
            </a:endParaRPr>
          </a:p>
        </p:txBody>
      </p:sp>
      <p:sp>
        <p:nvSpPr>
          <p:cNvPr id="446" name="Google Shape;446;p31"/>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旧スコアリングは「対応の強さ」は決められたが、「提案内容」と「顧客の完了条件」は担当者に依存していた</a:t>
            </a:r>
            <a:endParaRPr b="0" i="0" sz="1150" u="none" cap="none" strike="noStrike">
              <a:solidFill>
                <a:srgbClr val="4A86E8"/>
              </a:solidFill>
              <a:latin typeface="Arial"/>
              <a:ea typeface="Arial"/>
              <a:cs typeface="Arial"/>
              <a:sym typeface="Arial"/>
            </a:endParaRPr>
          </a:p>
        </p:txBody>
      </p:sp>
      <p:sp>
        <p:nvSpPr>
          <p:cNvPr id="447" name="Google Shape;447;p31"/>
          <p:cNvSpPr/>
          <p:nvPr/>
        </p:nvSpPr>
        <p:spPr>
          <a:xfrm>
            <a:off x="274320" y="1051560"/>
            <a:ext cx="4160520" cy="237744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1"/>
          <p:cNvSpPr txBox="1"/>
          <p:nvPr/>
        </p:nvSpPr>
        <p:spPr>
          <a:xfrm>
            <a:off x="411480" y="1115568"/>
            <a:ext cx="393192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100"/>
              <a:buFont typeface="Arial"/>
              <a:buNone/>
            </a:pPr>
            <a:r>
              <a:rPr b="1" i="0" lang="ja" sz="1100" u="none" cap="none" strike="noStrike">
                <a:solidFill>
                  <a:srgbClr val="434343"/>
                </a:solidFill>
                <a:latin typeface="M PLUS 1p"/>
                <a:ea typeface="M PLUS 1p"/>
                <a:cs typeface="M PLUS 1p"/>
                <a:sym typeface="M PLUS 1p"/>
              </a:rPr>
              <a:t>ランクで決められたこと</a:t>
            </a:r>
            <a:endParaRPr b="0" i="0" sz="1100" u="none" cap="none" strike="noStrike">
              <a:solidFill>
                <a:srgbClr val="000000"/>
              </a:solidFill>
              <a:latin typeface="Arial"/>
              <a:ea typeface="Arial"/>
              <a:cs typeface="Arial"/>
              <a:sym typeface="Arial"/>
            </a:endParaRPr>
          </a:p>
        </p:txBody>
      </p:sp>
      <p:sp>
        <p:nvSpPr>
          <p:cNvPr id="449" name="Google Shape;449;p31"/>
          <p:cNvSpPr txBox="1"/>
          <p:nvPr/>
        </p:nvSpPr>
        <p:spPr>
          <a:xfrm>
            <a:off x="411480" y="1463040"/>
            <a:ext cx="3931920" cy="19202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誰に動くか（介入対象）</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介入の強さ（電話／対面・WEB商談／個別介入なし）</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当月から動くか、翌月に動くか</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Worker／Techで届けるタッチの組み合わせ</a:t>
            </a:r>
            <a:endParaRPr b="0" i="0" sz="950" u="none" cap="none" strike="noStrike">
              <a:solidFill>
                <a:srgbClr val="000000"/>
              </a:solidFill>
              <a:latin typeface="Arial"/>
              <a:ea typeface="Arial"/>
              <a:cs typeface="Arial"/>
              <a:sym typeface="Arial"/>
            </a:endParaRPr>
          </a:p>
        </p:txBody>
      </p:sp>
      <p:sp>
        <p:nvSpPr>
          <p:cNvPr id="450" name="Google Shape;450;p31"/>
          <p:cNvSpPr/>
          <p:nvPr/>
        </p:nvSpPr>
        <p:spPr>
          <a:xfrm>
            <a:off x="4709160" y="1051560"/>
            <a:ext cx="4160520" cy="2377440"/>
          </a:xfrm>
          <a:prstGeom prst="rect">
            <a:avLst/>
          </a:prstGeom>
          <a:solidFill>
            <a:srgbClr val="FFF6D9"/>
          </a:solidFill>
          <a:ln cap="flat" cmpd="sng" w="1905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1"/>
          <p:cNvSpPr txBox="1"/>
          <p:nvPr/>
        </p:nvSpPr>
        <p:spPr>
          <a:xfrm>
            <a:off x="4846320" y="1115568"/>
            <a:ext cx="393192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ランクでは決められなかったこと</a:t>
            </a:r>
            <a:endParaRPr b="0" i="0" sz="1100" u="none" cap="none" strike="noStrike">
              <a:solidFill>
                <a:srgbClr val="000000"/>
              </a:solidFill>
              <a:latin typeface="Arial"/>
              <a:ea typeface="Arial"/>
              <a:cs typeface="Arial"/>
              <a:sym typeface="Arial"/>
            </a:endParaRPr>
          </a:p>
        </p:txBody>
      </p:sp>
      <p:sp>
        <p:nvSpPr>
          <p:cNvPr id="452" name="Google Shape;452;p31"/>
          <p:cNvSpPr txBox="1"/>
          <p:nvPr/>
        </p:nvSpPr>
        <p:spPr>
          <a:xfrm>
            <a:off x="4846320" y="1463040"/>
            <a:ext cx="3931800" cy="19203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顧客に何を達成してもらうか</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何を提案するか（提案内容が担当者の経験に依存）</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どこまで行けばONB完了か（卒業条件）</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6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営業介入の効果（スコアが高いから継続したのか、介入で変わったのか）</a:t>
            </a:r>
            <a:endParaRPr b="0" i="0" sz="950" u="none" cap="none" strike="noStrike">
              <a:solidFill>
                <a:srgbClr val="000000"/>
              </a:solidFill>
              <a:latin typeface="Arial"/>
              <a:ea typeface="Arial"/>
              <a:cs typeface="Arial"/>
              <a:sym typeface="Arial"/>
            </a:endParaRPr>
          </a:p>
        </p:txBody>
      </p:sp>
      <p:sp>
        <p:nvSpPr>
          <p:cNvPr id="453" name="Google Shape;453;p31"/>
          <p:cNvSpPr/>
          <p:nvPr/>
        </p:nvSpPr>
        <p:spPr>
          <a:xfrm>
            <a:off x="4389120" y="3520440"/>
            <a:ext cx="365760" cy="274320"/>
          </a:xfrm>
          <a:prstGeom prst="down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1"/>
          <p:cNvSpPr/>
          <p:nvPr/>
        </p:nvSpPr>
        <p:spPr>
          <a:xfrm>
            <a:off x="274320" y="3886200"/>
            <a:ext cx="859536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1"/>
          <p:cNvSpPr/>
          <p:nvPr/>
        </p:nvSpPr>
        <p:spPr>
          <a:xfrm>
            <a:off x="274320" y="3886200"/>
            <a:ext cx="73152" cy="4572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1"/>
          <p:cNvSpPr txBox="1"/>
          <p:nvPr/>
        </p:nvSpPr>
        <p:spPr>
          <a:xfrm>
            <a:off x="457200" y="3886200"/>
            <a:ext cx="8321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10月からの変更：「継続しそうか」を予測する仕組み </a:t>
            </a:r>
            <a:endParaRPr b="1" i="0" sz="10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 「顧客に何を達成してもらうか」を明示し、未達項目ごとに標準アクションへつなげる仕組み</a:t>
            </a:r>
            <a:endParaRPr b="0" i="0" sz="1050" u="none" cap="none" strike="noStrike">
              <a:solidFill>
                <a:srgbClr val="000000"/>
              </a:solidFill>
              <a:latin typeface="Arial"/>
              <a:ea typeface="Arial"/>
              <a:cs typeface="Arial"/>
              <a:sym typeface="Arial"/>
            </a:endParaRPr>
          </a:p>
        </p:txBody>
      </p:sp>
      <p:sp>
        <p:nvSpPr>
          <p:cNvPr id="457" name="Google Shape;457;p31"/>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星取＝顧客に何を達成してもらうか（顧客が実際に行動したら付ける）。診断情報（掲載ヨミ・リスク）＝誰から対応するか。</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32"/>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2"/>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2"/>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06｜As-Is → To-Be｜「予測する」から「状態をつくる」へ</a:t>
            </a:r>
            <a:endParaRPr b="0" i="0" sz="1500" u="none" cap="none" strike="noStrike">
              <a:solidFill>
                <a:srgbClr val="000000"/>
              </a:solidFill>
              <a:latin typeface="Arial"/>
              <a:ea typeface="Arial"/>
              <a:cs typeface="Arial"/>
              <a:sym typeface="Arial"/>
            </a:endParaRPr>
          </a:p>
        </p:txBody>
      </p:sp>
      <p:sp>
        <p:nvSpPr>
          <p:cNvPr id="466" name="Google Shape;466;p32"/>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467" name="Google Shape;467;p32"/>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468" name="Google Shape;468;p32"/>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10</a:t>
            </a:r>
            <a:endParaRPr b="0" i="0" sz="800" u="none" cap="none" strike="noStrike">
              <a:solidFill>
                <a:srgbClr val="000000"/>
              </a:solidFill>
              <a:latin typeface="Arial"/>
              <a:ea typeface="Arial"/>
              <a:cs typeface="Arial"/>
              <a:sym typeface="Arial"/>
            </a:endParaRPr>
          </a:p>
        </p:txBody>
      </p:sp>
      <p:sp>
        <p:nvSpPr>
          <p:cNvPr id="469" name="Google Shape;469;p32"/>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継続確率を当ててランク別に対応するのではなく、顧客に達成してもらう状態を明示し、未達項目から提案を決める</a:t>
            </a:r>
            <a:endParaRPr b="0" i="0" sz="1150" u="none" cap="none" strike="noStrike">
              <a:solidFill>
                <a:srgbClr val="4A86E8"/>
              </a:solidFill>
              <a:latin typeface="Arial"/>
              <a:ea typeface="Arial"/>
              <a:cs typeface="Arial"/>
              <a:sym typeface="Arial"/>
            </a:endParaRPr>
          </a:p>
        </p:txBody>
      </p:sp>
      <p:sp>
        <p:nvSpPr>
          <p:cNvPr id="470" name="Google Shape;470;p32"/>
          <p:cNvSpPr/>
          <p:nvPr/>
        </p:nvSpPr>
        <p:spPr>
          <a:xfrm>
            <a:off x="274320" y="1051560"/>
            <a:ext cx="3291840" cy="329184"/>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2"/>
          <p:cNvSpPr txBox="1"/>
          <p:nvPr/>
        </p:nvSpPr>
        <p:spPr>
          <a:xfrm>
            <a:off x="274320" y="1051560"/>
            <a:ext cx="32918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FFFFFF"/>
                </a:solidFill>
                <a:latin typeface="M PLUS 1p"/>
                <a:ea typeface="M PLUS 1p"/>
                <a:cs typeface="M PLUS 1p"/>
                <a:sym typeface="M PLUS 1p"/>
              </a:rPr>
              <a:t>As-Is｜継続確率を当てる</a:t>
            </a:r>
            <a:endParaRPr b="0" i="0" sz="1050" u="none" cap="none" strike="noStrike">
              <a:solidFill>
                <a:srgbClr val="000000"/>
              </a:solidFill>
              <a:latin typeface="Arial"/>
              <a:ea typeface="Arial"/>
              <a:cs typeface="Arial"/>
              <a:sym typeface="Arial"/>
            </a:endParaRPr>
          </a:p>
        </p:txBody>
      </p:sp>
      <p:sp>
        <p:nvSpPr>
          <p:cNvPr id="472" name="Google Shape;472;p32"/>
          <p:cNvSpPr/>
          <p:nvPr/>
        </p:nvSpPr>
        <p:spPr>
          <a:xfrm>
            <a:off x="5577840" y="1051560"/>
            <a:ext cx="3291840" cy="329184"/>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2"/>
          <p:cNvSpPr txBox="1"/>
          <p:nvPr/>
        </p:nvSpPr>
        <p:spPr>
          <a:xfrm>
            <a:off x="5577840" y="1051560"/>
            <a:ext cx="32918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To-Be｜ONB卒業状態をつくる</a:t>
            </a:r>
            <a:endParaRPr b="0" i="0" sz="1050" u="none" cap="none" strike="noStrike">
              <a:solidFill>
                <a:srgbClr val="000000"/>
              </a:solidFill>
              <a:latin typeface="Arial"/>
              <a:ea typeface="Arial"/>
              <a:cs typeface="Arial"/>
              <a:sym typeface="Arial"/>
            </a:endParaRPr>
          </a:p>
        </p:txBody>
      </p:sp>
      <p:sp>
        <p:nvSpPr>
          <p:cNvPr id="474" name="Google Shape;474;p32"/>
          <p:cNvSpPr/>
          <p:nvPr/>
        </p:nvSpPr>
        <p:spPr>
          <a:xfrm>
            <a:off x="274320" y="1481328"/>
            <a:ext cx="3291840" cy="384048"/>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2"/>
          <p:cNvSpPr txBox="1"/>
          <p:nvPr/>
        </p:nvSpPr>
        <p:spPr>
          <a:xfrm>
            <a:off x="365760" y="1481328"/>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0" i="0" lang="ja" sz="1000" u="none" cap="none" strike="noStrike">
                <a:solidFill>
                  <a:srgbClr val="434343"/>
                </a:solidFill>
                <a:latin typeface="M PLUS 1p"/>
                <a:ea typeface="M PLUS 1p"/>
                <a:cs typeface="M PLUS 1p"/>
                <a:sym typeface="M PLUS 1p"/>
              </a:rPr>
              <a:t>継続しそうかを予測</a:t>
            </a:r>
            <a:endParaRPr b="0" i="0" sz="1000" u="none" cap="none" strike="noStrike">
              <a:solidFill>
                <a:srgbClr val="000000"/>
              </a:solidFill>
              <a:latin typeface="Arial"/>
              <a:ea typeface="Arial"/>
              <a:cs typeface="Arial"/>
              <a:sym typeface="Arial"/>
            </a:endParaRPr>
          </a:p>
        </p:txBody>
      </p:sp>
      <p:sp>
        <p:nvSpPr>
          <p:cNvPr id="476" name="Google Shape;476;p32"/>
          <p:cNvSpPr/>
          <p:nvPr/>
        </p:nvSpPr>
        <p:spPr>
          <a:xfrm>
            <a:off x="1783080" y="1883664"/>
            <a:ext cx="274320" cy="206654"/>
          </a:xfrm>
          <a:prstGeom prst="downArrow">
            <a:avLst>
              <a:gd fmla="val 50000" name="adj1"/>
              <a:gd fmla="val 50000" name="adj2"/>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2"/>
          <p:cNvSpPr/>
          <p:nvPr/>
        </p:nvSpPr>
        <p:spPr>
          <a:xfrm>
            <a:off x="274320" y="2117750"/>
            <a:ext cx="3291840" cy="384048"/>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2"/>
          <p:cNvSpPr txBox="1"/>
          <p:nvPr/>
        </p:nvSpPr>
        <p:spPr>
          <a:xfrm>
            <a:off x="365760" y="2117750"/>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0" i="0" lang="ja" sz="1000" u="none" cap="none" strike="noStrike">
                <a:solidFill>
                  <a:srgbClr val="434343"/>
                </a:solidFill>
                <a:latin typeface="M PLUS 1p"/>
                <a:ea typeface="M PLUS 1p"/>
                <a:cs typeface="M PLUS 1p"/>
                <a:sym typeface="M PLUS 1p"/>
              </a:rPr>
              <a:t>5項目で採点</a:t>
            </a:r>
            <a:endParaRPr b="0" i="0" sz="1000" u="none" cap="none" strike="noStrike">
              <a:solidFill>
                <a:srgbClr val="000000"/>
              </a:solidFill>
              <a:latin typeface="Arial"/>
              <a:ea typeface="Arial"/>
              <a:cs typeface="Arial"/>
              <a:sym typeface="Arial"/>
            </a:endParaRPr>
          </a:p>
        </p:txBody>
      </p:sp>
      <p:sp>
        <p:nvSpPr>
          <p:cNvPr id="479" name="Google Shape;479;p32"/>
          <p:cNvSpPr/>
          <p:nvPr/>
        </p:nvSpPr>
        <p:spPr>
          <a:xfrm>
            <a:off x="1783080" y="2520086"/>
            <a:ext cx="274320" cy="206654"/>
          </a:xfrm>
          <a:prstGeom prst="downArrow">
            <a:avLst>
              <a:gd fmla="val 50000" name="adj1"/>
              <a:gd fmla="val 50000" name="adj2"/>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2"/>
          <p:cNvSpPr/>
          <p:nvPr/>
        </p:nvSpPr>
        <p:spPr>
          <a:xfrm>
            <a:off x="274320" y="2754173"/>
            <a:ext cx="3291840" cy="384048"/>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2"/>
          <p:cNvSpPr txBox="1"/>
          <p:nvPr/>
        </p:nvSpPr>
        <p:spPr>
          <a:xfrm>
            <a:off x="365760" y="2754173"/>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0" i="0" lang="ja" sz="1000" u="none" cap="none" strike="noStrike">
                <a:solidFill>
                  <a:srgbClr val="434343"/>
                </a:solidFill>
                <a:latin typeface="M PLUS 1p"/>
                <a:ea typeface="M PLUS 1p"/>
                <a:cs typeface="M PLUS 1p"/>
                <a:sym typeface="M PLUS 1p"/>
              </a:rPr>
              <a:t>A〜Eに分類</a:t>
            </a:r>
            <a:endParaRPr b="0" i="0" sz="1000" u="none" cap="none" strike="noStrike">
              <a:solidFill>
                <a:srgbClr val="000000"/>
              </a:solidFill>
              <a:latin typeface="Arial"/>
              <a:ea typeface="Arial"/>
              <a:cs typeface="Arial"/>
              <a:sym typeface="Arial"/>
            </a:endParaRPr>
          </a:p>
        </p:txBody>
      </p:sp>
      <p:sp>
        <p:nvSpPr>
          <p:cNvPr id="482" name="Google Shape;482;p32"/>
          <p:cNvSpPr/>
          <p:nvPr/>
        </p:nvSpPr>
        <p:spPr>
          <a:xfrm>
            <a:off x="1783080" y="3156509"/>
            <a:ext cx="274320" cy="206654"/>
          </a:xfrm>
          <a:prstGeom prst="downArrow">
            <a:avLst>
              <a:gd fmla="val 50000" name="adj1"/>
              <a:gd fmla="val 50000" name="adj2"/>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2"/>
          <p:cNvSpPr/>
          <p:nvPr/>
        </p:nvSpPr>
        <p:spPr>
          <a:xfrm>
            <a:off x="274320" y="3390595"/>
            <a:ext cx="3291840" cy="384048"/>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2"/>
          <p:cNvSpPr txBox="1"/>
          <p:nvPr/>
        </p:nvSpPr>
        <p:spPr>
          <a:xfrm>
            <a:off x="365760" y="3390595"/>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0" i="0" lang="ja" sz="1000" u="none" cap="none" strike="noStrike">
                <a:solidFill>
                  <a:srgbClr val="434343"/>
                </a:solidFill>
                <a:latin typeface="M PLUS 1p"/>
                <a:ea typeface="M PLUS 1p"/>
                <a:cs typeface="M PLUS 1p"/>
                <a:sym typeface="M PLUS 1p"/>
              </a:rPr>
              <a:t>ランクによって対応を変える</a:t>
            </a:r>
            <a:endParaRPr b="0" i="0" sz="1000" u="none" cap="none" strike="noStrike">
              <a:solidFill>
                <a:srgbClr val="000000"/>
              </a:solidFill>
              <a:latin typeface="Arial"/>
              <a:ea typeface="Arial"/>
              <a:cs typeface="Arial"/>
              <a:sym typeface="Arial"/>
            </a:endParaRPr>
          </a:p>
        </p:txBody>
      </p:sp>
      <p:sp>
        <p:nvSpPr>
          <p:cNvPr id="485" name="Google Shape;485;p32"/>
          <p:cNvSpPr/>
          <p:nvPr/>
        </p:nvSpPr>
        <p:spPr>
          <a:xfrm>
            <a:off x="1783080" y="3792931"/>
            <a:ext cx="274320" cy="206654"/>
          </a:xfrm>
          <a:prstGeom prst="downArrow">
            <a:avLst>
              <a:gd fmla="val 50000" name="adj1"/>
              <a:gd fmla="val 50000" name="adj2"/>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2"/>
          <p:cNvSpPr/>
          <p:nvPr/>
        </p:nvSpPr>
        <p:spPr>
          <a:xfrm>
            <a:off x="274320" y="4027018"/>
            <a:ext cx="3291840" cy="384048"/>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2"/>
          <p:cNvSpPr txBox="1"/>
          <p:nvPr/>
        </p:nvSpPr>
        <p:spPr>
          <a:xfrm>
            <a:off x="365760" y="4027018"/>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0" i="0" lang="ja" sz="1000" u="none" cap="none" strike="noStrike">
                <a:solidFill>
                  <a:srgbClr val="434343"/>
                </a:solidFill>
                <a:latin typeface="M PLUS 1p"/>
                <a:ea typeface="M PLUS 1p"/>
                <a:cs typeface="M PLUS 1p"/>
                <a:sym typeface="M PLUS 1p"/>
              </a:rPr>
              <a:t>“誰に動くか”を決める</a:t>
            </a:r>
            <a:endParaRPr b="0" i="0" sz="1000" u="none" cap="none" strike="noStrike">
              <a:solidFill>
                <a:srgbClr val="000000"/>
              </a:solidFill>
              <a:latin typeface="Arial"/>
              <a:ea typeface="Arial"/>
              <a:cs typeface="Arial"/>
              <a:sym typeface="Arial"/>
            </a:endParaRPr>
          </a:p>
        </p:txBody>
      </p:sp>
      <p:sp>
        <p:nvSpPr>
          <p:cNvPr id="488" name="Google Shape;488;p32"/>
          <p:cNvSpPr/>
          <p:nvPr/>
        </p:nvSpPr>
        <p:spPr>
          <a:xfrm>
            <a:off x="5577840" y="1481328"/>
            <a:ext cx="3291840" cy="38404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2"/>
          <p:cNvSpPr txBox="1"/>
          <p:nvPr/>
        </p:nvSpPr>
        <p:spPr>
          <a:xfrm>
            <a:off x="5669280" y="1481328"/>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顧客に何を達成してもらうかを明確化</a:t>
            </a:r>
            <a:endParaRPr b="0" i="0" sz="1000" u="none" cap="none" strike="noStrike">
              <a:solidFill>
                <a:srgbClr val="000000"/>
              </a:solidFill>
              <a:latin typeface="Arial"/>
              <a:ea typeface="Arial"/>
              <a:cs typeface="Arial"/>
              <a:sym typeface="Arial"/>
            </a:endParaRPr>
          </a:p>
        </p:txBody>
      </p:sp>
      <p:sp>
        <p:nvSpPr>
          <p:cNvPr id="490" name="Google Shape;490;p32"/>
          <p:cNvSpPr/>
          <p:nvPr/>
        </p:nvSpPr>
        <p:spPr>
          <a:xfrm>
            <a:off x="7086600" y="1883664"/>
            <a:ext cx="274320" cy="109728"/>
          </a:xfrm>
          <a:prstGeom prst="down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2"/>
          <p:cNvSpPr/>
          <p:nvPr/>
        </p:nvSpPr>
        <p:spPr>
          <a:xfrm>
            <a:off x="5577840" y="2011680"/>
            <a:ext cx="3291840" cy="38404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2"/>
          <p:cNvSpPr txBox="1"/>
          <p:nvPr/>
        </p:nvSpPr>
        <p:spPr>
          <a:xfrm>
            <a:off x="5669280" y="2011680"/>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星取（達成／未達）</a:t>
            </a:r>
            <a:endParaRPr b="0" i="0" sz="1000" u="none" cap="none" strike="noStrike">
              <a:solidFill>
                <a:srgbClr val="000000"/>
              </a:solidFill>
              <a:latin typeface="Arial"/>
              <a:ea typeface="Arial"/>
              <a:cs typeface="Arial"/>
              <a:sym typeface="Arial"/>
            </a:endParaRPr>
          </a:p>
        </p:txBody>
      </p:sp>
      <p:sp>
        <p:nvSpPr>
          <p:cNvPr id="493" name="Google Shape;493;p32"/>
          <p:cNvSpPr/>
          <p:nvPr/>
        </p:nvSpPr>
        <p:spPr>
          <a:xfrm>
            <a:off x="7086600" y="2414016"/>
            <a:ext cx="274320" cy="109728"/>
          </a:xfrm>
          <a:prstGeom prst="down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2"/>
          <p:cNvSpPr/>
          <p:nvPr/>
        </p:nvSpPr>
        <p:spPr>
          <a:xfrm>
            <a:off x="5577840" y="2542032"/>
            <a:ext cx="3291840" cy="38404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2"/>
          <p:cNvSpPr txBox="1"/>
          <p:nvPr/>
        </p:nvSpPr>
        <p:spPr>
          <a:xfrm>
            <a:off x="5669280" y="2542032"/>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未達項目を可視化</a:t>
            </a:r>
            <a:endParaRPr b="0" i="0" sz="1000" u="none" cap="none" strike="noStrike">
              <a:solidFill>
                <a:srgbClr val="000000"/>
              </a:solidFill>
              <a:latin typeface="Arial"/>
              <a:ea typeface="Arial"/>
              <a:cs typeface="Arial"/>
              <a:sym typeface="Arial"/>
            </a:endParaRPr>
          </a:p>
        </p:txBody>
      </p:sp>
      <p:sp>
        <p:nvSpPr>
          <p:cNvPr id="496" name="Google Shape;496;p32"/>
          <p:cNvSpPr/>
          <p:nvPr/>
        </p:nvSpPr>
        <p:spPr>
          <a:xfrm>
            <a:off x="7086600" y="2944368"/>
            <a:ext cx="274320" cy="109728"/>
          </a:xfrm>
          <a:prstGeom prst="down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2"/>
          <p:cNvSpPr/>
          <p:nvPr/>
        </p:nvSpPr>
        <p:spPr>
          <a:xfrm>
            <a:off x="5577840" y="3072384"/>
            <a:ext cx="3291840" cy="38404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2"/>
          <p:cNvSpPr txBox="1"/>
          <p:nvPr/>
        </p:nvSpPr>
        <p:spPr>
          <a:xfrm>
            <a:off x="5669280" y="3072384"/>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未達項目ごとの標準アクション</a:t>
            </a:r>
            <a:endParaRPr b="0" i="0" sz="1000" u="none" cap="none" strike="noStrike">
              <a:solidFill>
                <a:srgbClr val="000000"/>
              </a:solidFill>
              <a:latin typeface="Arial"/>
              <a:ea typeface="Arial"/>
              <a:cs typeface="Arial"/>
              <a:sym typeface="Arial"/>
            </a:endParaRPr>
          </a:p>
        </p:txBody>
      </p:sp>
      <p:sp>
        <p:nvSpPr>
          <p:cNvPr id="499" name="Google Shape;499;p32"/>
          <p:cNvSpPr/>
          <p:nvPr/>
        </p:nvSpPr>
        <p:spPr>
          <a:xfrm>
            <a:off x="7086600" y="3474720"/>
            <a:ext cx="274320" cy="109728"/>
          </a:xfrm>
          <a:prstGeom prst="down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2"/>
          <p:cNvSpPr/>
          <p:nvPr/>
        </p:nvSpPr>
        <p:spPr>
          <a:xfrm>
            <a:off x="5577840" y="3602736"/>
            <a:ext cx="3291840" cy="38404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2"/>
          <p:cNvSpPr txBox="1"/>
          <p:nvPr/>
        </p:nvSpPr>
        <p:spPr>
          <a:xfrm>
            <a:off x="5669280" y="3602736"/>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顧客が実際に行動したら達成</a:t>
            </a:r>
            <a:endParaRPr b="0" i="0" sz="1000" u="none" cap="none" strike="noStrike">
              <a:solidFill>
                <a:srgbClr val="000000"/>
              </a:solidFill>
              <a:latin typeface="Arial"/>
              <a:ea typeface="Arial"/>
              <a:cs typeface="Arial"/>
              <a:sym typeface="Arial"/>
            </a:endParaRPr>
          </a:p>
        </p:txBody>
      </p:sp>
      <p:sp>
        <p:nvSpPr>
          <p:cNvPr id="502" name="Google Shape;502;p32"/>
          <p:cNvSpPr/>
          <p:nvPr/>
        </p:nvSpPr>
        <p:spPr>
          <a:xfrm>
            <a:off x="7086600" y="4005072"/>
            <a:ext cx="274320" cy="109728"/>
          </a:xfrm>
          <a:prstGeom prst="down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2"/>
          <p:cNvSpPr/>
          <p:nvPr/>
        </p:nvSpPr>
        <p:spPr>
          <a:xfrm>
            <a:off x="5577840" y="4133088"/>
            <a:ext cx="3291840" cy="38404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2"/>
          <p:cNvSpPr txBox="1"/>
          <p:nvPr/>
        </p:nvSpPr>
        <p:spPr>
          <a:xfrm>
            <a:off x="5669280" y="4133088"/>
            <a:ext cx="31089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卒業条件を満たせばONB完了</a:t>
            </a:r>
            <a:endParaRPr b="0" i="0" sz="1000" u="none" cap="none" strike="noStrike">
              <a:solidFill>
                <a:srgbClr val="000000"/>
              </a:solidFill>
              <a:latin typeface="Arial"/>
              <a:ea typeface="Arial"/>
              <a:cs typeface="Arial"/>
              <a:sym typeface="Arial"/>
            </a:endParaRPr>
          </a:p>
        </p:txBody>
      </p:sp>
      <p:sp>
        <p:nvSpPr>
          <p:cNvPr id="505" name="Google Shape;505;p32"/>
          <p:cNvSpPr/>
          <p:nvPr/>
        </p:nvSpPr>
        <p:spPr>
          <a:xfrm>
            <a:off x="3886200" y="2331720"/>
            <a:ext cx="1371600" cy="68580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2"/>
          <p:cNvSpPr txBox="1"/>
          <p:nvPr/>
        </p:nvSpPr>
        <p:spPr>
          <a:xfrm>
            <a:off x="3749040" y="1783080"/>
            <a:ext cx="1645920" cy="36576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434343"/>
                </a:solidFill>
                <a:latin typeface="M PLUS 1p"/>
                <a:ea typeface="M PLUS 1p"/>
                <a:cs typeface="M PLUS 1p"/>
                <a:sym typeface="M PLUS 1p"/>
              </a:rPr>
              <a:t>予測する</a:t>
            </a:r>
            <a:endParaRPr b="0" i="0" sz="1300" u="none" cap="none" strike="noStrike">
              <a:solidFill>
                <a:srgbClr val="000000"/>
              </a:solidFill>
              <a:latin typeface="Arial"/>
              <a:ea typeface="Arial"/>
              <a:cs typeface="Arial"/>
              <a:sym typeface="Arial"/>
            </a:endParaRPr>
          </a:p>
        </p:txBody>
      </p:sp>
      <p:sp>
        <p:nvSpPr>
          <p:cNvPr id="507" name="Google Shape;507;p32"/>
          <p:cNvSpPr txBox="1"/>
          <p:nvPr/>
        </p:nvSpPr>
        <p:spPr>
          <a:xfrm>
            <a:off x="3749040" y="3108960"/>
            <a:ext cx="1645920" cy="36576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1A1A1A"/>
                </a:solidFill>
                <a:latin typeface="M PLUS 1p"/>
                <a:ea typeface="M PLUS 1p"/>
                <a:cs typeface="M PLUS 1p"/>
                <a:sym typeface="M PLUS 1p"/>
              </a:rPr>
              <a:t>状態をつくる</a:t>
            </a:r>
            <a:endParaRPr b="0" i="0" sz="1400" u="none" cap="none" strike="noStrike">
              <a:solidFill>
                <a:srgbClr val="000000"/>
              </a:solidFill>
              <a:latin typeface="Arial"/>
              <a:ea typeface="Arial"/>
              <a:cs typeface="Arial"/>
              <a:sym typeface="Arial"/>
            </a:endParaRPr>
          </a:p>
        </p:txBody>
      </p:sp>
      <p:sp>
        <p:nvSpPr>
          <p:cNvPr id="508" name="Google Shape;508;p32"/>
          <p:cNvSpPr txBox="1"/>
          <p:nvPr/>
        </p:nvSpPr>
        <p:spPr>
          <a:xfrm>
            <a:off x="3703320" y="3474720"/>
            <a:ext cx="1737360" cy="45720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「誰に動くか」＋「何を達成させるか」</a:t>
            </a:r>
            <a:endParaRPr b="0" i="0" sz="800" u="none" cap="none" strike="noStrike">
              <a:solidFill>
                <a:srgbClr val="000000"/>
              </a:solidFill>
              <a:latin typeface="Arial"/>
              <a:ea typeface="Arial"/>
              <a:cs typeface="Arial"/>
              <a:sym typeface="Arial"/>
            </a:endParaRPr>
          </a:p>
        </p:txBody>
      </p:sp>
      <p:sp>
        <p:nvSpPr>
          <p:cNvPr id="509" name="Google Shape;509;p32"/>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誰から対応するか（優先順位）は、掲載ヨミ・星の進捗・リスクの診断情報で引き続き判断する。</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sp>
        <p:nvSpPr>
          <p:cNvPr id="515" name="Google Shape;515;p33"/>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33"/>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33"/>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07｜10月PoCのONB卒業条件｜4項目中3項目以上達成＝ONB卒業</a:t>
            </a:r>
            <a:endParaRPr b="0" i="0" sz="1500" u="none" cap="none" strike="noStrike">
              <a:solidFill>
                <a:srgbClr val="000000"/>
              </a:solidFill>
              <a:latin typeface="Arial"/>
              <a:ea typeface="Arial"/>
              <a:cs typeface="Arial"/>
              <a:sym typeface="Arial"/>
            </a:endParaRPr>
          </a:p>
        </p:txBody>
      </p:sp>
      <p:sp>
        <p:nvSpPr>
          <p:cNvPr id="518" name="Google Shape;518;p33"/>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519" name="Google Shape;519;p33"/>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520" name="Google Shape;520;p33"/>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12</a:t>
            </a:r>
            <a:endParaRPr b="0" i="0" sz="800" u="none" cap="none" strike="noStrike">
              <a:solidFill>
                <a:srgbClr val="000000"/>
              </a:solidFill>
              <a:latin typeface="Arial"/>
              <a:ea typeface="Arial"/>
              <a:cs typeface="Arial"/>
              <a:sym typeface="Arial"/>
            </a:endParaRPr>
          </a:p>
        </p:txBody>
      </p:sp>
      <p:sp>
        <p:nvSpPr>
          <p:cNvPr id="521" name="Google Shape;521;p33"/>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翌月継続スコアは4項目、必須項目なし。どの3項目を達成してもONB卒業。星は顧客が実際に行動したら付ける</a:t>
            </a:r>
            <a:endParaRPr b="0" i="0" sz="1150" u="none" cap="none" strike="noStrike">
              <a:solidFill>
                <a:srgbClr val="4A86E8"/>
              </a:solidFill>
              <a:latin typeface="Arial"/>
              <a:ea typeface="Arial"/>
              <a:cs typeface="Arial"/>
              <a:sym typeface="Arial"/>
            </a:endParaRPr>
          </a:p>
        </p:txBody>
      </p:sp>
      <p:sp>
        <p:nvSpPr>
          <p:cNvPr id="522" name="Google Shape;522;p33"/>
          <p:cNvSpPr/>
          <p:nvPr/>
        </p:nvSpPr>
        <p:spPr>
          <a:xfrm>
            <a:off x="279400" y="1054100"/>
            <a:ext cx="3175000" cy="571500"/>
          </a:xfrm>
          <a:prstGeom prst="rect">
            <a:avLst/>
          </a:prstGeom>
          <a:solidFill>
            <a:srgbClr val="FFD100"/>
          </a:solidFill>
          <a:ln cap="flat" cmpd="sng" w="952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33"/>
          <p:cNvSpPr txBox="1"/>
          <p:nvPr/>
        </p:nvSpPr>
        <p:spPr>
          <a:xfrm>
            <a:off x="279400" y="1054100"/>
            <a:ext cx="3175000" cy="5715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4項目中</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3項目以上達成</a:t>
            </a:r>
            <a:endParaRPr b="0" i="0" sz="1100" u="none" cap="none" strike="noStrike">
              <a:solidFill>
                <a:srgbClr val="000000"/>
              </a:solidFill>
              <a:latin typeface="Arial"/>
              <a:ea typeface="Arial"/>
              <a:cs typeface="Arial"/>
              <a:sym typeface="Arial"/>
            </a:endParaRPr>
          </a:p>
        </p:txBody>
      </p:sp>
      <p:sp>
        <p:nvSpPr>
          <p:cNvPr id="524" name="Google Shape;524;p33"/>
          <p:cNvSpPr txBox="1"/>
          <p:nvPr/>
        </p:nvSpPr>
        <p:spPr>
          <a:xfrm>
            <a:off x="3454400" y="1054100"/>
            <a:ext cx="406400" cy="5715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000"/>
              <a:buFont typeface="Arial"/>
              <a:buNone/>
            </a:pPr>
            <a:r>
              <a:rPr b="1" i="0" lang="ja" sz="2000" u="none" cap="none" strike="noStrike">
                <a:solidFill>
                  <a:srgbClr val="1A1A1A"/>
                </a:solidFill>
                <a:latin typeface="M PLUS 1p"/>
                <a:ea typeface="M PLUS 1p"/>
                <a:cs typeface="M PLUS 1p"/>
                <a:sym typeface="M PLUS 1p"/>
              </a:rPr>
              <a:t>＝</a:t>
            </a:r>
            <a:endParaRPr b="0" i="0" sz="2000" u="none" cap="none" strike="noStrike">
              <a:solidFill>
                <a:srgbClr val="000000"/>
              </a:solidFill>
              <a:latin typeface="Arial"/>
              <a:ea typeface="Arial"/>
              <a:cs typeface="Arial"/>
              <a:sym typeface="Arial"/>
            </a:endParaRPr>
          </a:p>
        </p:txBody>
      </p:sp>
      <p:sp>
        <p:nvSpPr>
          <p:cNvPr id="525" name="Google Shape;525;p33"/>
          <p:cNvSpPr/>
          <p:nvPr/>
        </p:nvSpPr>
        <p:spPr>
          <a:xfrm>
            <a:off x="3860800" y="1054100"/>
            <a:ext cx="2286000" cy="571500"/>
          </a:xfrm>
          <a:prstGeom prst="rect">
            <a:avLst/>
          </a:prstGeom>
          <a:solidFill>
            <a:srgbClr val="1A1A1A"/>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3"/>
          <p:cNvSpPr txBox="1"/>
          <p:nvPr/>
        </p:nvSpPr>
        <p:spPr>
          <a:xfrm>
            <a:off x="3860800" y="1054100"/>
            <a:ext cx="2286000" cy="5715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FFD100"/>
                </a:solidFill>
                <a:latin typeface="M PLUS 1p"/>
                <a:ea typeface="M PLUS 1p"/>
                <a:cs typeface="M PLUS 1p"/>
                <a:sym typeface="M PLUS 1p"/>
              </a:rPr>
              <a:t>★ ONB卒業</a:t>
            </a:r>
            <a:endParaRPr b="0" i="0" sz="1300" u="none" cap="none" strike="noStrike">
              <a:solidFill>
                <a:srgbClr val="000000"/>
              </a:solidFill>
              <a:latin typeface="Arial"/>
              <a:ea typeface="Arial"/>
              <a:cs typeface="Arial"/>
              <a:sym typeface="Arial"/>
            </a:endParaRPr>
          </a:p>
        </p:txBody>
      </p:sp>
      <p:sp>
        <p:nvSpPr>
          <p:cNvPr id="527" name="Google Shape;527;p33"/>
          <p:cNvSpPr txBox="1"/>
          <p:nvPr/>
        </p:nvSpPr>
        <p:spPr>
          <a:xfrm>
            <a:off x="274320" y="1783080"/>
            <a:ext cx="859536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【翌月継続スコア】4項目（必須項目なし・どの3項目の組み合わせでも卒業）</a:t>
            </a:r>
            <a:endParaRPr b="0" i="0" sz="1050" u="none" cap="none" strike="noStrike">
              <a:solidFill>
                <a:srgbClr val="000000"/>
              </a:solidFill>
              <a:latin typeface="Arial"/>
              <a:ea typeface="Arial"/>
              <a:cs typeface="Arial"/>
              <a:sym typeface="Arial"/>
            </a:endParaRPr>
          </a:p>
        </p:txBody>
      </p:sp>
      <p:sp>
        <p:nvSpPr>
          <p:cNvPr id="528" name="Google Shape;528;p33"/>
          <p:cNvSpPr/>
          <p:nvPr/>
        </p:nvSpPr>
        <p:spPr>
          <a:xfrm>
            <a:off x="279400" y="2108200"/>
            <a:ext cx="4241800" cy="914400"/>
          </a:xfrm>
          <a:prstGeom prst="rect">
            <a:avLst/>
          </a:prstGeom>
          <a:solidFill>
            <a:srgbClr val="FFF6D9"/>
          </a:solidFill>
          <a:ln cap="flat" cmpd="sng" w="254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33"/>
          <p:cNvSpPr txBox="1"/>
          <p:nvPr/>
        </p:nvSpPr>
        <p:spPr>
          <a:xfrm>
            <a:off x="381000" y="2286000"/>
            <a:ext cx="457200" cy="5461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6B800"/>
                </a:solidFill>
                <a:latin typeface="M PLUS 1p"/>
                <a:ea typeface="M PLUS 1p"/>
                <a:cs typeface="M PLUS 1p"/>
                <a:sym typeface="M PLUS 1p"/>
              </a:rPr>
              <a:t>★</a:t>
            </a:r>
            <a:endParaRPr b="0" i="0" sz="2600" u="none" cap="none" strike="noStrike">
              <a:solidFill>
                <a:srgbClr val="000000"/>
              </a:solidFill>
              <a:latin typeface="Arial"/>
              <a:ea typeface="Arial"/>
              <a:cs typeface="Arial"/>
              <a:sym typeface="Arial"/>
            </a:endParaRPr>
          </a:p>
        </p:txBody>
      </p:sp>
      <p:sp>
        <p:nvSpPr>
          <p:cNvPr id="530" name="Google Shape;530;p33"/>
          <p:cNvSpPr txBox="1"/>
          <p:nvPr/>
        </p:nvSpPr>
        <p:spPr>
          <a:xfrm>
            <a:off x="914400" y="2209800"/>
            <a:ext cx="3505200" cy="279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200" u="none" cap="none" strike="noStrike">
                <a:solidFill>
                  <a:srgbClr val="1A1A1A"/>
                </a:solidFill>
                <a:latin typeface="M PLUS 1p"/>
                <a:ea typeface="M PLUS 1p"/>
                <a:cs typeface="M PLUS 1p"/>
                <a:sym typeface="M PLUS 1p"/>
              </a:rPr>
              <a:t>① 追加ひな形作成</a:t>
            </a:r>
            <a:endParaRPr b="0" i="0" sz="1200" u="none" cap="none" strike="noStrike">
              <a:solidFill>
                <a:srgbClr val="000000"/>
              </a:solidFill>
              <a:latin typeface="Arial"/>
              <a:ea typeface="Arial"/>
              <a:cs typeface="Arial"/>
              <a:sym typeface="Arial"/>
            </a:endParaRPr>
          </a:p>
        </p:txBody>
      </p:sp>
      <p:sp>
        <p:nvSpPr>
          <p:cNvPr id="531" name="Google Shape;531;p33"/>
          <p:cNvSpPr txBox="1"/>
          <p:nvPr/>
        </p:nvSpPr>
        <p:spPr>
          <a:xfrm>
            <a:off x="914400" y="2514600"/>
            <a:ext cx="3505200" cy="4572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定義：初回募集日以降に、追加の雛形作成が1つ以上</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根拠：作成のみの効果は未計測（No.13は使用雛形の値）</a:t>
            </a:r>
            <a:endParaRPr b="0" i="0" sz="950" u="none" cap="none" strike="noStrike">
              <a:solidFill>
                <a:srgbClr val="000000"/>
              </a:solidFill>
              <a:latin typeface="Arial"/>
              <a:ea typeface="Arial"/>
              <a:cs typeface="Arial"/>
              <a:sym typeface="Arial"/>
            </a:endParaRPr>
          </a:p>
        </p:txBody>
      </p:sp>
      <p:sp>
        <p:nvSpPr>
          <p:cNvPr id="532" name="Google Shape;532;p33"/>
          <p:cNvSpPr/>
          <p:nvPr/>
        </p:nvSpPr>
        <p:spPr>
          <a:xfrm>
            <a:off x="4622800" y="2108200"/>
            <a:ext cx="4241800" cy="914400"/>
          </a:xfrm>
          <a:prstGeom prst="rect">
            <a:avLst/>
          </a:prstGeom>
          <a:solidFill>
            <a:srgbClr val="FFF6D9"/>
          </a:solidFill>
          <a:ln cap="flat" cmpd="sng" w="254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33"/>
          <p:cNvSpPr txBox="1"/>
          <p:nvPr/>
        </p:nvSpPr>
        <p:spPr>
          <a:xfrm>
            <a:off x="4724400" y="2286000"/>
            <a:ext cx="457200" cy="5461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6B800"/>
                </a:solidFill>
                <a:latin typeface="M PLUS 1p"/>
                <a:ea typeface="M PLUS 1p"/>
                <a:cs typeface="M PLUS 1p"/>
                <a:sym typeface="M PLUS 1p"/>
              </a:rPr>
              <a:t>★</a:t>
            </a:r>
            <a:endParaRPr b="0" i="0" sz="2600" u="none" cap="none" strike="noStrike">
              <a:solidFill>
                <a:srgbClr val="000000"/>
              </a:solidFill>
              <a:latin typeface="Arial"/>
              <a:ea typeface="Arial"/>
              <a:cs typeface="Arial"/>
              <a:sym typeface="Arial"/>
            </a:endParaRPr>
          </a:p>
        </p:txBody>
      </p:sp>
      <p:sp>
        <p:nvSpPr>
          <p:cNvPr id="534" name="Google Shape;534;p33"/>
          <p:cNvSpPr txBox="1"/>
          <p:nvPr/>
        </p:nvSpPr>
        <p:spPr>
          <a:xfrm>
            <a:off x="5257800" y="2209800"/>
            <a:ext cx="3505200" cy="279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200" u="none" cap="none" strike="noStrike">
                <a:solidFill>
                  <a:srgbClr val="1A1A1A"/>
                </a:solidFill>
                <a:latin typeface="M PLUS 1p"/>
                <a:ea typeface="M PLUS 1p"/>
                <a:cs typeface="M PLUS 1p"/>
                <a:sym typeface="M PLUS 1p"/>
              </a:rPr>
              <a:t>② 当月2回募集</a:t>
            </a:r>
            <a:endParaRPr b="0" i="0" sz="1200" u="none" cap="none" strike="noStrike">
              <a:solidFill>
                <a:srgbClr val="000000"/>
              </a:solidFill>
              <a:latin typeface="Arial"/>
              <a:ea typeface="Arial"/>
              <a:cs typeface="Arial"/>
              <a:sym typeface="Arial"/>
            </a:endParaRPr>
          </a:p>
        </p:txBody>
      </p:sp>
      <p:sp>
        <p:nvSpPr>
          <p:cNvPr id="535" name="Google Shape;535;p33"/>
          <p:cNvSpPr txBox="1"/>
          <p:nvPr/>
        </p:nvSpPr>
        <p:spPr>
          <a:xfrm>
            <a:off x="5257800" y="2514600"/>
            <a:ext cx="3505200" cy="4572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定義：初回稼働後に、追加募集が1件以上</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根拠：翌月継続 あり69% vs なし5.2%（No.01）</a:t>
            </a:r>
            <a:endParaRPr b="0" i="0" sz="950" u="none" cap="none" strike="noStrike">
              <a:solidFill>
                <a:srgbClr val="000000"/>
              </a:solidFill>
              <a:latin typeface="Arial"/>
              <a:ea typeface="Arial"/>
              <a:cs typeface="Arial"/>
              <a:sym typeface="Arial"/>
            </a:endParaRPr>
          </a:p>
        </p:txBody>
      </p:sp>
      <p:sp>
        <p:nvSpPr>
          <p:cNvPr id="536" name="Google Shape;536;p33"/>
          <p:cNvSpPr/>
          <p:nvPr/>
        </p:nvSpPr>
        <p:spPr>
          <a:xfrm>
            <a:off x="279400" y="3149600"/>
            <a:ext cx="4241800" cy="914400"/>
          </a:xfrm>
          <a:prstGeom prst="rect">
            <a:avLst/>
          </a:prstGeom>
          <a:solidFill>
            <a:srgbClr val="FFF6D9"/>
          </a:solidFill>
          <a:ln cap="flat" cmpd="sng" w="254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33"/>
          <p:cNvSpPr txBox="1"/>
          <p:nvPr/>
        </p:nvSpPr>
        <p:spPr>
          <a:xfrm>
            <a:off x="381000" y="3327400"/>
            <a:ext cx="457200" cy="5461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6B800"/>
                </a:solidFill>
                <a:latin typeface="M PLUS 1p"/>
                <a:ea typeface="M PLUS 1p"/>
                <a:cs typeface="M PLUS 1p"/>
                <a:sym typeface="M PLUS 1p"/>
              </a:rPr>
              <a:t>★</a:t>
            </a:r>
            <a:endParaRPr b="0" i="0" sz="2600" u="none" cap="none" strike="noStrike">
              <a:solidFill>
                <a:srgbClr val="000000"/>
              </a:solidFill>
              <a:latin typeface="Arial"/>
              <a:ea typeface="Arial"/>
              <a:cs typeface="Arial"/>
              <a:sym typeface="Arial"/>
            </a:endParaRPr>
          </a:p>
        </p:txBody>
      </p:sp>
      <p:sp>
        <p:nvSpPr>
          <p:cNvPr id="538" name="Google Shape;538;p33"/>
          <p:cNvSpPr txBox="1"/>
          <p:nvPr/>
        </p:nvSpPr>
        <p:spPr>
          <a:xfrm>
            <a:off x="914400" y="3251200"/>
            <a:ext cx="3505200" cy="279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200" u="none" cap="none" strike="noStrike">
                <a:solidFill>
                  <a:srgbClr val="1A1A1A"/>
                </a:solidFill>
                <a:latin typeface="M PLUS 1p"/>
                <a:ea typeface="M PLUS 1p"/>
                <a:cs typeface="M PLUS 1p"/>
                <a:sym typeface="M PLUS 1p"/>
              </a:rPr>
              <a:t>③ レビュー／未評価解消</a:t>
            </a:r>
            <a:endParaRPr b="0" i="0" sz="1200" u="none" cap="none" strike="noStrike">
              <a:solidFill>
                <a:srgbClr val="000000"/>
              </a:solidFill>
              <a:latin typeface="Arial"/>
              <a:ea typeface="Arial"/>
              <a:cs typeface="Arial"/>
              <a:sym typeface="Arial"/>
            </a:endParaRPr>
          </a:p>
        </p:txBody>
      </p:sp>
      <p:sp>
        <p:nvSpPr>
          <p:cNvPr id="539" name="Google Shape;539;p33"/>
          <p:cNvSpPr txBox="1"/>
          <p:nvPr/>
        </p:nvSpPr>
        <p:spPr>
          <a:xfrm>
            <a:off x="914400" y="3556000"/>
            <a:ext cx="3505200" cy="4572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定義：ワーカーレビュー未実施がない状態</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根拠：翌月継続 42.4% vs 17.1%（No.08）</a:t>
            </a:r>
            <a:endParaRPr b="0" i="0" sz="950" u="none" cap="none" strike="noStrike">
              <a:solidFill>
                <a:srgbClr val="000000"/>
              </a:solidFill>
              <a:latin typeface="Arial"/>
              <a:ea typeface="Arial"/>
              <a:cs typeface="Arial"/>
              <a:sym typeface="Arial"/>
            </a:endParaRPr>
          </a:p>
        </p:txBody>
      </p:sp>
      <p:sp>
        <p:nvSpPr>
          <p:cNvPr id="540" name="Google Shape;540;p33"/>
          <p:cNvSpPr/>
          <p:nvPr/>
        </p:nvSpPr>
        <p:spPr>
          <a:xfrm>
            <a:off x="4622800" y="3149600"/>
            <a:ext cx="4241800" cy="914400"/>
          </a:xfrm>
          <a:prstGeom prst="rect">
            <a:avLst/>
          </a:prstGeom>
          <a:solidFill>
            <a:srgbClr val="FFF6D9"/>
          </a:solidFill>
          <a:ln cap="flat" cmpd="sng" w="254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33"/>
          <p:cNvSpPr txBox="1"/>
          <p:nvPr/>
        </p:nvSpPr>
        <p:spPr>
          <a:xfrm>
            <a:off x="4724400" y="3327400"/>
            <a:ext cx="457200" cy="5461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6B800"/>
                </a:solidFill>
                <a:latin typeface="M PLUS 1p"/>
                <a:ea typeface="M PLUS 1p"/>
                <a:cs typeface="M PLUS 1p"/>
                <a:sym typeface="M PLUS 1p"/>
              </a:rPr>
              <a:t>★</a:t>
            </a:r>
            <a:endParaRPr b="0" i="0" sz="2600" u="none" cap="none" strike="noStrike">
              <a:solidFill>
                <a:srgbClr val="000000"/>
              </a:solidFill>
              <a:latin typeface="Arial"/>
              <a:ea typeface="Arial"/>
              <a:cs typeface="Arial"/>
              <a:sym typeface="Arial"/>
            </a:endParaRPr>
          </a:p>
        </p:txBody>
      </p:sp>
      <p:sp>
        <p:nvSpPr>
          <p:cNvPr id="542" name="Google Shape;542;p33"/>
          <p:cNvSpPr txBox="1"/>
          <p:nvPr/>
        </p:nvSpPr>
        <p:spPr>
          <a:xfrm>
            <a:off x="5257800" y="3251200"/>
            <a:ext cx="3505200" cy="279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200" u="none" cap="none" strike="noStrike">
                <a:solidFill>
                  <a:srgbClr val="1A1A1A"/>
                </a:solidFill>
                <a:latin typeface="M PLUS 1p"/>
                <a:ea typeface="M PLUS 1p"/>
                <a:cs typeface="M PLUS 1p"/>
                <a:sym typeface="M PLUS 1p"/>
              </a:rPr>
              <a:t>④ お気に入り登録</a:t>
            </a:r>
            <a:endParaRPr b="0" i="0" sz="1200" u="none" cap="none" strike="noStrike">
              <a:solidFill>
                <a:srgbClr val="000000"/>
              </a:solidFill>
              <a:latin typeface="Arial"/>
              <a:ea typeface="Arial"/>
              <a:cs typeface="Arial"/>
              <a:sym typeface="Arial"/>
            </a:endParaRPr>
          </a:p>
        </p:txBody>
      </p:sp>
      <p:sp>
        <p:nvSpPr>
          <p:cNvPr id="543" name="Google Shape;543;p33"/>
          <p:cNvSpPr txBox="1"/>
          <p:nvPr/>
        </p:nvSpPr>
        <p:spPr>
          <a:xfrm>
            <a:off x="5257800" y="3556000"/>
            <a:ext cx="3505200" cy="4572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定義：お気に入り登録が5名以上</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根拠：継続率への直接エビデンスなし。10月PoCで検証</a:t>
            </a:r>
            <a:endParaRPr b="0" i="0" sz="950" u="none" cap="none" strike="noStrike">
              <a:solidFill>
                <a:srgbClr val="000000"/>
              </a:solidFill>
              <a:latin typeface="Arial"/>
              <a:ea typeface="Arial"/>
              <a:cs typeface="Arial"/>
              <a:sym typeface="Arial"/>
            </a:endParaRPr>
          </a:p>
        </p:txBody>
      </p:sp>
      <p:sp>
        <p:nvSpPr>
          <p:cNvPr id="544" name="Google Shape;544;p33"/>
          <p:cNvSpPr txBox="1"/>
          <p:nvPr/>
        </p:nvSpPr>
        <p:spPr>
          <a:xfrm>
            <a:off x="279400" y="4216400"/>
            <a:ext cx="85979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800" u="none" cap="none" strike="noStrike">
                <a:solidFill>
                  <a:srgbClr val="767676"/>
                </a:solidFill>
                <a:latin typeface="M PLUS 1p"/>
                <a:ea typeface="M PLUS 1p"/>
                <a:cs typeface="M PLUS 1p"/>
                <a:sym typeface="M PLUS 1p"/>
              </a:rPr>
              <a:t>※必須項目は設けない。4項目のどの3項目を達成してもONB卒業。翌月継続スコアは3ヶ月継続スコアとは別に採点・集計する。</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0" lang="ja" sz="800" u="none" cap="none" strike="noStrike">
                <a:solidFill>
                  <a:srgbClr val="767676"/>
                </a:solidFill>
                <a:latin typeface="M PLUS 1p"/>
                <a:ea typeface="M PLUS 1p"/>
                <a:cs typeface="M PLUS 1p"/>
                <a:sym typeface="M PLUS 1p"/>
              </a:rPr>
              <a:t>※①は雛形の作成有無で判定。No.13の差（使用雛形1枚51.0%→2枚76.2%）は雛形を使った場合の値で、作成のみの効果は10月PoCで検証する。</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9" name="Shape 549"/>
        <p:cNvGrpSpPr/>
        <p:nvPr/>
      </p:nvGrpSpPr>
      <p:grpSpPr>
        <a:xfrm>
          <a:off x="0" y="0"/>
          <a:ext cx="0" cy="0"/>
          <a:chOff x="0" y="0"/>
          <a:chExt cx="0" cy="0"/>
        </a:xfrm>
      </p:grpSpPr>
      <p:sp>
        <p:nvSpPr>
          <p:cNvPr id="550" name="Google Shape;550;p34"/>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34"/>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34"/>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08｜翌月継続率を上げる候補｜「効果 × 営業可変性」マトリクス</a:t>
            </a:r>
            <a:endParaRPr b="0" i="0" sz="1500" u="none" cap="none" strike="noStrike">
              <a:solidFill>
                <a:srgbClr val="000000"/>
              </a:solidFill>
              <a:latin typeface="Arial"/>
              <a:ea typeface="Arial"/>
              <a:cs typeface="Arial"/>
              <a:sym typeface="Arial"/>
            </a:endParaRPr>
          </a:p>
        </p:txBody>
      </p:sp>
      <p:sp>
        <p:nvSpPr>
          <p:cNvPr id="553" name="Google Shape;553;p34"/>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554" name="Google Shape;554;p34"/>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555" name="Google Shape;555;p34"/>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12</a:t>
            </a:r>
            <a:endParaRPr b="0" i="0" sz="800" u="none" cap="none" strike="noStrike">
              <a:solidFill>
                <a:srgbClr val="000000"/>
              </a:solidFill>
              <a:latin typeface="Arial"/>
              <a:ea typeface="Arial"/>
              <a:cs typeface="Arial"/>
              <a:sym typeface="Arial"/>
            </a:endParaRPr>
          </a:p>
        </p:txBody>
      </p:sp>
      <p:sp>
        <p:nvSpPr>
          <p:cNvPr id="556" name="Google Shape;556;p34"/>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候補はこれだけあるが、10月PoCでは「効果の根拠」と「営業が動かせるか」から4項目を選んだ</a:t>
            </a:r>
            <a:endParaRPr b="0" i="0" sz="1150" u="none" cap="none" strike="noStrike">
              <a:solidFill>
                <a:srgbClr val="4A86E8"/>
              </a:solidFill>
              <a:latin typeface="Arial"/>
              <a:ea typeface="Arial"/>
              <a:cs typeface="Arial"/>
              <a:sym typeface="Arial"/>
            </a:endParaRPr>
          </a:p>
        </p:txBody>
      </p:sp>
      <p:sp>
        <p:nvSpPr>
          <p:cNvPr id="557" name="Google Shape;557;p34"/>
          <p:cNvSpPr/>
          <p:nvPr/>
        </p:nvSpPr>
        <p:spPr>
          <a:xfrm>
            <a:off x="685800" y="1097280"/>
            <a:ext cx="6172200" cy="324612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58" name="Google Shape;558;p34"/>
          <p:cNvCxnSpPr/>
          <p:nvPr/>
        </p:nvCxnSpPr>
        <p:spPr>
          <a:xfrm>
            <a:off x="2228850" y="1097280"/>
            <a:ext cx="0" cy="3246120"/>
          </a:xfrm>
          <a:prstGeom prst="straightConnector1">
            <a:avLst/>
          </a:prstGeom>
          <a:noFill/>
          <a:ln cap="flat" cmpd="sng" w="9525">
            <a:solidFill>
              <a:srgbClr val="EEEEEE"/>
            </a:solidFill>
            <a:prstDash val="solid"/>
            <a:round/>
            <a:headEnd len="sm" w="sm" type="none"/>
            <a:tailEnd len="sm" w="sm" type="none"/>
          </a:ln>
        </p:spPr>
      </p:cxnSp>
      <p:cxnSp>
        <p:nvCxnSpPr>
          <p:cNvPr id="559" name="Google Shape;559;p34"/>
          <p:cNvCxnSpPr/>
          <p:nvPr/>
        </p:nvCxnSpPr>
        <p:spPr>
          <a:xfrm>
            <a:off x="685800" y="1908810"/>
            <a:ext cx="6172200" cy="0"/>
          </a:xfrm>
          <a:prstGeom prst="straightConnector1">
            <a:avLst/>
          </a:prstGeom>
          <a:noFill/>
          <a:ln cap="flat" cmpd="sng" w="9525">
            <a:solidFill>
              <a:srgbClr val="EEEEEE"/>
            </a:solidFill>
            <a:prstDash val="solid"/>
            <a:round/>
            <a:headEnd len="sm" w="sm" type="none"/>
            <a:tailEnd len="sm" w="sm" type="none"/>
          </a:ln>
        </p:spPr>
      </p:cxnSp>
      <p:cxnSp>
        <p:nvCxnSpPr>
          <p:cNvPr id="560" name="Google Shape;560;p34"/>
          <p:cNvCxnSpPr/>
          <p:nvPr/>
        </p:nvCxnSpPr>
        <p:spPr>
          <a:xfrm>
            <a:off x="3771900" y="1097280"/>
            <a:ext cx="0" cy="3246120"/>
          </a:xfrm>
          <a:prstGeom prst="straightConnector1">
            <a:avLst/>
          </a:prstGeom>
          <a:noFill/>
          <a:ln cap="flat" cmpd="sng" w="9525">
            <a:solidFill>
              <a:srgbClr val="EEEEEE"/>
            </a:solidFill>
            <a:prstDash val="solid"/>
            <a:round/>
            <a:headEnd len="sm" w="sm" type="none"/>
            <a:tailEnd len="sm" w="sm" type="none"/>
          </a:ln>
        </p:spPr>
      </p:cxnSp>
      <p:cxnSp>
        <p:nvCxnSpPr>
          <p:cNvPr id="561" name="Google Shape;561;p34"/>
          <p:cNvCxnSpPr/>
          <p:nvPr/>
        </p:nvCxnSpPr>
        <p:spPr>
          <a:xfrm>
            <a:off x="685800" y="2720340"/>
            <a:ext cx="6172200" cy="0"/>
          </a:xfrm>
          <a:prstGeom prst="straightConnector1">
            <a:avLst/>
          </a:prstGeom>
          <a:noFill/>
          <a:ln cap="flat" cmpd="sng" w="9525">
            <a:solidFill>
              <a:srgbClr val="EEEEEE"/>
            </a:solidFill>
            <a:prstDash val="solid"/>
            <a:round/>
            <a:headEnd len="sm" w="sm" type="none"/>
            <a:tailEnd len="sm" w="sm" type="none"/>
          </a:ln>
        </p:spPr>
      </p:cxnSp>
      <p:cxnSp>
        <p:nvCxnSpPr>
          <p:cNvPr id="562" name="Google Shape;562;p34"/>
          <p:cNvCxnSpPr/>
          <p:nvPr/>
        </p:nvCxnSpPr>
        <p:spPr>
          <a:xfrm>
            <a:off x="5314950" y="1097280"/>
            <a:ext cx="0" cy="3246120"/>
          </a:xfrm>
          <a:prstGeom prst="straightConnector1">
            <a:avLst/>
          </a:prstGeom>
          <a:noFill/>
          <a:ln cap="flat" cmpd="sng" w="9525">
            <a:solidFill>
              <a:srgbClr val="EEEEEE"/>
            </a:solidFill>
            <a:prstDash val="solid"/>
            <a:round/>
            <a:headEnd len="sm" w="sm" type="none"/>
            <a:tailEnd len="sm" w="sm" type="none"/>
          </a:ln>
        </p:spPr>
      </p:cxnSp>
      <p:cxnSp>
        <p:nvCxnSpPr>
          <p:cNvPr id="563" name="Google Shape;563;p34"/>
          <p:cNvCxnSpPr/>
          <p:nvPr/>
        </p:nvCxnSpPr>
        <p:spPr>
          <a:xfrm>
            <a:off x="685800" y="3531870"/>
            <a:ext cx="6172200" cy="0"/>
          </a:xfrm>
          <a:prstGeom prst="straightConnector1">
            <a:avLst/>
          </a:prstGeom>
          <a:noFill/>
          <a:ln cap="flat" cmpd="sng" w="9525">
            <a:solidFill>
              <a:srgbClr val="EEEEEE"/>
            </a:solidFill>
            <a:prstDash val="solid"/>
            <a:round/>
            <a:headEnd len="sm" w="sm" type="none"/>
            <a:tailEnd len="sm" w="sm" type="none"/>
          </a:ln>
        </p:spPr>
      </p:cxnSp>
      <p:cxnSp>
        <p:nvCxnSpPr>
          <p:cNvPr id="564" name="Google Shape;564;p34"/>
          <p:cNvCxnSpPr/>
          <p:nvPr/>
        </p:nvCxnSpPr>
        <p:spPr>
          <a:xfrm>
            <a:off x="685800" y="1097280"/>
            <a:ext cx="0" cy="3246120"/>
          </a:xfrm>
          <a:prstGeom prst="straightConnector1">
            <a:avLst/>
          </a:prstGeom>
          <a:noFill/>
          <a:ln cap="flat" cmpd="sng" w="19050">
            <a:solidFill>
              <a:srgbClr val="434343"/>
            </a:solidFill>
            <a:prstDash val="solid"/>
            <a:round/>
            <a:headEnd len="med" w="med" type="triangle"/>
            <a:tailEnd len="sm" w="sm" type="none"/>
          </a:ln>
        </p:spPr>
      </p:cxnSp>
      <p:cxnSp>
        <p:nvCxnSpPr>
          <p:cNvPr id="565" name="Google Shape;565;p34"/>
          <p:cNvCxnSpPr/>
          <p:nvPr/>
        </p:nvCxnSpPr>
        <p:spPr>
          <a:xfrm>
            <a:off x="685800" y="4343400"/>
            <a:ext cx="6172200" cy="0"/>
          </a:xfrm>
          <a:prstGeom prst="straightConnector1">
            <a:avLst/>
          </a:prstGeom>
          <a:noFill/>
          <a:ln cap="flat" cmpd="sng" w="19050">
            <a:solidFill>
              <a:srgbClr val="434343"/>
            </a:solidFill>
            <a:prstDash val="solid"/>
            <a:round/>
            <a:headEnd len="sm" w="sm" type="none"/>
            <a:tailEnd len="med" w="med" type="triangle"/>
          </a:ln>
        </p:spPr>
      </p:cxnSp>
      <p:sp>
        <p:nvSpPr>
          <p:cNvPr id="566" name="Google Shape;566;p34"/>
          <p:cNvSpPr txBox="1"/>
          <p:nvPr/>
        </p:nvSpPr>
        <p:spPr>
          <a:xfrm>
            <a:off x="45720" y="1097280"/>
            <a:ext cx="56692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434343"/>
                </a:solidFill>
                <a:latin typeface="M PLUS 1p"/>
                <a:ea typeface="M PLUS 1p"/>
                <a:cs typeface="M PLUS 1p"/>
                <a:sym typeface="M PLUS 1p"/>
              </a:rPr>
              <a:t>翌月継続</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434343"/>
                </a:solidFill>
                <a:latin typeface="M PLUS 1p"/>
                <a:ea typeface="M PLUS 1p"/>
                <a:cs typeface="M PLUS 1p"/>
                <a:sym typeface="M PLUS 1p"/>
              </a:rPr>
              <a:t>への効果</a:t>
            </a:r>
            <a:endParaRPr b="0" i="0" sz="800" u="none" cap="none" strike="noStrike">
              <a:solidFill>
                <a:srgbClr val="000000"/>
              </a:solidFill>
              <a:latin typeface="Arial"/>
              <a:ea typeface="Arial"/>
              <a:cs typeface="Arial"/>
              <a:sym typeface="Arial"/>
            </a:endParaRPr>
          </a:p>
        </p:txBody>
      </p:sp>
      <p:sp>
        <p:nvSpPr>
          <p:cNvPr id="567" name="Google Shape;567;p34"/>
          <p:cNvSpPr txBox="1"/>
          <p:nvPr/>
        </p:nvSpPr>
        <p:spPr>
          <a:xfrm>
            <a:off x="45720" y="1554480"/>
            <a:ext cx="566928"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767676"/>
                </a:solidFill>
                <a:latin typeface="M PLUS 1p"/>
                <a:ea typeface="M PLUS 1p"/>
                <a:cs typeface="M PLUS 1p"/>
                <a:sym typeface="M PLUS 1p"/>
              </a:rPr>
              <a:t>大</a:t>
            </a:r>
            <a:endParaRPr b="0" i="0" sz="800" u="none" cap="none" strike="noStrike">
              <a:solidFill>
                <a:srgbClr val="000000"/>
              </a:solidFill>
              <a:latin typeface="Arial"/>
              <a:ea typeface="Arial"/>
              <a:cs typeface="Arial"/>
              <a:sym typeface="Arial"/>
            </a:endParaRPr>
          </a:p>
        </p:txBody>
      </p:sp>
      <p:sp>
        <p:nvSpPr>
          <p:cNvPr id="568" name="Google Shape;568;p34"/>
          <p:cNvSpPr txBox="1"/>
          <p:nvPr/>
        </p:nvSpPr>
        <p:spPr>
          <a:xfrm>
            <a:off x="45720" y="3840480"/>
            <a:ext cx="56692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767676"/>
                </a:solidFill>
                <a:latin typeface="M PLUS 1p"/>
                <a:ea typeface="M PLUS 1p"/>
                <a:cs typeface="M PLUS 1p"/>
                <a:sym typeface="M PLUS 1p"/>
              </a:rPr>
              <a:t>小／</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767676"/>
                </a:solidFill>
                <a:latin typeface="M PLUS 1p"/>
                <a:ea typeface="M PLUS 1p"/>
                <a:cs typeface="M PLUS 1p"/>
                <a:sym typeface="M PLUS 1p"/>
              </a:rPr>
              <a:t>未検証</a:t>
            </a:r>
            <a:endParaRPr b="0" i="0" sz="800" u="none" cap="none" strike="noStrike">
              <a:solidFill>
                <a:srgbClr val="000000"/>
              </a:solidFill>
              <a:latin typeface="Arial"/>
              <a:ea typeface="Arial"/>
              <a:cs typeface="Arial"/>
              <a:sym typeface="Arial"/>
            </a:endParaRPr>
          </a:p>
        </p:txBody>
      </p:sp>
      <p:sp>
        <p:nvSpPr>
          <p:cNvPr id="569" name="Google Shape;569;p34"/>
          <p:cNvSpPr txBox="1"/>
          <p:nvPr/>
        </p:nvSpPr>
        <p:spPr>
          <a:xfrm>
            <a:off x="685800" y="4370832"/>
            <a:ext cx="6172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434343"/>
                </a:solidFill>
                <a:latin typeface="M PLUS 1p"/>
                <a:ea typeface="M PLUS 1p"/>
                <a:cs typeface="M PLUS 1p"/>
                <a:sym typeface="M PLUS 1p"/>
              </a:rPr>
              <a:t>営業側の可変性　　低 ←　　　　　　　　　　　　　　　　　　　　　　　　→ 高</a:t>
            </a:r>
            <a:endParaRPr b="0" i="0" sz="800" u="none" cap="none" strike="noStrike">
              <a:solidFill>
                <a:srgbClr val="000000"/>
              </a:solidFill>
              <a:latin typeface="Arial"/>
              <a:ea typeface="Arial"/>
              <a:cs typeface="Arial"/>
              <a:sym typeface="Arial"/>
            </a:endParaRPr>
          </a:p>
        </p:txBody>
      </p:sp>
      <p:sp>
        <p:nvSpPr>
          <p:cNvPr id="570" name="Google Shape;570;p34"/>
          <p:cNvSpPr/>
          <p:nvPr/>
        </p:nvSpPr>
        <p:spPr>
          <a:xfrm>
            <a:off x="5001768" y="1229868"/>
            <a:ext cx="1737360" cy="384048"/>
          </a:xfrm>
          <a:prstGeom prst="rect">
            <a:avLst/>
          </a:prstGeom>
          <a:solidFill>
            <a:srgbClr val="FFD100"/>
          </a:solidFill>
          <a:ln cap="flat" cmpd="sng" w="1905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34"/>
          <p:cNvSpPr txBox="1"/>
          <p:nvPr/>
        </p:nvSpPr>
        <p:spPr>
          <a:xfrm>
            <a:off x="5001768" y="1229868"/>
            <a:ext cx="173736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当月2回募集</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 あり69% vs なし5.2%（No.01）</a:t>
            </a:r>
            <a:endParaRPr b="0" i="0" sz="850" u="none" cap="none" strike="noStrike">
              <a:solidFill>
                <a:srgbClr val="000000"/>
              </a:solidFill>
              <a:latin typeface="Arial"/>
              <a:ea typeface="Arial"/>
              <a:cs typeface="Arial"/>
              <a:sym typeface="Arial"/>
            </a:endParaRPr>
          </a:p>
        </p:txBody>
      </p:sp>
      <p:sp>
        <p:nvSpPr>
          <p:cNvPr id="572" name="Google Shape;572;p34"/>
          <p:cNvSpPr/>
          <p:nvPr/>
        </p:nvSpPr>
        <p:spPr>
          <a:xfrm>
            <a:off x="5001768" y="1749247"/>
            <a:ext cx="1737360" cy="384048"/>
          </a:xfrm>
          <a:prstGeom prst="rect">
            <a:avLst/>
          </a:prstGeom>
          <a:solidFill>
            <a:srgbClr val="FFD100"/>
          </a:solidFill>
          <a:ln cap="flat" cmpd="sng" w="1905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34"/>
          <p:cNvSpPr txBox="1"/>
          <p:nvPr/>
        </p:nvSpPr>
        <p:spPr>
          <a:xfrm>
            <a:off x="5001768" y="1749247"/>
            <a:ext cx="173736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追加ひな形作成</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 使用雛形の値のみ（No.13）</a:t>
            </a:r>
            <a:endParaRPr b="0" i="0" sz="850" u="none" cap="none" strike="noStrike">
              <a:solidFill>
                <a:srgbClr val="000000"/>
              </a:solidFill>
              <a:latin typeface="Arial"/>
              <a:ea typeface="Arial"/>
              <a:cs typeface="Arial"/>
              <a:sym typeface="Arial"/>
            </a:endParaRPr>
          </a:p>
        </p:txBody>
      </p:sp>
      <p:sp>
        <p:nvSpPr>
          <p:cNvPr id="574" name="Google Shape;574;p34"/>
          <p:cNvSpPr/>
          <p:nvPr/>
        </p:nvSpPr>
        <p:spPr>
          <a:xfrm>
            <a:off x="5001768" y="2333549"/>
            <a:ext cx="1737360" cy="384048"/>
          </a:xfrm>
          <a:prstGeom prst="rect">
            <a:avLst/>
          </a:prstGeom>
          <a:solidFill>
            <a:srgbClr val="FFD100"/>
          </a:solidFill>
          <a:ln cap="flat" cmpd="sng" w="1905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34"/>
          <p:cNvSpPr txBox="1"/>
          <p:nvPr/>
        </p:nvSpPr>
        <p:spPr>
          <a:xfrm>
            <a:off x="5001768" y="2333549"/>
            <a:ext cx="173736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レビュー／未評価解消</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 両回あり42.4% vs なし17.1%（No.08）</a:t>
            </a:r>
            <a:endParaRPr b="0" i="0" sz="850" u="none" cap="none" strike="noStrike">
              <a:solidFill>
                <a:srgbClr val="000000"/>
              </a:solidFill>
              <a:latin typeface="Arial"/>
              <a:ea typeface="Arial"/>
              <a:cs typeface="Arial"/>
              <a:sym typeface="Arial"/>
            </a:endParaRPr>
          </a:p>
        </p:txBody>
      </p:sp>
      <p:sp>
        <p:nvSpPr>
          <p:cNvPr id="576" name="Google Shape;576;p34"/>
          <p:cNvSpPr/>
          <p:nvPr/>
        </p:nvSpPr>
        <p:spPr>
          <a:xfrm>
            <a:off x="3982212" y="3502152"/>
            <a:ext cx="1554480" cy="384048"/>
          </a:xfrm>
          <a:prstGeom prst="rect">
            <a:avLst/>
          </a:prstGeom>
          <a:solidFill>
            <a:srgbClr val="FFD100"/>
          </a:solidFill>
          <a:ln cap="flat" cmpd="sng" w="1905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34"/>
          <p:cNvSpPr txBox="1"/>
          <p:nvPr/>
        </p:nvSpPr>
        <p:spPr>
          <a:xfrm>
            <a:off x="3982212" y="3502152"/>
            <a:ext cx="155448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お気に入り登録（5名以上）</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検証中 直接エビデンスなし（No.14）</a:t>
            </a:r>
            <a:endParaRPr b="0" i="0" sz="850" u="none" cap="none" strike="noStrike">
              <a:solidFill>
                <a:srgbClr val="000000"/>
              </a:solidFill>
              <a:latin typeface="Arial"/>
              <a:ea typeface="Arial"/>
              <a:cs typeface="Arial"/>
              <a:sym typeface="Arial"/>
            </a:endParaRPr>
          </a:p>
        </p:txBody>
      </p:sp>
      <p:sp>
        <p:nvSpPr>
          <p:cNvPr id="578" name="Google Shape;578;p34"/>
          <p:cNvSpPr/>
          <p:nvPr/>
        </p:nvSpPr>
        <p:spPr>
          <a:xfrm>
            <a:off x="2903220" y="1229868"/>
            <a:ext cx="173736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34"/>
          <p:cNvSpPr txBox="1"/>
          <p:nvPr/>
        </p:nvSpPr>
        <p:spPr>
          <a:xfrm>
            <a:off x="2903220" y="1229868"/>
            <a:ext cx="173736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翌週継続（初回→次の作成日数）</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あり64.1% vs なし25.4%（No.02）※追加募集と重複</a:t>
            </a:r>
            <a:endParaRPr b="0" i="0" sz="750" u="none" cap="none" strike="noStrike">
              <a:solidFill>
                <a:srgbClr val="000000"/>
              </a:solidFill>
              <a:latin typeface="Arial"/>
              <a:ea typeface="Arial"/>
              <a:cs typeface="Arial"/>
              <a:sym typeface="Arial"/>
            </a:endParaRPr>
          </a:p>
        </p:txBody>
      </p:sp>
      <p:sp>
        <p:nvSpPr>
          <p:cNvPr id="580" name="Google Shape;580;p34"/>
          <p:cNvSpPr/>
          <p:nvPr/>
        </p:nvSpPr>
        <p:spPr>
          <a:xfrm>
            <a:off x="818388" y="1359713"/>
            <a:ext cx="146304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34"/>
          <p:cNvSpPr txBox="1"/>
          <p:nvPr/>
        </p:nvSpPr>
        <p:spPr>
          <a:xfrm>
            <a:off x="818388" y="1359713"/>
            <a:ext cx="146304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営業ヨミA〜C</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A93.3%／C＋45.5%（No.04）※主観・診断情報</a:t>
            </a:r>
            <a:endParaRPr b="0" i="0" sz="750" u="none" cap="none" strike="noStrike">
              <a:solidFill>
                <a:srgbClr val="000000"/>
              </a:solidFill>
              <a:latin typeface="Arial"/>
              <a:ea typeface="Arial"/>
              <a:cs typeface="Arial"/>
              <a:sym typeface="Arial"/>
            </a:endParaRPr>
          </a:p>
        </p:txBody>
      </p:sp>
      <p:sp>
        <p:nvSpPr>
          <p:cNvPr id="582" name="Google Shape;582;p34"/>
          <p:cNvSpPr/>
          <p:nvPr/>
        </p:nvSpPr>
        <p:spPr>
          <a:xfrm>
            <a:off x="3348990" y="2528316"/>
            <a:ext cx="146304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34"/>
          <p:cNvSpPr txBox="1"/>
          <p:nvPr/>
        </p:nvSpPr>
        <p:spPr>
          <a:xfrm>
            <a:off x="3348990" y="2528316"/>
            <a:ext cx="146304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計画掲載・リードタイム</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掲載4〜6日層で＋10.2pt（No.09）</a:t>
            </a:r>
            <a:endParaRPr b="0" i="0" sz="750" u="none" cap="none" strike="noStrike">
              <a:solidFill>
                <a:srgbClr val="000000"/>
              </a:solidFill>
              <a:latin typeface="Arial"/>
              <a:ea typeface="Arial"/>
              <a:cs typeface="Arial"/>
              <a:sym typeface="Arial"/>
            </a:endParaRPr>
          </a:p>
        </p:txBody>
      </p:sp>
      <p:sp>
        <p:nvSpPr>
          <p:cNvPr id="584" name="Google Shape;584;p34"/>
          <p:cNvSpPr/>
          <p:nvPr/>
        </p:nvSpPr>
        <p:spPr>
          <a:xfrm>
            <a:off x="2670048" y="2008937"/>
            <a:ext cx="146304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34"/>
          <p:cNvSpPr txBox="1"/>
          <p:nvPr/>
        </p:nvSpPr>
        <p:spPr>
          <a:xfrm>
            <a:off x="2670048" y="2008937"/>
            <a:ext cx="146304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初月掲載量（5件以上）</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5件以上76.1% vs 2件69.0%（No.03）</a:t>
            </a:r>
            <a:endParaRPr b="0" i="0" sz="750" u="none" cap="none" strike="noStrike">
              <a:solidFill>
                <a:srgbClr val="000000"/>
              </a:solidFill>
              <a:latin typeface="Arial"/>
              <a:ea typeface="Arial"/>
              <a:cs typeface="Arial"/>
              <a:sym typeface="Arial"/>
            </a:endParaRPr>
          </a:p>
        </p:txBody>
      </p:sp>
      <p:sp>
        <p:nvSpPr>
          <p:cNvPr id="586" name="Google Shape;586;p34"/>
          <p:cNvSpPr/>
          <p:nvPr/>
        </p:nvSpPr>
        <p:spPr>
          <a:xfrm>
            <a:off x="2144268" y="3047695"/>
            <a:ext cx="128016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34"/>
          <p:cNvSpPr txBox="1"/>
          <p:nvPr/>
        </p:nvSpPr>
        <p:spPr>
          <a:xfrm>
            <a:off x="2144268" y="3047695"/>
            <a:ext cx="128016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Bad体験</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掲載量を揃えると差なし（No.05）</a:t>
            </a:r>
            <a:endParaRPr b="0" i="0" sz="750" u="none" cap="none" strike="noStrike">
              <a:solidFill>
                <a:srgbClr val="000000"/>
              </a:solidFill>
              <a:latin typeface="Arial"/>
              <a:ea typeface="Arial"/>
              <a:cs typeface="Arial"/>
              <a:sym typeface="Arial"/>
            </a:endParaRPr>
          </a:p>
        </p:txBody>
      </p:sp>
      <p:sp>
        <p:nvSpPr>
          <p:cNvPr id="588" name="Google Shape;588;p34"/>
          <p:cNvSpPr/>
          <p:nvPr/>
        </p:nvSpPr>
        <p:spPr>
          <a:xfrm>
            <a:off x="786384" y="2852928"/>
            <a:ext cx="128016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34"/>
          <p:cNvSpPr txBox="1"/>
          <p:nvPr/>
        </p:nvSpPr>
        <p:spPr>
          <a:xfrm>
            <a:off x="786384" y="2852928"/>
            <a:ext cx="128016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前月の初回掲載時期</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属性・可変性なし（No.07）</a:t>
            </a:r>
            <a:endParaRPr b="0" i="0" sz="750" u="none" cap="none" strike="noStrike">
              <a:solidFill>
                <a:srgbClr val="000000"/>
              </a:solidFill>
              <a:latin typeface="Arial"/>
              <a:ea typeface="Arial"/>
              <a:cs typeface="Arial"/>
              <a:sym typeface="Arial"/>
            </a:endParaRPr>
          </a:p>
        </p:txBody>
      </p:sp>
      <p:sp>
        <p:nvSpPr>
          <p:cNvPr id="590" name="Google Shape;590;p34"/>
          <p:cNvSpPr/>
          <p:nvPr/>
        </p:nvSpPr>
        <p:spPr>
          <a:xfrm>
            <a:off x="3858768" y="2982773"/>
            <a:ext cx="155448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34"/>
          <p:cNvSpPr txBox="1"/>
          <p:nvPr/>
        </p:nvSpPr>
        <p:spPr>
          <a:xfrm>
            <a:off x="3858768" y="2982773"/>
            <a:ext cx="155448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ログイン・作成画面訪問後の未公開</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検証中 支援トリガー候補（No.11）</a:t>
            </a:r>
            <a:endParaRPr b="0" i="0" sz="750" u="none" cap="none" strike="noStrike">
              <a:solidFill>
                <a:srgbClr val="000000"/>
              </a:solidFill>
              <a:latin typeface="Arial"/>
              <a:ea typeface="Arial"/>
              <a:cs typeface="Arial"/>
              <a:sym typeface="Arial"/>
            </a:endParaRPr>
          </a:p>
        </p:txBody>
      </p:sp>
      <p:sp>
        <p:nvSpPr>
          <p:cNvPr id="592" name="Google Shape;592;p34"/>
          <p:cNvSpPr/>
          <p:nvPr/>
        </p:nvSpPr>
        <p:spPr>
          <a:xfrm>
            <a:off x="1988820" y="3631997"/>
            <a:ext cx="109728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34"/>
          <p:cNvSpPr txBox="1"/>
          <p:nvPr/>
        </p:nvSpPr>
        <p:spPr>
          <a:xfrm>
            <a:off x="1988820" y="3631997"/>
            <a:ext cx="109728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C＋かつ未接触</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検証中（No.06）</a:t>
            </a:r>
            <a:endParaRPr b="0" i="0" sz="750" u="none" cap="none" strike="noStrike">
              <a:solidFill>
                <a:srgbClr val="000000"/>
              </a:solidFill>
              <a:latin typeface="Arial"/>
              <a:ea typeface="Arial"/>
              <a:cs typeface="Arial"/>
              <a:sym typeface="Arial"/>
            </a:endParaRPr>
          </a:p>
        </p:txBody>
      </p:sp>
      <p:sp>
        <p:nvSpPr>
          <p:cNvPr id="594" name="Google Shape;594;p34"/>
          <p:cNvSpPr/>
          <p:nvPr/>
        </p:nvSpPr>
        <p:spPr>
          <a:xfrm>
            <a:off x="1188720" y="2138782"/>
            <a:ext cx="1463040" cy="38404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34"/>
          <p:cNvSpPr txBox="1"/>
          <p:nvPr/>
        </p:nvSpPr>
        <p:spPr>
          <a:xfrm>
            <a:off x="1188720" y="2138782"/>
            <a:ext cx="146304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募集時間帯数・曜日の広がり</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3ヶ月継続のみ数値あり（No.10・12）</a:t>
            </a:r>
            <a:endParaRPr b="0" i="0" sz="750" u="none" cap="none" strike="noStrike">
              <a:solidFill>
                <a:srgbClr val="000000"/>
              </a:solidFill>
              <a:latin typeface="Arial"/>
              <a:ea typeface="Arial"/>
              <a:cs typeface="Arial"/>
              <a:sym typeface="Arial"/>
            </a:endParaRPr>
          </a:p>
        </p:txBody>
      </p:sp>
      <p:sp>
        <p:nvSpPr>
          <p:cNvPr id="596" name="Google Shape;596;p34"/>
          <p:cNvSpPr/>
          <p:nvPr/>
        </p:nvSpPr>
        <p:spPr>
          <a:xfrm>
            <a:off x="6995160" y="1097280"/>
            <a:ext cx="1874520" cy="324612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34"/>
          <p:cNvSpPr txBox="1"/>
          <p:nvPr/>
        </p:nvSpPr>
        <p:spPr>
          <a:xfrm>
            <a:off x="7086600" y="1170432"/>
            <a:ext cx="1737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翌月継続率マトリクスの読み方</a:t>
            </a:r>
            <a:endParaRPr b="0" i="0" sz="900" u="none" cap="none" strike="noStrike">
              <a:solidFill>
                <a:srgbClr val="000000"/>
              </a:solidFill>
              <a:latin typeface="Arial"/>
              <a:ea typeface="Arial"/>
              <a:cs typeface="Arial"/>
              <a:sym typeface="Arial"/>
            </a:endParaRPr>
          </a:p>
        </p:txBody>
      </p:sp>
      <p:sp>
        <p:nvSpPr>
          <p:cNvPr id="598" name="Google Shape;598;p34"/>
          <p:cNvSpPr/>
          <p:nvPr/>
        </p:nvSpPr>
        <p:spPr>
          <a:xfrm>
            <a:off x="7104888" y="1481328"/>
            <a:ext cx="274320" cy="182880"/>
          </a:xfrm>
          <a:prstGeom prst="rect">
            <a:avLst/>
          </a:prstGeom>
          <a:solidFill>
            <a:srgbClr val="FFD100"/>
          </a:solidFill>
          <a:ln cap="flat" cmpd="sng" w="1270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34"/>
          <p:cNvSpPr txBox="1"/>
          <p:nvPr/>
        </p:nvSpPr>
        <p:spPr>
          <a:xfrm>
            <a:off x="7452360" y="1435608"/>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10月PoC採用（4項目）</a:t>
            </a:r>
            <a:endParaRPr b="0" i="0" sz="800" u="none" cap="none" strike="noStrike">
              <a:solidFill>
                <a:srgbClr val="000000"/>
              </a:solidFill>
              <a:latin typeface="Arial"/>
              <a:ea typeface="Arial"/>
              <a:cs typeface="Arial"/>
              <a:sym typeface="Arial"/>
            </a:endParaRPr>
          </a:p>
        </p:txBody>
      </p:sp>
      <p:sp>
        <p:nvSpPr>
          <p:cNvPr id="600" name="Google Shape;600;p34"/>
          <p:cNvSpPr/>
          <p:nvPr/>
        </p:nvSpPr>
        <p:spPr>
          <a:xfrm>
            <a:off x="7104888" y="1755648"/>
            <a:ext cx="274320" cy="18288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34"/>
          <p:cNvSpPr txBox="1"/>
          <p:nvPr/>
        </p:nvSpPr>
        <p:spPr>
          <a:xfrm>
            <a:off x="7452360" y="1709928"/>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434343"/>
                </a:solidFill>
                <a:latin typeface="M PLUS 1p"/>
                <a:ea typeface="M PLUS 1p"/>
                <a:cs typeface="M PLUS 1p"/>
                <a:sym typeface="M PLUS 1p"/>
              </a:rPr>
              <a:t>その他の候補</a:t>
            </a:r>
            <a:endParaRPr b="0" i="0" sz="750" u="none" cap="none" strike="noStrike">
              <a:solidFill>
                <a:srgbClr val="434343"/>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434343"/>
                </a:solidFill>
                <a:latin typeface="M PLUS 1p"/>
                <a:ea typeface="M PLUS 1p"/>
                <a:cs typeface="M PLUS 1p"/>
                <a:sym typeface="M PLUS 1p"/>
              </a:rPr>
              <a:t>（今回は選ばない）</a:t>
            </a:r>
            <a:endParaRPr b="0" i="0" sz="750" u="none" cap="none" strike="noStrike">
              <a:solidFill>
                <a:srgbClr val="000000"/>
              </a:solidFill>
              <a:latin typeface="Arial"/>
              <a:ea typeface="Arial"/>
              <a:cs typeface="Arial"/>
              <a:sym typeface="Arial"/>
            </a:endParaRPr>
          </a:p>
        </p:txBody>
      </p:sp>
      <p:sp>
        <p:nvSpPr>
          <p:cNvPr id="602" name="Google Shape;602;p34"/>
          <p:cNvSpPr txBox="1"/>
          <p:nvPr/>
        </p:nvSpPr>
        <p:spPr>
          <a:xfrm>
            <a:off x="7086600" y="2057400"/>
            <a:ext cx="173736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エビデンス強度（後段No.参照）</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 強い：差が大きく複数資料で再現</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 条件付き：関連あり（条件・定義に注意）</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 間接：間接根拠のみ／直接数値なし</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検証中：定量根拠なし（PoCで検証）</a:t>
            </a:r>
            <a:endParaRPr b="0" i="0" sz="800" u="none" cap="none" strike="noStrike">
              <a:solidFill>
                <a:srgbClr val="000000"/>
              </a:solidFill>
              <a:latin typeface="Arial"/>
              <a:ea typeface="Arial"/>
              <a:cs typeface="Arial"/>
              <a:sym typeface="Arial"/>
            </a:endParaRPr>
          </a:p>
        </p:txBody>
      </p:sp>
      <p:sp>
        <p:nvSpPr>
          <p:cNvPr id="603" name="Google Shape;603;p34"/>
          <p:cNvSpPr txBox="1"/>
          <p:nvPr/>
        </p:nvSpPr>
        <p:spPr>
          <a:xfrm>
            <a:off x="7086600" y="3200400"/>
            <a:ext cx="173736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お気に入り登録は継続率への直接エビデンスがない。「営業側で動かせる仮説項目」として採用し、10月PoCで検証する。</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ヨミは予測には有効だが、行動を変える指標ではないため診断情報として維持。</a:t>
            </a:r>
            <a:endParaRPr b="0" i="0" sz="700" u="none" cap="none" strike="noStrike">
              <a:solidFill>
                <a:srgbClr val="000000"/>
              </a:solidFill>
              <a:latin typeface="Arial"/>
              <a:ea typeface="Arial"/>
              <a:cs typeface="Arial"/>
              <a:sym typeface="Arial"/>
            </a:endParaRPr>
          </a:p>
        </p:txBody>
      </p:sp>
      <p:sp>
        <p:nvSpPr>
          <p:cNvPr id="604" name="Google Shape;604;p34"/>
          <p:cNvSpPr txBox="1"/>
          <p:nvPr/>
        </p:nvSpPr>
        <p:spPr>
          <a:xfrm>
            <a:off x="274320" y="4572000"/>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配置はエビデンスの記載値と営業可変性の判定（総括ページ）を基に整理。差分は関連を示し、営業介入による改善幅ではない。</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9" name="Shape 609"/>
        <p:cNvGrpSpPr/>
        <p:nvPr/>
      </p:nvGrpSpPr>
      <p:grpSpPr>
        <a:xfrm>
          <a:off x="0" y="0"/>
          <a:ext cx="0" cy="0"/>
          <a:chOff x="0" y="0"/>
          <a:chExt cx="0" cy="0"/>
        </a:xfrm>
      </p:grpSpPr>
      <p:sp>
        <p:nvSpPr>
          <p:cNvPr id="610" name="Google Shape;610;p35"/>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35"/>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35"/>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09｜なぜこの4項目なのか｜エビデンス × 営業可変性 × 現場での実行しやすさ</a:t>
            </a:r>
            <a:endParaRPr b="0" i="0" sz="1500" u="none" cap="none" strike="noStrike">
              <a:solidFill>
                <a:srgbClr val="000000"/>
              </a:solidFill>
              <a:latin typeface="Arial"/>
              <a:ea typeface="Arial"/>
              <a:cs typeface="Arial"/>
              <a:sym typeface="Arial"/>
            </a:endParaRPr>
          </a:p>
        </p:txBody>
      </p:sp>
      <p:sp>
        <p:nvSpPr>
          <p:cNvPr id="613" name="Google Shape;613;p35"/>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614" name="Google Shape;614;p35"/>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615" name="Google Shape;615;p35"/>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13</a:t>
            </a:r>
            <a:endParaRPr b="0" i="0" sz="800" u="none" cap="none" strike="noStrike">
              <a:solidFill>
                <a:srgbClr val="000000"/>
              </a:solidFill>
              <a:latin typeface="Arial"/>
              <a:ea typeface="Arial"/>
              <a:cs typeface="Arial"/>
              <a:sym typeface="Arial"/>
            </a:endParaRPr>
          </a:p>
        </p:txBody>
      </p:sp>
      <p:sp>
        <p:nvSpPr>
          <p:cNvPr id="616" name="Google Shape;616;p35"/>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当月2回募集・レビューはデータ根拠あり。追加ひな形作成は間接根拠、お気に入り登録は仮説としてPoCで検証する</a:t>
            </a:r>
            <a:endParaRPr b="0" i="0" sz="1150" u="none" cap="none" strike="noStrike">
              <a:solidFill>
                <a:srgbClr val="4A86E8"/>
              </a:solidFill>
              <a:latin typeface="Arial"/>
              <a:ea typeface="Arial"/>
              <a:cs typeface="Arial"/>
              <a:sym typeface="Arial"/>
            </a:endParaRPr>
          </a:p>
        </p:txBody>
      </p:sp>
      <p:graphicFrame>
        <p:nvGraphicFramePr>
          <p:cNvPr id="617" name="Google Shape;617;p35"/>
          <p:cNvGraphicFramePr/>
          <p:nvPr/>
        </p:nvGraphicFramePr>
        <p:xfrm>
          <a:off x="274320" y="1051560"/>
          <a:ext cx="3000000" cy="3000000"/>
        </p:xfrm>
        <a:graphic>
          <a:graphicData uri="http://schemas.openxmlformats.org/drawingml/2006/table">
            <a:tbl>
              <a:tblPr>
                <a:noFill/>
                <a:tableStyleId>{112B7459-E852-49DB-9774-913F371DD808}</a:tableStyleId>
              </a:tblPr>
              <a:tblGrid>
                <a:gridCol w="1371600"/>
                <a:gridCol w="2834650"/>
                <a:gridCol w="502925"/>
                <a:gridCol w="868675"/>
                <a:gridCol w="2011675"/>
                <a:gridCol w="1005850"/>
              </a:tblGrid>
              <a:tr h="292600">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項目</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翌月継続率とのエビデンス</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強度</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営業可変性</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現場での標準アクション（実行しやすさ）</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位置づけ</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r>
              <a:tr h="4572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追加ひな形作成</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作成のみの比較値はなし。参考：使用雛形1枚51.0% vs 2枚76.2%（+25.2pt）は雛形を使った場合の値</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高</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任せられる業務を一緒に洗い出し、初回設定時に2枚目を作成</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間接根拠</a:t>
                      </a:r>
                      <a:endParaRPr sz="800" u="none" cap="none" strike="noStrike">
                        <a:latin typeface="M PLUS 1p"/>
                        <a:ea typeface="M PLUS 1p"/>
                        <a:cs typeface="M PLUS 1p"/>
                        <a:sym typeface="M PLUS 1p"/>
                      </a:endParaRPr>
                    </a:p>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（PoCで検証）</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4572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当月2回募集</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2回目掲載 あり69% vs なし5.2%（差63.8pt）。初回パターンを問わず同方向</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高</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次に人手が必要な日を確認し、掲載を支援</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データ根拠あり</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r>
              <a:tr h="4572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レビュー／未評価解消</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初月2回掲載：両回あり42.4% vs なし17.1%（差25.3pt）。Low・31〜60日継続定義。逆因果の可能性</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高</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未評価を確認し、操作を案内</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データ根拠あり</a:t>
                      </a:r>
                      <a:endParaRPr sz="800" u="none" cap="none" strike="noStrike">
                        <a:latin typeface="M PLUS 1p"/>
                        <a:ea typeface="M PLUS 1p"/>
                        <a:cs typeface="M PLUS 1p"/>
                        <a:sym typeface="M PLUS 1p"/>
                      </a:endParaRPr>
                    </a:p>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（条件付き）</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r>
              <a:tr h="4572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お気に入り登録（5名以上）</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直接の比較値なし。参考：リピーター稼働は掲載10日以上で+5.2pt（中期指標に近い）</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中</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再依頼したいワーカーを確認し、登録を案内</a:t>
                      </a:r>
                      <a:endParaRPr sz="75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仮説項目</a:t>
                      </a:r>
                      <a:endParaRPr sz="800" u="none" cap="none" strike="noStrike">
                        <a:latin typeface="M PLUS 1p"/>
                        <a:ea typeface="M PLUS 1p"/>
                        <a:cs typeface="M PLUS 1p"/>
                        <a:sym typeface="M PLUS 1p"/>
                      </a:endParaRPr>
                    </a:p>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10月PoCで検証</a:t>
                      </a:r>
                      <a:endParaRPr sz="800" u="none" cap="none" strike="noStrike">
                        <a:latin typeface="M PLUS 1p"/>
                        <a:ea typeface="M PLUS 1p"/>
                        <a:cs typeface="M PLUS 1p"/>
                        <a:sym typeface="M PLUS 1p"/>
                      </a:endParaRPr>
                    </a:p>
                  </a:txBody>
                  <a:tcPr marT="36575" marB="36575" marR="36575" marL="3657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bl>
          </a:graphicData>
        </a:graphic>
      </p:graphicFrame>
      <p:sp>
        <p:nvSpPr>
          <p:cNvPr id="618" name="Google Shape;618;p35"/>
          <p:cNvSpPr txBox="1"/>
          <p:nvPr/>
        </p:nvSpPr>
        <p:spPr>
          <a:xfrm>
            <a:off x="274320" y="3454400"/>
            <a:ext cx="8595360" cy="2286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434343"/>
                </a:solidFill>
                <a:latin typeface="M PLUS 1p"/>
                <a:ea typeface="M PLUS 1p"/>
                <a:cs typeface="M PLUS 1p"/>
                <a:sym typeface="M PLUS 1p"/>
              </a:rPr>
              <a:t>今回選ばなかった主な候補と理由</a:t>
            </a:r>
            <a:endParaRPr b="0" i="0" sz="900" u="none" cap="none" strike="noStrike">
              <a:solidFill>
                <a:srgbClr val="000000"/>
              </a:solidFill>
              <a:latin typeface="Arial"/>
              <a:ea typeface="Arial"/>
              <a:cs typeface="Arial"/>
              <a:sym typeface="Arial"/>
            </a:endParaRPr>
          </a:p>
        </p:txBody>
      </p:sp>
      <p:sp>
        <p:nvSpPr>
          <p:cNvPr id="619" name="Google Shape;619;p35"/>
          <p:cNvSpPr txBox="1"/>
          <p:nvPr/>
        </p:nvSpPr>
        <p:spPr>
          <a:xfrm>
            <a:off x="274320" y="3683000"/>
            <a:ext cx="8595360" cy="59436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00"/>
              <a:buFont typeface="Arial"/>
              <a:buChar char="•"/>
            </a:pPr>
            <a:r>
              <a:rPr b="0" i="0" lang="ja" sz="800" u="none" cap="none" strike="noStrike">
                <a:solidFill>
                  <a:srgbClr val="1A1A1A"/>
                </a:solidFill>
                <a:latin typeface="M PLUS 1p"/>
                <a:ea typeface="M PLUS 1p"/>
                <a:cs typeface="M PLUS 1p"/>
                <a:sym typeface="M PLUS 1p"/>
              </a:rPr>
              <a:t>翌週継続・計画掲載・初月掲載量：効果はあるが「当月2回募集」と行動が重なるため、今回は項目化しない</a:t>
            </a:r>
            <a:endParaRPr b="0" i="0" sz="800" u="none" cap="none" strike="noStrike">
              <a:solidFill>
                <a:srgbClr val="000000"/>
              </a:solidFill>
              <a:latin typeface="Arial"/>
              <a:ea typeface="Arial"/>
              <a:cs typeface="Arial"/>
              <a:sym typeface="Arial"/>
            </a:endParaRPr>
          </a:p>
          <a:p>
            <a:pPr indent="-127000" lvl="0" marL="127000" marR="0" rtl="0" algn="l">
              <a:lnSpc>
                <a:spcPct val="100000"/>
              </a:lnSpc>
              <a:spcBef>
                <a:spcPts val="100"/>
              </a:spcBef>
              <a:spcAft>
                <a:spcPts val="0"/>
              </a:spcAft>
              <a:buClr>
                <a:srgbClr val="000000"/>
              </a:buClr>
              <a:buSzPts val="800"/>
              <a:buFont typeface="Arial"/>
              <a:buChar char="•"/>
            </a:pPr>
            <a:r>
              <a:rPr b="0" i="0" lang="ja" sz="800" u="none" cap="none" strike="noStrike">
                <a:solidFill>
                  <a:srgbClr val="1A1A1A"/>
                </a:solidFill>
                <a:latin typeface="M PLUS 1p"/>
                <a:ea typeface="M PLUS 1p"/>
                <a:cs typeface="M PLUS 1p"/>
                <a:sym typeface="M PLUS 1p"/>
              </a:rPr>
              <a:t>ヨミ：予測には有効だが行動を変える指標ではない。診断情報（誰から対応するか）として維持</a:t>
            </a:r>
            <a:endParaRPr b="0" i="0" sz="800" u="none" cap="none" strike="noStrike">
              <a:solidFill>
                <a:srgbClr val="000000"/>
              </a:solidFill>
              <a:latin typeface="Arial"/>
              <a:ea typeface="Arial"/>
              <a:cs typeface="Arial"/>
              <a:sym typeface="Arial"/>
            </a:endParaRPr>
          </a:p>
          <a:p>
            <a:pPr indent="-127000" lvl="0" marL="127000" marR="0" rtl="0" algn="l">
              <a:lnSpc>
                <a:spcPct val="100000"/>
              </a:lnSpc>
              <a:spcBef>
                <a:spcPts val="100"/>
              </a:spcBef>
              <a:spcAft>
                <a:spcPts val="0"/>
              </a:spcAft>
              <a:buClr>
                <a:srgbClr val="000000"/>
              </a:buClr>
              <a:buSzPts val="800"/>
              <a:buFont typeface="Arial"/>
              <a:buChar char="•"/>
            </a:pPr>
            <a:r>
              <a:rPr b="0" i="0" lang="ja" sz="800" u="none" cap="none" strike="noStrike">
                <a:solidFill>
                  <a:srgbClr val="1A1A1A"/>
                </a:solidFill>
                <a:latin typeface="M PLUS 1p"/>
                <a:ea typeface="M PLUS 1p"/>
                <a:cs typeface="M PLUS 1p"/>
                <a:sym typeface="M PLUS 1p"/>
              </a:rPr>
              <a:t>Bad体験：掲載量を揃えると差がなく、一律減点の根拠が弱い。未解決トラブルは支援トリガーとして扱う</a:t>
            </a:r>
            <a:endParaRPr b="0" i="0" sz="800" u="none" cap="none" strike="noStrike">
              <a:solidFill>
                <a:srgbClr val="000000"/>
              </a:solidFill>
              <a:latin typeface="Arial"/>
              <a:ea typeface="Arial"/>
              <a:cs typeface="Arial"/>
              <a:sym typeface="Arial"/>
            </a:endParaRPr>
          </a:p>
        </p:txBody>
      </p:sp>
      <p:sp>
        <p:nvSpPr>
          <p:cNvPr id="620" name="Google Shape;620;p35"/>
          <p:cNvSpPr txBox="1"/>
          <p:nvPr/>
        </p:nvSpPr>
        <p:spPr>
          <a:xfrm>
            <a:off x="274320" y="4572000"/>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継続率の差は関連を示し、営業介入による改善幅ではない。追加ひな形作成は作成の有無で判定し、No.13（使用雛形）の値とは区別する。出典はAppendixエビデンスNo.01・08・13・14参照。</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36"/>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36"/>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36"/>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10｜現場の動き｜未達の星から提案を決める</a:t>
            </a:r>
            <a:endParaRPr b="0" i="0" sz="1500" u="none" cap="none" strike="noStrike">
              <a:solidFill>
                <a:srgbClr val="000000"/>
              </a:solidFill>
              <a:latin typeface="Arial"/>
              <a:ea typeface="Arial"/>
              <a:cs typeface="Arial"/>
              <a:sym typeface="Arial"/>
            </a:endParaRPr>
          </a:p>
        </p:txBody>
      </p:sp>
      <p:sp>
        <p:nvSpPr>
          <p:cNvPr id="629" name="Google Shape;629;p36"/>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630" name="Google Shape;630;p36"/>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631" name="Google Shape;631;p36"/>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14</a:t>
            </a:r>
            <a:endParaRPr b="0" i="0" sz="800" u="none" cap="none" strike="noStrike">
              <a:solidFill>
                <a:srgbClr val="000000"/>
              </a:solidFill>
              <a:latin typeface="Arial"/>
              <a:ea typeface="Arial"/>
              <a:cs typeface="Arial"/>
              <a:sym typeface="Arial"/>
            </a:endParaRPr>
          </a:p>
        </p:txBody>
      </p:sp>
      <p:sp>
        <p:nvSpPr>
          <p:cNvPr id="632" name="Google Shape;632;p36"/>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星は全顧客で計測。営業は「未達の星」を見て標準アクションを選び、顧客が実際に行動したら星を付ける</a:t>
            </a:r>
            <a:endParaRPr b="0" i="0" sz="1150" u="none" cap="none" strike="noStrike">
              <a:solidFill>
                <a:srgbClr val="4A86E8"/>
              </a:solidFill>
              <a:latin typeface="Arial"/>
              <a:ea typeface="Arial"/>
              <a:cs typeface="Arial"/>
              <a:sym typeface="Arial"/>
            </a:endParaRPr>
          </a:p>
        </p:txBody>
      </p:sp>
      <p:sp>
        <p:nvSpPr>
          <p:cNvPr id="633" name="Google Shape;633;p36"/>
          <p:cNvSpPr/>
          <p:nvPr/>
        </p:nvSpPr>
        <p:spPr>
          <a:xfrm>
            <a:off x="274320" y="1097280"/>
            <a:ext cx="1371600" cy="457200"/>
          </a:xfrm>
          <a:prstGeom prst="chevron">
            <a:avLst>
              <a:gd fmla="val 50000" name="adj"/>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36"/>
          <p:cNvSpPr txBox="1"/>
          <p:nvPr/>
        </p:nvSpPr>
        <p:spPr>
          <a:xfrm>
            <a:off x="411480" y="1097280"/>
            <a:ext cx="109728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FFFFFF"/>
                </a:solidFill>
                <a:latin typeface="M PLUS 1p"/>
                <a:ea typeface="M PLUS 1p"/>
                <a:cs typeface="M PLUS 1p"/>
                <a:sym typeface="M PLUS 1p"/>
              </a:rPr>
              <a:t>1</a:t>
            </a:r>
            <a:endParaRPr b="0" i="0" sz="1300" u="none" cap="none" strike="noStrike">
              <a:solidFill>
                <a:srgbClr val="000000"/>
              </a:solidFill>
              <a:latin typeface="Arial"/>
              <a:ea typeface="Arial"/>
              <a:cs typeface="Arial"/>
              <a:sym typeface="Arial"/>
            </a:endParaRPr>
          </a:p>
        </p:txBody>
      </p:sp>
      <p:sp>
        <p:nvSpPr>
          <p:cNvPr id="635" name="Google Shape;635;p36"/>
          <p:cNvSpPr/>
          <p:nvPr/>
        </p:nvSpPr>
        <p:spPr>
          <a:xfrm>
            <a:off x="274320" y="1627632"/>
            <a:ext cx="1371600" cy="100584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36"/>
          <p:cNvSpPr txBox="1"/>
          <p:nvPr/>
        </p:nvSpPr>
        <p:spPr>
          <a:xfrm>
            <a:off x="320040" y="1664208"/>
            <a:ext cx="1280160" cy="50292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対応する顧客を見る</a:t>
            </a:r>
            <a:endParaRPr b="0" i="0" sz="900" u="none" cap="none" strike="noStrike">
              <a:solidFill>
                <a:srgbClr val="000000"/>
              </a:solidFill>
              <a:latin typeface="Arial"/>
              <a:ea typeface="Arial"/>
              <a:cs typeface="Arial"/>
              <a:sym typeface="Arial"/>
            </a:endParaRPr>
          </a:p>
        </p:txBody>
      </p:sp>
      <p:sp>
        <p:nvSpPr>
          <p:cNvPr id="637" name="Google Shape;637;p36"/>
          <p:cNvSpPr txBox="1"/>
          <p:nvPr/>
        </p:nvSpPr>
        <p:spPr>
          <a:xfrm>
            <a:off x="320040" y="2148840"/>
            <a:ext cx="1280160" cy="45720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掲載ヨミ・星の進捗・リスクで優先順位</a:t>
            </a:r>
            <a:endParaRPr b="0" i="0" sz="700" u="none" cap="none" strike="noStrike">
              <a:solidFill>
                <a:srgbClr val="000000"/>
              </a:solidFill>
              <a:latin typeface="Arial"/>
              <a:ea typeface="Arial"/>
              <a:cs typeface="Arial"/>
              <a:sym typeface="Arial"/>
            </a:endParaRPr>
          </a:p>
        </p:txBody>
      </p:sp>
      <p:sp>
        <p:nvSpPr>
          <p:cNvPr id="638" name="Google Shape;638;p36"/>
          <p:cNvSpPr/>
          <p:nvPr/>
        </p:nvSpPr>
        <p:spPr>
          <a:xfrm>
            <a:off x="1719072" y="1097280"/>
            <a:ext cx="1371600" cy="457200"/>
          </a:xfrm>
          <a:prstGeom prst="chevron">
            <a:avLst>
              <a:gd fmla="val 50000" name="adj"/>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36"/>
          <p:cNvSpPr txBox="1"/>
          <p:nvPr/>
        </p:nvSpPr>
        <p:spPr>
          <a:xfrm>
            <a:off x="1856232" y="1097280"/>
            <a:ext cx="109728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FFFFFF"/>
                </a:solidFill>
                <a:latin typeface="M PLUS 1p"/>
                <a:ea typeface="M PLUS 1p"/>
                <a:cs typeface="M PLUS 1p"/>
                <a:sym typeface="M PLUS 1p"/>
              </a:rPr>
              <a:t>2</a:t>
            </a:r>
            <a:endParaRPr b="0" i="0" sz="1300" u="none" cap="none" strike="noStrike">
              <a:solidFill>
                <a:srgbClr val="000000"/>
              </a:solidFill>
              <a:latin typeface="Arial"/>
              <a:ea typeface="Arial"/>
              <a:cs typeface="Arial"/>
              <a:sym typeface="Arial"/>
            </a:endParaRPr>
          </a:p>
        </p:txBody>
      </p:sp>
      <p:sp>
        <p:nvSpPr>
          <p:cNvPr id="640" name="Google Shape;640;p36"/>
          <p:cNvSpPr/>
          <p:nvPr/>
        </p:nvSpPr>
        <p:spPr>
          <a:xfrm>
            <a:off x="1719072" y="1627632"/>
            <a:ext cx="1371600" cy="100584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36"/>
          <p:cNvSpPr txBox="1"/>
          <p:nvPr/>
        </p:nvSpPr>
        <p:spPr>
          <a:xfrm>
            <a:off x="1764792" y="1664208"/>
            <a:ext cx="1280160" cy="50292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未達の星を見る</a:t>
            </a:r>
            <a:endParaRPr b="0" i="0" sz="900" u="none" cap="none" strike="noStrike">
              <a:solidFill>
                <a:srgbClr val="000000"/>
              </a:solidFill>
              <a:latin typeface="Arial"/>
              <a:ea typeface="Arial"/>
              <a:cs typeface="Arial"/>
              <a:sym typeface="Arial"/>
            </a:endParaRPr>
          </a:p>
        </p:txBody>
      </p:sp>
      <p:sp>
        <p:nvSpPr>
          <p:cNvPr id="642" name="Google Shape;642;p36"/>
          <p:cNvSpPr txBox="1"/>
          <p:nvPr/>
        </p:nvSpPr>
        <p:spPr>
          <a:xfrm>
            <a:off x="1764792" y="2148840"/>
            <a:ext cx="1280160" cy="45720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例：ワーカーレビューが未達</a:t>
            </a:r>
            <a:endParaRPr b="0" i="0" sz="700" u="none" cap="none" strike="noStrike">
              <a:solidFill>
                <a:srgbClr val="000000"/>
              </a:solidFill>
              <a:latin typeface="Arial"/>
              <a:ea typeface="Arial"/>
              <a:cs typeface="Arial"/>
              <a:sym typeface="Arial"/>
            </a:endParaRPr>
          </a:p>
        </p:txBody>
      </p:sp>
      <p:sp>
        <p:nvSpPr>
          <p:cNvPr id="643" name="Google Shape;643;p36"/>
          <p:cNvSpPr/>
          <p:nvPr/>
        </p:nvSpPr>
        <p:spPr>
          <a:xfrm>
            <a:off x="3163824" y="1097280"/>
            <a:ext cx="1371600" cy="457200"/>
          </a:xfrm>
          <a:prstGeom prst="chevron">
            <a:avLst>
              <a:gd fmla="val 50000" name="adj"/>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36"/>
          <p:cNvSpPr txBox="1"/>
          <p:nvPr/>
        </p:nvSpPr>
        <p:spPr>
          <a:xfrm>
            <a:off x="3300984" y="1097280"/>
            <a:ext cx="109728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FFFFFF"/>
                </a:solidFill>
                <a:latin typeface="M PLUS 1p"/>
                <a:ea typeface="M PLUS 1p"/>
                <a:cs typeface="M PLUS 1p"/>
                <a:sym typeface="M PLUS 1p"/>
              </a:rPr>
              <a:t>3</a:t>
            </a:r>
            <a:endParaRPr b="0" i="0" sz="1300" u="none" cap="none" strike="noStrike">
              <a:solidFill>
                <a:srgbClr val="000000"/>
              </a:solidFill>
              <a:latin typeface="Arial"/>
              <a:ea typeface="Arial"/>
              <a:cs typeface="Arial"/>
              <a:sym typeface="Arial"/>
            </a:endParaRPr>
          </a:p>
        </p:txBody>
      </p:sp>
      <p:sp>
        <p:nvSpPr>
          <p:cNvPr id="645" name="Google Shape;645;p36"/>
          <p:cNvSpPr/>
          <p:nvPr/>
        </p:nvSpPr>
        <p:spPr>
          <a:xfrm>
            <a:off x="3163824" y="1627632"/>
            <a:ext cx="1371600" cy="100584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36"/>
          <p:cNvSpPr txBox="1"/>
          <p:nvPr/>
        </p:nvSpPr>
        <p:spPr>
          <a:xfrm>
            <a:off x="3209544" y="1664208"/>
            <a:ext cx="1280160" cy="50292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未達に対応する</a:t>
            </a:r>
            <a:endParaRPr b="1" i="0" sz="900" u="none" cap="none" strike="noStrike">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標準アクションを選ぶ</a:t>
            </a:r>
            <a:endParaRPr b="0" i="0" sz="900" u="none" cap="none" strike="noStrike">
              <a:solidFill>
                <a:srgbClr val="000000"/>
              </a:solidFill>
              <a:latin typeface="Arial"/>
              <a:ea typeface="Arial"/>
              <a:cs typeface="Arial"/>
              <a:sym typeface="Arial"/>
            </a:endParaRPr>
          </a:p>
        </p:txBody>
      </p:sp>
      <p:sp>
        <p:nvSpPr>
          <p:cNvPr id="647" name="Google Shape;647;p36"/>
          <p:cNvSpPr txBox="1"/>
          <p:nvPr/>
        </p:nvSpPr>
        <p:spPr>
          <a:xfrm>
            <a:off x="3209544" y="2148840"/>
            <a:ext cx="1280160" cy="45720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例：ワーカーレビュー未対応を解消し、掲載を支援</a:t>
            </a:r>
            <a:endParaRPr b="0" i="0" sz="700" u="none" cap="none" strike="noStrike">
              <a:solidFill>
                <a:srgbClr val="000000"/>
              </a:solidFill>
              <a:latin typeface="Arial"/>
              <a:ea typeface="Arial"/>
              <a:cs typeface="Arial"/>
              <a:sym typeface="Arial"/>
            </a:endParaRPr>
          </a:p>
        </p:txBody>
      </p:sp>
      <p:sp>
        <p:nvSpPr>
          <p:cNvPr id="648" name="Google Shape;648;p36"/>
          <p:cNvSpPr/>
          <p:nvPr/>
        </p:nvSpPr>
        <p:spPr>
          <a:xfrm>
            <a:off x="4608576" y="1097280"/>
            <a:ext cx="1371600" cy="457200"/>
          </a:xfrm>
          <a:prstGeom prst="chevron">
            <a:avLst>
              <a:gd fmla="val 50000" name="adj"/>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36"/>
          <p:cNvSpPr txBox="1"/>
          <p:nvPr/>
        </p:nvSpPr>
        <p:spPr>
          <a:xfrm>
            <a:off x="4745736" y="1097280"/>
            <a:ext cx="109728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1A1A1A"/>
                </a:solidFill>
                <a:latin typeface="M PLUS 1p"/>
                <a:ea typeface="M PLUS 1p"/>
                <a:cs typeface="M PLUS 1p"/>
                <a:sym typeface="M PLUS 1p"/>
              </a:rPr>
              <a:t>4</a:t>
            </a:r>
            <a:endParaRPr b="0" i="0" sz="1300" u="none" cap="none" strike="noStrike">
              <a:solidFill>
                <a:srgbClr val="000000"/>
              </a:solidFill>
              <a:latin typeface="Arial"/>
              <a:ea typeface="Arial"/>
              <a:cs typeface="Arial"/>
              <a:sym typeface="Arial"/>
            </a:endParaRPr>
          </a:p>
        </p:txBody>
      </p:sp>
      <p:sp>
        <p:nvSpPr>
          <p:cNvPr id="650" name="Google Shape;650;p36"/>
          <p:cNvSpPr/>
          <p:nvPr/>
        </p:nvSpPr>
        <p:spPr>
          <a:xfrm>
            <a:off x="4608576" y="1627632"/>
            <a:ext cx="1371600" cy="1005840"/>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36"/>
          <p:cNvSpPr txBox="1"/>
          <p:nvPr/>
        </p:nvSpPr>
        <p:spPr>
          <a:xfrm>
            <a:off x="4654296" y="1664208"/>
            <a:ext cx="1280160" cy="50292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顧客に実行してもらう</a:t>
            </a:r>
            <a:endParaRPr b="0" i="0" sz="900" u="none" cap="none" strike="noStrike">
              <a:solidFill>
                <a:srgbClr val="000000"/>
              </a:solidFill>
              <a:latin typeface="Arial"/>
              <a:ea typeface="Arial"/>
              <a:cs typeface="Arial"/>
              <a:sym typeface="Arial"/>
            </a:endParaRPr>
          </a:p>
        </p:txBody>
      </p:sp>
      <p:sp>
        <p:nvSpPr>
          <p:cNvPr id="652" name="Google Shape;652;p36"/>
          <p:cNvSpPr txBox="1"/>
          <p:nvPr/>
        </p:nvSpPr>
        <p:spPr>
          <a:xfrm>
            <a:off x="4654296" y="2148840"/>
            <a:ext cx="1280160" cy="45720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顧客と実施期限を決める</a:t>
            </a:r>
            <a:endParaRPr b="0" i="0" sz="700" u="none" cap="none" strike="noStrike">
              <a:solidFill>
                <a:srgbClr val="000000"/>
              </a:solidFill>
              <a:latin typeface="Arial"/>
              <a:ea typeface="Arial"/>
              <a:cs typeface="Arial"/>
              <a:sym typeface="Arial"/>
            </a:endParaRPr>
          </a:p>
        </p:txBody>
      </p:sp>
      <p:sp>
        <p:nvSpPr>
          <p:cNvPr id="653" name="Google Shape;653;p36"/>
          <p:cNvSpPr/>
          <p:nvPr/>
        </p:nvSpPr>
        <p:spPr>
          <a:xfrm>
            <a:off x="6053328" y="1097280"/>
            <a:ext cx="1371600" cy="457200"/>
          </a:xfrm>
          <a:prstGeom prst="chevron">
            <a:avLst>
              <a:gd fmla="val 50000" name="adj"/>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36"/>
          <p:cNvSpPr txBox="1"/>
          <p:nvPr/>
        </p:nvSpPr>
        <p:spPr>
          <a:xfrm>
            <a:off x="6190488" y="1097280"/>
            <a:ext cx="109728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1A1A1A"/>
                </a:solidFill>
                <a:latin typeface="M PLUS 1p"/>
                <a:ea typeface="M PLUS 1p"/>
                <a:cs typeface="M PLUS 1p"/>
                <a:sym typeface="M PLUS 1p"/>
              </a:rPr>
              <a:t>5</a:t>
            </a:r>
            <a:endParaRPr b="0" i="0" sz="1300" u="none" cap="none" strike="noStrike">
              <a:solidFill>
                <a:srgbClr val="000000"/>
              </a:solidFill>
              <a:latin typeface="Arial"/>
              <a:ea typeface="Arial"/>
              <a:cs typeface="Arial"/>
              <a:sym typeface="Arial"/>
            </a:endParaRPr>
          </a:p>
        </p:txBody>
      </p:sp>
      <p:sp>
        <p:nvSpPr>
          <p:cNvPr id="655" name="Google Shape;655;p36"/>
          <p:cNvSpPr/>
          <p:nvPr/>
        </p:nvSpPr>
        <p:spPr>
          <a:xfrm>
            <a:off x="6053328" y="1627632"/>
            <a:ext cx="1371600" cy="1005840"/>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36"/>
          <p:cNvSpPr txBox="1"/>
          <p:nvPr/>
        </p:nvSpPr>
        <p:spPr>
          <a:xfrm>
            <a:off x="6099048" y="1664208"/>
            <a:ext cx="1280160" cy="50292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実行を確認したら</a:t>
            </a:r>
            <a:endParaRPr b="1" i="0" sz="900" u="none" cap="none" strike="noStrike">
              <a:solidFill>
                <a:srgbClr val="1A1A1A"/>
              </a:solidFill>
              <a:latin typeface="M PLUS 1p"/>
              <a:ea typeface="M PLUS 1p"/>
              <a:cs typeface="M PLUS 1p"/>
              <a:sym typeface="M PLUS 1p"/>
            </a:endParaRPr>
          </a:p>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星がつく</a:t>
            </a:r>
            <a:endParaRPr b="0" i="0" sz="900" u="none" cap="none" strike="noStrike">
              <a:solidFill>
                <a:srgbClr val="000000"/>
              </a:solidFill>
              <a:latin typeface="Arial"/>
              <a:ea typeface="Arial"/>
              <a:cs typeface="Arial"/>
              <a:sym typeface="Arial"/>
            </a:endParaRPr>
          </a:p>
        </p:txBody>
      </p:sp>
      <p:sp>
        <p:nvSpPr>
          <p:cNvPr id="657" name="Google Shape;657;p36"/>
          <p:cNvSpPr txBox="1"/>
          <p:nvPr/>
        </p:nvSpPr>
        <p:spPr>
          <a:xfrm>
            <a:off x="6099048" y="2148840"/>
            <a:ext cx="1280160" cy="45720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提案・合意だけでは付けない</a:t>
            </a:r>
            <a:endParaRPr b="0" i="0" sz="700" u="none" cap="none" strike="noStrike">
              <a:solidFill>
                <a:srgbClr val="000000"/>
              </a:solidFill>
              <a:latin typeface="Arial"/>
              <a:ea typeface="Arial"/>
              <a:cs typeface="Arial"/>
              <a:sym typeface="Arial"/>
            </a:endParaRPr>
          </a:p>
        </p:txBody>
      </p:sp>
      <p:sp>
        <p:nvSpPr>
          <p:cNvPr id="658" name="Google Shape;658;p36"/>
          <p:cNvSpPr/>
          <p:nvPr/>
        </p:nvSpPr>
        <p:spPr>
          <a:xfrm>
            <a:off x="7498080" y="1097280"/>
            <a:ext cx="1371600" cy="457200"/>
          </a:xfrm>
          <a:prstGeom prst="chevron">
            <a:avLst>
              <a:gd fmla="val 50000" name="adj"/>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36"/>
          <p:cNvSpPr txBox="1"/>
          <p:nvPr/>
        </p:nvSpPr>
        <p:spPr>
          <a:xfrm>
            <a:off x="7635240" y="1097280"/>
            <a:ext cx="109728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FFD100"/>
                </a:solidFill>
                <a:latin typeface="M PLUS 1p"/>
                <a:ea typeface="M PLUS 1p"/>
                <a:cs typeface="M PLUS 1p"/>
                <a:sym typeface="M PLUS 1p"/>
              </a:rPr>
              <a:t>6</a:t>
            </a:r>
            <a:endParaRPr b="0" i="0" sz="1300" u="none" cap="none" strike="noStrike">
              <a:solidFill>
                <a:srgbClr val="000000"/>
              </a:solidFill>
              <a:latin typeface="Arial"/>
              <a:ea typeface="Arial"/>
              <a:cs typeface="Arial"/>
              <a:sym typeface="Arial"/>
            </a:endParaRPr>
          </a:p>
        </p:txBody>
      </p:sp>
      <p:sp>
        <p:nvSpPr>
          <p:cNvPr id="660" name="Google Shape;660;p36"/>
          <p:cNvSpPr/>
          <p:nvPr/>
        </p:nvSpPr>
        <p:spPr>
          <a:xfrm>
            <a:off x="7498080" y="1627632"/>
            <a:ext cx="1371600" cy="1005840"/>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36"/>
          <p:cNvSpPr txBox="1"/>
          <p:nvPr/>
        </p:nvSpPr>
        <p:spPr>
          <a:xfrm>
            <a:off x="7543800" y="1664208"/>
            <a:ext cx="1280160" cy="50292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卒業条件達成</a:t>
            </a:r>
            <a:endParaRPr b="0" i="0" sz="900" u="none" cap="none" strike="noStrike">
              <a:solidFill>
                <a:srgbClr val="000000"/>
              </a:solidFill>
              <a:latin typeface="Arial"/>
              <a:ea typeface="Arial"/>
              <a:cs typeface="Arial"/>
              <a:sym typeface="Arial"/>
            </a:endParaRPr>
          </a:p>
        </p:txBody>
      </p:sp>
      <p:sp>
        <p:nvSpPr>
          <p:cNvPr id="662" name="Google Shape;662;p36"/>
          <p:cNvSpPr txBox="1"/>
          <p:nvPr/>
        </p:nvSpPr>
        <p:spPr>
          <a:xfrm>
            <a:off x="7543800" y="2148840"/>
            <a:ext cx="1280160" cy="457200"/>
          </a:xfrm>
          <a:prstGeom prst="rect">
            <a:avLst/>
          </a:prstGeom>
          <a:noFill/>
          <a:ln>
            <a:noFill/>
          </a:ln>
        </p:spPr>
        <p:txBody>
          <a:bodyPr anchorCtr="0" anchor="t" bIns="500" lIns="500" spcFirstLastPara="1" rIns="500" wrap="square" tIns="500">
            <a:noAutofit/>
          </a:bodyPr>
          <a:lstStyle/>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翌月・3ヶ月それぞれ4項目中3項目以上達成</a:t>
            </a:r>
            <a:endParaRPr b="0" i="0" sz="700" u="none" cap="none" strike="noStrike">
              <a:solidFill>
                <a:srgbClr val="000000"/>
              </a:solidFill>
              <a:latin typeface="Arial"/>
              <a:ea typeface="Arial"/>
              <a:cs typeface="Arial"/>
              <a:sym typeface="Arial"/>
            </a:endParaRPr>
          </a:p>
        </p:txBody>
      </p:sp>
      <p:sp>
        <p:nvSpPr>
          <p:cNvPr id="663" name="Google Shape;663;p36"/>
          <p:cNvSpPr/>
          <p:nvPr/>
        </p:nvSpPr>
        <p:spPr>
          <a:xfrm>
            <a:off x="274320" y="2692400"/>
            <a:ext cx="8595360" cy="304800"/>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36"/>
          <p:cNvSpPr/>
          <p:nvPr/>
        </p:nvSpPr>
        <p:spPr>
          <a:xfrm>
            <a:off x="274320" y="2692400"/>
            <a:ext cx="73152" cy="3048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36"/>
          <p:cNvSpPr txBox="1"/>
          <p:nvPr/>
        </p:nvSpPr>
        <p:spPr>
          <a:xfrm>
            <a:off x="457200" y="2692400"/>
            <a:ext cx="832104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「営業が提案した＝達成」ではない。「顧客が実際に行動した＝達成」。星は顧客が実現した状態で判定する</a:t>
            </a:r>
            <a:endParaRPr b="0" i="0" sz="1100" u="none" cap="none" strike="noStrike">
              <a:solidFill>
                <a:srgbClr val="000000"/>
              </a:solidFill>
              <a:latin typeface="Arial"/>
              <a:ea typeface="Arial"/>
              <a:cs typeface="Arial"/>
              <a:sym typeface="Arial"/>
            </a:endParaRPr>
          </a:p>
        </p:txBody>
      </p:sp>
      <p:graphicFrame>
        <p:nvGraphicFramePr>
          <p:cNvPr id="666" name="Google Shape;666;p36"/>
          <p:cNvGraphicFramePr/>
          <p:nvPr/>
        </p:nvGraphicFramePr>
        <p:xfrm>
          <a:off x="274320" y="3073400"/>
          <a:ext cx="3000000" cy="3000000"/>
        </p:xfrm>
        <a:graphic>
          <a:graphicData uri="http://schemas.openxmlformats.org/drawingml/2006/table">
            <a:tbl>
              <a:tblPr>
                <a:noFill/>
                <a:tableStyleId>{112B7459-E852-49DB-9774-913F371DD808}</a:tableStyleId>
              </a:tblPr>
              <a:tblGrid>
                <a:gridCol w="762000"/>
                <a:gridCol w="1905000"/>
                <a:gridCol w="1905000"/>
                <a:gridCol w="2413000"/>
                <a:gridCol w="1612900"/>
              </a:tblGrid>
              <a:tr h="210300">
                <a:tc>
                  <a:txBody>
                    <a:bodyPr/>
                    <a:lstStyle/>
                    <a:p>
                      <a:pPr indent="0" lvl="0" marL="0" marR="0" rtl="0" algn="ctr">
                        <a:lnSpc>
                          <a:spcPct val="100000"/>
                        </a:lnSpc>
                        <a:spcBef>
                          <a:spcPts val="0"/>
                        </a:spcBef>
                        <a:spcAft>
                          <a:spcPts val="0"/>
                        </a:spcAft>
                        <a:buClr>
                          <a:srgbClr val="FFFFFF"/>
                        </a:buClr>
                        <a:buSzPts val="750"/>
                        <a:buFont typeface="M PLUS 1p"/>
                        <a:buNone/>
                      </a:pPr>
                      <a:r>
                        <a:rPr b="1" lang="ja" sz="750" u="none" cap="none" strike="noStrike">
                          <a:solidFill>
                            <a:srgbClr val="FFFFFF"/>
                          </a:solidFill>
                          <a:latin typeface="M PLUS 1p"/>
                          <a:ea typeface="M PLUS 1p"/>
                          <a:cs typeface="M PLUS 1p"/>
                          <a:sym typeface="M PLUS 1p"/>
                        </a:rPr>
                        <a:t>区分</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750"/>
                        <a:buFont typeface="M PLUS 1p"/>
                        <a:buNone/>
                      </a:pPr>
                      <a:r>
                        <a:rPr b="1" lang="ja" sz="750" u="none" cap="none" strike="noStrike">
                          <a:solidFill>
                            <a:srgbClr val="FFFFFF"/>
                          </a:solidFill>
                          <a:latin typeface="M PLUS 1p"/>
                          <a:ea typeface="M PLUS 1p"/>
                          <a:cs typeface="M PLUS 1p"/>
                          <a:sym typeface="M PLUS 1p"/>
                        </a:rPr>
                        <a:t>未達の星</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750"/>
                        <a:buFont typeface="M PLUS 1p"/>
                        <a:buNone/>
                      </a:pPr>
                      <a:r>
                        <a:rPr b="1" lang="ja" sz="750" u="none" cap="none" strike="noStrike">
                          <a:solidFill>
                            <a:srgbClr val="FFFFFF"/>
                          </a:solidFill>
                          <a:latin typeface="M PLUS 1p"/>
                          <a:ea typeface="M PLUS 1p"/>
                          <a:cs typeface="M PLUS 1p"/>
                          <a:sym typeface="M PLUS 1p"/>
                        </a:rPr>
                        <a:t>顧客の達成状態</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750"/>
                        <a:buFont typeface="M PLUS 1p"/>
                        <a:buNone/>
                      </a:pPr>
                      <a:r>
                        <a:rPr b="1" lang="ja" sz="750" u="none" cap="none" strike="noStrike">
                          <a:solidFill>
                            <a:srgbClr val="FFFFFF"/>
                          </a:solidFill>
                          <a:latin typeface="M PLUS 1p"/>
                          <a:ea typeface="M PLUS 1p"/>
                          <a:cs typeface="M PLUS 1p"/>
                          <a:sym typeface="M PLUS 1p"/>
                        </a:rPr>
                        <a:t>営業の標準アクション（案）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750"/>
                        <a:buFont typeface="M PLUS 1p"/>
                        <a:buNone/>
                      </a:pPr>
                      <a:r>
                        <a:rPr b="1" lang="ja" sz="750" u="none" cap="none" strike="noStrike">
                          <a:solidFill>
                            <a:srgbClr val="FFFFFF"/>
                          </a:solidFill>
                          <a:latin typeface="M PLUS 1p"/>
                          <a:ea typeface="M PLUS 1p"/>
                          <a:cs typeface="M PLUS 1p"/>
                          <a:sym typeface="M PLUS 1p"/>
                        </a:rPr>
                        <a:t>達成の確認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r>
              <a:tr h="1524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翌月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追加ひな形作成</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別業務のひな形を追加作成</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任せられる業務を一緒に洗い出す</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追加雛形の作成を確認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翌月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当月2回募集</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初回稼働後に追加募集を作成・公開</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次の人手不足日を確認し、掲載を支援</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募集の公開を確認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翌月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レビュー／未評価解消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対象ワーカーのレビューを完了</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未評価を確認し、操作を案内</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未評価がない状態を確認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翌月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お気に入り登録</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再依頼したいワーカーを5名以上登録</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候補者を確認し、登録を案内</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登録数を確認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3ヶ月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追加したひな形の利用</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追加した雛形で募集を公開</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追加雛形を使った次回募集を一緒に作る</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雛形を使った募集を確認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3ヶ月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グループ限定公開</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グループ限定公開で募集</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再依頼したいワーカーのグループ化と公開を案内</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限定公開の募集を確認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3ヶ月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新規AA開設</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新規AAを開設（既存定義）</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他拠点・他部署での利用を提案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新規AAの開設を確認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3ヶ月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b="1" lang="ja" sz="750" u="none" cap="none" strike="noStrike">
                          <a:solidFill>
                            <a:srgbClr val="1A1A1A"/>
                          </a:solidFill>
                          <a:latin typeface="M PLUS 1p"/>
                          <a:ea typeface="M PLUS 1p"/>
                          <a:cs typeface="M PLUS 1p"/>
                          <a:sym typeface="M PLUS 1p"/>
                        </a:rPr>
                        <a:t>レビュー／未評価解消</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判定時点で未評価のお残しなし</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判定前に未評価を確認し、操作を案内</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1A"/>
                        </a:buClr>
                        <a:buSzPts val="750"/>
                        <a:buFont typeface="M PLUS 1p"/>
                        <a:buNone/>
                      </a:pPr>
                      <a:r>
                        <a:rPr lang="ja" sz="750" u="none" cap="none" strike="noStrike">
                          <a:solidFill>
                            <a:srgbClr val="1A1A1A"/>
                          </a:solidFill>
                          <a:latin typeface="M PLUS 1p"/>
                          <a:ea typeface="M PLUS 1p"/>
                          <a:cs typeface="M PLUS 1p"/>
                          <a:sym typeface="M PLUS 1p"/>
                        </a:rPr>
                        <a:t>判定時点の未評価ゼロを確認</a:t>
                      </a:r>
                      <a:endParaRPr sz="750" u="none" cap="none" strike="noStrike">
                        <a:latin typeface="M PLUS 1p"/>
                        <a:ea typeface="M PLUS 1p"/>
                        <a:cs typeface="M PLUS 1p"/>
                        <a:sym typeface="M PLUS 1p"/>
                      </a:endParaRPr>
                    </a:p>
                  </a:txBody>
                  <a:tcPr marT="18300" marB="18300" marR="18300" marL="183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667" name="Google Shape;667;p36"/>
          <p:cNvSpPr txBox="1"/>
          <p:nvPr/>
        </p:nvSpPr>
        <p:spPr>
          <a:xfrm>
            <a:off x="274320" y="4533900"/>
            <a:ext cx="85953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未達なら次の対応へ：動かなかった理由を確認し、再提案・操作案内・再接触を選ぶ。営業の直接対応を絞った顧客にも、メール・資料郵送等（Worker／Tech）で案内する。</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2" name="Shape 672"/>
        <p:cNvGrpSpPr/>
        <p:nvPr/>
      </p:nvGrpSpPr>
      <p:grpSpPr>
        <a:xfrm>
          <a:off x="0" y="0"/>
          <a:ext cx="0" cy="0"/>
          <a:chOff x="0" y="0"/>
          <a:chExt cx="0" cy="0"/>
        </a:xfrm>
      </p:grpSpPr>
      <p:sp>
        <p:nvSpPr>
          <p:cNvPr id="673" name="Google Shape;673;p37"/>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7"/>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7"/>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11｜日々の管理方法の変更｜「継続の見込み」から「卒業条件の未達」へ</a:t>
            </a:r>
            <a:endParaRPr b="0" i="0" sz="1500" u="none" cap="none" strike="noStrike">
              <a:solidFill>
                <a:srgbClr val="000000"/>
              </a:solidFill>
              <a:latin typeface="Arial"/>
              <a:ea typeface="Arial"/>
              <a:cs typeface="Arial"/>
              <a:sym typeface="Arial"/>
            </a:endParaRPr>
          </a:p>
        </p:txBody>
      </p:sp>
      <p:sp>
        <p:nvSpPr>
          <p:cNvPr id="676" name="Google Shape;676;p37"/>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677" name="Google Shape;677;p37"/>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678" name="Google Shape;678;p37"/>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15</a:t>
            </a:r>
            <a:endParaRPr b="0" i="0" sz="800" u="none" cap="none" strike="noStrike">
              <a:solidFill>
                <a:srgbClr val="000000"/>
              </a:solidFill>
              <a:latin typeface="Arial"/>
              <a:ea typeface="Arial"/>
              <a:cs typeface="Arial"/>
              <a:sym typeface="Arial"/>
            </a:endParaRPr>
          </a:p>
        </p:txBody>
      </p:sp>
      <p:sp>
        <p:nvSpPr>
          <p:cNvPr id="679" name="Google Shape;679;p37"/>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日次で見るものを「ヨミ・予定日・接触状況」から「卒業／未卒業・未達項目・未達に対するアクション」に変える</a:t>
            </a:r>
            <a:endParaRPr b="0" i="0" sz="1150" u="none" cap="none" strike="noStrike">
              <a:solidFill>
                <a:srgbClr val="4A86E8"/>
              </a:solidFill>
              <a:latin typeface="Arial"/>
              <a:ea typeface="Arial"/>
              <a:cs typeface="Arial"/>
              <a:sym typeface="Arial"/>
            </a:endParaRPr>
          </a:p>
        </p:txBody>
      </p:sp>
      <p:sp>
        <p:nvSpPr>
          <p:cNvPr id="680" name="Google Shape;680;p37"/>
          <p:cNvSpPr/>
          <p:nvPr/>
        </p:nvSpPr>
        <p:spPr>
          <a:xfrm>
            <a:off x="274320" y="1051560"/>
            <a:ext cx="3931920" cy="36576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7"/>
          <p:cNvSpPr txBox="1"/>
          <p:nvPr/>
        </p:nvSpPr>
        <p:spPr>
          <a:xfrm>
            <a:off x="274320" y="1051560"/>
            <a:ext cx="3931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FFFFFF"/>
                </a:solidFill>
                <a:latin typeface="M PLUS 1p"/>
                <a:ea typeface="M PLUS 1p"/>
                <a:cs typeface="M PLUS 1p"/>
                <a:sym typeface="M PLUS 1p"/>
              </a:rPr>
              <a:t>As-Is｜これまで</a:t>
            </a:r>
            <a:endParaRPr b="0" i="0" sz="1100" u="none" cap="none" strike="noStrike">
              <a:solidFill>
                <a:srgbClr val="000000"/>
              </a:solidFill>
              <a:latin typeface="Arial"/>
              <a:ea typeface="Arial"/>
              <a:cs typeface="Arial"/>
              <a:sym typeface="Arial"/>
            </a:endParaRPr>
          </a:p>
        </p:txBody>
      </p:sp>
      <p:sp>
        <p:nvSpPr>
          <p:cNvPr id="682" name="Google Shape;682;p37"/>
          <p:cNvSpPr/>
          <p:nvPr/>
        </p:nvSpPr>
        <p:spPr>
          <a:xfrm>
            <a:off x="4937760" y="1051560"/>
            <a:ext cx="393192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7"/>
          <p:cNvSpPr txBox="1"/>
          <p:nvPr/>
        </p:nvSpPr>
        <p:spPr>
          <a:xfrm>
            <a:off x="4937760" y="1051560"/>
            <a:ext cx="3931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To-Be｜10月から</a:t>
            </a:r>
            <a:endParaRPr b="0" i="0" sz="1100" u="none" cap="none" strike="noStrike">
              <a:solidFill>
                <a:srgbClr val="000000"/>
              </a:solidFill>
              <a:latin typeface="Arial"/>
              <a:ea typeface="Arial"/>
              <a:cs typeface="Arial"/>
              <a:sym typeface="Arial"/>
            </a:endParaRPr>
          </a:p>
        </p:txBody>
      </p:sp>
      <p:sp>
        <p:nvSpPr>
          <p:cNvPr id="684" name="Google Shape;684;p37"/>
          <p:cNvSpPr/>
          <p:nvPr/>
        </p:nvSpPr>
        <p:spPr>
          <a:xfrm>
            <a:off x="274320" y="1481328"/>
            <a:ext cx="3931920" cy="47548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7"/>
          <p:cNvSpPr txBox="1"/>
          <p:nvPr/>
        </p:nvSpPr>
        <p:spPr>
          <a:xfrm>
            <a:off x="365760" y="1481328"/>
            <a:ext cx="100584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767676"/>
                </a:solidFill>
                <a:latin typeface="M PLUS 1p"/>
                <a:ea typeface="M PLUS 1p"/>
                <a:cs typeface="M PLUS 1p"/>
                <a:sym typeface="M PLUS 1p"/>
              </a:rPr>
              <a:t>管理対象</a:t>
            </a:r>
            <a:endParaRPr b="0" i="0" sz="850" u="none" cap="none" strike="noStrike">
              <a:solidFill>
                <a:srgbClr val="000000"/>
              </a:solidFill>
              <a:latin typeface="Arial"/>
              <a:ea typeface="Arial"/>
              <a:cs typeface="Arial"/>
              <a:sym typeface="Arial"/>
            </a:endParaRPr>
          </a:p>
        </p:txBody>
      </p:sp>
      <p:sp>
        <p:nvSpPr>
          <p:cNvPr id="686" name="Google Shape;686;p37"/>
          <p:cNvSpPr txBox="1"/>
          <p:nvPr/>
        </p:nvSpPr>
        <p:spPr>
          <a:xfrm>
            <a:off x="1371600" y="1481328"/>
            <a:ext cx="278892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434343"/>
                </a:solidFill>
                <a:latin typeface="M PLUS 1p"/>
                <a:ea typeface="M PLUS 1p"/>
                <a:cs typeface="M PLUS 1p"/>
                <a:sym typeface="M PLUS 1p"/>
              </a:rPr>
              <a:t>ABヨミ・予定日・接触状況</a:t>
            </a:r>
            <a:endParaRPr b="0" i="0" sz="950" u="none" cap="none" strike="noStrike">
              <a:solidFill>
                <a:srgbClr val="000000"/>
              </a:solidFill>
              <a:latin typeface="Arial"/>
              <a:ea typeface="Arial"/>
              <a:cs typeface="Arial"/>
              <a:sym typeface="Arial"/>
            </a:endParaRPr>
          </a:p>
        </p:txBody>
      </p:sp>
      <p:sp>
        <p:nvSpPr>
          <p:cNvPr id="687" name="Google Shape;687;p37"/>
          <p:cNvSpPr/>
          <p:nvPr/>
        </p:nvSpPr>
        <p:spPr>
          <a:xfrm>
            <a:off x="274320" y="2029968"/>
            <a:ext cx="3931920" cy="47548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7"/>
          <p:cNvSpPr txBox="1"/>
          <p:nvPr/>
        </p:nvSpPr>
        <p:spPr>
          <a:xfrm>
            <a:off x="365760" y="2029968"/>
            <a:ext cx="100584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767676"/>
                </a:solidFill>
                <a:latin typeface="M PLUS 1p"/>
                <a:ea typeface="M PLUS 1p"/>
                <a:cs typeface="M PLUS 1p"/>
                <a:sym typeface="M PLUS 1p"/>
              </a:rPr>
              <a:t>優先する顧客</a:t>
            </a:r>
            <a:endParaRPr b="0" i="0" sz="850" u="none" cap="none" strike="noStrike">
              <a:solidFill>
                <a:srgbClr val="000000"/>
              </a:solidFill>
              <a:latin typeface="Arial"/>
              <a:ea typeface="Arial"/>
              <a:cs typeface="Arial"/>
              <a:sym typeface="Arial"/>
            </a:endParaRPr>
          </a:p>
        </p:txBody>
      </p:sp>
      <p:sp>
        <p:nvSpPr>
          <p:cNvPr id="689" name="Google Shape;689;p37"/>
          <p:cNvSpPr txBox="1"/>
          <p:nvPr/>
        </p:nvSpPr>
        <p:spPr>
          <a:xfrm>
            <a:off x="1371600" y="2029968"/>
            <a:ext cx="278892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434343"/>
                </a:solidFill>
                <a:latin typeface="M PLUS 1p"/>
                <a:ea typeface="M PLUS 1p"/>
                <a:cs typeface="M PLUS 1p"/>
                <a:sym typeface="M PLUS 1p"/>
              </a:rPr>
              <a:t>放置顧客・継続しそうな企業</a:t>
            </a:r>
            <a:endParaRPr b="0" i="0" sz="950" u="none" cap="none" strike="noStrike">
              <a:solidFill>
                <a:srgbClr val="000000"/>
              </a:solidFill>
              <a:latin typeface="Arial"/>
              <a:ea typeface="Arial"/>
              <a:cs typeface="Arial"/>
              <a:sym typeface="Arial"/>
            </a:endParaRPr>
          </a:p>
        </p:txBody>
      </p:sp>
      <p:sp>
        <p:nvSpPr>
          <p:cNvPr id="690" name="Google Shape;690;p37"/>
          <p:cNvSpPr/>
          <p:nvPr/>
        </p:nvSpPr>
        <p:spPr>
          <a:xfrm>
            <a:off x="274320" y="2578608"/>
            <a:ext cx="3931920" cy="47548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7"/>
          <p:cNvSpPr txBox="1"/>
          <p:nvPr/>
        </p:nvSpPr>
        <p:spPr>
          <a:xfrm>
            <a:off x="365760" y="2578608"/>
            <a:ext cx="100584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767676"/>
                </a:solidFill>
                <a:latin typeface="M PLUS 1p"/>
                <a:ea typeface="M PLUS 1p"/>
                <a:cs typeface="M PLUS 1p"/>
                <a:sym typeface="M PLUS 1p"/>
              </a:rPr>
              <a:t>支援時期</a:t>
            </a:r>
            <a:endParaRPr b="0" i="0" sz="850" u="none" cap="none" strike="noStrike">
              <a:solidFill>
                <a:srgbClr val="000000"/>
              </a:solidFill>
              <a:latin typeface="Arial"/>
              <a:ea typeface="Arial"/>
              <a:cs typeface="Arial"/>
              <a:sym typeface="Arial"/>
            </a:endParaRPr>
          </a:p>
        </p:txBody>
      </p:sp>
      <p:sp>
        <p:nvSpPr>
          <p:cNvPr id="692" name="Google Shape;692;p37"/>
          <p:cNvSpPr txBox="1"/>
          <p:nvPr/>
        </p:nvSpPr>
        <p:spPr>
          <a:xfrm>
            <a:off x="1371600" y="2578608"/>
            <a:ext cx="278892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rgbClr val="434343"/>
                </a:solidFill>
                <a:latin typeface="M PLUS 1p"/>
                <a:ea typeface="M PLUS 1p"/>
                <a:cs typeface="M PLUS 1p"/>
                <a:sym typeface="M PLUS 1p"/>
              </a:rPr>
              <a:t>月末まで追客する</a:t>
            </a:r>
            <a:endParaRPr b="0" i="0" sz="950" u="none" cap="none" strike="noStrike">
              <a:solidFill>
                <a:srgbClr val="000000"/>
              </a:solidFill>
              <a:latin typeface="Arial"/>
              <a:ea typeface="Arial"/>
              <a:cs typeface="Arial"/>
              <a:sym typeface="Arial"/>
            </a:endParaRPr>
          </a:p>
        </p:txBody>
      </p:sp>
      <p:sp>
        <p:nvSpPr>
          <p:cNvPr id="693" name="Google Shape;693;p37"/>
          <p:cNvSpPr/>
          <p:nvPr/>
        </p:nvSpPr>
        <p:spPr>
          <a:xfrm>
            <a:off x="274320" y="3127248"/>
            <a:ext cx="3931920" cy="475488"/>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7"/>
          <p:cNvSpPr txBox="1"/>
          <p:nvPr/>
        </p:nvSpPr>
        <p:spPr>
          <a:xfrm>
            <a:off x="365760" y="3127248"/>
            <a:ext cx="100584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767676"/>
                </a:solidFill>
                <a:latin typeface="M PLUS 1p"/>
                <a:ea typeface="M PLUS 1p"/>
                <a:cs typeface="M PLUS 1p"/>
                <a:sym typeface="M PLUS 1p"/>
              </a:rPr>
              <a:t>動き方</a:t>
            </a:r>
            <a:endParaRPr b="0" i="0" sz="850" u="none" cap="none" strike="noStrike">
              <a:solidFill>
                <a:srgbClr val="000000"/>
              </a:solidFill>
              <a:latin typeface="Arial"/>
              <a:ea typeface="Arial"/>
              <a:cs typeface="Arial"/>
              <a:sym typeface="Arial"/>
            </a:endParaRPr>
          </a:p>
        </p:txBody>
      </p:sp>
      <p:sp>
        <p:nvSpPr>
          <p:cNvPr id="695" name="Google Shape;695;p37"/>
          <p:cNvSpPr txBox="1"/>
          <p:nvPr/>
        </p:nvSpPr>
        <p:spPr>
          <a:xfrm>
            <a:off x="1371600" y="3127248"/>
            <a:ext cx="278892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lang="ja" sz="950">
                <a:solidFill>
                  <a:srgbClr val="434343"/>
                </a:solidFill>
                <a:latin typeface="M PLUS 1p"/>
                <a:ea typeface="M PLUS 1p"/>
                <a:cs typeface="M PLUS 1p"/>
                <a:sym typeface="M PLUS 1p"/>
              </a:rPr>
              <a:t>TL</a:t>
            </a:r>
            <a:r>
              <a:rPr b="0" i="0" lang="ja" sz="950" u="none" cap="none" strike="noStrike">
                <a:solidFill>
                  <a:srgbClr val="434343"/>
                </a:solidFill>
                <a:latin typeface="M PLUS 1p"/>
                <a:ea typeface="M PLUS 1p"/>
                <a:cs typeface="M PLUS 1p"/>
                <a:sym typeface="M PLUS 1p"/>
              </a:rPr>
              <a:t>が細かく指示</a:t>
            </a:r>
            <a:endParaRPr b="0" i="0" sz="950" u="none" cap="none" strike="noStrike">
              <a:solidFill>
                <a:srgbClr val="000000"/>
              </a:solidFill>
              <a:latin typeface="Arial"/>
              <a:ea typeface="Arial"/>
              <a:cs typeface="Arial"/>
              <a:sym typeface="Arial"/>
            </a:endParaRPr>
          </a:p>
        </p:txBody>
      </p:sp>
      <p:sp>
        <p:nvSpPr>
          <p:cNvPr id="696" name="Google Shape;696;p37"/>
          <p:cNvSpPr/>
          <p:nvPr/>
        </p:nvSpPr>
        <p:spPr>
          <a:xfrm>
            <a:off x="4937760" y="1481328"/>
            <a:ext cx="3931920" cy="47548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7"/>
          <p:cNvSpPr txBox="1"/>
          <p:nvPr/>
        </p:nvSpPr>
        <p:spPr>
          <a:xfrm>
            <a:off x="5029200" y="1481328"/>
            <a:ext cx="100584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434343"/>
                </a:solidFill>
                <a:latin typeface="M PLUS 1p"/>
                <a:ea typeface="M PLUS 1p"/>
                <a:cs typeface="M PLUS 1p"/>
                <a:sym typeface="M PLUS 1p"/>
              </a:rPr>
              <a:t>管理対象</a:t>
            </a:r>
            <a:endParaRPr b="0" i="0" sz="850" u="none" cap="none" strike="noStrike">
              <a:solidFill>
                <a:srgbClr val="000000"/>
              </a:solidFill>
              <a:latin typeface="Arial"/>
              <a:ea typeface="Arial"/>
              <a:cs typeface="Arial"/>
              <a:sym typeface="Arial"/>
            </a:endParaRPr>
          </a:p>
        </p:txBody>
      </p:sp>
      <p:sp>
        <p:nvSpPr>
          <p:cNvPr id="698" name="Google Shape;698;p37"/>
          <p:cNvSpPr txBox="1"/>
          <p:nvPr/>
        </p:nvSpPr>
        <p:spPr>
          <a:xfrm>
            <a:off x="6035040" y="1481328"/>
            <a:ext cx="278892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ONB卒業／未卒業・未達スコア項目</a:t>
            </a:r>
            <a:endParaRPr b="0" i="0" sz="950" u="none" cap="none" strike="noStrike">
              <a:solidFill>
                <a:srgbClr val="000000"/>
              </a:solidFill>
              <a:latin typeface="Arial"/>
              <a:ea typeface="Arial"/>
              <a:cs typeface="Arial"/>
              <a:sym typeface="Arial"/>
            </a:endParaRPr>
          </a:p>
        </p:txBody>
      </p:sp>
      <p:sp>
        <p:nvSpPr>
          <p:cNvPr id="699" name="Google Shape;699;p37"/>
          <p:cNvSpPr/>
          <p:nvPr/>
        </p:nvSpPr>
        <p:spPr>
          <a:xfrm>
            <a:off x="4937760" y="2029968"/>
            <a:ext cx="3931920" cy="47548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7"/>
          <p:cNvSpPr txBox="1"/>
          <p:nvPr/>
        </p:nvSpPr>
        <p:spPr>
          <a:xfrm>
            <a:off x="5029200" y="2029968"/>
            <a:ext cx="100584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434343"/>
                </a:solidFill>
                <a:latin typeface="M PLUS 1p"/>
                <a:ea typeface="M PLUS 1p"/>
                <a:cs typeface="M PLUS 1p"/>
                <a:sym typeface="M PLUS 1p"/>
              </a:rPr>
              <a:t>優先する顧客</a:t>
            </a:r>
            <a:endParaRPr b="0" i="0" sz="850" u="none" cap="none" strike="noStrike">
              <a:solidFill>
                <a:srgbClr val="000000"/>
              </a:solidFill>
              <a:latin typeface="Arial"/>
              <a:ea typeface="Arial"/>
              <a:cs typeface="Arial"/>
              <a:sym typeface="Arial"/>
            </a:endParaRPr>
          </a:p>
        </p:txBody>
      </p:sp>
      <p:sp>
        <p:nvSpPr>
          <p:cNvPr id="701" name="Google Shape;701;p37"/>
          <p:cNvSpPr txBox="1"/>
          <p:nvPr/>
        </p:nvSpPr>
        <p:spPr>
          <a:xfrm>
            <a:off x="6035040" y="2029968"/>
            <a:ext cx="278892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ONB未卒業の企業（卒業顧客は追いすぎない）</a:t>
            </a:r>
            <a:endParaRPr b="0" i="0" sz="950" u="none" cap="none" strike="noStrike">
              <a:solidFill>
                <a:srgbClr val="000000"/>
              </a:solidFill>
              <a:latin typeface="Arial"/>
              <a:ea typeface="Arial"/>
              <a:cs typeface="Arial"/>
              <a:sym typeface="Arial"/>
            </a:endParaRPr>
          </a:p>
        </p:txBody>
      </p:sp>
      <p:sp>
        <p:nvSpPr>
          <p:cNvPr id="702" name="Google Shape;702;p37"/>
          <p:cNvSpPr/>
          <p:nvPr/>
        </p:nvSpPr>
        <p:spPr>
          <a:xfrm>
            <a:off x="4937760" y="2578608"/>
            <a:ext cx="3931920" cy="47548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7"/>
          <p:cNvSpPr txBox="1"/>
          <p:nvPr/>
        </p:nvSpPr>
        <p:spPr>
          <a:xfrm>
            <a:off x="5029200" y="2578608"/>
            <a:ext cx="100584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434343"/>
                </a:solidFill>
                <a:latin typeface="M PLUS 1p"/>
                <a:ea typeface="M PLUS 1p"/>
                <a:cs typeface="M PLUS 1p"/>
                <a:sym typeface="M PLUS 1p"/>
              </a:rPr>
              <a:t>支援時期</a:t>
            </a:r>
            <a:endParaRPr b="0" i="0" sz="850" u="none" cap="none" strike="noStrike">
              <a:solidFill>
                <a:srgbClr val="000000"/>
              </a:solidFill>
              <a:latin typeface="Arial"/>
              <a:ea typeface="Arial"/>
              <a:cs typeface="Arial"/>
              <a:sym typeface="Arial"/>
            </a:endParaRPr>
          </a:p>
        </p:txBody>
      </p:sp>
      <p:sp>
        <p:nvSpPr>
          <p:cNvPr id="704" name="Google Shape;704;p37"/>
          <p:cNvSpPr txBox="1"/>
          <p:nvPr/>
        </p:nvSpPr>
        <p:spPr>
          <a:xfrm>
            <a:off x="6035040" y="2578608"/>
            <a:ext cx="278892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月前半に支援を集中</a:t>
            </a:r>
            <a:endParaRPr b="0" i="0" sz="950" u="none" cap="none" strike="noStrike">
              <a:solidFill>
                <a:srgbClr val="000000"/>
              </a:solidFill>
              <a:latin typeface="Arial"/>
              <a:ea typeface="Arial"/>
              <a:cs typeface="Arial"/>
              <a:sym typeface="Arial"/>
            </a:endParaRPr>
          </a:p>
        </p:txBody>
      </p:sp>
      <p:sp>
        <p:nvSpPr>
          <p:cNvPr id="705" name="Google Shape;705;p37"/>
          <p:cNvSpPr/>
          <p:nvPr/>
        </p:nvSpPr>
        <p:spPr>
          <a:xfrm>
            <a:off x="4937760" y="3127248"/>
            <a:ext cx="3931920" cy="475488"/>
          </a:xfrm>
          <a:prstGeom prst="rect">
            <a:avLst/>
          </a:prstGeom>
          <a:solidFill>
            <a:srgbClr val="FFF6D9"/>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7"/>
          <p:cNvSpPr txBox="1"/>
          <p:nvPr/>
        </p:nvSpPr>
        <p:spPr>
          <a:xfrm>
            <a:off x="5029200" y="3127248"/>
            <a:ext cx="100584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1" i="0" lang="ja" sz="850" u="none" cap="none" strike="noStrike">
                <a:solidFill>
                  <a:srgbClr val="434343"/>
                </a:solidFill>
                <a:latin typeface="M PLUS 1p"/>
                <a:ea typeface="M PLUS 1p"/>
                <a:cs typeface="M PLUS 1p"/>
                <a:sym typeface="M PLUS 1p"/>
              </a:rPr>
              <a:t>動き方</a:t>
            </a:r>
            <a:endParaRPr b="0" i="0" sz="850" u="none" cap="none" strike="noStrike">
              <a:solidFill>
                <a:srgbClr val="000000"/>
              </a:solidFill>
              <a:latin typeface="Arial"/>
              <a:ea typeface="Arial"/>
              <a:cs typeface="Arial"/>
              <a:sym typeface="Arial"/>
            </a:endParaRPr>
          </a:p>
        </p:txBody>
      </p:sp>
      <p:sp>
        <p:nvSpPr>
          <p:cNvPr id="707" name="Google Shape;707;p37"/>
          <p:cNvSpPr txBox="1"/>
          <p:nvPr/>
        </p:nvSpPr>
        <p:spPr>
          <a:xfrm>
            <a:off x="6035040" y="3127248"/>
            <a:ext cx="2788920" cy="475488"/>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未達に対するアクションを、メンバー自身が考える</a:t>
            </a:r>
            <a:endParaRPr b="0" i="0" sz="950" u="none" cap="none" strike="noStrike">
              <a:solidFill>
                <a:srgbClr val="000000"/>
              </a:solidFill>
              <a:latin typeface="Arial"/>
              <a:ea typeface="Arial"/>
              <a:cs typeface="Arial"/>
              <a:sym typeface="Arial"/>
            </a:endParaRPr>
          </a:p>
        </p:txBody>
      </p:sp>
      <p:sp>
        <p:nvSpPr>
          <p:cNvPr id="708" name="Google Shape;708;p37"/>
          <p:cNvSpPr/>
          <p:nvPr/>
        </p:nvSpPr>
        <p:spPr>
          <a:xfrm>
            <a:off x="4315968" y="2377440"/>
            <a:ext cx="502920" cy="45720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7"/>
          <p:cNvSpPr txBox="1"/>
          <p:nvPr/>
        </p:nvSpPr>
        <p:spPr>
          <a:xfrm>
            <a:off x="274320" y="3749040"/>
            <a:ext cx="8595360" cy="256032"/>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434343"/>
                </a:solidFill>
                <a:latin typeface="M PLUS 1p"/>
                <a:ea typeface="M PLUS 1p"/>
                <a:cs typeface="M PLUS 1p"/>
                <a:sym typeface="M PLUS 1p"/>
              </a:rPr>
              <a:t>日次で見るもの</a:t>
            </a:r>
            <a:endParaRPr b="0" i="0" sz="1000" u="none" cap="none" strike="noStrike">
              <a:solidFill>
                <a:srgbClr val="000000"/>
              </a:solidFill>
              <a:latin typeface="Arial"/>
              <a:ea typeface="Arial"/>
              <a:cs typeface="Arial"/>
              <a:sym typeface="Arial"/>
            </a:endParaRPr>
          </a:p>
        </p:txBody>
      </p:sp>
      <p:sp>
        <p:nvSpPr>
          <p:cNvPr id="710" name="Google Shape;710;p37"/>
          <p:cNvSpPr/>
          <p:nvPr/>
        </p:nvSpPr>
        <p:spPr>
          <a:xfrm>
            <a:off x="274320" y="4023360"/>
            <a:ext cx="2743200" cy="384048"/>
          </a:xfrm>
          <a:prstGeom prst="rect">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7"/>
          <p:cNvSpPr txBox="1"/>
          <p:nvPr/>
        </p:nvSpPr>
        <p:spPr>
          <a:xfrm>
            <a:off x="274320" y="4023360"/>
            <a:ext cx="274320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① ONB卒業／未卒業の企業</a:t>
            </a:r>
            <a:endParaRPr b="0" i="0" sz="1000" u="none" cap="none" strike="noStrike">
              <a:solidFill>
                <a:srgbClr val="000000"/>
              </a:solidFill>
              <a:latin typeface="Arial"/>
              <a:ea typeface="Arial"/>
              <a:cs typeface="Arial"/>
              <a:sym typeface="Arial"/>
            </a:endParaRPr>
          </a:p>
        </p:txBody>
      </p:sp>
      <p:sp>
        <p:nvSpPr>
          <p:cNvPr id="712" name="Google Shape;712;p37"/>
          <p:cNvSpPr/>
          <p:nvPr/>
        </p:nvSpPr>
        <p:spPr>
          <a:xfrm>
            <a:off x="3154680" y="4023360"/>
            <a:ext cx="2743200" cy="384048"/>
          </a:xfrm>
          <a:prstGeom prst="rect">
            <a:avLst/>
          </a:prstGeom>
          <a:solidFill>
            <a:srgbClr val="FFFFFF"/>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7"/>
          <p:cNvSpPr txBox="1"/>
          <p:nvPr/>
        </p:nvSpPr>
        <p:spPr>
          <a:xfrm>
            <a:off x="3154680" y="4023360"/>
            <a:ext cx="274320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② 未達のスコア項目</a:t>
            </a:r>
            <a:endParaRPr b="0" i="0" sz="1000" u="none" cap="none" strike="noStrike">
              <a:solidFill>
                <a:srgbClr val="000000"/>
              </a:solidFill>
              <a:latin typeface="Arial"/>
              <a:ea typeface="Arial"/>
              <a:cs typeface="Arial"/>
              <a:sym typeface="Arial"/>
            </a:endParaRPr>
          </a:p>
        </p:txBody>
      </p:sp>
      <p:sp>
        <p:nvSpPr>
          <p:cNvPr id="714" name="Google Shape;714;p37"/>
          <p:cNvSpPr/>
          <p:nvPr/>
        </p:nvSpPr>
        <p:spPr>
          <a:xfrm>
            <a:off x="6035040" y="4023360"/>
            <a:ext cx="2743200" cy="384048"/>
          </a:xfrm>
          <a:prstGeom prst="rect">
            <a:avLst/>
          </a:prstGeom>
          <a:solidFill>
            <a:srgbClr val="FFD100"/>
          </a:solidFill>
          <a:ln cap="flat" cmpd="sng" w="952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7"/>
          <p:cNvSpPr txBox="1"/>
          <p:nvPr/>
        </p:nvSpPr>
        <p:spPr>
          <a:xfrm>
            <a:off x="6035040" y="4023360"/>
            <a:ext cx="274320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③ 未達に対するアクション</a:t>
            </a:r>
            <a:endParaRPr b="0" i="0" sz="1000" u="none" cap="none" strike="noStrike">
              <a:solidFill>
                <a:srgbClr val="000000"/>
              </a:solidFill>
              <a:latin typeface="Arial"/>
              <a:ea typeface="Arial"/>
              <a:cs typeface="Arial"/>
              <a:sym typeface="Arial"/>
            </a:endParaRPr>
          </a:p>
        </p:txBody>
      </p:sp>
      <p:sp>
        <p:nvSpPr>
          <p:cNvPr id="716" name="Google Shape;716;p37"/>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翌月継続率は結果指標として確認。浮いた工数は、改善・新施策・顧客支援に使う。</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1" name="Shape 721"/>
        <p:cNvGrpSpPr/>
        <p:nvPr/>
      </p:nvGrpSpPr>
      <p:grpSpPr>
        <a:xfrm>
          <a:off x="0" y="0"/>
          <a:ext cx="0" cy="0"/>
          <a:chOff x="0" y="0"/>
          <a:chExt cx="0" cy="0"/>
        </a:xfrm>
      </p:grpSpPr>
      <p:sp>
        <p:nvSpPr>
          <p:cNvPr id="722" name="Google Shape;722;p38"/>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38"/>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38"/>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12｜KPI｜「ONB卒業状態をつくれたか」をオンボーディング完了率で見る</a:t>
            </a:r>
            <a:endParaRPr b="0" i="0" sz="1500" u="none" cap="none" strike="noStrike">
              <a:solidFill>
                <a:srgbClr val="000000"/>
              </a:solidFill>
              <a:latin typeface="Arial"/>
              <a:ea typeface="Arial"/>
              <a:cs typeface="Arial"/>
              <a:sym typeface="Arial"/>
            </a:endParaRPr>
          </a:p>
        </p:txBody>
      </p:sp>
      <p:sp>
        <p:nvSpPr>
          <p:cNvPr id="725" name="Google Shape;725;p38"/>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726" name="Google Shape;726;p38"/>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727" name="Google Shape;727;p38"/>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16</a:t>
            </a:r>
            <a:endParaRPr b="0" i="0" sz="800" u="none" cap="none" strike="noStrike">
              <a:solidFill>
                <a:srgbClr val="000000"/>
              </a:solidFill>
              <a:latin typeface="Arial"/>
              <a:ea typeface="Arial"/>
              <a:cs typeface="Arial"/>
              <a:sym typeface="Arial"/>
            </a:endParaRPr>
          </a:p>
        </p:txBody>
      </p:sp>
      <p:sp>
        <p:nvSpPr>
          <p:cNvPr id="728" name="Google Shape;728;p38"/>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プロセスKPI（卒業条件を達成できたか）と結果KPI（その結果、成果につながったか）を分けて確認する</a:t>
            </a:r>
            <a:endParaRPr b="0" i="0" sz="1150" u="none" cap="none" strike="noStrike">
              <a:solidFill>
                <a:srgbClr val="4A86E8"/>
              </a:solidFill>
              <a:latin typeface="Arial"/>
              <a:ea typeface="Arial"/>
              <a:cs typeface="Arial"/>
              <a:sym typeface="Arial"/>
            </a:endParaRPr>
          </a:p>
        </p:txBody>
      </p:sp>
      <p:sp>
        <p:nvSpPr>
          <p:cNvPr id="729" name="Google Shape;729;p38"/>
          <p:cNvSpPr/>
          <p:nvPr/>
        </p:nvSpPr>
        <p:spPr>
          <a:xfrm>
            <a:off x="274320" y="1097280"/>
            <a:ext cx="8595360" cy="960120"/>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38"/>
          <p:cNvSpPr txBox="1"/>
          <p:nvPr/>
        </p:nvSpPr>
        <p:spPr>
          <a:xfrm>
            <a:off x="457200" y="1143000"/>
            <a:ext cx="2377440" cy="868680"/>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rgbClr val="1A1A1A"/>
                </a:solidFill>
                <a:latin typeface="M PLUS 1p"/>
                <a:ea typeface="M PLUS 1p"/>
                <a:cs typeface="M PLUS 1p"/>
                <a:sym typeface="M PLUS 1p"/>
              </a:rPr>
              <a:t>オンボーディング完了率</a:t>
            </a:r>
            <a:endParaRPr b="0" i="0" sz="1400" u="none" cap="none" strike="noStrike">
              <a:solidFill>
                <a:srgbClr val="000000"/>
              </a:solidFill>
              <a:latin typeface="Arial"/>
              <a:ea typeface="Arial"/>
              <a:cs typeface="Arial"/>
              <a:sym typeface="Arial"/>
            </a:endParaRPr>
          </a:p>
        </p:txBody>
      </p:sp>
      <p:sp>
        <p:nvSpPr>
          <p:cNvPr id="731" name="Google Shape;731;p38"/>
          <p:cNvSpPr txBox="1"/>
          <p:nvPr/>
        </p:nvSpPr>
        <p:spPr>
          <a:xfrm>
            <a:off x="2834640" y="1143000"/>
            <a:ext cx="365760" cy="86868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800"/>
              <a:buFont typeface="Arial"/>
              <a:buNone/>
            </a:pPr>
            <a:r>
              <a:rPr b="1" i="0" lang="ja" sz="1800" u="none" cap="none" strike="noStrike">
                <a:solidFill>
                  <a:srgbClr val="1A1A1A"/>
                </a:solidFill>
                <a:latin typeface="M PLUS 1p"/>
                <a:ea typeface="M PLUS 1p"/>
                <a:cs typeface="M PLUS 1p"/>
                <a:sym typeface="M PLUS 1p"/>
              </a:rPr>
              <a:t>＝</a:t>
            </a:r>
            <a:endParaRPr b="0" i="0" sz="1800" u="none" cap="none" strike="noStrike">
              <a:solidFill>
                <a:srgbClr val="000000"/>
              </a:solidFill>
              <a:latin typeface="Arial"/>
              <a:ea typeface="Arial"/>
              <a:cs typeface="Arial"/>
              <a:sym typeface="Arial"/>
            </a:endParaRPr>
          </a:p>
        </p:txBody>
      </p:sp>
      <p:sp>
        <p:nvSpPr>
          <p:cNvPr id="732" name="Google Shape;732;p38"/>
          <p:cNvSpPr txBox="1"/>
          <p:nvPr/>
        </p:nvSpPr>
        <p:spPr>
          <a:xfrm>
            <a:off x="3246120" y="1170432"/>
            <a:ext cx="26517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卒業条件を満たした企業数</a:t>
            </a:r>
            <a:endParaRPr b="0" i="0" sz="1100" u="none" cap="none" strike="noStrike">
              <a:solidFill>
                <a:srgbClr val="000000"/>
              </a:solidFill>
              <a:latin typeface="Arial"/>
              <a:ea typeface="Arial"/>
              <a:cs typeface="Arial"/>
              <a:sym typeface="Arial"/>
            </a:endParaRPr>
          </a:p>
        </p:txBody>
      </p:sp>
      <p:cxnSp>
        <p:nvCxnSpPr>
          <p:cNvPr id="733" name="Google Shape;733;p38"/>
          <p:cNvCxnSpPr/>
          <p:nvPr/>
        </p:nvCxnSpPr>
        <p:spPr>
          <a:xfrm>
            <a:off x="3337560" y="1572768"/>
            <a:ext cx="2468880" cy="0"/>
          </a:xfrm>
          <a:prstGeom prst="straightConnector1">
            <a:avLst/>
          </a:prstGeom>
          <a:noFill/>
          <a:ln cap="flat" cmpd="sng" w="15875">
            <a:solidFill>
              <a:srgbClr val="1A1A1A"/>
            </a:solidFill>
            <a:prstDash val="solid"/>
            <a:round/>
            <a:headEnd len="sm" w="sm" type="none"/>
            <a:tailEnd len="sm" w="sm" type="none"/>
          </a:ln>
        </p:spPr>
      </p:cxnSp>
      <p:sp>
        <p:nvSpPr>
          <p:cNvPr id="734" name="Google Shape;734;p38"/>
          <p:cNvSpPr txBox="1"/>
          <p:nvPr/>
        </p:nvSpPr>
        <p:spPr>
          <a:xfrm>
            <a:off x="3246120" y="1600200"/>
            <a:ext cx="2651760" cy="384048"/>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ONB対象企業数</a:t>
            </a:r>
            <a:endParaRPr b="0" i="0" sz="1100" u="none" cap="none" strike="noStrike">
              <a:solidFill>
                <a:srgbClr val="000000"/>
              </a:solidFill>
              <a:latin typeface="Arial"/>
              <a:ea typeface="Arial"/>
              <a:cs typeface="Arial"/>
              <a:sym typeface="Arial"/>
            </a:endParaRPr>
          </a:p>
        </p:txBody>
      </p:sp>
      <p:sp>
        <p:nvSpPr>
          <p:cNvPr id="735" name="Google Shape;735;p38"/>
          <p:cNvSpPr txBox="1"/>
          <p:nvPr/>
        </p:nvSpPr>
        <p:spPr>
          <a:xfrm>
            <a:off x="6126480" y="1143000"/>
            <a:ext cx="2651760" cy="868680"/>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50"/>
              <a:buFont typeface="Arial"/>
              <a:buNone/>
            </a:pPr>
            <a:r>
              <a:rPr b="0" i="0" lang="ja" sz="850" u="none" cap="none" strike="noStrike">
                <a:solidFill>
                  <a:srgbClr val="434343"/>
                </a:solidFill>
                <a:latin typeface="M PLUS 1p"/>
                <a:ea typeface="M PLUS 1p"/>
                <a:cs typeface="M PLUS 1p"/>
                <a:sym typeface="M PLUS 1p"/>
              </a:rPr>
              <a:t>顧客を卒業状態まで支援できた割合を可視化。</a:t>
            </a:r>
            <a:endParaRPr b="0" i="0" sz="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50"/>
              <a:buFont typeface="Arial"/>
              <a:buNone/>
            </a:pPr>
            <a:r>
              <a:rPr b="0" i="0" lang="ja" sz="850" u="none" cap="none" strike="noStrike">
                <a:solidFill>
                  <a:srgbClr val="434343"/>
                </a:solidFill>
                <a:latin typeface="M PLUS 1p"/>
                <a:ea typeface="M PLUS 1p"/>
                <a:cs typeface="M PLUS 1p"/>
                <a:sym typeface="M PLUS 1p"/>
              </a:rPr>
              <a:t>KPIとしての導入・評価への活用は検討中</a:t>
            </a:r>
            <a:endParaRPr b="0" i="0" sz="850" u="none" cap="none" strike="noStrike">
              <a:solidFill>
                <a:srgbClr val="000000"/>
              </a:solidFill>
              <a:latin typeface="Arial"/>
              <a:ea typeface="Arial"/>
              <a:cs typeface="Arial"/>
              <a:sym typeface="Arial"/>
            </a:endParaRPr>
          </a:p>
        </p:txBody>
      </p:sp>
      <p:sp>
        <p:nvSpPr>
          <p:cNvPr id="736" name="Google Shape;736;p38"/>
          <p:cNvSpPr/>
          <p:nvPr/>
        </p:nvSpPr>
        <p:spPr>
          <a:xfrm>
            <a:off x="274320" y="2286000"/>
            <a:ext cx="4114800" cy="347472"/>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38"/>
          <p:cNvSpPr txBox="1"/>
          <p:nvPr/>
        </p:nvSpPr>
        <p:spPr>
          <a:xfrm>
            <a:off x="274320" y="2286000"/>
            <a:ext cx="411480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プロセスKPI｜卒業条件を達成できたか</a:t>
            </a:r>
            <a:endParaRPr b="0" i="0" sz="1050" u="none" cap="none" strike="noStrike">
              <a:solidFill>
                <a:srgbClr val="000000"/>
              </a:solidFill>
              <a:latin typeface="Arial"/>
              <a:ea typeface="Arial"/>
              <a:cs typeface="Arial"/>
              <a:sym typeface="Arial"/>
            </a:endParaRPr>
          </a:p>
        </p:txBody>
      </p:sp>
      <p:sp>
        <p:nvSpPr>
          <p:cNvPr id="738" name="Google Shape;738;p38"/>
          <p:cNvSpPr/>
          <p:nvPr/>
        </p:nvSpPr>
        <p:spPr>
          <a:xfrm>
            <a:off x="4754880" y="2286000"/>
            <a:ext cx="4114800" cy="347472"/>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38"/>
          <p:cNvSpPr txBox="1"/>
          <p:nvPr/>
        </p:nvSpPr>
        <p:spPr>
          <a:xfrm>
            <a:off x="4754880" y="2286000"/>
            <a:ext cx="411480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FFFFFF"/>
                </a:solidFill>
                <a:latin typeface="M PLUS 1p"/>
                <a:ea typeface="M PLUS 1p"/>
                <a:cs typeface="M PLUS 1p"/>
                <a:sym typeface="M PLUS 1p"/>
              </a:rPr>
              <a:t>結果KPI｜その結果、成果につながったか</a:t>
            </a:r>
            <a:endParaRPr b="0" i="0" sz="1050" u="none" cap="none" strike="noStrike">
              <a:solidFill>
                <a:srgbClr val="000000"/>
              </a:solidFill>
              <a:latin typeface="Arial"/>
              <a:ea typeface="Arial"/>
              <a:cs typeface="Arial"/>
              <a:sym typeface="Arial"/>
            </a:endParaRPr>
          </a:p>
        </p:txBody>
      </p:sp>
      <p:sp>
        <p:nvSpPr>
          <p:cNvPr id="740" name="Google Shape;740;p38"/>
          <p:cNvSpPr/>
          <p:nvPr/>
        </p:nvSpPr>
        <p:spPr>
          <a:xfrm>
            <a:off x="274320" y="2697480"/>
            <a:ext cx="4114800" cy="438912"/>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38"/>
          <p:cNvSpPr txBox="1"/>
          <p:nvPr/>
        </p:nvSpPr>
        <p:spPr>
          <a:xfrm>
            <a:off x="411480" y="2697480"/>
            <a:ext cx="1737360" cy="438912"/>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ONB完了率</a:t>
            </a:r>
            <a:endParaRPr b="0" i="0" sz="1000" u="none" cap="none" strike="noStrike">
              <a:solidFill>
                <a:srgbClr val="000000"/>
              </a:solidFill>
              <a:latin typeface="Arial"/>
              <a:ea typeface="Arial"/>
              <a:cs typeface="Arial"/>
              <a:sym typeface="Arial"/>
            </a:endParaRPr>
          </a:p>
        </p:txBody>
      </p:sp>
      <p:sp>
        <p:nvSpPr>
          <p:cNvPr id="742" name="Google Shape;742;p38"/>
          <p:cNvSpPr txBox="1"/>
          <p:nvPr/>
        </p:nvSpPr>
        <p:spPr>
          <a:xfrm>
            <a:off x="2148840" y="2697480"/>
            <a:ext cx="2194560" cy="438912"/>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卒業条件（4項目中3項目以上）を満たした企業の割合。翌月・3ヶ月で別集計</a:t>
            </a:r>
            <a:endParaRPr b="0" i="0" sz="800" u="none" cap="none" strike="noStrike">
              <a:solidFill>
                <a:srgbClr val="000000"/>
              </a:solidFill>
              <a:latin typeface="Arial"/>
              <a:ea typeface="Arial"/>
              <a:cs typeface="Arial"/>
              <a:sym typeface="Arial"/>
            </a:endParaRPr>
          </a:p>
        </p:txBody>
      </p:sp>
      <p:sp>
        <p:nvSpPr>
          <p:cNvPr id="743" name="Google Shape;743;p38"/>
          <p:cNvSpPr/>
          <p:nvPr/>
        </p:nvSpPr>
        <p:spPr>
          <a:xfrm>
            <a:off x="274320" y="3200400"/>
            <a:ext cx="4114800" cy="438912"/>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38"/>
          <p:cNvSpPr txBox="1"/>
          <p:nvPr/>
        </p:nvSpPr>
        <p:spPr>
          <a:xfrm>
            <a:off x="411480" y="3200400"/>
            <a:ext cx="1737360" cy="438912"/>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各スコア項目達成率</a:t>
            </a:r>
            <a:endParaRPr b="0" i="0" sz="1000" u="none" cap="none" strike="noStrike">
              <a:solidFill>
                <a:srgbClr val="000000"/>
              </a:solidFill>
              <a:latin typeface="Arial"/>
              <a:ea typeface="Arial"/>
              <a:cs typeface="Arial"/>
              <a:sym typeface="Arial"/>
            </a:endParaRPr>
          </a:p>
        </p:txBody>
      </p:sp>
      <p:sp>
        <p:nvSpPr>
          <p:cNvPr id="745" name="Google Shape;745;p38"/>
          <p:cNvSpPr txBox="1"/>
          <p:nvPr/>
        </p:nvSpPr>
        <p:spPr>
          <a:xfrm>
            <a:off x="2148840" y="3200400"/>
            <a:ext cx="2194560" cy="438912"/>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翌月4項目・3ヶ月4項目それぞれの達成割合（別集計）</a:t>
            </a:r>
            <a:endParaRPr b="0" i="0" sz="800" u="none" cap="none" strike="noStrike">
              <a:solidFill>
                <a:srgbClr val="000000"/>
              </a:solidFill>
              <a:latin typeface="Arial"/>
              <a:ea typeface="Arial"/>
              <a:cs typeface="Arial"/>
              <a:sym typeface="Arial"/>
            </a:endParaRPr>
          </a:p>
        </p:txBody>
      </p:sp>
      <p:sp>
        <p:nvSpPr>
          <p:cNvPr id="746" name="Google Shape;746;p38"/>
          <p:cNvSpPr/>
          <p:nvPr/>
        </p:nvSpPr>
        <p:spPr>
          <a:xfrm>
            <a:off x="274320" y="3703320"/>
            <a:ext cx="4114800" cy="438912"/>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38"/>
          <p:cNvSpPr txBox="1"/>
          <p:nvPr/>
        </p:nvSpPr>
        <p:spPr>
          <a:xfrm>
            <a:off x="411480" y="3703320"/>
            <a:ext cx="1737360" cy="438912"/>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標準アクション実行率</a:t>
            </a:r>
            <a:endParaRPr b="0" i="0" sz="1000" u="none" cap="none" strike="noStrike">
              <a:solidFill>
                <a:srgbClr val="000000"/>
              </a:solidFill>
              <a:latin typeface="Arial"/>
              <a:ea typeface="Arial"/>
              <a:cs typeface="Arial"/>
              <a:sym typeface="Arial"/>
            </a:endParaRPr>
          </a:p>
        </p:txBody>
      </p:sp>
      <p:sp>
        <p:nvSpPr>
          <p:cNvPr id="748" name="Google Shape;748;p38"/>
          <p:cNvSpPr txBox="1"/>
          <p:nvPr/>
        </p:nvSpPr>
        <p:spPr>
          <a:xfrm>
            <a:off x="2148840" y="3703320"/>
            <a:ext cx="2194560" cy="438912"/>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未達に対する標準アクションを期限内に実行した割合</a:t>
            </a:r>
            <a:endParaRPr b="0" i="0" sz="800" u="none" cap="none" strike="noStrike">
              <a:solidFill>
                <a:srgbClr val="000000"/>
              </a:solidFill>
              <a:latin typeface="Arial"/>
              <a:ea typeface="Arial"/>
              <a:cs typeface="Arial"/>
              <a:sym typeface="Arial"/>
            </a:endParaRPr>
          </a:p>
        </p:txBody>
      </p:sp>
      <p:sp>
        <p:nvSpPr>
          <p:cNvPr id="749" name="Google Shape;749;p38"/>
          <p:cNvSpPr/>
          <p:nvPr/>
        </p:nvSpPr>
        <p:spPr>
          <a:xfrm>
            <a:off x="4754880" y="2697480"/>
            <a:ext cx="4114800" cy="329184"/>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38"/>
          <p:cNvSpPr txBox="1"/>
          <p:nvPr/>
        </p:nvSpPr>
        <p:spPr>
          <a:xfrm>
            <a:off x="4892040" y="2697480"/>
            <a:ext cx="1737360" cy="329184"/>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翌月継続率</a:t>
            </a:r>
            <a:endParaRPr b="0" i="0" sz="1000" u="none" cap="none" strike="noStrike">
              <a:solidFill>
                <a:srgbClr val="000000"/>
              </a:solidFill>
              <a:latin typeface="Arial"/>
              <a:ea typeface="Arial"/>
              <a:cs typeface="Arial"/>
              <a:sym typeface="Arial"/>
            </a:endParaRPr>
          </a:p>
        </p:txBody>
      </p:sp>
      <p:sp>
        <p:nvSpPr>
          <p:cNvPr id="751" name="Google Shape;751;p38"/>
          <p:cNvSpPr txBox="1"/>
          <p:nvPr/>
        </p:nvSpPr>
        <p:spPr>
          <a:xfrm>
            <a:off x="6629400" y="2697480"/>
            <a:ext cx="2194560" cy="329184"/>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結果指標として確認</a:t>
            </a:r>
            <a:endParaRPr b="0" i="0" sz="800" u="none" cap="none" strike="noStrike">
              <a:solidFill>
                <a:srgbClr val="000000"/>
              </a:solidFill>
              <a:latin typeface="Arial"/>
              <a:ea typeface="Arial"/>
              <a:cs typeface="Arial"/>
              <a:sym typeface="Arial"/>
            </a:endParaRPr>
          </a:p>
        </p:txBody>
      </p:sp>
      <p:sp>
        <p:nvSpPr>
          <p:cNvPr id="752" name="Google Shape;752;p38"/>
          <p:cNvSpPr/>
          <p:nvPr/>
        </p:nvSpPr>
        <p:spPr>
          <a:xfrm>
            <a:off x="4754880" y="3081528"/>
            <a:ext cx="4114800" cy="329184"/>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38"/>
          <p:cNvSpPr txBox="1"/>
          <p:nvPr/>
        </p:nvSpPr>
        <p:spPr>
          <a:xfrm>
            <a:off x="4892040" y="3081528"/>
            <a:ext cx="1737360" cy="329184"/>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新規AA</a:t>
            </a:r>
            <a:endParaRPr b="0" i="0" sz="1000" u="none" cap="none" strike="noStrike">
              <a:solidFill>
                <a:srgbClr val="000000"/>
              </a:solidFill>
              <a:latin typeface="Arial"/>
              <a:ea typeface="Arial"/>
              <a:cs typeface="Arial"/>
              <a:sym typeface="Arial"/>
            </a:endParaRPr>
          </a:p>
        </p:txBody>
      </p:sp>
      <p:sp>
        <p:nvSpPr>
          <p:cNvPr id="754" name="Google Shape;754;p38"/>
          <p:cNvSpPr txBox="1"/>
          <p:nvPr/>
        </p:nvSpPr>
        <p:spPr>
          <a:xfrm>
            <a:off x="6629400" y="3081528"/>
            <a:ext cx="2194560" cy="329184"/>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55" name="Google Shape;755;p38"/>
          <p:cNvSpPr/>
          <p:nvPr/>
        </p:nvSpPr>
        <p:spPr>
          <a:xfrm>
            <a:off x="4754880" y="3465576"/>
            <a:ext cx="4114800" cy="329184"/>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38"/>
          <p:cNvSpPr txBox="1"/>
          <p:nvPr/>
        </p:nvSpPr>
        <p:spPr>
          <a:xfrm>
            <a:off x="4892040" y="3465576"/>
            <a:ext cx="1737360" cy="329184"/>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売上</a:t>
            </a:r>
            <a:endParaRPr b="0" i="0" sz="1000" u="none" cap="none" strike="noStrike">
              <a:solidFill>
                <a:srgbClr val="000000"/>
              </a:solidFill>
              <a:latin typeface="Arial"/>
              <a:ea typeface="Arial"/>
              <a:cs typeface="Arial"/>
              <a:sym typeface="Arial"/>
            </a:endParaRPr>
          </a:p>
        </p:txBody>
      </p:sp>
      <p:sp>
        <p:nvSpPr>
          <p:cNvPr id="757" name="Google Shape;757;p38"/>
          <p:cNvSpPr txBox="1"/>
          <p:nvPr/>
        </p:nvSpPr>
        <p:spPr>
          <a:xfrm>
            <a:off x="6629400" y="3465576"/>
            <a:ext cx="2194560" cy="329184"/>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58" name="Google Shape;758;p38"/>
          <p:cNvSpPr/>
          <p:nvPr/>
        </p:nvSpPr>
        <p:spPr>
          <a:xfrm>
            <a:off x="4754880" y="3849624"/>
            <a:ext cx="4114800" cy="329184"/>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38"/>
          <p:cNvSpPr txBox="1"/>
          <p:nvPr/>
        </p:nvSpPr>
        <p:spPr>
          <a:xfrm>
            <a:off x="4892040" y="3849624"/>
            <a:ext cx="1737360" cy="329184"/>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3ヶ月継続率</a:t>
            </a:r>
            <a:endParaRPr b="0" i="0" sz="1000" u="none" cap="none" strike="noStrike">
              <a:solidFill>
                <a:srgbClr val="000000"/>
              </a:solidFill>
              <a:latin typeface="Arial"/>
              <a:ea typeface="Arial"/>
              <a:cs typeface="Arial"/>
              <a:sym typeface="Arial"/>
            </a:endParaRPr>
          </a:p>
        </p:txBody>
      </p:sp>
      <p:sp>
        <p:nvSpPr>
          <p:cNvPr id="760" name="Google Shape;760;p38"/>
          <p:cNvSpPr txBox="1"/>
          <p:nvPr/>
        </p:nvSpPr>
        <p:spPr>
          <a:xfrm>
            <a:off x="6629400" y="3849624"/>
            <a:ext cx="2194560" cy="329184"/>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STEP2以降の主指標</a:t>
            </a:r>
            <a:endParaRPr b="0" i="0" sz="800" u="none" cap="none" strike="noStrike">
              <a:solidFill>
                <a:srgbClr val="000000"/>
              </a:solidFill>
              <a:latin typeface="Arial"/>
              <a:ea typeface="Arial"/>
              <a:cs typeface="Arial"/>
              <a:sym typeface="Arial"/>
            </a:endParaRPr>
          </a:p>
        </p:txBody>
      </p:sp>
      <p:sp>
        <p:nvSpPr>
          <p:cNvPr id="761" name="Google Shape;761;p38"/>
          <p:cNvSpPr/>
          <p:nvPr/>
        </p:nvSpPr>
        <p:spPr>
          <a:xfrm>
            <a:off x="4434840" y="3108960"/>
            <a:ext cx="274320" cy="36576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38"/>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10月はプロセスKPI（達成率・実行率）を月内に取得し、翌月継続率は11月に確認する。</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7" name="Shape 767"/>
        <p:cNvGrpSpPr/>
        <p:nvPr/>
      </p:nvGrpSpPr>
      <p:grpSpPr>
        <a:xfrm>
          <a:off x="0" y="0"/>
          <a:ext cx="0" cy="0"/>
          <a:chOff x="0" y="0"/>
          <a:chExt cx="0" cy="0"/>
        </a:xfrm>
      </p:grpSpPr>
      <p:sp>
        <p:nvSpPr>
          <p:cNvPr id="768" name="Google Shape;768;p39"/>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39"/>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39"/>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13｜10月PoCで検証すること｜営業の実行 → 顧客の行動 → 継続 → 卒業条件の見直し</a:t>
            </a:r>
            <a:endParaRPr b="0" i="0" sz="1500" u="none" cap="none" strike="noStrike">
              <a:solidFill>
                <a:srgbClr val="000000"/>
              </a:solidFill>
              <a:latin typeface="Arial"/>
              <a:ea typeface="Arial"/>
              <a:cs typeface="Arial"/>
              <a:sym typeface="Arial"/>
            </a:endParaRPr>
          </a:p>
        </p:txBody>
      </p:sp>
      <p:sp>
        <p:nvSpPr>
          <p:cNvPr id="771" name="Google Shape;771;p39"/>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772" name="Google Shape;772;p39"/>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773" name="Google Shape;773;p39"/>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17</a:t>
            </a:r>
            <a:endParaRPr b="0" i="0" sz="800" u="none" cap="none" strike="noStrike">
              <a:solidFill>
                <a:srgbClr val="000000"/>
              </a:solidFill>
              <a:latin typeface="Arial"/>
              <a:ea typeface="Arial"/>
              <a:cs typeface="Arial"/>
              <a:sym typeface="Arial"/>
            </a:endParaRPr>
          </a:p>
        </p:txBody>
      </p:sp>
      <p:sp>
        <p:nvSpPr>
          <p:cNvPr id="774" name="Google Shape;774;p39"/>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10月中に行動データ（実行・達成）を取得し、その結果で卒業条件を見直し11月からKPI化へ</a:t>
            </a:r>
            <a:endParaRPr b="0" i="0" sz="1150" u="none" cap="none" strike="noStrike">
              <a:solidFill>
                <a:srgbClr val="4A86E8"/>
              </a:solidFill>
              <a:latin typeface="Arial"/>
              <a:ea typeface="Arial"/>
              <a:cs typeface="Arial"/>
              <a:sym typeface="Arial"/>
            </a:endParaRPr>
          </a:p>
        </p:txBody>
      </p:sp>
      <p:sp>
        <p:nvSpPr>
          <p:cNvPr id="775" name="Google Shape;775;p39"/>
          <p:cNvSpPr/>
          <p:nvPr/>
        </p:nvSpPr>
        <p:spPr>
          <a:xfrm>
            <a:off x="274320" y="1051560"/>
            <a:ext cx="2057400" cy="38404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39"/>
          <p:cNvSpPr txBox="1"/>
          <p:nvPr/>
        </p:nvSpPr>
        <p:spPr>
          <a:xfrm>
            <a:off x="274320" y="1051560"/>
            <a:ext cx="20574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① 営業が実行できるか</a:t>
            </a:r>
            <a:endParaRPr b="0" i="0" sz="1000" u="none" cap="none" strike="noStrike">
              <a:solidFill>
                <a:srgbClr val="000000"/>
              </a:solidFill>
              <a:latin typeface="Arial"/>
              <a:ea typeface="Arial"/>
              <a:cs typeface="Arial"/>
              <a:sym typeface="Arial"/>
            </a:endParaRPr>
          </a:p>
        </p:txBody>
      </p:sp>
      <p:sp>
        <p:nvSpPr>
          <p:cNvPr id="777" name="Google Shape;777;p39"/>
          <p:cNvSpPr/>
          <p:nvPr/>
        </p:nvSpPr>
        <p:spPr>
          <a:xfrm>
            <a:off x="274320" y="1435608"/>
            <a:ext cx="2057400" cy="141732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39"/>
          <p:cNvSpPr txBox="1"/>
          <p:nvPr/>
        </p:nvSpPr>
        <p:spPr>
          <a:xfrm>
            <a:off x="365760" y="1508760"/>
            <a:ext cx="1874520" cy="10058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未達から提案（標準アクション）を選べるか</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標準アクションを期限内に実行できるか（実行率）</a:t>
            </a:r>
            <a:endParaRPr b="0" i="0" sz="850" u="none" cap="none" strike="noStrike">
              <a:solidFill>
                <a:srgbClr val="000000"/>
              </a:solidFill>
              <a:latin typeface="Arial"/>
              <a:ea typeface="Arial"/>
              <a:cs typeface="Arial"/>
              <a:sym typeface="Arial"/>
            </a:endParaRPr>
          </a:p>
        </p:txBody>
      </p:sp>
      <p:sp>
        <p:nvSpPr>
          <p:cNvPr id="779" name="Google Shape;779;p39"/>
          <p:cNvSpPr/>
          <p:nvPr/>
        </p:nvSpPr>
        <p:spPr>
          <a:xfrm>
            <a:off x="365760" y="2514600"/>
            <a:ext cx="1874520" cy="256032"/>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39"/>
          <p:cNvSpPr txBox="1"/>
          <p:nvPr/>
        </p:nvSpPr>
        <p:spPr>
          <a:xfrm>
            <a:off x="365760" y="2514600"/>
            <a:ext cx="1874520" cy="256032"/>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1" i="0" lang="ja" sz="750" u="none" cap="none" strike="noStrike">
                <a:solidFill>
                  <a:srgbClr val="1A1A1A"/>
                </a:solidFill>
                <a:latin typeface="M PLUS 1p"/>
                <a:ea typeface="M PLUS 1p"/>
                <a:cs typeface="M PLUS 1p"/>
                <a:sym typeface="M PLUS 1p"/>
              </a:rPr>
              <a:t>確認時期：10月中</a:t>
            </a:r>
            <a:endParaRPr b="0" i="0" sz="750" u="none" cap="none" strike="noStrike">
              <a:solidFill>
                <a:srgbClr val="000000"/>
              </a:solidFill>
              <a:latin typeface="Arial"/>
              <a:ea typeface="Arial"/>
              <a:cs typeface="Arial"/>
              <a:sym typeface="Arial"/>
            </a:endParaRPr>
          </a:p>
        </p:txBody>
      </p:sp>
      <p:sp>
        <p:nvSpPr>
          <p:cNvPr id="781" name="Google Shape;781;p39"/>
          <p:cNvSpPr/>
          <p:nvPr/>
        </p:nvSpPr>
        <p:spPr>
          <a:xfrm>
            <a:off x="2441448" y="1051560"/>
            <a:ext cx="2057400" cy="38404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39"/>
          <p:cNvSpPr txBox="1"/>
          <p:nvPr/>
        </p:nvSpPr>
        <p:spPr>
          <a:xfrm>
            <a:off x="2441448" y="1051560"/>
            <a:ext cx="20574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② 顧客が行動したか</a:t>
            </a:r>
            <a:endParaRPr b="0" i="0" sz="1000" u="none" cap="none" strike="noStrike">
              <a:solidFill>
                <a:srgbClr val="000000"/>
              </a:solidFill>
              <a:latin typeface="Arial"/>
              <a:ea typeface="Arial"/>
              <a:cs typeface="Arial"/>
              <a:sym typeface="Arial"/>
            </a:endParaRPr>
          </a:p>
        </p:txBody>
      </p:sp>
      <p:sp>
        <p:nvSpPr>
          <p:cNvPr id="783" name="Google Shape;783;p39"/>
          <p:cNvSpPr/>
          <p:nvPr/>
        </p:nvSpPr>
        <p:spPr>
          <a:xfrm>
            <a:off x="2441448" y="1435608"/>
            <a:ext cx="2057400" cy="141732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39"/>
          <p:cNvSpPr txBox="1"/>
          <p:nvPr/>
        </p:nvSpPr>
        <p:spPr>
          <a:xfrm>
            <a:off x="2532888" y="1508760"/>
            <a:ext cx="1874520" cy="10058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翌月4項目の項目別達成率</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営業アクション後に未達→達成へ変わった割合</a:t>
            </a:r>
            <a:endParaRPr b="0" i="0" sz="850" u="none" cap="none" strike="noStrike">
              <a:solidFill>
                <a:srgbClr val="000000"/>
              </a:solidFill>
              <a:latin typeface="Arial"/>
              <a:ea typeface="Arial"/>
              <a:cs typeface="Arial"/>
              <a:sym typeface="Arial"/>
            </a:endParaRPr>
          </a:p>
        </p:txBody>
      </p:sp>
      <p:sp>
        <p:nvSpPr>
          <p:cNvPr id="785" name="Google Shape;785;p39"/>
          <p:cNvSpPr/>
          <p:nvPr/>
        </p:nvSpPr>
        <p:spPr>
          <a:xfrm>
            <a:off x="2532888" y="2514600"/>
            <a:ext cx="1874520" cy="256032"/>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39"/>
          <p:cNvSpPr txBox="1"/>
          <p:nvPr/>
        </p:nvSpPr>
        <p:spPr>
          <a:xfrm>
            <a:off x="2532888" y="2514600"/>
            <a:ext cx="1874520" cy="256032"/>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1" i="0" lang="ja" sz="750" u="none" cap="none" strike="noStrike">
                <a:solidFill>
                  <a:srgbClr val="1A1A1A"/>
                </a:solidFill>
                <a:latin typeface="M PLUS 1p"/>
                <a:ea typeface="M PLUS 1p"/>
                <a:cs typeface="M PLUS 1p"/>
                <a:sym typeface="M PLUS 1p"/>
              </a:rPr>
              <a:t>確認時期：10月中</a:t>
            </a:r>
            <a:endParaRPr b="0" i="0" sz="750" u="none" cap="none" strike="noStrike">
              <a:solidFill>
                <a:srgbClr val="000000"/>
              </a:solidFill>
              <a:latin typeface="Arial"/>
              <a:ea typeface="Arial"/>
              <a:cs typeface="Arial"/>
              <a:sym typeface="Arial"/>
            </a:endParaRPr>
          </a:p>
        </p:txBody>
      </p:sp>
      <p:sp>
        <p:nvSpPr>
          <p:cNvPr id="787" name="Google Shape;787;p39"/>
          <p:cNvSpPr/>
          <p:nvPr/>
        </p:nvSpPr>
        <p:spPr>
          <a:xfrm>
            <a:off x="4608576" y="1051560"/>
            <a:ext cx="2057400" cy="384048"/>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39"/>
          <p:cNvSpPr txBox="1"/>
          <p:nvPr/>
        </p:nvSpPr>
        <p:spPr>
          <a:xfrm>
            <a:off x="4608576" y="1037873"/>
            <a:ext cx="2057400" cy="384000"/>
          </a:xfrm>
          <a:prstGeom prst="rect">
            <a:avLst/>
          </a:prstGeom>
          <a:solidFill>
            <a:srgbClr val="FFD4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dk1"/>
                </a:solidFill>
                <a:latin typeface="M PLUS 1p"/>
                <a:ea typeface="M PLUS 1p"/>
                <a:cs typeface="M PLUS 1p"/>
                <a:sym typeface="M PLUS 1p"/>
              </a:rPr>
              <a:t>③ 継続利用につながったか</a:t>
            </a:r>
            <a:endParaRPr b="0" i="0" sz="1000" u="none" cap="none" strike="noStrike">
              <a:solidFill>
                <a:schemeClr val="dk1"/>
              </a:solidFill>
              <a:latin typeface="Arial"/>
              <a:ea typeface="Arial"/>
              <a:cs typeface="Arial"/>
              <a:sym typeface="Arial"/>
            </a:endParaRPr>
          </a:p>
        </p:txBody>
      </p:sp>
      <p:sp>
        <p:nvSpPr>
          <p:cNvPr id="789" name="Google Shape;789;p39"/>
          <p:cNvSpPr/>
          <p:nvPr/>
        </p:nvSpPr>
        <p:spPr>
          <a:xfrm>
            <a:off x="4608576" y="1435608"/>
            <a:ext cx="2057400" cy="141732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39"/>
          <p:cNvSpPr txBox="1"/>
          <p:nvPr/>
        </p:nvSpPr>
        <p:spPr>
          <a:xfrm>
            <a:off x="4700016" y="1508760"/>
            <a:ext cx="1874520" cy="10058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項目別の翌月継続率</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達成数別（0〜4項目）の翌月継続率（過去の期待値と比較）</a:t>
            </a:r>
            <a:endParaRPr b="0" i="0" sz="850" u="none" cap="none" strike="noStrike">
              <a:solidFill>
                <a:srgbClr val="000000"/>
              </a:solidFill>
              <a:latin typeface="Arial"/>
              <a:ea typeface="Arial"/>
              <a:cs typeface="Arial"/>
              <a:sym typeface="Arial"/>
            </a:endParaRPr>
          </a:p>
        </p:txBody>
      </p:sp>
      <p:sp>
        <p:nvSpPr>
          <p:cNvPr id="791" name="Google Shape;791;p39"/>
          <p:cNvSpPr/>
          <p:nvPr/>
        </p:nvSpPr>
        <p:spPr>
          <a:xfrm>
            <a:off x="4700016" y="2514600"/>
            <a:ext cx="1874520" cy="256032"/>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39"/>
          <p:cNvSpPr txBox="1"/>
          <p:nvPr/>
        </p:nvSpPr>
        <p:spPr>
          <a:xfrm>
            <a:off x="4700016" y="2514600"/>
            <a:ext cx="1874520" cy="256032"/>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1" i="0" lang="ja" sz="750" u="none" cap="none" strike="noStrike">
                <a:solidFill>
                  <a:srgbClr val="1A1A1A"/>
                </a:solidFill>
                <a:latin typeface="M PLUS 1p"/>
                <a:ea typeface="M PLUS 1p"/>
                <a:cs typeface="M PLUS 1p"/>
                <a:sym typeface="M PLUS 1p"/>
              </a:rPr>
              <a:t>確認時期：10月中</a:t>
            </a:r>
            <a:endParaRPr b="0" i="0" sz="750" u="none" cap="none" strike="noStrike">
              <a:solidFill>
                <a:srgbClr val="000000"/>
              </a:solidFill>
              <a:latin typeface="Arial"/>
              <a:ea typeface="Arial"/>
              <a:cs typeface="Arial"/>
              <a:sym typeface="Arial"/>
            </a:endParaRPr>
          </a:p>
        </p:txBody>
      </p:sp>
      <p:sp>
        <p:nvSpPr>
          <p:cNvPr id="793" name="Google Shape;793;p39"/>
          <p:cNvSpPr/>
          <p:nvPr/>
        </p:nvSpPr>
        <p:spPr>
          <a:xfrm>
            <a:off x="6775704" y="1051560"/>
            <a:ext cx="2057400" cy="384048"/>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39"/>
          <p:cNvSpPr txBox="1"/>
          <p:nvPr/>
        </p:nvSpPr>
        <p:spPr>
          <a:xfrm>
            <a:off x="6775704" y="1037860"/>
            <a:ext cx="2057400" cy="384000"/>
          </a:xfrm>
          <a:prstGeom prst="rect">
            <a:avLst/>
          </a:prstGeom>
          <a:solidFill>
            <a:srgbClr val="FFD4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dk1"/>
                </a:solidFill>
                <a:latin typeface="M PLUS 1p"/>
                <a:ea typeface="M PLUS 1p"/>
                <a:cs typeface="M PLUS 1p"/>
                <a:sym typeface="M PLUS 1p"/>
              </a:rPr>
              <a:t>④ 卒業条件は適切か</a:t>
            </a:r>
            <a:endParaRPr b="0" i="0" sz="1000" u="none" cap="none" strike="noStrike">
              <a:solidFill>
                <a:schemeClr val="dk1"/>
              </a:solidFill>
              <a:latin typeface="Arial"/>
              <a:ea typeface="Arial"/>
              <a:cs typeface="Arial"/>
              <a:sym typeface="Arial"/>
            </a:endParaRPr>
          </a:p>
        </p:txBody>
      </p:sp>
      <p:sp>
        <p:nvSpPr>
          <p:cNvPr id="795" name="Google Shape;795;p39"/>
          <p:cNvSpPr/>
          <p:nvPr/>
        </p:nvSpPr>
        <p:spPr>
          <a:xfrm>
            <a:off x="6775704" y="1435608"/>
            <a:ext cx="2057400" cy="141732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39"/>
          <p:cNvSpPr txBox="1"/>
          <p:nvPr/>
        </p:nvSpPr>
        <p:spPr>
          <a:xfrm>
            <a:off x="6867144" y="1508760"/>
            <a:ext cx="1874520" cy="10058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「4項目中3項目以上」の線引きは妥当か</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どの3項目の組み合わせでも継続率に差がないか</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条件の見直し（11月以降）</a:t>
            </a:r>
            <a:endParaRPr b="0" i="0" sz="850" u="none" cap="none" strike="noStrike">
              <a:solidFill>
                <a:srgbClr val="000000"/>
              </a:solidFill>
              <a:latin typeface="Arial"/>
              <a:ea typeface="Arial"/>
              <a:cs typeface="Arial"/>
              <a:sym typeface="Arial"/>
            </a:endParaRPr>
          </a:p>
        </p:txBody>
      </p:sp>
      <p:sp>
        <p:nvSpPr>
          <p:cNvPr id="797" name="Google Shape;797;p39"/>
          <p:cNvSpPr/>
          <p:nvPr/>
        </p:nvSpPr>
        <p:spPr>
          <a:xfrm>
            <a:off x="6867144" y="2514600"/>
            <a:ext cx="1874520" cy="256032"/>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39"/>
          <p:cNvSpPr txBox="1"/>
          <p:nvPr/>
        </p:nvSpPr>
        <p:spPr>
          <a:xfrm>
            <a:off x="6867144" y="2514600"/>
            <a:ext cx="1874520" cy="256032"/>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1" i="0" lang="ja" sz="750" u="none" cap="none" strike="noStrike">
                <a:solidFill>
                  <a:srgbClr val="1A1A1A"/>
                </a:solidFill>
                <a:latin typeface="M PLUS 1p"/>
                <a:ea typeface="M PLUS 1p"/>
                <a:cs typeface="M PLUS 1p"/>
                <a:sym typeface="M PLUS 1p"/>
              </a:rPr>
              <a:t>確認時期：10月中</a:t>
            </a:r>
            <a:endParaRPr b="0" i="0" sz="750" u="none" cap="none" strike="noStrike">
              <a:solidFill>
                <a:srgbClr val="000000"/>
              </a:solidFill>
              <a:latin typeface="Arial"/>
              <a:ea typeface="Arial"/>
              <a:cs typeface="Arial"/>
              <a:sym typeface="Arial"/>
            </a:endParaRPr>
          </a:p>
        </p:txBody>
      </p:sp>
      <p:sp>
        <p:nvSpPr>
          <p:cNvPr id="799" name="Google Shape;799;p39"/>
          <p:cNvSpPr txBox="1"/>
          <p:nvPr/>
        </p:nvSpPr>
        <p:spPr>
          <a:xfrm>
            <a:off x="274320" y="3017520"/>
            <a:ext cx="8595360" cy="256032"/>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434343"/>
                </a:solidFill>
                <a:latin typeface="M PLUS 1p"/>
                <a:ea typeface="M PLUS 1p"/>
                <a:cs typeface="M PLUS 1p"/>
                <a:sym typeface="M PLUS 1p"/>
              </a:rPr>
              <a:t>時間差：10月＝行動データ取得、11月＝KPI化へ</a:t>
            </a:r>
            <a:endParaRPr b="0" i="0" sz="1000" u="none" cap="none" strike="noStrike">
              <a:solidFill>
                <a:srgbClr val="000000"/>
              </a:solidFill>
              <a:latin typeface="Arial"/>
              <a:ea typeface="Arial"/>
              <a:cs typeface="Arial"/>
              <a:sym typeface="Arial"/>
            </a:endParaRPr>
          </a:p>
        </p:txBody>
      </p:sp>
      <p:sp>
        <p:nvSpPr>
          <p:cNvPr id="800" name="Google Shape;800;p39"/>
          <p:cNvSpPr/>
          <p:nvPr/>
        </p:nvSpPr>
        <p:spPr>
          <a:xfrm>
            <a:off x="274320" y="3492998"/>
            <a:ext cx="8595300" cy="54900"/>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39"/>
          <p:cNvSpPr/>
          <p:nvPr/>
        </p:nvSpPr>
        <p:spPr>
          <a:xfrm>
            <a:off x="274320" y="3410702"/>
            <a:ext cx="219600" cy="219600"/>
          </a:xfrm>
          <a:prstGeom prst="ellipse">
            <a:avLst/>
          </a:prstGeom>
          <a:solidFill>
            <a:srgbClr val="FFD100"/>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39"/>
          <p:cNvSpPr/>
          <p:nvPr/>
        </p:nvSpPr>
        <p:spPr>
          <a:xfrm>
            <a:off x="274320" y="3721598"/>
            <a:ext cx="3291900" cy="5670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39"/>
          <p:cNvSpPr txBox="1"/>
          <p:nvPr/>
        </p:nvSpPr>
        <p:spPr>
          <a:xfrm>
            <a:off x="365760" y="3721598"/>
            <a:ext cx="31089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10月</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1A1A1A"/>
                </a:solidFill>
                <a:latin typeface="M PLUS 1p"/>
                <a:ea typeface="M PLUS 1p"/>
                <a:cs typeface="M PLUS 1p"/>
                <a:sym typeface="M PLUS 1p"/>
              </a:rPr>
              <a:t>運用開始・星取・標準アクション実行（①②のデータ取得）</a:t>
            </a:r>
            <a:endParaRPr b="0" i="0" sz="1000" u="none" cap="none" strike="noStrike">
              <a:solidFill>
                <a:srgbClr val="000000"/>
              </a:solidFill>
              <a:latin typeface="Arial"/>
              <a:ea typeface="Arial"/>
              <a:cs typeface="Arial"/>
              <a:sym typeface="Arial"/>
            </a:endParaRPr>
          </a:p>
        </p:txBody>
      </p:sp>
      <p:sp>
        <p:nvSpPr>
          <p:cNvPr id="804" name="Google Shape;804;p39"/>
          <p:cNvSpPr/>
          <p:nvPr/>
        </p:nvSpPr>
        <p:spPr>
          <a:xfrm>
            <a:off x="3749040" y="3410702"/>
            <a:ext cx="219600" cy="219600"/>
          </a:xfrm>
          <a:prstGeom prst="ellipse">
            <a:avLst/>
          </a:prstGeom>
          <a:solidFill>
            <a:srgbClr val="434343"/>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39"/>
          <p:cNvSpPr/>
          <p:nvPr/>
        </p:nvSpPr>
        <p:spPr>
          <a:xfrm>
            <a:off x="3749040" y="3721598"/>
            <a:ext cx="2194500" cy="56700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39"/>
          <p:cNvSpPr txBox="1"/>
          <p:nvPr/>
        </p:nvSpPr>
        <p:spPr>
          <a:xfrm>
            <a:off x="3840480" y="3721598"/>
            <a:ext cx="20118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FFFFFF"/>
                </a:solidFill>
                <a:latin typeface="M PLUS 1p"/>
                <a:ea typeface="M PLUS 1p"/>
                <a:cs typeface="M PLUS 1p"/>
                <a:sym typeface="M PLUS 1p"/>
              </a:rPr>
              <a:t>11月</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FFFFFF"/>
                </a:solidFill>
                <a:latin typeface="M PLUS 1p"/>
                <a:ea typeface="M PLUS 1p"/>
                <a:cs typeface="M PLUS 1p"/>
                <a:sym typeface="M PLUS 1p"/>
              </a:rPr>
              <a:t>KPIとして標準運用へ</a:t>
            </a:r>
            <a:endParaRPr b="0" i="0" sz="1000" u="none" cap="none" strike="noStrike">
              <a:solidFill>
                <a:srgbClr val="000000"/>
              </a:solidFill>
              <a:latin typeface="Arial"/>
              <a:ea typeface="Arial"/>
              <a:cs typeface="Arial"/>
              <a:sym typeface="Arial"/>
            </a:endParaRPr>
          </a:p>
        </p:txBody>
      </p:sp>
      <p:sp>
        <p:nvSpPr>
          <p:cNvPr id="807" name="Google Shape;807;p39"/>
          <p:cNvSpPr/>
          <p:nvPr/>
        </p:nvSpPr>
        <p:spPr>
          <a:xfrm>
            <a:off x="6126480" y="3410702"/>
            <a:ext cx="219600" cy="219600"/>
          </a:xfrm>
          <a:prstGeom prst="ellipse">
            <a:avLst/>
          </a:prstGeom>
          <a:solidFill>
            <a:srgbClr val="BDBDBD"/>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39"/>
          <p:cNvSpPr/>
          <p:nvPr/>
        </p:nvSpPr>
        <p:spPr>
          <a:xfrm>
            <a:off x="6126480" y="3721598"/>
            <a:ext cx="2651700" cy="567000"/>
          </a:xfrm>
          <a:prstGeom prst="rect">
            <a:avLst/>
          </a:prstGeom>
          <a:solidFill>
            <a:srgbClr val="F5F5F5"/>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39"/>
          <p:cNvSpPr txBox="1"/>
          <p:nvPr/>
        </p:nvSpPr>
        <p:spPr>
          <a:xfrm>
            <a:off x="6217920" y="3721598"/>
            <a:ext cx="24690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11月以降</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1A1A1A"/>
                </a:solidFill>
                <a:latin typeface="M PLUS 1p"/>
                <a:ea typeface="M PLUS 1p"/>
                <a:cs typeface="M PLUS 1p"/>
                <a:sym typeface="M PLUS 1p"/>
              </a:rPr>
              <a:t>3ヶ月継続スコア（4項目）を翌月とは別に採点・集計</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4" name="Shape 814"/>
        <p:cNvGrpSpPr/>
        <p:nvPr/>
      </p:nvGrpSpPr>
      <p:grpSpPr>
        <a:xfrm>
          <a:off x="0" y="0"/>
          <a:ext cx="0" cy="0"/>
          <a:chOff x="0" y="0"/>
          <a:chExt cx="0" cy="0"/>
        </a:xfrm>
      </p:grpSpPr>
      <p:sp>
        <p:nvSpPr>
          <p:cNvPr id="815" name="Google Shape;815;p40"/>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0"/>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0"/>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14｜顧客の時間軸に合わせて、営業の介入範囲を変える｜営業工数を当月へ寄せる</a:t>
            </a:r>
            <a:endParaRPr b="0" i="0" sz="1500" u="none" cap="none" strike="noStrike">
              <a:solidFill>
                <a:srgbClr val="000000"/>
              </a:solidFill>
              <a:latin typeface="Arial"/>
              <a:ea typeface="Arial"/>
              <a:cs typeface="Arial"/>
              <a:sym typeface="Arial"/>
            </a:endParaRPr>
          </a:p>
        </p:txBody>
      </p:sp>
      <p:sp>
        <p:nvSpPr>
          <p:cNvPr id="818" name="Google Shape;818;p40"/>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819" name="Google Shape;819;p40"/>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820" name="Google Shape;820;p40"/>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18</a:t>
            </a:r>
            <a:endParaRPr b="0" i="0" sz="800" u="none" cap="none" strike="noStrike">
              <a:solidFill>
                <a:srgbClr val="000000"/>
              </a:solidFill>
              <a:latin typeface="Arial"/>
              <a:ea typeface="Arial"/>
              <a:cs typeface="Arial"/>
              <a:sym typeface="Arial"/>
            </a:endParaRPr>
          </a:p>
        </p:txBody>
      </p:sp>
      <p:sp>
        <p:nvSpPr>
          <p:cNvPr id="821" name="Google Shape;821;p40"/>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当月にONB卒業状態をつくり、その結果として翌月継続率・3ヶ月継続率を構造的に上げる。</a:t>
            </a:r>
            <a:endParaRPr b="1" i="0" sz="1150" u="none" cap="none" strike="noStrike">
              <a:solidFill>
                <a:srgbClr val="4A86E8"/>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N+1以降は必要顧客のみ営業が動き、残りはWorker／Techで届ける</a:t>
            </a:r>
            <a:endParaRPr b="0" i="0" sz="1150" u="none" cap="none" strike="noStrike">
              <a:solidFill>
                <a:srgbClr val="4A86E8"/>
              </a:solidFill>
              <a:latin typeface="Arial"/>
              <a:ea typeface="Arial"/>
              <a:cs typeface="Arial"/>
              <a:sym typeface="Arial"/>
            </a:endParaRPr>
          </a:p>
        </p:txBody>
      </p:sp>
      <p:sp>
        <p:nvSpPr>
          <p:cNvPr id="822" name="Google Shape;822;p40"/>
          <p:cNvSpPr/>
          <p:nvPr/>
        </p:nvSpPr>
        <p:spPr>
          <a:xfrm>
            <a:off x="1051560" y="1024128"/>
            <a:ext cx="2560320" cy="36576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40"/>
          <p:cNvSpPr txBox="1"/>
          <p:nvPr/>
        </p:nvSpPr>
        <p:spPr>
          <a:xfrm>
            <a:off x="1143000" y="1024128"/>
            <a:ext cx="2377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ja" sz="1100" u="none" cap="none" strike="noStrike">
                <a:solidFill>
                  <a:srgbClr val="FFFFFF"/>
                </a:solidFill>
                <a:latin typeface="M PLUS 1p"/>
                <a:ea typeface="M PLUS 1p"/>
                <a:cs typeface="M PLUS 1p"/>
                <a:sym typeface="M PLUS 1p"/>
              </a:rPr>
              <a:t>今まで　</a:t>
            </a:r>
            <a:r>
              <a:rPr b="0" i="0" lang="ja" sz="750" u="none" cap="none" strike="noStrike">
                <a:solidFill>
                  <a:srgbClr val="FFFFFF"/>
                </a:solidFill>
                <a:latin typeface="M PLUS 1p"/>
                <a:ea typeface="M PLUS 1p"/>
                <a:cs typeface="M PLUS 1p"/>
                <a:sym typeface="M PLUS 1p"/>
              </a:rPr>
              <a:t>全期間をヨミと追客で支える</a:t>
            </a:r>
            <a:endParaRPr b="0" i="0" sz="1100" u="none" cap="none" strike="noStrike">
              <a:solidFill>
                <a:srgbClr val="000000"/>
              </a:solidFill>
              <a:latin typeface="Arial"/>
              <a:ea typeface="Arial"/>
              <a:cs typeface="Arial"/>
              <a:sym typeface="Arial"/>
            </a:endParaRPr>
          </a:p>
        </p:txBody>
      </p:sp>
      <p:sp>
        <p:nvSpPr>
          <p:cNvPr id="824" name="Google Shape;824;p40"/>
          <p:cNvSpPr/>
          <p:nvPr/>
        </p:nvSpPr>
        <p:spPr>
          <a:xfrm>
            <a:off x="3657600" y="1024128"/>
            <a:ext cx="256032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0"/>
          <p:cNvSpPr txBox="1"/>
          <p:nvPr/>
        </p:nvSpPr>
        <p:spPr>
          <a:xfrm>
            <a:off x="3749040" y="1024128"/>
            <a:ext cx="2377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10月　</a:t>
            </a:r>
            <a:r>
              <a:rPr b="0" i="0" lang="ja" sz="750" u="none" cap="none" strike="noStrike">
                <a:solidFill>
                  <a:srgbClr val="1A1A1A"/>
                </a:solidFill>
                <a:latin typeface="M PLUS 1p"/>
                <a:ea typeface="M PLUS 1p"/>
                <a:cs typeface="M PLUS 1p"/>
                <a:sym typeface="M PLUS 1p"/>
              </a:rPr>
              <a:t>当月のONB卒業状態づくりへ集中</a:t>
            </a:r>
            <a:endParaRPr b="0" i="0" sz="1100" u="none" cap="none" strike="noStrike">
              <a:solidFill>
                <a:srgbClr val="000000"/>
              </a:solidFill>
              <a:latin typeface="Arial"/>
              <a:ea typeface="Arial"/>
              <a:cs typeface="Arial"/>
              <a:sym typeface="Arial"/>
            </a:endParaRPr>
          </a:p>
        </p:txBody>
      </p:sp>
      <p:sp>
        <p:nvSpPr>
          <p:cNvPr id="826" name="Google Shape;826;p40"/>
          <p:cNvSpPr/>
          <p:nvPr/>
        </p:nvSpPr>
        <p:spPr>
          <a:xfrm>
            <a:off x="6263640" y="1024128"/>
            <a:ext cx="2560320" cy="36576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40"/>
          <p:cNvSpPr txBox="1"/>
          <p:nvPr/>
        </p:nvSpPr>
        <p:spPr>
          <a:xfrm>
            <a:off x="6355080" y="1024128"/>
            <a:ext cx="2377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ja" sz="1100" u="none" cap="none" strike="noStrike">
                <a:solidFill>
                  <a:srgbClr val="FFD100"/>
                </a:solidFill>
                <a:latin typeface="M PLUS 1p"/>
                <a:ea typeface="M PLUS 1p"/>
                <a:cs typeface="M PLUS 1p"/>
                <a:sym typeface="M PLUS 1p"/>
              </a:rPr>
              <a:t>11月以降　</a:t>
            </a:r>
            <a:r>
              <a:rPr lang="ja" sz="750">
                <a:solidFill>
                  <a:srgbClr val="FFD100"/>
                </a:solidFill>
                <a:latin typeface="M PLUS 1p"/>
                <a:ea typeface="M PLUS 1p"/>
                <a:cs typeface="M PLUS 1p"/>
                <a:sym typeface="M PLUS 1p"/>
              </a:rPr>
              <a:t>3ヶ月継続まで</a:t>
            </a:r>
            <a:r>
              <a:rPr lang="ja" sz="750">
                <a:solidFill>
                  <a:srgbClr val="FFD100"/>
                </a:solidFill>
                <a:latin typeface="M PLUS 1p"/>
                <a:ea typeface="M PLUS 1p"/>
                <a:cs typeface="M PLUS 1p"/>
                <a:sym typeface="M PLUS 1p"/>
              </a:rPr>
              <a:t>カバー</a:t>
            </a:r>
            <a:endParaRPr b="0" i="0" sz="1100" u="none" cap="none" strike="noStrike">
              <a:solidFill>
                <a:srgbClr val="000000"/>
              </a:solidFill>
              <a:latin typeface="Arial"/>
              <a:ea typeface="Arial"/>
              <a:cs typeface="Arial"/>
              <a:sym typeface="Arial"/>
            </a:endParaRPr>
          </a:p>
        </p:txBody>
      </p:sp>
      <p:sp>
        <p:nvSpPr>
          <p:cNvPr id="828" name="Google Shape;828;p40"/>
          <p:cNvSpPr/>
          <p:nvPr/>
        </p:nvSpPr>
        <p:spPr>
          <a:xfrm>
            <a:off x="274320" y="1444752"/>
            <a:ext cx="365760" cy="932688"/>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0"/>
          <p:cNvSpPr txBox="1"/>
          <p:nvPr/>
        </p:nvSpPr>
        <p:spPr>
          <a:xfrm>
            <a:off x="274320" y="1444752"/>
            <a:ext cx="365760" cy="9326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N月</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当月新規</a:t>
            </a:r>
            <a:endParaRPr b="0" i="0" sz="1000" u="none" cap="none" strike="noStrike">
              <a:solidFill>
                <a:srgbClr val="000000"/>
              </a:solidFill>
              <a:latin typeface="Arial"/>
              <a:ea typeface="Arial"/>
              <a:cs typeface="Arial"/>
              <a:sym typeface="Arial"/>
            </a:endParaRPr>
          </a:p>
        </p:txBody>
      </p:sp>
      <p:sp>
        <p:nvSpPr>
          <p:cNvPr id="830" name="Google Shape;830;p40"/>
          <p:cNvSpPr/>
          <p:nvPr/>
        </p:nvSpPr>
        <p:spPr>
          <a:xfrm>
            <a:off x="667512" y="1444752"/>
            <a:ext cx="338328" cy="402336"/>
          </a:xfrm>
          <a:prstGeom prst="rect">
            <a:avLst/>
          </a:prstGeom>
          <a:solidFill>
            <a:srgbClr val="FFFFFF"/>
          </a:solidFill>
          <a:ln cap="flat" cmpd="sng" w="9525">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0"/>
          <p:cNvSpPr txBox="1"/>
          <p:nvPr/>
        </p:nvSpPr>
        <p:spPr>
          <a:xfrm>
            <a:off x="667512" y="1444752"/>
            <a:ext cx="338328"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初回</a:t>
            </a:r>
            <a:endParaRPr b="0" i="0" sz="6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稼働前</a:t>
            </a:r>
            <a:endParaRPr b="0" i="0" sz="650" u="none" cap="none" strike="noStrike">
              <a:solidFill>
                <a:srgbClr val="000000"/>
              </a:solidFill>
              <a:latin typeface="Arial"/>
              <a:ea typeface="Arial"/>
              <a:cs typeface="Arial"/>
              <a:sym typeface="Arial"/>
            </a:endParaRPr>
          </a:p>
        </p:txBody>
      </p:sp>
      <p:sp>
        <p:nvSpPr>
          <p:cNvPr id="832" name="Google Shape;832;p40"/>
          <p:cNvSpPr/>
          <p:nvPr/>
        </p:nvSpPr>
        <p:spPr>
          <a:xfrm>
            <a:off x="1051560" y="1444752"/>
            <a:ext cx="2560320" cy="402336"/>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0"/>
          <p:cNvSpPr/>
          <p:nvPr/>
        </p:nvSpPr>
        <p:spPr>
          <a:xfrm>
            <a:off x="1115568" y="1554480"/>
            <a:ext cx="457200" cy="18288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0"/>
          <p:cNvSpPr txBox="1"/>
          <p:nvPr/>
        </p:nvSpPr>
        <p:spPr>
          <a:xfrm>
            <a:off x="1115568" y="1554480"/>
            <a:ext cx="457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FFFFFF"/>
                </a:solidFill>
                <a:latin typeface="M PLUS 1p"/>
                <a:ea typeface="M PLUS 1p"/>
                <a:cs typeface="M PLUS 1p"/>
                <a:sym typeface="M PLUS 1p"/>
              </a:rPr>
              <a:t>Worker</a:t>
            </a:r>
            <a:endParaRPr b="0" i="0" sz="650" u="none" cap="none" strike="noStrike">
              <a:solidFill>
                <a:srgbClr val="000000"/>
              </a:solidFill>
              <a:latin typeface="Arial"/>
              <a:ea typeface="Arial"/>
              <a:cs typeface="Arial"/>
              <a:sym typeface="Arial"/>
            </a:endParaRPr>
          </a:p>
        </p:txBody>
      </p:sp>
      <p:sp>
        <p:nvSpPr>
          <p:cNvPr id="835" name="Google Shape;835;p40"/>
          <p:cNvSpPr txBox="1"/>
          <p:nvPr/>
        </p:nvSpPr>
        <p:spPr>
          <a:xfrm>
            <a:off x="1618488" y="1472184"/>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初回稼働前の顧客へ翌月ヨミ付け・</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懸念のトスアップ</a:t>
            </a:r>
            <a:endParaRPr b="0" i="0" sz="750" u="none" cap="none" strike="noStrike">
              <a:solidFill>
                <a:srgbClr val="000000"/>
              </a:solidFill>
              <a:latin typeface="Arial"/>
              <a:ea typeface="Arial"/>
              <a:cs typeface="Arial"/>
              <a:sym typeface="Arial"/>
            </a:endParaRPr>
          </a:p>
        </p:txBody>
      </p:sp>
      <p:sp>
        <p:nvSpPr>
          <p:cNvPr id="836" name="Google Shape;836;p40"/>
          <p:cNvSpPr/>
          <p:nvPr/>
        </p:nvSpPr>
        <p:spPr>
          <a:xfrm>
            <a:off x="3657600" y="1444752"/>
            <a:ext cx="2560320" cy="402336"/>
          </a:xfrm>
          <a:prstGeom prst="rect">
            <a:avLst/>
          </a:prstGeom>
          <a:solidFill>
            <a:srgbClr val="FFF6D9"/>
          </a:solidFill>
          <a:ln cap="flat" cmpd="sng" w="1587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0"/>
          <p:cNvSpPr/>
          <p:nvPr/>
        </p:nvSpPr>
        <p:spPr>
          <a:xfrm>
            <a:off x="3721608" y="1554480"/>
            <a:ext cx="457200" cy="18288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40"/>
          <p:cNvSpPr txBox="1"/>
          <p:nvPr/>
        </p:nvSpPr>
        <p:spPr>
          <a:xfrm>
            <a:off x="3721608" y="1554480"/>
            <a:ext cx="457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FFFFFF"/>
                </a:solidFill>
                <a:latin typeface="M PLUS 1p"/>
                <a:ea typeface="M PLUS 1p"/>
                <a:cs typeface="M PLUS 1p"/>
                <a:sym typeface="M PLUS 1p"/>
              </a:rPr>
              <a:t>Worker</a:t>
            </a:r>
            <a:endParaRPr b="0" i="0" sz="650" u="none" cap="none" strike="noStrike">
              <a:solidFill>
                <a:srgbClr val="000000"/>
              </a:solidFill>
              <a:latin typeface="Arial"/>
              <a:ea typeface="Arial"/>
              <a:cs typeface="Arial"/>
              <a:sym typeface="Arial"/>
            </a:endParaRPr>
          </a:p>
        </p:txBody>
      </p:sp>
      <p:sp>
        <p:nvSpPr>
          <p:cNvPr id="839" name="Google Shape;839;p40"/>
          <p:cNvSpPr txBox="1"/>
          <p:nvPr/>
        </p:nvSpPr>
        <p:spPr>
          <a:xfrm>
            <a:off x="4224528" y="1472184"/>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初回稼働前へ翌月ヨミ付け・</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懸念のトスアップ</a:t>
            </a:r>
            <a:endParaRPr b="0" i="0" sz="750" u="none" cap="none" strike="noStrike">
              <a:solidFill>
                <a:srgbClr val="000000"/>
              </a:solidFill>
              <a:latin typeface="Arial"/>
              <a:ea typeface="Arial"/>
              <a:cs typeface="Arial"/>
              <a:sym typeface="Arial"/>
            </a:endParaRPr>
          </a:p>
        </p:txBody>
      </p:sp>
      <p:sp>
        <p:nvSpPr>
          <p:cNvPr id="840" name="Google Shape;840;p40"/>
          <p:cNvSpPr/>
          <p:nvPr/>
        </p:nvSpPr>
        <p:spPr>
          <a:xfrm>
            <a:off x="6263640" y="1444752"/>
            <a:ext cx="2560320" cy="402336"/>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0"/>
          <p:cNvSpPr/>
          <p:nvPr/>
        </p:nvSpPr>
        <p:spPr>
          <a:xfrm>
            <a:off x="667512" y="1901952"/>
            <a:ext cx="338328" cy="475488"/>
          </a:xfrm>
          <a:prstGeom prst="rect">
            <a:avLst/>
          </a:prstGeom>
          <a:solidFill>
            <a:srgbClr val="FFF6D9"/>
          </a:solidFill>
          <a:ln cap="flat" cmpd="sng" w="952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0"/>
          <p:cNvSpPr txBox="1"/>
          <p:nvPr/>
        </p:nvSpPr>
        <p:spPr>
          <a:xfrm>
            <a:off x="667512" y="1901952"/>
            <a:ext cx="33832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初回</a:t>
            </a:r>
            <a:endParaRPr b="0" i="0" sz="6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稼働後</a:t>
            </a:r>
            <a:endParaRPr b="0" i="0" sz="650" u="none" cap="none" strike="noStrike">
              <a:solidFill>
                <a:srgbClr val="000000"/>
              </a:solidFill>
              <a:latin typeface="Arial"/>
              <a:ea typeface="Arial"/>
              <a:cs typeface="Arial"/>
              <a:sym typeface="Arial"/>
            </a:endParaRPr>
          </a:p>
        </p:txBody>
      </p:sp>
      <p:sp>
        <p:nvSpPr>
          <p:cNvPr id="843" name="Google Shape;843;p40"/>
          <p:cNvSpPr/>
          <p:nvPr/>
        </p:nvSpPr>
        <p:spPr>
          <a:xfrm>
            <a:off x="1051560" y="1901952"/>
            <a:ext cx="2560320" cy="475488"/>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40"/>
          <p:cNvSpPr/>
          <p:nvPr/>
        </p:nvSpPr>
        <p:spPr>
          <a:xfrm>
            <a:off x="1115568" y="1947672"/>
            <a:ext cx="457200" cy="173736"/>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0"/>
          <p:cNvSpPr txBox="1"/>
          <p:nvPr/>
        </p:nvSpPr>
        <p:spPr>
          <a:xfrm>
            <a:off x="1115568" y="1947672"/>
            <a:ext cx="457200" cy="1737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営業</a:t>
            </a:r>
            <a:endParaRPr b="0" i="0" sz="650" u="none" cap="none" strike="noStrike">
              <a:solidFill>
                <a:srgbClr val="000000"/>
              </a:solidFill>
              <a:latin typeface="Arial"/>
              <a:ea typeface="Arial"/>
              <a:cs typeface="Arial"/>
              <a:sym typeface="Arial"/>
            </a:endParaRPr>
          </a:p>
        </p:txBody>
      </p:sp>
      <p:sp>
        <p:nvSpPr>
          <p:cNvPr id="846" name="Google Shape;846;p40"/>
          <p:cNvSpPr txBox="1"/>
          <p:nvPr/>
        </p:nvSpPr>
        <p:spPr>
          <a:xfrm>
            <a:off x="1618488" y="1929384"/>
            <a:ext cx="19202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初回稼働日翌日にTEL。</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懸念解消・翌月ヨミ付け・追加掲載</a:t>
            </a:r>
            <a:endParaRPr b="0" i="0" sz="750" u="none" cap="none" strike="noStrike">
              <a:solidFill>
                <a:srgbClr val="000000"/>
              </a:solidFill>
              <a:latin typeface="Arial"/>
              <a:ea typeface="Arial"/>
              <a:cs typeface="Arial"/>
              <a:sym typeface="Arial"/>
            </a:endParaRPr>
          </a:p>
        </p:txBody>
      </p:sp>
      <p:sp>
        <p:nvSpPr>
          <p:cNvPr id="847" name="Google Shape;847;p40"/>
          <p:cNvSpPr/>
          <p:nvPr/>
        </p:nvSpPr>
        <p:spPr>
          <a:xfrm>
            <a:off x="1115568" y="2157984"/>
            <a:ext cx="457200" cy="173736"/>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0"/>
          <p:cNvSpPr txBox="1"/>
          <p:nvPr/>
        </p:nvSpPr>
        <p:spPr>
          <a:xfrm>
            <a:off x="1115568" y="2157984"/>
            <a:ext cx="457200" cy="1737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450" u="none" cap="none" strike="noStrike">
                <a:solidFill>
                  <a:srgbClr val="FFFFFF"/>
                </a:solidFill>
                <a:latin typeface="M PLUS 1p"/>
                <a:ea typeface="M PLUS 1p"/>
                <a:cs typeface="M PLUS 1p"/>
                <a:sym typeface="M PLUS 1p"/>
              </a:rPr>
              <a:t>Worker</a:t>
            </a:r>
            <a:r>
              <a:rPr b="1" lang="ja" sz="450">
                <a:solidFill>
                  <a:srgbClr val="FFFFFF"/>
                </a:solidFill>
                <a:latin typeface="M PLUS 1p"/>
                <a:ea typeface="M PLUS 1p"/>
                <a:cs typeface="M PLUS 1p"/>
                <a:sym typeface="M PLUS 1p"/>
              </a:rPr>
              <a:t>→営業</a:t>
            </a:r>
            <a:endParaRPr b="0" i="0" sz="450" u="none" cap="none" strike="noStrike">
              <a:solidFill>
                <a:srgbClr val="000000"/>
              </a:solidFill>
              <a:latin typeface="Arial"/>
              <a:ea typeface="Arial"/>
              <a:cs typeface="Arial"/>
              <a:sym typeface="Arial"/>
            </a:endParaRPr>
          </a:p>
        </p:txBody>
      </p:sp>
      <p:sp>
        <p:nvSpPr>
          <p:cNvPr id="849" name="Google Shape;849;p40"/>
          <p:cNvSpPr txBox="1"/>
          <p:nvPr/>
        </p:nvSpPr>
        <p:spPr>
          <a:xfrm>
            <a:off x="1618488" y="2139696"/>
            <a:ext cx="19202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営業が接触できなかった顧客をフォロー</a:t>
            </a:r>
            <a:endParaRPr b="0" i="0" sz="750" u="none" cap="none" strike="noStrike">
              <a:solidFill>
                <a:srgbClr val="000000"/>
              </a:solidFill>
              <a:latin typeface="Arial"/>
              <a:ea typeface="Arial"/>
              <a:cs typeface="Arial"/>
              <a:sym typeface="Arial"/>
            </a:endParaRPr>
          </a:p>
        </p:txBody>
      </p:sp>
      <p:sp>
        <p:nvSpPr>
          <p:cNvPr id="850" name="Google Shape;850;p40"/>
          <p:cNvSpPr/>
          <p:nvPr/>
        </p:nvSpPr>
        <p:spPr>
          <a:xfrm>
            <a:off x="3657600" y="1901952"/>
            <a:ext cx="2560320" cy="475488"/>
          </a:xfrm>
          <a:prstGeom prst="rect">
            <a:avLst/>
          </a:prstGeom>
          <a:solidFill>
            <a:srgbClr val="FFF6D9"/>
          </a:solidFill>
          <a:ln cap="flat" cmpd="sng" w="1587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0"/>
          <p:cNvSpPr/>
          <p:nvPr/>
        </p:nvSpPr>
        <p:spPr>
          <a:xfrm>
            <a:off x="3721608" y="2048256"/>
            <a:ext cx="457200" cy="18288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0"/>
          <p:cNvSpPr txBox="1"/>
          <p:nvPr/>
        </p:nvSpPr>
        <p:spPr>
          <a:xfrm>
            <a:off x="3721608" y="2048256"/>
            <a:ext cx="457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営業</a:t>
            </a:r>
            <a:endParaRPr b="0" i="0" sz="650" u="none" cap="none" strike="noStrike">
              <a:solidFill>
                <a:srgbClr val="000000"/>
              </a:solidFill>
              <a:latin typeface="Arial"/>
              <a:ea typeface="Arial"/>
              <a:cs typeface="Arial"/>
              <a:sym typeface="Arial"/>
            </a:endParaRPr>
          </a:p>
        </p:txBody>
      </p:sp>
      <p:sp>
        <p:nvSpPr>
          <p:cNvPr id="853" name="Google Shape;853;p40"/>
          <p:cNvSpPr txBox="1"/>
          <p:nvPr/>
        </p:nvSpPr>
        <p:spPr>
          <a:xfrm>
            <a:off x="4224528" y="1929384"/>
            <a:ext cx="1920240" cy="4206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ONB卒業スコアリングで星取。</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未達項目に応じた標準アクション</a:t>
            </a:r>
            <a:endParaRPr b="0" i="0" sz="750" u="none" cap="none" strike="noStrike">
              <a:solidFill>
                <a:srgbClr val="000000"/>
              </a:solidFill>
              <a:latin typeface="Arial"/>
              <a:ea typeface="Arial"/>
              <a:cs typeface="Arial"/>
              <a:sym typeface="Arial"/>
            </a:endParaRPr>
          </a:p>
        </p:txBody>
      </p:sp>
      <p:sp>
        <p:nvSpPr>
          <p:cNvPr id="854" name="Google Shape;854;p40"/>
          <p:cNvSpPr/>
          <p:nvPr/>
        </p:nvSpPr>
        <p:spPr>
          <a:xfrm>
            <a:off x="6263640" y="1901952"/>
            <a:ext cx="2560320" cy="475488"/>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0"/>
          <p:cNvSpPr/>
          <p:nvPr/>
        </p:nvSpPr>
        <p:spPr>
          <a:xfrm>
            <a:off x="274320" y="2432304"/>
            <a:ext cx="731520" cy="475488"/>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0"/>
          <p:cNvSpPr txBox="1"/>
          <p:nvPr/>
        </p:nvSpPr>
        <p:spPr>
          <a:xfrm>
            <a:off x="274320" y="2432304"/>
            <a:ext cx="73152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N+1</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翌月継続</a:t>
            </a:r>
            <a:endParaRPr b="0" i="0" sz="1000" u="none" cap="none" strike="noStrike">
              <a:solidFill>
                <a:srgbClr val="000000"/>
              </a:solidFill>
              <a:latin typeface="Arial"/>
              <a:ea typeface="Arial"/>
              <a:cs typeface="Arial"/>
              <a:sym typeface="Arial"/>
            </a:endParaRPr>
          </a:p>
        </p:txBody>
      </p:sp>
      <p:sp>
        <p:nvSpPr>
          <p:cNvPr id="857" name="Google Shape;857;p40"/>
          <p:cNvSpPr/>
          <p:nvPr/>
        </p:nvSpPr>
        <p:spPr>
          <a:xfrm>
            <a:off x="1051560" y="2432304"/>
            <a:ext cx="2560320" cy="475488"/>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0"/>
          <p:cNvSpPr/>
          <p:nvPr/>
        </p:nvSpPr>
        <p:spPr>
          <a:xfrm>
            <a:off x="1115568" y="2478024"/>
            <a:ext cx="457200" cy="173736"/>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0"/>
          <p:cNvSpPr txBox="1"/>
          <p:nvPr/>
        </p:nvSpPr>
        <p:spPr>
          <a:xfrm>
            <a:off x="1115568" y="2478024"/>
            <a:ext cx="457200" cy="1737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営業</a:t>
            </a:r>
            <a:endParaRPr b="0" i="0" sz="650" u="none" cap="none" strike="noStrike">
              <a:solidFill>
                <a:srgbClr val="000000"/>
              </a:solidFill>
              <a:latin typeface="Arial"/>
              <a:ea typeface="Arial"/>
              <a:cs typeface="Arial"/>
              <a:sym typeface="Arial"/>
            </a:endParaRPr>
          </a:p>
        </p:txBody>
      </p:sp>
      <p:sp>
        <p:nvSpPr>
          <p:cNvPr id="860" name="Google Shape;860;p40"/>
          <p:cNvSpPr txBox="1"/>
          <p:nvPr/>
        </p:nvSpPr>
        <p:spPr>
          <a:xfrm>
            <a:off x="1618488" y="2459736"/>
            <a:ext cx="19202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ヨミを基に優先順位を付けて追客</a:t>
            </a:r>
            <a:endParaRPr b="0" i="0" sz="750" u="none" cap="none" strike="noStrike">
              <a:solidFill>
                <a:srgbClr val="000000"/>
              </a:solidFill>
              <a:latin typeface="Arial"/>
              <a:ea typeface="Arial"/>
              <a:cs typeface="Arial"/>
              <a:sym typeface="Arial"/>
            </a:endParaRPr>
          </a:p>
        </p:txBody>
      </p:sp>
      <p:sp>
        <p:nvSpPr>
          <p:cNvPr id="861" name="Google Shape;861;p40"/>
          <p:cNvSpPr/>
          <p:nvPr/>
        </p:nvSpPr>
        <p:spPr>
          <a:xfrm>
            <a:off x="1115568" y="2688336"/>
            <a:ext cx="457200" cy="173736"/>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0"/>
          <p:cNvSpPr txBox="1"/>
          <p:nvPr/>
        </p:nvSpPr>
        <p:spPr>
          <a:xfrm>
            <a:off x="1115568" y="2688336"/>
            <a:ext cx="457200" cy="173736"/>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650"/>
              <a:buFont typeface="Arial"/>
              <a:buNone/>
            </a:pPr>
            <a:r>
              <a:rPr b="1" lang="ja" sz="450">
                <a:solidFill>
                  <a:schemeClr val="lt1"/>
                </a:solidFill>
                <a:latin typeface="M PLUS 1p"/>
                <a:ea typeface="M PLUS 1p"/>
                <a:cs typeface="M PLUS 1p"/>
                <a:sym typeface="M PLUS 1p"/>
              </a:rPr>
              <a:t>Worker→営業</a:t>
            </a:r>
            <a:endParaRPr b="1" sz="650">
              <a:solidFill>
                <a:srgbClr val="FFFFFF"/>
              </a:solidFill>
              <a:latin typeface="M PLUS 1p"/>
              <a:ea typeface="M PLUS 1p"/>
              <a:cs typeface="M PLUS 1p"/>
              <a:sym typeface="M PLUS 1p"/>
            </a:endParaRPr>
          </a:p>
        </p:txBody>
      </p:sp>
      <p:sp>
        <p:nvSpPr>
          <p:cNvPr id="863" name="Google Shape;863;p40"/>
          <p:cNvSpPr txBox="1"/>
          <p:nvPr/>
        </p:nvSpPr>
        <p:spPr>
          <a:xfrm>
            <a:off x="1618488" y="2670048"/>
            <a:ext cx="19202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2週目〜営業未接触（D・F・空欄）</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へ掲載意向トスアップ</a:t>
            </a:r>
            <a:endParaRPr b="0" i="0" sz="750" u="none" cap="none" strike="noStrike">
              <a:solidFill>
                <a:srgbClr val="000000"/>
              </a:solidFill>
              <a:latin typeface="Arial"/>
              <a:ea typeface="Arial"/>
              <a:cs typeface="Arial"/>
              <a:sym typeface="Arial"/>
            </a:endParaRPr>
          </a:p>
        </p:txBody>
      </p:sp>
      <p:sp>
        <p:nvSpPr>
          <p:cNvPr id="864" name="Google Shape;864;p40"/>
          <p:cNvSpPr/>
          <p:nvPr/>
        </p:nvSpPr>
        <p:spPr>
          <a:xfrm>
            <a:off x="3657600" y="2432304"/>
            <a:ext cx="2560320" cy="475488"/>
          </a:xfrm>
          <a:prstGeom prst="rect">
            <a:avLst/>
          </a:prstGeom>
          <a:solidFill>
            <a:srgbClr val="FFF6D9"/>
          </a:solidFill>
          <a:ln cap="flat" cmpd="sng" w="1587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0"/>
          <p:cNvSpPr/>
          <p:nvPr/>
        </p:nvSpPr>
        <p:spPr>
          <a:xfrm>
            <a:off x="3721608" y="2478024"/>
            <a:ext cx="457200" cy="173736"/>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0"/>
          <p:cNvSpPr txBox="1"/>
          <p:nvPr/>
        </p:nvSpPr>
        <p:spPr>
          <a:xfrm>
            <a:off x="3721608" y="2478024"/>
            <a:ext cx="457200" cy="1737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営業</a:t>
            </a:r>
            <a:endParaRPr b="0" i="0" sz="650" u="none" cap="none" strike="noStrike">
              <a:solidFill>
                <a:srgbClr val="000000"/>
              </a:solidFill>
              <a:latin typeface="Arial"/>
              <a:ea typeface="Arial"/>
              <a:cs typeface="Arial"/>
              <a:sym typeface="Arial"/>
            </a:endParaRPr>
          </a:p>
        </p:txBody>
      </p:sp>
      <p:sp>
        <p:nvSpPr>
          <p:cNvPr id="867" name="Google Shape;867;p40"/>
          <p:cNvSpPr txBox="1"/>
          <p:nvPr/>
        </p:nvSpPr>
        <p:spPr>
          <a:xfrm>
            <a:off x="4224528" y="2459736"/>
            <a:ext cx="19202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ヨミA〜Cのみ追客</a:t>
            </a:r>
            <a:endParaRPr b="0" i="0" sz="750" u="none" cap="none" strike="noStrike">
              <a:solidFill>
                <a:srgbClr val="000000"/>
              </a:solidFill>
              <a:latin typeface="Arial"/>
              <a:ea typeface="Arial"/>
              <a:cs typeface="Arial"/>
              <a:sym typeface="Arial"/>
            </a:endParaRPr>
          </a:p>
        </p:txBody>
      </p:sp>
      <p:sp>
        <p:nvSpPr>
          <p:cNvPr id="868" name="Google Shape;868;p40"/>
          <p:cNvSpPr/>
          <p:nvPr/>
        </p:nvSpPr>
        <p:spPr>
          <a:xfrm>
            <a:off x="3721608" y="2688336"/>
            <a:ext cx="457200" cy="173736"/>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0"/>
          <p:cNvSpPr txBox="1"/>
          <p:nvPr/>
        </p:nvSpPr>
        <p:spPr>
          <a:xfrm>
            <a:off x="3721608" y="2688336"/>
            <a:ext cx="457200" cy="17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650"/>
              <a:buFont typeface="Arial"/>
              <a:buNone/>
            </a:pPr>
            <a:r>
              <a:rPr b="1" lang="ja" sz="450">
                <a:solidFill>
                  <a:schemeClr val="lt1"/>
                </a:solidFill>
                <a:latin typeface="M PLUS 1p"/>
                <a:ea typeface="M PLUS 1p"/>
                <a:cs typeface="M PLUS 1p"/>
                <a:sym typeface="M PLUS 1p"/>
              </a:rPr>
              <a:t>Worker→営業</a:t>
            </a:r>
            <a:endParaRPr b="1" sz="650">
              <a:solidFill>
                <a:srgbClr val="FFFFFF"/>
              </a:solidFill>
              <a:latin typeface="M PLUS 1p"/>
              <a:ea typeface="M PLUS 1p"/>
              <a:cs typeface="M PLUS 1p"/>
              <a:sym typeface="M PLUS 1p"/>
            </a:endParaRPr>
          </a:p>
        </p:txBody>
      </p:sp>
      <p:sp>
        <p:nvSpPr>
          <p:cNvPr id="870" name="Google Shape;870;p40"/>
          <p:cNvSpPr txBox="1"/>
          <p:nvPr/>
        </p:nvSpPr>
        <p:spPr>
          <a:xfrm>
            <a:off x="4224528" y="2670048"/>
            <a:ext cx="19202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D・F・空欄はワーカーが対応</a:t>
            </a:r>
            <a:r>
              <a:rPr lang="ja" sz="750">
                <a:solidFill>
                  <a:srgbClr val="1A1A1A"/>
                </a:solidFill>
                <a:latin typeface="M PLUS 1p"/>
                <a:ea typeface="M PLUS 1p"/>
                <a:cs typeface="M PLUS 1p"/>
                <a:sym typeface="M PLUS 1p"/>
              </a:rPr>
              <a:t>しトスアップ</a:t>
            </a:r>
            <a:endParaRPr b="0" i="0" sz="750" u="none" cap="none" strike="noStrike">
              <a:solidFill>
                <a:srgbClr val="000000"/>
              </a:solidFill>
              <a:latin typeface="Arial"/>
              <a:ea typeface="Arial"/>
              <a:cs typeface="Arial"/>
              <a:sym typeface="Arial"/>
            </a:endParaRPr>
          </a:p>
        </p:txBody>
      </p:sp>
      <p:sp>
        <p:nvSpPr>
          <p:cNvPr id="871" name="Google Shape;871;p40"/>
          <p:cNvSpPr/>
          <p:nvPr/>
        </p:nvSpPr>
        <p:spPr>
          <a:xfrm>
            <a:off x="6263640" y="2432304"/>
            <a:ext cx="2560320" cy="475488"/>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0"/>
          <p:cNvSpPr/>
          <p:nvPr/>
        </p:nvSpPr>
        <p:spPr>
          <a:xfrm>
            <a:off x="274320" y="2962656"/>
            <a:ext cx="731520" cy="402336"/>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0"/>
          <p:cNvSpPr txBox="1"/>
          <p:nvPr/>
        </p:nvSpPr>
        <p:spPr>
          <a:xfrm>
            <a:off x="274320" y="2962656"/>
            <a:ext cx="731520"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N+2</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2ヶ月継続</a:t>
            </a:r>
            <a:endParaRPr b="0" i="0" sz="1000" u="none" cap="none" strike="noStrike">
              <a:solidFill>
                <a:srgbClr val="000000"/>
              </a:solidFill>
              <a:latin typeface="Arial"/>
              <a:ea typeface="Arial"/>
              <a:cs typeface="Arial"/>
              <a:sym typeface="Arial"/>
            </a:endParaRPr>
          </a:p>
        </p:txBody>
      </p:sp>
      <p:sp>
        <p:nvSpPr>
          <p:cNvPr id="874" name="Google Shape;874;p40"/>
          <p:cNvSpPr/>
          <p:nvPr/>
        </p:nvSpPr>
        <p:spPr>
          <a:xfrm>
            <a:off x="1051560" y="2962656"/>
            <a:ext cx="2560320" cy="402336"/>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0"/>
          <p:cNvSpPr/>
          <p:nvPr/>
        </p:nvSpPr>
        <p:spPr>
          <a:xfrm>
            <a:off x="1115568" y="3072384"/>
            <a:ext cx="457200" cy="18288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0"/>
          <p:cNvSpPr txBox="1"/>
          <p:nvPr/>
        </p:nvSpPr>
        <p:spPr>
          <a:xfrm>
            <a:off x="1115568" y="3072384"/>
            <a:ext cx="457200" cy="1828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650"/>
              <a:buFont typeface="Arial"/>
              <a:buNone/>
            </a:pPr>
            <a:r>
              <a:rPr b="1" lang="ja" sz="450">
                <a:solidFill>
                  <a:schemeClr val="lt1"/>
                </a:solidFill>
                <a:latin typeface="M PLUS 1p"/>
                <a:ea typeface="M PLUS 1p"/>
                <a:cs typeface="M PLUS 1p"/>
                <a:sym typeface="M PLUS 1p"/>
              </a:rPr>
              <a:t>Worker→営業</a:t>
            </a:r>
            <a:endParaRPr b="1" sz="650">
              <a:solidFill>
                <a:srgbClr val="FFFFFF"/>
              </a:solidFill>
              <a:latin typeface="M PLUS 1p"/>
              <a:ea typeface="M PLUS 1p"/>
              <a:cs typeface="M PLUS 1p"/>
              <a:sym typeface="M PLUS 1p"/>
            </a:endParaRPr>
          </a:p>
        </p:txBody>
      </p:sp>
      <p:sp>
        <p:nvSpPr>
          <p:cNvPr id="877" name="Google Shape;877;p40"/>
          <p:cNvSpPr txBox="1"/>
          <p:nvPr/>
        </p:nvSpPr>
        <p:spPr>
          <a:xfrm>
            <a:off x="1618488" y="2990088"/>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全体へアクション。</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懸念ありを営業へ即時連携</a:t>
            </a:r>
            <a:endParaRPr b="0" i="0" sz="750" u="none" cap="none" strike="noStrike">
              <a:solidFill>
                <a:srgbClr val="000000"/>
              </a:solidFill>
              <a:latin typeface="Arial"/>
              <a:ea typeface="Arial"/>
              <a:cs typeface="Arial"/>
              <a:sym typeface="Arial"/>
            </a:endParaRPr>
          </a:p>
        </p:txBody>
      </p:sp>
      <p:sp>
        <p:nvSpPr>
          <p:cNvPr id="878" name="Google Shape;878;p40"/>
          <p:cNvSpPr/>
          <p:nvPr/>
        </p:nvSpPr>
        <p:spPr>
          <a:xfrm>
            <a:off x="3657600" y="2962656"/>
            <a:ext cx="2560320" cy="402336"/>
          </a:xfrm>
          <a:prstGeom prst="rect">
            <a:avLst/>
          </a:prstGeom>
          <a:solidFill>
            <a:srgbClr val="FFF6D9"/>
          </a:solidFill>
          <a:ln cap="flat" cmpd="sng" w="1587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0"/>
          <p:cNvSpPr/>
          <p:nvPr/>
        </p:nvSpPr>
        <p:spPr>
          <a:xfrm>
            <a:off x="6263640" y="2962656"/>
            <a:ext cx="2560320" cy="402336"/>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0"/>
          <p:cNvSpPr txBox="1"/>
          <p:nvPr/>
        </p:nvSpPr>
        <p:spPr>
          <a:xfrm>
            <a:off x="6830568" y="3066613"/>
            <a:ext cx="1920300" cy="17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3ヶ月継続スコアリングを標準運用</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（3ヶ月継続の土台を作る）</a:t>
            </a:r>
            <a:endParaRPr b="0" i="0" sz="750" u="none" cap="none" strike="noStrike">
              <a:solidFill>
                <a:srgbClr val="000000"/>
              </a:solidFill>
              <a:latin typeface="Arial"/>
              <a:ea typeface="Arial"/>
              <a:cs typeface="Arial"/>
              <a:sym typeface="Arial"/>
            </a:endParaRPr>
          </a:p>
        </p:txBody>
      </p:sp>
      <p:sp>
        <p:nvSpPr>
          <p:cNvPr id="881" name="Google Shape;881;p40"/>
          <p:cNvSpPr/>
          <p:nvPr/>
        </p:nvSpPr>
        <p:spPr>
          <a:xfrm>
            <a:off x="274320" y="3419856"/>
            <a:ext cx="731520" cy="402336"/>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0"/>
          <p:cNvSpPr txBox="1"/>
          <p:nvPr/>
        </p:nvSpPr>
        <p:spPr>
          <a:xfrm>
            <a:off x="274320" y="3419856"/>
            <a:ext cx="731520"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N+3</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3ヶ月継続</a:t>
            </a:r>
            <a:endParaRPr b="0" i="0" sz="1000" u="none" cap="none" strike="noStrike">
              <a:solidFill>
                <a:srgbClr val="000000"/>
              </a:solidFill>
              <a:latin typeface="Arial"/>
              <a:ea typeface="Arial"/>
              <a:cs typeface="Arial"/>
              <a:sym typeface="Arial"/>
            </a:endParaRPr>
          </a:p>
        </p:txBody>
      </p:sp>
      <p:sp>
        <p:nvSpPr>
          <p:cNvPr id="883" name="Google Shape;883;p40"/>
          <p:cNvSpPr/>
          <p:nvPr/>
        </p:nvSpPr>
        <p:spPr>
          <a:xfrm>
            <a:off x="1051560" y="3419856"/>
            <a:ext cx="2560320" cy="402336"/>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0"/>
          <p:cNvSpPr/>
          <p:nvPr/>
        </p:nvSpPr>
        <p:spPr>
          <a:xfrm>
            <a:off x="1115568" y="3529584"/>
            <a:ext cx="457200" cy="18288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0"/>
          <p:cNvSpPr txBox="1"/>
          <p:nvPr/>
        </p:nvSpPr>
        <p:spPr>
          <a:xfrm>
            <a:off x="1115568" y="3529584"/>
            <a:ext cx="457200" cy="1828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650"/>
              <a:buFont typeface="Arial"/>
              <a:buNone/>
            </a:pPr>
            <a:r>
              <a:rPr b="1" lang="ja" sz="450">
                <a:solidFill>
                  <a:schemeClr val="lt1"/>
                </a:solidFill>
                <a:latin typeface="M PLUS 1p"/>
                <a:ea typeface="M PLUS 1p"/>
                <a:cs typeface="M PLUS 1p"/>
                <a:sym typeface="M PLUS 1p"/>
              </a:rPr>
              <a:t>Worker→営業</a:t>
            </a:r>
            <a:endParaRPr b="1" sz="650">
              <a:solidFill>
                <a:srgbClr val="FFFFFF"/>
              </a:solidFill>
              <a:latin typeface="M PLUS 1p"/>
              <a:ea typeface="M PLUS 1p"/>
              <a:cs typeface="M PLUS 1p"/>
              <a:sym typeface="M PLUS 1p"/>
            </a:endParaRPr>
          </a:p>
        </p:txBody>
      </p:sp>
      <p:sp>
        <p:nvSpPr>
          <p:cNvPr id="886" name="Google Shape;886;p40"/>
          <p:cNvSpPr txBox="1"/>
          <p:nvPr/>
        </p:nvSpPr>
        <p:spPr>
          <a:xfrm>
            <a:off x="1618488" y="3447288"/>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全体へアクション。</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懸念ありを営業へ即時連携</a:t>
            </a:r>
            <a:endParaRPr b="0" i="0" sz="750" u="none" cap="none" strike="noStrike">
              <a:solidFill>
                <a:srgbClr val="000000"/>
              </a:solidFill>
              <a:latin typeface="Arial"/>
              <a:ea typeface="Arial"/>
              <a:cs typeface="Arial"/>
              <a:sym typeface="Arial"/>
            </a:endParaRPr>
          </a:p>
        </p:txBody>
      </p:sp>
      <p:sp>
        <p:nvSpPr>
          <p:cNvPr id="887" name="Google Shape;887;p40"/>
          <p:cNvSpPr/>
          <p:nvPr/>
        </p:nvSpPr>
        <p:spPr>
          <a:xfrm>
            <a:off x="3657600" y="3419856"/>
            <a:ext cx="2560320" cy="402336"/>
          </a:xfrm>
          <a:prstGeom prst="rect">
            <a:avLst/>
          </a:prstGeom>
          <a:solidFill>
            <a:srgbClr val="FFF6D9"/>
          </a:solidFill>
          <a:ln cap="flat" cmpd="sng" w="1587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40"/>
          <p:cNvSpPr/>
          <p:nvPr/>
        </p:nvSpPr>
        <p:spPr>
          <a:xfrm>
            <a:off x="6263640" y="3419856"/>
            <a:ext cx="2560320" cy="402336"/>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0"/>
          <p:cNvSpPr/>
          <p:nvPr/>
        </p:nvSpPr>
        <p:spPr>
          <a:xfrm>
            <a:off x="6327648" y="3465576"/>
            <a:ext cx="457200" cy="1371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0"/>
          <p:cNvSpPr txBox="1"/>
          <p:nvPr/>
        </p:nvSpPr>
        <p:spPr>
          <a:xfrm>
            <a:off x="6327648" y="3465576"/>
            <a:ext cx="457200" cy="13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営業</a:t>
            </a:r>
            <a:endParaRPr b="0" i="0" sz="650" u="none" cap="none" strike="noStrike">
              <a:solidFill>
                <a:srgbClr val="000000"/>
              </a:solidFill>
              <a:latin typeface="Arial"/>
              <a:ea typeface="Arial"/>
              <a:cs typeface="Arial"/>
              <a:sym typeface="Arial"/>
            </a:endParaRPr>
          </a:p>
        </p:txBody>
      </p:sp>
      <p:sp>
        <p:nvSpPr>
          <p:cNvPr id="891" name="Google Shape;891;p40"/>
          <p:cNvSpPr txBox="1"/>
          <p:nvPr/>
        </p:nvSpPr>
        <p:spPr>
          <a:xfrm>
            <a:off x="6830568" y="3447288"/>
            <a:ext cx="1920240" cy="1737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CIM移管予定顧客を個社開拓</a:t>
            </a:r>
            <a:endParaRPr b="0" i="0" sz="750" u="none" cap="none" strike="noStrike">
              <a:solidFill>
                <a:srgbClr val="000000"/>
              </a:solidFill>
              <a:latin typeface="Arial"/>
              <a:ea typeface="Arial"/>
              <a:cs typeface="Arial"/>
              <a:sym typeface="Arial"/>
            </a:endParaRPr>
          </a:p>
        </p:txBody>
      </p:sp>
      <p:sp>
        <p:nvSpPr>
          <p:cNvPr id="892" name="Google Shape;892;p40"/>
          <p:cNvSpPr/>
          <p:nvPr/>
        </p:nvSpPr>
        <p:spPr>
          <a:xfrm>
            <a:off x="6327648" y="3639312"/>
            <a:ext cx="457200" cy="137100"/>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0"/>
          <p:cNvSpPr txBox="1"/>
          <p:nvPr/>
        </p:nvSpPr>
        <p:spPr>
          <a:xfrm>
            <a:off x="6327648" y="3639312"/>
            <a:ext cx="457200" cy="13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650"/>
              <a:buFont typeface="Arial"/>
              <a:buNone/>
            </a:pPr>
            <a:r>
              <a:rPr b="1" lang="ja" sz="450">
                <a:solidFill>
                  <a:schemeClr val="lt1"/>
                </a:solidFill>
                <a:latin typeface="M PLUS 1p"/>
                <a:ea typeface="M PLUS 1p"/>
                <a:cs typeface="M PLUS 1p"/>
                <a:sym typeface="M PLUS 1p"/>
              </a:rPr>
              <a:t>Worker→営業</a:t>
            </a:r>
            <a:endParaRPr b="1" sz="650">
              <a:solidFill>
                <a:srgbClr val="FFFFFF"/>
              </a:solidFill>
              <a:latin typeface="M PLUS 1p"/>
              <a:ea typeface="M PLUS 1p"/>
              <a:cs typeface="M PLUS 1p"/>
              <a:sym typeface="M PLUS 1p"/>
            </a:endParaRPr>
          </a:p>
        </p:txBody>
      </p:sp>
      <p:sp>
        <p:nvSpPr>
          <p:cNvPr id="894" name="Google Shape;894;p40"/>
          <p:cNvSpPr txBox="1"/>
          <p:nvPr/>
        </p:nvSpPr>
        <p:spPr>
          <a:xfrm>
            <a:off x="6830568" y="3621024"/>
            <a:ext cx="1920300" cy="173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750"/>
              <a:buFont typeface="Arial"/>
              <a:buNone/>
            </a:pPr>
            <a:r>
              <a:rPr lang="ja" sz="750">
                <a:solidFill>
                  <a:srgbClr val="1A1A1A"/>
                </a:solidFill>
                <a:latin typeface="M PLUS 1p"/>
                <a:ea typeface="M PLUS 1p"/>
                <a:cs typeface="M PLUS 1p"/>
                <a:sym typeface="M PLUS 1p"/>
              </a:rPr>
              <a:t>懸念ありを営業へ即時連携</a:t>
            </a:r>
            <a:endParaRPr sz="750">
              <a:solidFill>
                <a:srgbClr val="1A1A1A"/>
              </a:solidFill>
              <a:latin typeface="M PLUS 1p"/>
              <a:ea typeface="M PLUS 1p"/>
              <a:cs typeface="M PLUS 1p"/>
              <a:sym typeface="M PLUS 1p"/>
            </a:endParaRPr>
          </a:p>
        </p:txBody>
      </p:sp>
      <p:sp>
        <p:nvSpPr>
          <p:cNvPr id="895" name="Google Shape;895;p40"/>
          <p:cNvSpPr txBox="1"/>
          <p:nvPr/>
        </p:nvSpPr>
        <p:spPr>
          <a:xfrm>
            <a:off x="274320" y="3895344"/>
            <a:ext cx="4572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凡例：</a:t>
            </a:r>
            <a:endParaRPr b="0" i="0" sz="700" u="none" cap="none" strike="noStrike">
              <a:solidFill>
                <a:srgbClr val="000000"/>
              </a:solidFill>
              <a:latin typeface="Arial"/>
              <a:ea typeface="Arial"/>
              <a:cs typeface="Arial"/>
              <a:sym typeface="Arial"/>
            </a:endParaRPr>
          </a:p>
        </p:txBody>
      </p:sp>
      <p:sp>
        <p:nvSpPr>
          <p:cNvPr id="896" name="Google Shape;896;p40"/>
          <p:cNvSpPr/>
          <p:nvPr/>
        </p:nvSpPr>
        <p:spPr>
          <a:xfrm>
            <a:off x="731520" y="3904488"/>
            <a:ext cx="457200" cy="164592"/>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40"/>
          <p:cNvSpPr txBox="1"/>
          <p:nvPr/>
        </p:nvSpPr>
        <p:spPr>
          <a:xfrm>
            <a:off x="731520" y="3904488"/>
            <a:ext cx="45720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営業</a:t>
            </a:r>
            <a:endParaRPr b="0" i="0" sz="650" u="none" cap="none" strike="noStrike">
              <a:solidFill>
                <a:srgbClr val="000000"/>
              </a:solidFill>
              <a:latin typeface="Arial"/>
              <a:ea typeface="Arial"/>
              <a:cs typeface="Arial"/>
              <a:sym typeface="Arial"/>
            </a:endParaRPr>
          </a:p>
        </p:txBody>
      </p:sp>
      <p:sp>
        <p:nvSpPr>
          <p:cNvPr id="898" name="Google Shape;898;p40"/>
          <p:cNvSpPr txBox="1"/>
          <p:nvPr/>
        </p:nvSpPr>
        <p:spPr>
          <a:xfrm>
            <a:off x="1234440" y="3895344"/>
            <a:ext cx="21945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Human。人が介入して顧客の状態を変える</a:t>
            </a:r>
            <a:endParaRPr b="0" i="0" sz="700" u="none" cap="none" strike="noStrike">
              <a:solidFill>
                <a:srgbClr val="000000"/>
              </a:solidFill>
              <a:latin typeface="Arial"/>
              <a:ea typeface="Arial"/>
              <a:cs typeface="Arial"/>
              <a:sym typeface="Arial"/>
            </a:endParaRPr>
          </a:p>
        </p:txBody>
      </p:sp>
      <p:sp>
        <p:nvSpPr>
          <p:cNvPr id="899" name="Google Shape;899;p40"/>
          <p:cNvSpPr/>
          <p:nvPr/>
        </p:nvSpPr>
        <p:spPr>
          <a:xfrm>
            <a:off x="3474720" y="3904488"/>
            <a:ext cx="457200" cy="164592"/>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0"/>
          <p:cNvSpPr txBox="1"/>
          <p:nvPr/>
        </p:nvSpPr>
        <p:spPr>
          <a:xfrm>
            <a:off x="3474720" y="3904488"/>
            <a:ext cx="45720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FFFFFF"/>
                </a:solidFill>
                <a:latin typeface="M PLUS 1p"/>
                <a:ea typeface="M PLUS 1p"/>
                <a:cs typeface="M PLUS 1p"/>
                <a:sym typeface="M PLUS 1p"/>
              </a:rPr>
              <a:t>Worker</a:t>
            </a:r>
            <a:endParaRPr b="0" i="0" sz="650" u="none" cap="none" strike="noStrike">
              <a:solidFill>
                <a:srgbClr val="000000"/>
              </a:solidFill>
              <a:latin typeface="Arial"/>
              <a:ea typeface="Arial"/>
              <a:cs typeface="Arial"/>
              <a:sym typeface="Arial"/>
            </a:endParaRPr>
          </a:p>
        </p:txBody>
      </p:sp>
      <p:sp>
        <p:nvSpPr>
          <p:cNvPr id="901" name="Google Shape;901;p40"/>
          <p:cNvSpPr txBox="1"/>
          <p:nvPr/>
        </p:nvSpPr>
        <p:spPr>
          <a:xfrm>
            <a:off x="3977640" y="3895344"/>
            <a:ext cx="21945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営業経験ありワーカーによる架電・トスアップ</a:t>
            </a:r>
            <a:endParaRPr b="0" i="0" sz="700" u="none" cap="none" strike="noStrike">
              <a:solidFill>
                <a:srgbClr val="000000"/>
              </a:solidFill>
              <a:latin typeface="Arial"/>
              <a:ea typeface="Arial"/>
              <a:cs typeface="Arial"/>
              <a:sym typeface="Arial"/>
            </a:endParaRPr>
          </a:p>
        </p:txBody>
      </p:sp>
      <p:sp>
        <p:nvSpPr>
          <p:cNvPr id="902" name="Google Shape;902;p40"/>
          <p:cNvSpPr/>
          <p:nvPr/>
        </p:nvSpPr>
        <p:spPr>
          <a:xfrm>
            <a:off x="274320" y="4114800"/>
            <a:ext cx="8595360" cy="292608"/>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0"/>
          <p:cNvSpPr/>
          <p:nvPr/>
        </p:nvSpPr>
        <p:spPr>
          <a:xfrm>
            <a:off x="274320" y="4114800"/>
            <a:ext cx="73152" cy="29260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40"/>
          <p:cNvSpPr txBox="1"/>
          <p:nvPr/>
        </p:nvSpPr>
        <p:spPr>
          <a:xfrm>
            <a:off x="457200" y="4114800"/>
            <a:ext cx="83210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営業工数を当月に寄せてONB卒業状態をつくり、その結果として翌月継続率を構造的に上げる。2ヶ月目で立て直し、3ヶ月継続率も構造的に上げる</a:t>
            </a:r>
            <a:endParaRPr b="0" i="0" sz="950" u="none" cap="none" strike="noStrike">
              <a:solidFill>
                <a:srgbClr val="000000"/>
              </a:solidFill>
              <a:latin typeface="Arial"/>
              <a:ea typeface="Arial"/>
              <a:cs typeface="Arial"/>
              <a:sym typeface="Arial"/>
            </a:endParaRPr>
          </a:p>
        </p:txBody>
      </p:sp>
      <p:sp>
        <p:nvSpPr>
          <p:cNvPr id="905" name="Google Shape;905;p40"/>
          <p:cNvSpPr/>
          <p:nvPr/>
        </p:nvSpPr>
        <p:spPr>
          <a:xfrm>
            <a:off x="274320" y="4443984"/>
            <a:ext cx="8595360" cy="29260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0"/>
          <p:cNvSpPr/>
          <p:nvPr/>
        </p:nvSpPr>
        <p:spPr>
          <a:xfrm>
            <a:off x="274320" y="4443984"/>
            <a:ext cx="73152" cy="29260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0"/>
          <p:cNvSpPr txBox="1"/>
          <p:nvPr/>
        </p:nvSpPr>
        <p:spPr>
          <a:xfrm>
            <a:off x="457200" y="4443984"/>
            <a:ext cx="83210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最終形：Human × Worker × Tech で、全顧客に必要なタッチを届ける（ONB卒業は継続率を上げるための手段）</a:t>
            </a:r>
            <a:endParaRPr b="0" i="0" sz="1000" u="none" cap="none" strike="noStrike">
              <a:solidFill>
                <a:srgbClr val="000000"/>
              </a:solidFill>
              <a:latin typeface="Arial"/>
              <a:ea typeface="Arial"/>
              <a:cs typeface="Arial"/>
              <a:sym typeface="Arial"/>
            </a:endParaRPr>
          </a:p>
        </p:txBody>
      </p:sp>
      <p:sp>
        <p:nvSpPr>
          <p:cNvPr id="908" name="Google Shape;908;p40"/>
          <p:cNvSpPr txBox="1"/>
          <p:nvPr/>
        </p:nvSpPr>
        <p:spPr>
          <a:xfrm>
            <a:off x="274320" y="4754880"/>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10月は運用改革に伴い翌月以降の営業追客範囲を一時的に絞る。Eヨミの定義が失注・交渉不成立の場合は原則対象外。</a:t>
            </a:r>
            <a:endParaRPr b="0" i="0" sz="700" u="none" cap="none" strike="noStrike">
              <a:solidFill>
                <a:srgbClr val="000000"/>
              </a:solidFill>
              <a:latin typeface="Arial"/>
              <a:ea typeface="Arial"/>
              <a:cs typeface="Arial"/>
              <a:sym typeface="Arial"/>
            </a:endParaRPr>
          </a:p>
        </p:txBody>
      </p:sp>
      <p:sp>
        <p:nvSpPr>
          <p:cNvPr id="909" name="Google Shape;909;p40"/>
          <p:cNvSpPr/>
          <p:nvPr/>
        </p:nvSpPr>
        <p:spPr>
          <a:xfrm>
            <a:off x="3570691" y="1106356"/>
            <a:ext cx="128100" cy="183000"/>
          </a:xfrm>
          <a:prstGeom prst="rightArrow">
            <a:avLst>
              <a:gd fmla="val 50000" name="adj1"/>
              <a:gd fmla="val 50000" name="adj2"/>
            </a:avLst>
          </a:prstGeom>
          <a:solidFill>
            <a:srgbClr val="888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0"/>
          <p:cNvSpPr/>
          <p:nvPr/>
        </p:nvSpPr>
        <p:spPr>
          <a:xfrm>
            <a:off x="6176731" y="1106356"/>
            <a:ext cx="128100" cy="183000"/>
          </a:xfrm>
          <a:prstGeom prst="rightArrow">
            <a:avLst>
              <a:gd fmla="val 50000" name="adj1"/>
              <a:gd fmla="val 50000" name="adj2"/>
            </a:avLst>
          </a:prstGeom>
          <a:solidFill>
            <a:srgbClr val="888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0"/>
          <p:cNvSpPr txBox="1"/>
          <p:nvPr/>
        </p:nvSpPr>
        <p:spPr>
          <a:xfrm>
            <a:off x="3726143" y="3058684"/>
            <a:ext cx="457200" cy="183000"/>
          </a:xfrm>
          <a:prstGeom prst="rect">
            <a:avLst/>
          </a:prstGeom>
          <a:solidFill>
            <a:srgbClr val="434343"/>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650"/>
              <a:buFont typeface="Arial"/>
              <a:buNone/>
            </a:pPr>
            <a:r>
              <a:rPr b="1" lang="ja" sz="450">
                <a:solidFill>
                  <a:schemeClr val="lt1"/>
                </a:solidFill>
                <a:latin typeface="M PLUS 1p"/>
                <a:ea typeface="M PLUS 1p"/>
                <a:cs typeface="M PLUS 1p"/>
                <a:sym typeface="M PLUS 1p"/>
              </a:rPr>
              <a:t>Worker→営業</a:t>
            </a:r>
            <a:endParaRPr b="1" sz="650">
              <a:solidFill>
                <a:srgbClr val="FFFFFF"/>
              </a:solidFill>
              <a:latin typeface="M PLUS 1p"/>
              <a:ea typeface="M PLUS 1p"/>
              <a:cs typeface="M PLUS 1p"/>
              <a:sym typeface="M PLUS 1p"/>
            </a:endParaRPr>
          </a:p>
        </p:txBody>
      </p:sp>
      <p:sp>
        <p:nvSpPr>
          <p:cNvPr id="912" name="Google Shape;912;p40"/>
          <p:cNvSpPr txBox="1"/>
          <p:nvPr/>
        </p:nvSpPr>
        <p:spPr>
          <a:xfrm>
            <a:off x="4229063" y="2976388"/>
            <a:ext cx="19203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全体へアクション。</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懸念ありを営業へ即時連携</a:t>
            </a:r>
            <a:endParaRPr b="0" i="0" sz="750" u="none" cap="none" strike="noStrike">
              <a:solidFill>
                <a:srgbClr val="000000"/>
              </a:solidFill>
              <a:latin typeface="Arial"/>
              <a:ea typeface="Arial"/>
              <a:cs typeface="Arial"/>
              <a:sym typeface="Arial"/>
            </a:endParaRPr>
          </a:p>
        </p:txBody>
      </p:sp>
      <p:sp>
        <p:nvSpPr>
          <p:cNvPr id="913" name="Google Shape;913;p40"/>
          <p:cNvSpPr txBox="1"/>
          <p:nvPr/>
        </p:nvSpPr>
        <p:spPr>
          <a:xfrm>
            <a:off x="3726143" y="3515884"/>
            <a:ext cx="457200" cy="183000"/>
          </a:xfrm>
          <a:prstGeom prst="rect">
            <a:avLst/>
          </a:prstGeom>
          <a:solidFill>
            <a:srgbClr val="434343"/>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650"/>
              <a:buFont typeface="Arial"/>
              <a:buNone/>
            </a:pPr>
            <a:r>
              <a:rPr b="1" lang="ja" sz="450">
                <a:solidFill>
                  <a:schemeClr val="lt1"/>
                </a:solidFill>
                <a:latin typeface="M PLUS 1p"/>
                <a:ea typeface="M PLUS 1p"/>
                <a:cs typeface="M PLUS 1p"/>
                <a:sym typeface="M PLUS 1p"/>
              </a:rPr>
              <a:t>Worker→営業</a:t>
            </a:r>
            <a:endParaRPr b="1" sz="650">
              <a:solidFill>
                <a:srgbClr val="FFFFFF"/>
              </a:solidFill>
              <a:latin typeface="M PLUS 1p"/>
              <a:ea typeface="M PLUS 1p"/>
              <a:cs typeface="M PLUS 1p"/>
              <a:sym typeface="M PLUS 1p"/>
            </a:endParaRPr>
          </a:p>
        </p:txBody>
      </p:sp>
      <p:sp>
        <p:nvSpPr>
          <p:cNvPr id="914" name="Google Shape;914;p40"/>
          <p:cNvSpPr txBox="1"/>
          <p:nvPr/>
        </p:nvSpPr>
        <p:spPr>
          <a:xfrm>
            <a:off x="4229063" y="3433588"/>
            <a:ext cx="19203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全体へアクション。</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懸念ありを営業へ即時連携</a:t>
            </a:r>
            <a:endParaRPr b="0" i="0" sz="750" u="none" cap="none" strike="noStrike">
              <a:solidFill>
                <a:srgbClr val="000000"/>
              </a:solidFill>
              <a:latin typeface="Arial"/>
              <a:ea typeface="Arial"/>
              <a:cs typeface="Arial"/>
              <a:sym typeface="Arial"/>
            </a:endParaRPr>
          </a:p>
        </p:txBody>
      </p:sp>
      <p:sp>
        <p:nvSpPr>
          <p:cNvPr id="915" name="Google Shape;915;p40"/>
          <p:cNvSpPr txBox="1"/>
          <p:nvPr/>
        </p:nvSpPr>
        <p:spPr>
          <a:xfrm>
            <a:off x="6304815" y="3876994"/>
            <a:ext cx="21945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lang="ja" sz="700">
                <a:solidFill>
                  <a:srgbClr val="434343"/>
                </a:solidFill>
                <a:latin typeface="M PLUS 1p"/>
                <a:ea typeface="M PLUS 1p"/>
                <a:cs typeface="M PLUS 1p"/>
                <a:sym typeface="M PLUS 1p"/>
              </a:rPr>
              <a:t>※Techは全てにアクション</a:t>
            </a:r>
            <a:endParaRPr b="0" i="0" sz="700" u="none" cap="none" strike="noStrike">
              <a:solidFill>
                <a:srgbClr val="000000"/>
              </a:solidFill>
              <a:latin typeface="Arial"/>
              <a:ea typeface="Arial"/>
              <a:cs typeface="Arial"/>
              <a:sym typeface="Arial"/>
            </a:endParaRPr>
          </a:p>
        </p:txBody>
      </p:sp>
      <p:sp>
        <p:nvSpPr>
          <p:cNvPr id="916" name="Google Shape;916;p40"/>
          <p:cNvSpPr txBox="1"/>
          <p:nvPr/>
        </p:nvSpPr>
        <p:spPr>
          <a:xfrm>
            <a:off x="6327618" y="1554530"/>
            <a:ext cx="457200" cy="183000"/>
          </a:xfrm>
          <a:prstGeom prst="rect">
            <a:avLst/>
          </a:prstGeom>
          <a:solidFill>
            <a:srgbClr val="43434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FFFFFF"/>
                </a:solidFill>
                <a:latin typeface="M PLUS 1p"/>
                <a:ea typeface="M PLUS 1p"/>
                <a:cs typeface="M PLUS 1p"/>
                <a:sym typeface="M PLUS 1p"/>
              </a:rPr>
              <a:t>Worker</a:t>
            </a:r>
            <a:endParaRPr b="0" i="0" sz="650" u="none" cap="none" strike="noStrike">
              <a:solidFill>
                <a:srgbClr val="000000"/>
              </a:solidFill>
              <a:latin typeface="Arial"/>
              <a:ea typeface="Arial"/>
              <a:cs typeface="Arial"/>
              <a:sym typeface="Arial"/>
            </a:endParaRPr>
          </a:p>
        </p:txBody>
      </p:sp>
      <p:sp>
        <p:nvSpPr>
          <p:cNvPr id="917" name="Google Shape;917;p40"/>
          <p:cNvSpPr txBox="1"/>
          <p:nvPr/>
        </p:nvSpPr>
        <p:spPr>
          <a:xfrm>
            <a:off x="6830538" y="1472234"/>
            <a:ext cx="19203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初回稼働前の顧客へ翌月ヨミ付け・</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懸念のトスアップ</a:t>
            </a:r>
            <a:endParaRPr b="0" i="0" sz="750" u="none" cap="none" strike="noStrike">
              <a:solidFill>
                <a:srgbClr val="000000"/>
              </a:solidFill>
              <a:latin typeface="Arial"/>
              <a:ea typeface="Arial"/>
              <a:cs typeface="Arial"/>
              <a:sym typeface="Arial"/>
            </a:endParaRPr>
          </a:p>
        </p:txBody>
      </p:sp>
      <p:sp>
        <p:nvSpPr>
          <p:cNvPr id="918" name="Google Shape;918;p40"/>
          <p:cNvSpPr txBox="1"/>
          <p:nvPr/>
        </p:nvSpPr>
        <p:spPr>
          <a:xfrm>
            <a:off x="6336808" y="2071144"/>
            <a:ext cx="457200" cy="183000"/>
          </a:xfrm>
          <a:prstGeom prst="rect">
            <a:avLst/>
          </a:prstGeom>
          <a:solidFill>
            <a:srgbClr val="FFD4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営業</a:t>
            </a:r>
            <a:endParaRPr b="0" i="0" sz="650" u="none" cap="none" strike="noStrike">
              <a:solidFill>
                <a:srgbClr val="000000"/>
              </a:solidFill>
              <a:latin typeface="Arial"/>
              <a:ea typeface="Arial"/>
              <a:cs typeface="Arial"/>
              <a:sym typeface="Arial"/>
            </a:endParaRPr>
          </a:p>
        </p:txBody>
      </p:sp>
      <p:sp>
        <p:nvSpPr>
          <p:cNvPr id="919" name="Google Shape;919;p40"/>
          <p:cNvSpPr txBox="1"/>
          <p:nvPr/>
        </p:nvSpPr>
        <p:spPr>
          <a:xfrm>
            <a:off x="6839728" y="1952272"/>
            <a:ext cx="19203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ONB卒業スコアリングで星取。</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未達項目に応じた標準アクション</a:t>
            </a:r>
            <a:endParaRPr sz="750">
              <a:solidFill>
                <a:srgbClr val="1A1A1A"/>
              </a:solidFill>
              <a:latin typeface="M PLUS 1p"/>
              <a:ea typeface="M PLUS 1p"/>
              <a:cs typeface="M PLUS 1p"/>
              <a:sym typeface="M PLUS 1p"/>
            </a:endParaRPr>
          </a:p>
        </p:txBody>
      </p:sp>
      <p:sp>
        <p:nvSpPr>
          <p:cNvPr id="920" name="Google Shape;920;p40"/>
          <p:cNvSpPr txBox="1"/>
          <p:nvPr/>
        </p:nvSpPr>
        <p:spPr>
          <a:xfrm>
            <a:off x="6336793" y="2592372"/>
            <a:ext cx="457200" cy="183000"/>
          </a:xfrm>
          <a:prstGeom prst="rect">
            <a:avLst/>
          </a:prstGeom>
          <a:solidFill>
            <a:srgbClr val="434343"/>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650"/>
              <a:buFont typeface="Arial"/>
              <a:buNone/>
            </a:pPr>
            <a:r>
              <a:rPr b="1" lang="ja" sz="450">
                <a:solidFill>
                  <a:schemeClr val="lt1"/>
                </a:solidFill>
                <a:latin typeface="M PLUS 1p"/>
                <a:ea typeface="M PLUS 1p"/>
                <a:cs typeface="M PLUS 1p"/>
                <a:sym typeface="M PLUS 1p"/>
              </a:rPr>
              <a:t>Worker→営業</a:t>
            </a:r>
            <a:endParaRPr b="1" sz="650">
              <a:solidFill>
                <a:srgbClr val="FFFFFF"/>
              </a:solidFill>
              <a:latin typeface="M PLUS 1p"/>
              <a:ea typeface="M PLUS 1p"/>
              <a:cs typeface="M PLUS 1p"/>
              <a:sym typeface="M PLUS 1p"/>
            </a:endParaRPr>
          </a:p>
        </p:txBody>
      </p:sp>
      <p:sp>
        <p:nvSpPr>
          <p:cNvPr id="921" name="Google Shape;921;p40"/>
          <p:cNvSpPr txBox="1"/>
          <p:nvPr/>
        </p:nvSpPr>
        <p:spPr>
          <a:xfrm>
            <a:off x="6839713" y="2510076"/>
            <a:ext cx="19203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全体へアクション。</a:t>
            </a:r>
            <a:endParaRPr b="0" i="0" sz="750" u="none" cap="none" strike="noStrike">
              <a:solidFill>
                <a:srgbClr val="1A1A1A"/>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懸念ありを営業へ即時連携</a:t>
            </a:r>
            <a:endParaRPr b="0" i="0" sz="750" u="none" cap="none" strike="noStrike">
              <a:solidFill>
                <a:srgbClr val="000000"/>
              </a:solidFill>
              <a:latin typeface="Arial"/>
              <a:ea typeface="Arial"/>
              <a:cs typeface="Arial"/>
              <a:sym typeface="Arial"/>
            </a:endParaRPr>
          </a:p>
        </p:txBody>
      </p:sp>
      <p:sp>
        <p:nvSpPr>
          <p:cNvPr id="922" name="Google Shape;922;p40"/>
          <p:cNvSpPr txBox="1"/>
          <p:nvPr/>
        </p:nvSpPr>
        <p:spPr>
          <a:xfrm>
            <a:off x="6336808" y="3078019"/>
            <a:ext cx="457200" cy="183000"/>
          </a:xfrm>
          <a:prstGeom prst="rect">
            <a:avLst/>
          </a:prstGeom>
          <a:solidFill>
            <a:srgbClr val="FFD4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ja" sz="650" u="none" cap="none" strike="noStrike">
                <a:solidFill>
                  <a:srgbClr val="1A1A1A"/>
                </a:solidFill>
                <a:latin typeface="M PLUS 1p"/>
                <a:ea typeface="M PLUS 1p"/>
                <a:cs typeface="M PLUS 1p"/>
                <a:sym typeface="M PLUS 1p"/>
              </a:rPr>
              <a:t>営業</a:t>
            </a:r>
            <a:endParaRPr b="0" i="0" sz="65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7" name="Shape 927"/>
        <p:cNvGrpSpPr/>
        <p:nvPr/>
      </p:nvGrpSpPr>
      <p:grpSpPr>
        <a:xfrm>
          <a:off x="0" y="0"/>
          <a:ext cx="0" cy="0"/>
          <a:chOff x="0" y="0"/>
          <a:chExt cx="0" cy="0"/>
        </a:xfrm>
      </p:grpSpPr>
      <p:sp>
        <p:nvSpPr>
          <p:cNvPr id="928" name="Google Shape;928;p41"/>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41"/>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41"/>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15｜3ヶ月ONBロードマップ｜当月の卒業スコアリングを、3ヶ月でのONB完了へ</a:t>
            </a:r>
            <a:endParaRPr b="0" i="0" sz="1500" u="none" cap="none" strike="noStrike">
              <a:solidFill>
                <a:srgbClr val="000000"/>
              </a:solidFill>
              <a:latin typeface="Arial"/>
              <a:ea typeface="Arial"/>
              <a:cs typeface="Arial"/>
              <a:sym typeface="Arial"/>
            </a:endParaRPr>
          </a:p>
        </p:txBody>
      </p:sp>
      <p:sp>
        <p:nvSpPr>
          <p:cNvPr id="931" name="Google Shape;931;p41"/>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932" name="Google Shape;932;p41"/>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933" name="Google Shape;933;p41"/>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19</a:t>
            </a:r>
            <a:endParaRPr b="0" i="0" sz="800" u="none" cap="none" strike="noStrike">
              <a:solidFill>
                <a:srgbClr val="000000"/>
              </a:solidFill>
              <a:latin typeface="Arial"/>
              <a:ea typeface="Arial"/>
              <a:cs typeface="Arial"/>
              <a:sym typeface="Arial"/>
            </a:endParaRPr>
          </a:p>
        </p:txBody>
      </p:sp>
      <p:sp>
        <p:nvSpPr>
          <p:cNvPr id="934" name="Google Shape;934;p41"/>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STEP1で当月の卒業条件をPoC、STEP2で3ヶ月継続へ拡張、</a:t>
            </a:r>
            <a:endParaRPr b="1" i="0" sz="1150" u="none" cap="none" strike="noStrike">
              <a:solidFill>
                <a:srgbClr val="4A86E8"/>
              </a:solidFill>
              <a:latin typeface="M PLUS 1p"/>
              <a:ea typeface="M PLUS 1p"/>
              <a:cs typeface="M PLUS 1p"/>
              <a:sym typeface="M PLUS 1p"/>
            </a:endParaRPr>
          </a:p>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STEP3でHuman × Worker × Techにより3ヶ月でONB完了する構造をつくる</a:t>
            </a:r>
            <a:endParaRPr b="0" i="0" sz="1150" u="none" cap="none" strike="noStrike">
              <a:solidFill>
                <a:srgbClr val="4A86E8"/>
              </a:solidFill>
              <a:latin typeface="Arial"/>
              <a:ea typeface="Arial"/>
              <a:cs typeface="Arial"/>
              <a:sym typeface="Arial"/>
            </a:endParaRPr>
          </a:p>
        </p:txBody>
      </p:sp>
      <p:sp>
        <p:nvSpPr>
          <p:cNvPr id="935" name="Google Shape;935;p41"/>
          <p:cNvSpPr/>
          <p:nvPr/>
        </p:nvSpPr>
        <p:spPr>
          <a:xfrm>
            <a:off x="457200" y="3886200"/>
            <a:ext cx="8229600" cy="27432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41"/>
          <p:cNvSpPr/>
          <p:nvPr/>
        </p:nvSpPr>
        <p:spPr>
          <a:xfrm>
            <a:off x="457200" y="2606040"/>
            <a:ext cx="685800" cy="5029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41"/>
          <p:cNvSpPr txBox="1"/>
          <p:nvPr/>
        </p:nvSpPr>
        <p:spPr>
          <a:xfrm>
            <a:off x="457200" y="2606040"/>
            <a:ext cx="68580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FFD100"/>
                </a:solidFill>
                <a:latin typeface="M PLUS 1p"/>
                <a:ea typeface="M PLUS 1p"/>
                <a:cs typeface="M PLUS 1p"/>
                <a:sym typeface="M PLUS 1p"/>
              </a:rPr>
              <a:t>STEP 1</a:t>
            </a:r>
            <a:endParaRPr b="0" i="0" sz="900" u="none" cap="none" strike="noStrike">
              <a:solidFill>
                <a:srgbClr val="000000"/>
              </a:solidFill>
              <a:latin typeface="Arial"/>
              <a:ea typeface="Arial"/>
              <a:cs typeface="Arial"/>
              <a:sym typeface="Arial"/>
            </a:endParaRPr>
          </a:p>
        </p:txBody>
      </p:sp>
      <p:sp>
        <p:nvSpPr>
          <p:cNvPr id="938" name="Google Shape;938;p41"/>
          <p:cNvSpPr/>
          <p:nvPr/>
        </p:nvSpPr>
        <p:spPr>
          <a:xfrm>
            <a:off x="1143000" y="2606040"/>
            <a:ext cx="196596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41"/>
          <p:cNvSpPr txBox="1"/>
          <p:nvPr/>
        </p:nvSpPr>
        <p:spPr>
          <a:xfrm>
            <a:off x="1234440" y="2606040"/>
            <a:ext cx="18288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1A1A1A"/>
                </a:solidFill>
                <a:latin typeface="M PLUS 1p"/>
                <a:ea typeface="M PLUS 1p"/>
                <a:cs typeface="M PLUS 1p"/>
                <a:sym typeface="M PLUS 1p"/>
              </a:rPr>
              <a:t>10月</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当月ONB卒業スコアリング PoC</a:t>
            </a:r>
            <a:endParaRPr b="0" i="0" sz="800" u="none" cap="none" strike="noStrike">
              <a:solidFill>
                <a:srgbClr val="000000"/>
              </a:solidFill>
              <a:latin typeface="Arial"/>
              <a:ea typeface="Arial"/>
              <a:cs typeface="Arial"/>
              <a:sym typeface="Arial"/>
            </a:endParaRPr>
          </a:p>
        </p:txBody>
      </p:sp>
      <p:sp>
        <p:nvSpPr>
          <p:cNvPr id="940" name="Google Shape;940;p41"/>
          <p:cNvSpPr/>
          <p:nvPr/>
        </p:nvSpPr>
        <p:spPr>
          <a:xfrm>
            <a:off x="457200" y="3136392"/>
            <a:ext cx="2651760" cy="64008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41"/>
          <p:cNvSpPr txBox="1"/>
          <p:nvPr/>
        </p:nvSpPr>
        <p:spPr>
          <a:xfrm>
            <a:off x="548640" y="3200400"/>
            <a:ext cx="2468880" cy="5486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翌月継続スコア4項目で採点</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4項目中3項目以上達成＝ONB卒業</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ONB完了率と翌月継続の関係を見る</a:t>
            </a:r>
            <a:endParaRPr b="0" i="0" sz="850" u="none" cap="none" strike="noStrike">
              <a:solidFill>
                <a:srgbClr val="000000"/>
              </a:solidFill>
              <a:latin typeface="Arial"/>
              <a:ea typeface="Arial"/>
              <a:cs typeface="Arial"/>
              <a:sym typeface="Arial"/>
            </a:endParaRPr>
          </a:p>
        </p:txBody>
      </p:sp>
      <p:sp>
        <p:nvSpPr>
          <p:cNvPr id="942" name="Google Shape;942;p41"/>
          <p:cNvSpPr/>
          <p:nvPr/>
        </p:nvSpPr>
        <p:spPr>
          <a:xfrm>
            <a:off x="3291840" y="1920240"/>
            <a:ext cx="685800" cy="5029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41"/>
          <p:cNvSpPr txBox="1"/>
          <p:nvPr/>
        </p:nvSpPr>
        <p:spPr>
          <a:xfrm>
            <a:off x="3291840" y="1920240"/>
            <a:ext cx="68580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FFD100"/>
                </a:solidFill>
                <a:latin typeface="M PLUS 1p"/>
                <a:ea typeface="M PLUS 1p"/>
                <a:cs typeface="M PLUS 1p"/>
                <a:sym typeface="M PLUS 1p"/>
              </a:rPr>
              <a:t>STEP 2</a:t>
            </a:r>
            <a:endParaRPr b="0" i="0" sz="900" u="none" cap="none" strike="noStrike">
              <a:solidFill>
                <a:srgbClr val="000000"/>
              </a:solidFill>
              <a:latin typeface="Arial"/>
              <a:ea typeface="Arial"/>
              <a:cs typeface="Arial"/>
              <a:sym typeface="Arial"/>
            </a:endParaRPr>
          </a:p>
        </p:txBody>
      </p:sp>
      <p:sp>
        <p:nvSpPr>
          <p:cNvPr id="944" name="Google Shape;944;p41"/>
          <p:cNvSpPr/>
          <p:nvPr/>
        </p:nvSpPr>
        <p:spPr>
          <a:xfrm>
            <a:off x="3977640" y="1920240"/>
            <a:ext cx="196596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41"/>
          <p:cNvSpPr txBox="1"/>
          <p:nvPr/>
        </p:nvSpPr>
        <p:spPr>
          <a:xfrm>
            <a:off x="4069080" y="1920240"/>
            <a:ext cx="18288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1A1A1A"/>
                </a:solidFill>
                <a:latin typeface="M PLUS 1p"/>
                <a:ea typeface="M PLUS 1p"/>
                <a:cs typeface="M PLUS 1p"/>
                <a:sym typeface="M PLUS 1p"/>
              </a:rPr>
              <a:t>11月以降</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3ヶ月継続スコアリングへ拡張</a:t>
            </a:r>
            <a:endParaRPr b="0" i="0" sz="800" u="none" cap="none" strike="noStrike">
              <a:solidFill>
                <a:srgbClr val="000000"/>
              </a:solidFill>
              <a:latin typeface="Arial"/>
              <a:ea typeface="Arial"/>
              <a:cs typeface="Arial"/>
              <a:sym typeface="Arial"/>
            </a:endParaRPr>
          </a:p>
        </p:txBody>
      </p:sp>
      <p:sp>
        <p:nvSpPr>
          <p:cNvPr id="946" name="Google Shape;946;p41"/>
          <p:cNvSpPr/>
          <p:nvPr/>
        </p:nvSpPr>
        <p:spPr>
          <a:xfrm>
            <a:off x="3291840" y="2450592"/>
            <a:ext cx="2651760" cy="132588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41"/>
          <p:cNvSpPr txBox="1"/>
          <p:nvPr/>
        </p:nvSpPr>
        <p:spPr>
          <a:xfrm>
            <a:off x="3383280" y="2514600"/>
            <a:ext cx="2468880" cy="12344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3ヶ月継続スコア4項目で採点（翌月とは別集計）</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2ヶ月目までの支援を設計</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4項目中3項目以上達成＝完全ONB卒業</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必要顧客へ営業が再介入</a:t>
            </a:r>
            <a:endParaRPr b="0" i="0" sz="850" u="none" cap="none" strike="noStrike">
              <a:solidFill>
                <a:srgbClr val="000000"/>
              </a:solidFill>
              <a:latin typeface="Arial"/>
              <a:ea typeface="Arial"/>
              <a:cs typeface="Arial"/>
              <a:sym typeface="Arial"/>
            </a:endParaRPr>
          </a:p>
        </p:txBody>
      </p:sp>
      <p:sp>
        <p:nvSpPr>
          <p:cNvPr id="948" name="Google Shape;948;p41"/>
          <p:cNvSpPr/>
          <p:nvPr/>
        </p:nvSpPr>
        <p:spPr>
          <a:xfrm>
            <a:off x="6126480" y="1234440"/>
            <a:ext cx="685800" cy="5029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41"/>
          <p:cNvSpPr txBox="1"/>
          <p:nvPr/>
        </p:nvSpPr>
        <p:spPr>
          <a:xfrm>
            <a:off x="6126480" y="1234440"/>
            <a:ext cx="68580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ja" sz="900" u="none" cap="none" strike="noStrike">
                <a:solidFill>
                  <a:srgbClr val="FFD100"/>
                </a:solidFill>
                <a:latin typeface="M PLUS 1p"/>
                <a:ea typeface="M PLUS 1p"/>
                <a:cs typeface="M PLUS 1p"/>
                <a:sym typeface="M PLUS 1p"/>
              </a:rPr>
              <a:t>STEP 3</a:t>
            </a:r>
            <a:endParaRPr b="0" i="0" sz="900" u="none" cap="none" strike="noStrike">
              <a:solidFill>
                <a:srgbClr val="000000"/>
              </a:solidFill>
              <a:latin typeface="Arial"/>
              <a:ea typeface="Arial"/>
              <a:cs typeface="Arial"/>
              <a:sym typeface="Arial"/>
            </a:endParaRPr>
          </a:p>
        </p:txBody>
      </p:sp>
      <p:sp>
        <p:nvSpPr>
          <p:cNvPr id="950" name="Google Shape;950;p41"/>
          <p:cNvSpPr/>
          <p:nvPr/>
        </p:nvSpPr>
        <p:spPr>
          <a:xfrm>
            <a:off x="6812280" y="1234440"/>
            <a:ext cx="196596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41"/>
          <p:cNvSpPr txBox="1"/>
          <p:nvPr/>
        </p:nvSpPr>
        <p:spPr>
          <a:xfrm>
            <a:off x="6903720" y="1234440"/>
            <a:ext cx="18288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ja" sz="800" u="none" cap="none" strike="noStrike">
                <a:solidFill>
                  <a:srgbClr val="1A1A1A"/>
                </a:solidFill>
                <a:latin typeface="M PLUS 1p"/>
                <a:ea typeface="M PLUS 1p"/>
                <a:cs typeface="M PLUS 1p"/>
                <a:sym typeface="M PLUS 1p"/>
              </a:rPr>
              <a:t>最終形</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3ヶ月でONB完了する構造</a:t>
            </a:r>
            <a:endParaRPr b="0" i="0" sz="800" u="none" cap="none" strike="noStrike">
              <a:solidFill>
                <a:srgbClr val="000000"/>
              </a:solidFill>
              <a:latin typeface="Arial"/>
              <a:ea typeface="Arial"/>
              <a:cs typeface="Arial"/>
              <a:sym typeface="Arial"/>
            </a:endParaRPr>
          </a:p>
        </p:txBody>
      </p:sp>
      <p:sp>
        <p:nvSpPr>
          <p:cNvPr id="952" name="Google Shape;952;p41"/>
          <p:cNvSpPr/>
          <p:nvPr/>
        </p:nvSpPr>
        <p:spPr>
          <a:xfrm>
            <a:off x="6126480" y="1764792"/>
            <a:ext cx="2651760" cy="2011680"/>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41"/>
          <p:cNvSpPr txBox="1"/>
          <p:nvPr/>
        </p:nvSpPr>
        <p:spPr>
          <a:xfrm>
            <a:off x="6217920" y="1828800"/>
            <a:ext cx="2468880" cy="19202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Human × Worker × Tech を組み合わせる</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営業は「人が介入することで状態が変わる顧客」に集中</a:t>
            </a:r>
            <a:endParaRPr b="0" i="0" sz="85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000000"/>
              </a:buClr>
              <a:buSzPts val="850"/>
              <a:buFont typeface="Arial"/>
              <a:buChar char="•"/>
            </a:pPr>
            <a:r>
              <a:rPr b="0" i="0" lang="ja" sz="850" u="none" cap="none" strike="noStrike">
                <a:solidFill>
                  <a:srgbClr val="1A1A1A"/>
                </a:solidFill>
                <a:latin typeface="M PLUS 1p"/>
                <a:ea typeface="M PLUS 1p"/>
                <a:cs typeface="M PLUS 1p"/>
                <a:sym typeface="M PLUS 1p"/>
              </a:rPr>
              <a:t>CIMへ渡す時点で「自走できる状態」をつくる</a:t>
            </a:r>
            <a:endParaRPr b="0" i="0" sz="850" u="none" cap="none" strike="noStrike">
              <a:solidFill>
                <a:srgbClr val="000000"/>
              </a:solidFill>
              <a:latin typeface="Arial"/>
              <a:ea typeface="Arial"/>
              <a:cs typeface="Arial"/>
              <a:sym typeface="Arial"/>
            </a:endParaRPr>
          </a:p>
        </p:txBody>
      </p:sp>
      <p:sp>
        <p:nvSpPr>
          <p:cNvPr id="954" name="Google Shape;954;p41"/>
          <p:cNvSpPr txBox="1"/>
          <p:nvPr/>
        </p:nvSpPr>
        <p:spPr>
          <a:xfrm>
            <a:off x="457200" y="1143000"/>
            <a:ext cx="5029200" cy="32004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100"/>
              <a:buFont typeface="Arial"/>
              <a:buNone/>
            </a:pPr>
            <a:r>
              <a:rPr b="1" i="0" lang="ja" sz="1100" u="none" cap="none" strike="noStrike">
                <a:solidFill>
                  <a:srgbClr val="434343"/>
                </a:solidFill>
                <a:latin typeface="M PLUS 1p"/>
                <a:ea typeface="M PLUS 1p"/>
                <a:cs typeface="M PLUS 1p"/>
                <a:sym typeface="M PLUS 1p"/>
              </a:rPr>
              <a:t>当月に自走の土台をつくり、3ヶ月で定着を目指す</a:t>
            </a:r>
            <a:endParaRPr b="0" i="0" sz="1100" u="none" cap="none" strike="noStrike">
              <a:solidFill>
                <a:srgbClr val="000000"/>
              </a:solidFill>
              <a:latin typeface="Arial"/>
              <a:ea typeface="Arial"/>
              <a:cs typeface="Arial"/>
              <a:sym typeface="Arial"/>
            </a:endParaRPr>
          </a:p>
        </p:txBody>
      </p:sp>
      <p:sp>
        <p:nvSpPr>
          <p:cNvPr id="955" name="Google Shape;955;p41"/>
          <p:cNvSpPr txBox="1"/>
          <p:nvPr/>
        </p:nvSpPr>
        <p:spPr>
          <a:xfrm>
            <a:off x="274320" y="4553712"/>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STEP2の3ヶ月継続スコアは、追加したひな形の利用・グループ限定公開の利用・新規AA開設・レビュー／未評価解消の4項目（次ページ参照）。</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0" name="Shape 960"/>
        <p:cNvGrpSpPr/>
        <p:nvPr/>
      </p:nvGrpSpPr>
      <p:grpSpPr>
        <a:xfrm>
          <a:off x="0" y="0"/>
          <a:ext cx="0" cy="0"/>
          <a:chOff x="0" y="0"/>
          <a:chExt cx="0" cy="0"/>
        </a:xfrm>
      </p:grpSpPr>
      <p:sp>
        <p:nvSpPr>
          <p:cNvPr id="961" name="Google Shape;961;p42"/>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42"/>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42"/>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16｜3ヶ月継続率を上げる候補｜「効果 × 営業可変性」マトリクス</a:t>
            </a:r>
            <a:endParaRPr b="0" i="0" sz="1500" u="none" cap="none" strike="noStrike">
              <a:solidFill>
                <a:srgbClr val="000000"/>
              </a:solidFill>
              <a:latin typeface="Arial"/>
              <a:ea typeface="Arial"/>
              <a:cs typeface="Arial"/>
              <a:sym typeface="Arial"/>
            </a:endParaRPr>
          </a:p>
        </p:txBody>
      </p:sp>
      <p:sp>
        <p:nvSpPr>
          <p:cNvPr id="964" name="Google Shape;964;p42"/>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965" name="Google Shape;965;p42"/>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966" name="Google Shape;966;p42"/>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20</a:t>
            </a:r>
            <a:endParaRPr b="0" i="0" sz="800" u="none" cap="none" strike="noStrike">
              <a:solidFill>
                <a:srgbClr val="000000"/>
              </a:solidFill>
              <a:latin typeface="Arial"/>
              <a:ea typeface="Arial"/>
              <a:cs typeface="Arial"/>
              <a:sym typeface="Arial"/>
            </a:endParaRPr>
          </a:p>
        </p:txBody>
      </p:sp>
      <p:sp>
        <p:nvSpPr>
          <p:cNvPr id="967" name="Google Shape;967;p42"/>
          <p:cNvSpPr txBox="1"/>
          <p:nvPr/>
        </p:nvSpPr>
        <p:spPr>
          <a:xfrm>
            <a:off x="274325" y="621800"/>
            <a:ext cx="8822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3ヶ月継続スコアは、ひな形の利用・グループ限定公開・新規AA・レビューの4項目。4項目中3項目以上で完全ONB卒業</a:t>
            </a:r>
            <a:endParaRPr b="0" i="0" sz="1150" u="none" cap="none" strike="noStrike">
              <a:solidFill>
                <a:srgbClr val="4A86E8"/>
              </a:solidFill>
              <a:latin typeface="Arial"/>
              <a:ea typeface="Arial"/>
              <a:cs typeface="Arial"/>
              <a:sym typeface="Arial"/>
            </a:endParaRPr>
          </a:p>
        </p:txBody>
      </p:sp>
      <p:sp>
        <p:nvSpPr>
          <p:cNvPr id="968" name="Google Shape;968;p42"/>
          <p:cNvSpPr/>
          <p:nvPr/>
        </p:nvSpPr>
        <p:spPr>
          <a:xfrm>
            <a:off x="685800" y="1097280"/>
            <a:ext cx="6172200" cy="324612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69" name="Google Shape;969;p42"/>
          <p:cNvCxnSpPr/>
          <p:nvPr/>
        </p:nvCxnSpPr>
        <p:spPr>
          <a:xfrm>
            <a:off x="2228850" y="1097280"/>
            <a:ext cx="0" cy="3246120"/>
          </a:xfrm>
          <a:prstGeom prst="straightConnector1">
            <a:avLst/>
          </a:prstGeom>
          <a:noFill/>
          <a:ln cap="flat" cmpd="sng" w="9525">
            <a:solidFill>
              <a:srgbClr val="EEEEEE"/>
            </a:solidFill>
            <a:prstDash val="solid"/>
            <a:round/>
            <a:headEnd len="sm" w="sm" type="none"/>
            <a:tailEnd len="sm" w="sm" type="none"/>
          </a:ln>
        </p:spPr>
      </p:cxnSp>
      <p:cxnSp>
        <p:nvCxnSpPr>
          <p:cNvPr id="970" name="Google Shape;970;p42"/>
          <p:cNvCxnSpPr/>
          <p:nvPr/>
        </p:nvCxnSpPr>
        <p:spPr>
          <a:xfrm>
            <a:off x="685800" y="1908810"/>
            <a:ext cx="6172200" cy="0"/>
          </a:xfrm>
          <a:prstGeom prst="straightConnector1">
            <a:avLst/>
          </a:prstGeom>
          <a:noFill/>
          <a:ln cap="flat" cmpd="sng" w="9525">
            <a:solidFill>
              <a:srgbClr val="EEEEEE"/>
            </a:solidFill>
            <a:prstDash val="solid"/>
            <a:round/>
            <a:headEnd len="sm" w="sm" type="none"/>
            <a:tailEnd len="sm" w="sm" type="none"/>
          </a:ln>
        </p:spPr>
      </p:cxnSp>
      <p:cxnSp>
        <p:nvCxnSpPr>
          <p:cNvPr id="971" name="Google Shape;971;p42"/>
          <p:cNvCxnSpPr/>
          <p:nvPr/>
        </p:nvCxnSpPr>
        <p:spPr>
          <a:xfrm>
            <a:off x="3771900" y="1097280"/>
            <a:ext cx="0" cy="3246120"/>
          </a:xfrm>
          <a:prstGeom prst="straightConnector1">
            <a:avLst/>
          </a:prstGeom>
          <a:noFill/>
          <a:ln cap="flat" cmpd="sng" w="9525">
            <a:solidFill>
              <a:srgbClr val="EEEEEE"/>
            </a:solidFill>
            <a:prstDash val="solid"/>
            <a:round/>
            <a:headEnd len="sm" w="sm" type="none"/>
            <a:tailEnd len="sm" w="sm" type="none"/>
          </a:ln>
        </p:spPr>
      </p:cxnSp>
      <p:cxnSp>
        <p:nvCxnSpPr>
          <p:cNvPr id="972" name="Google Shape;972;p42"/>
          <p:cNvCxnSpPr/>
          <p:nvPr/>
        </p:nvCxnSpPr>
        <p:spPr>
          <a:xfrm>
            <a:off x="685800" y="2720340"/>
            <a:ext cx="6172200" cy="0"/>
          </a:xfrm>
          <a:prstGeom prst="straightConnector1">
            <a:avLst/>
          </a:prstGeom>
          <a:noFill/>
          <a:ln cap="flat" cmpd="sng" w="9525">
            <a:solidFill>
              <a:srgbClr val="EEEEEE"/>
            </a:solidFill>
            <a:prstDash val="solid"/>
            <a:round/>
            <a:headEnd len="sm" w="sm" type="none"/>
            <a:tailEnd len="sm" w="sm" type="none"/>
          </a:ln>
        </p:spPr>
      </p:cxnSp>
      <p:cxnSp>
        <p:nvCxnSpPr>
          <p:cNvPr id="973" name="Google Shape;973;p42"/>
          <p:cNvCxnSpPr/>
          <p:nvPr/>
        </p:nvCxnSpPr>
        <p:spPr>
          <a:xfrm>
            <a:off x="5314950" y="1097280"/>
            <a:ext cx="0" cy="3246120"/>
          </a:xfrm>
          <a:prstGeom prst="straightConnector1">
            <a:avLst/>
          </a:prstGeom>
          <a:noFill/>
          <a:ln cap="flat" cmpd="sng" w="9525">
            <a:solidFill>
              <a:srgbClr val="EEEEEE"/>
            </a:solidFill>
            <a:prstDash val="solid"/>
            <a:round/>
            <a:headEnd len="sm" w="sm" type="none"/>
            <a:tailEnd len="sm" w="sm" type="none"/>
          </a:ln>
        </p:spPr>
      </p:cxnSp>
      <p:cxnSp>
        <p:nvCxnSpPr>
          <p:cNvPr id="974" name="Google Shape;974;p42"/>
          <p:cNvCxnSpPr/>
          <p:nvPr/>
        </p:nvCxnSpPr>
        <p:spPr>
          <a:xfrm>
            <a:off x="685800" y="3531870"/>
            <a:ext cx="6172200" cy="0"/>
          </a:xfrm>
          <a:prstGeom prst="straightConnector1">
            <a:avLst/>
          </a:prstGeom>
          <a:noFill/>
          <a:ln cap="flat" cmpd="sng" w="9525">
            <a:solidFill>
              <a:srgbClr val="EEEEEE"/>
            </a:solidFill>
            <a:prstDash val="solid"/>
            <a:round/>
            <a:headEnd len="sm" w="sm" type="none"/>
            <a:tailEnd len="sm" w="sm" type="none"/>
          </a:ln>
        </p:spPr>
      </p:cxnSp>
      <p:cxnSp>
        <p:nvCxnSpPr>
          <p:cNvPr id="975" name="Google Shape;975;p42"/>
          <p:cNvCxnSpPr/>
          <p:nvPr/>
        </p:nvCxnSpPr>
        <p:spPr>
          <a:xfrm>
            <a:off x="685800" y="1097280"/>
            <a:ext cx="0" cy="3246120"/>
          </a:xfrm>
          <a:prstGeom prst="straightConnector1">
            <a:avLst/>
          </a:prstGeom>
          <a:noFill/>
          <a:ln cap="flat" cmpd="sng" w="19050">
            <a:solidFill>
              <a:srgbClr val="434343"/>
            </a:solidFill>
            <a:prstDash val="solid"/>
            <a:round/>
            <a:headEnd len="med" w="med" type="triangle"/>
            <a:tailEnd len="sm" w="sm" type="none"/>
          </a:ln>
        </p:spPr>
      </p:cxnSp>
      <p:cxnSp>
        <p:nvCxnSpPr>
          <p:cNvPr id="976" name="Google Shape;976;p42"/>
          <p:cNvCxnSpPr/>
          <p:nvPr/>
        </p:nvCxnSpPr>
        <p:spPr>
          <a:xfrm>
            <a:off x="685800" y="4343400"/>
            <a:ext cx="6172200" cy="0"/>
          </a:xfrm>
          <a:prstGeom prst="straightConnector1">
            <a:avLst/>
          </a:prstGeom>
          <a:noFill/>
          <a:ln cap="flat" cmpd="sng" w="19050">
            <a:solidFill>
              <a:srgbClr val="434343"/>
            </a:solidFill>
            <a:prstDash val="solid"/>
            <a:round/>
            <a:headEnd len="sm" w="sm" type="none"/>
            <a:tailEnd len="med" w="med" type="triangle"/>
          </a:ln>
        </p:spPr>
      </p:cxnSp>
      <p:sp>
        <p:nvSpPr>
          <p:cNvPr id="977" name="Google Shape;977;p42"/>
          <p:cNvSpPr txBox="1"/>
          <p:nvPr/>
        </p:nvSpPr>
        <p:spPr>
          <a:xfrm>
            <a:off x="45720" y="1097280"/>
            <a:ext cx="56692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434343"/>
                </a:solidFill>
                <a:latin typeface="M PLUS 1p"/>
                <a:ea typeface="M PLUS 1p"/>
                <a:cs typeface="M PLUS 1p"/>
                <a:sym typeface="M PLUS 1p"/>
              </a:rPr>
              <a:t>3ヶ月継続</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434343"/>
                </a:solidFill>
                <a:latin typeface="M PLUS 1p"/>
                <a:ea typeface="M PLUS 1p"/>
                <a:cs typeface="M PLUS 1p"/>
                <a:sym typeface="M PLUS 1p"/>
              </a:rPr>
              <a:t>への効果</a:t>
            </a:r>
            <a:endParaRPr b="0" i="0" sz="800" u="none" cap="none" strike="noStrike">
              <a:solidFill>
                <a:srgbClr val="000000"/>
              </a:solidFill>
              <a:latin typeface="Arial"/>
              <a:ea typeface="Arial"/>
              <a:cs typeface="Arial"/>
              <a:sym typeface="Arial"/>
            </a:endParaRPr>
          </a:p>
        </p:txBody>
      </p:sp>
      <p:sp>
        <p:nvSpPr>
          <p:cNvPr id="978" name="Google Shape;978;p42"/>
          <p:cNvSpPr txBox="1"/>
          <p:nvPr/>
        </p:nvSpPr>
        <p:spPr>
          <a:xfrm>
            <a:off x="45720" y="1554480"/>
            <a:ext cx="566928"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767676"/>
                </a:solidFill>
                <a:latin typeface="M PLUS 1p"/>
                <a:ea typeface="M PLUS 1p"/>
                <a:cs typeface="M PLUS 1p"/>
                <a:sym typeface="M PLUS 1p"/>
              </a:rPr>
              <a:t>大</a:t>
            </a:r>
            <a:endParaRPr b="0" i="0" sz="800" u="none" cap="none" strike="noStrike">
              <a:solidFill>
                <a:srgbClr val="000000"/>
              </a:solidFill>
              <a:latin typeface="Arial"/>
              <a:ea typeface="Arial"/>
              <a:cs typeface="Arial"/>
              <a:sym typeface="Arial"/>
            </a:endParaRPr>
          </a:p>
        </p:txBody>
      </p:sp>
      <p:sp>
        <p:nvSpPr>
          <p:cNvPr id="979" name="Google Shape;979;p42"/>
          <p:cNvSpPr txBox="1"/>
          <p:nvPr/>
        </p:nvSpPr>
        <p:spPr>
          <a:xfrm>
            <a:off x="45720" y="3840480"/>
            <a:ext cx="56692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767676"/>
                </a:solidFill>
                <a:latin typeface="M PLUS 1p"/>
                <a:ea typeface="M PLUS 1p"/>
                <a:cs typeface="M PLUS 1p"/>
                <a:sym typeface="M PLUS 1p"/>
              </a:rPr>
              <a:t>小／</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rgbClr val="767676"/>
                </a:solidFill>
                <a:latin typeface="M PLUS 1p"/>
                <a:ea typeface="M PLUS 1p"/>
                <a:cs typeface="M PLUS 1p"/>
                <a:sym typeface="M PLUS 1p"/>
              </a:rPr>
              <a:t>未検証</a:t>
            </a:r>
            <a:endParaRPr b="0" i="0" sz="800" u="none" cap="none" strike="noStrike">
              <a:solidFill>
                <a:srgbClr val="000000"/>
              </a:solidFill>
              <a:latin typeface="Arial"/>
              <a:ea typeface="Arial"/>
              <a:cs typeface="Arial"/>
              <a:sym typeface="Arial"/>
            </a:endParaRPr>
          </a:p>
        </p:txBody>
      </p:sp>
      <p:sp>
        <p:nvSpPr>
          <p:cNvPr id="980" name="Google Shape;980;p42"/>
          <p:cNvSpPr txBox="1"/>
          <p:nvPr/>
        </p:nvSpPr>
        <p:spPr>
          <a:xfrm>
            <a:off x="685800" y="4370832"/>
            <a:ext cx="6172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ja" sz="800" u="none" cap="none" strike="noStrike">
                <a:solidFill>
                  <a:srgbClr val="434343"/>
                </a:solidFill>
                <a:latin typeface="M PLUS 1p"/>
                <a:ea typeface="M PLUS 1p"/>
                <a:cs typeface="M PLUS 1p"/>
                <a:sym typeface="M PLUS 1p"/>
              </a:rPr>
              <a:t>営業側の可変性　　低 ←　　　　　　　　　　　　　　　　　　　　　　　　→ 高</a:t>
            </a:r>
            <a:endParaRPr b="0" i="0" sz="800" u="none" cap="none" strike="noStrike">
              <a:solidFill>
                <a:srgbClr val="000000"/>
              </a:solidFill>
              <a:latin typeface="Arial"/>
              <a:ea typeface="Arial"/>
              <a:cs typeface="Arial"/>
              <a:sym typeface="Arial"/>
            </a:endParaRPr>
          </a:p>
        </p:txBody>
      </p:sp>
      <p:sp>
        <p:nvSpPr>
          <p:cNvPr id="981" name="Google Shape;981;p42"/>
          <p:cNvSpPr/>
          <p:nvPr/>
        </p:nvSpPr>
        <p:spPr>
          <a:xfrm>
            <a:off x="4953000" y="1231900"/>
            <a:ext cx="1828800" cy="381000"/>
          </a:xfrm>
          <a:prstGeom prst="rect">
            <a:avLst/>
          </a:prstGeom>
          <a:solidFill>
            <a:srgbClr val="FFD100"/>
          </a:solidFill>
          <a:ln cap="flat" cmpd="sng" w="1905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42"/>
          <p:cNvSpPr txBox="1"/>
          <p:nvPr/>
        </p:nvSpPr>
        <p:spPr>
          <a:xfrm>
            <a:off x="4953000" y="1231900"/>
            <a:ext cx="18288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追加したひな形を実際に利用</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 使用雛形 3ヶ月29.3%→47.5%（No.13）</a:t>
            </a:r>
            <a:endParaRPr b="0" i="0" sz="850" u="none" cap="none" strike="noStrike">
              <a:solidFill>
                <a:srgbClr val="000000"/>
              </a:solidFill>
              <a:latin typeface="Arial"/>
              <a:ea typeface="Arial"/>
              <a:cs typeface="Arial"/>
              <a:sym typeface="Arial"/>
            </a:endParaRPr>
          </a:p>
        </p:txBody>
      </p:sp>
      <p:sp>
        <p:nvSpPr>
          <p:cNvPr id="983" name="Google Shape;983;p42"/>
          <p:cNvSpPr/>
          <p:nvPr/>
        </p:nvSpPr>
        <p:spPr>
          <a:xfrm>
            <a:off x="5080000" y="2717800"/>
            <a:ext cx="1739900" cy="381000"/>
          </a:xfrm>
          <a:prstGeom prst="rect">
            <a:avLst/>
          </a:prstGeom>
          <a:solidFill>
            <a:srgbClr val="FFD100"/>
          </a:solidFill>
          <a:ln cap="flat" cmpd="sng" w="1905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42"/>
          <p:cNvSpPr txBox="1"/>
          <p:nvPr/>
        </p:nvSpPr>
        <p:spPr>
          <a:xfrm>
            <a:off x="5080000" y="2717800"/>
            <a:ext cx="17399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レビュー／未評価解消</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 翌月の値のみ（No.08）。3ヶ月は未計測</a:t>
            </a:r>
            <a:endParaRPr b="0" i="0" sz="850" u="none" cap="none" strike="noStrike">
              <a:solidFill>
                <a:srgbClr val="000000"/>
              </a:solidFill>
              <a:latin typeface="Arial"/>
              <a:ea typeface="Arial"/>
              <a:cs typeface="Arial"/>
              <a:sym typeface="Arial"/>
            </a:endParaRPr>
          </a:p>
        </p:txBody>
      </p:sp>
      <p:sp>
        <p:nvSpPr>
          <p:cNvPr id="985" name="Google Shape;985;p42"/>
          <p:cNvSpPr/>
          <p:nvPr/>
        </p:nvSpPr>
        <p:spPr>
          <a:xfrm>
            <a:off x="5080000" y="3251200"/>
            <a:ext cx="1739900" cy="381000"/>
          </a:xfrm>
          <a:prstGeom prst="rect">
            <a:avLst/>
          </a:prstGeom>
          <a:solidFill>
            <a:srgbClr val="FFD100"/>
          </a:solidFill>
          <a:ln cap="flat" cmpd="sng" w="1905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42"/>
          <p:cNvSpPr txBox="1"/>
          <p:nvPr/>
        </p:nvSpPr>
        <p:spPr>
          <a:xfrm>
            <a:off x="5080000" y="3251200"/>
            <a:ext cx="17399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グループ限定公開の利用</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検証中 ENT翌月の値のみ（No.18）</a:t>
            </a:r>
            <a:endParaRPr b="0" i="0" sz="850" u="none" cap="none" strike="noStrike">
              <a:solidFill>
                <a:srgbClr val="000000"/>
              </a:solidFill>
              <a:latin typeface="Arial"/>
              <a:ea typeface="Arial"/>
              <a:cs typeface="Arial"/>
              <a:sym typeface="Arial"/>
            </a:endParaRPr>
          </a:p>
        </p:txBody>
      </p:sp>
      <p:sp>
        <p:nvSpPr>
          <p:cNvPr id="987" name="Google Shape;987;p42"/>
          <p:cNvSpPr/>
          <p:nvPr/>
        </p:nvSpPr>
        <p:spPr>
          <a:xfrm>
            <a:off x="5080000" y="3784600"/>
            <a:ext cx="1739900" cy="381000"/>
          </a:xfrm>
          <a:prstGeom prst="rect">
            <a:avLst/>
          </a:prstGeom>
          <a:solidFill>
            <a:srgbClr val="FFD100"/>
          </a:solidFill>
          <a:ln cap="flat" cmpd="sng" w="1905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42"/>
          <p:cNvSpPr txBox="1"/>
          <p:nvPr/>
        </p:nvSpPr>
        <p:spPr>
          <a:xfrm>
            <a:off x="5080000" y="3784600"/>
            <a:ext cx="17399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850"/>
              <a:buFont typeface="Arial"/>
              <a:buNone/>
            </a:pPr>
            <a:r>
              <a:rPr b="1" i="0" lang="ja" sz="850" u="none" cap="none" strike="noStrike">
                <a:solidFill>
                  <a:srgbClr val="1A1A1A"/>
                </a:solidFill>
                <a:latin typeface="M PLUS 1p"/>
                <a:ea typeface="M PLUS 1p"/>
                <a:cs typeface="M PLUS 1p"/>
                <a:sym typeface="M PLUS 1p"/>
              </a:rPr>
              <a:t>新規AA開設</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検証中 既存定義に準拠。比較値なし</a:t>
            </a:r>
            <a:endParaRPr b="0" i="0" sz="850" u="none" cap="none" strike="noStrike">
              <a:solidFill>
                <a:srgbClr val="000000"/>
              </a:solidFill>
              <a:latin typeface="Arial"/>
              <a:ea typeface="Arial"/>
              <a:cs typeface="Arial"/>
              <a:sym typeface="Arial"/>
            </a:endParaRPr>
          </a:p>
        </p:txBody>
      </p:sp>
      <p:sp>
        <p:nvSpPr>
          <p:cNvPr id="989" name="Google Shape;989;p42"/>
          <p:cNvSpPr/>
          <p:nvPr/>
        </p:nvSpPr>
        <p:spPr>
          <a:xfrm>
            <a:off x="3022600" y="1231900"/>
            <a:ext cx="17399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42"/>
          <p:cNvSpPr txBox="1"/>
          <p:nvPr/>
        </p:nvSpPr>
        <p:spPr>
          <a:xfrm>
            <a:off x="3022600" y="1231900"/>
            <a:ext cx="17399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複数時間帯への展開</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1帯→4帯で+16〜22pt、募集量固定（No.10）</a:t>
            </a:r>
            <a:endParaRPr b="0" i="0" sz="750" u="none" cap="none" strike="noStrike">
              <a:solidFill>
                <a:srgbClr val="000000"/>
              </a:solidFill>
              <a:latin typeface="Arial"/>
              <a:ea typeface="Arial"/>
              <a:cs typeface="Arial"/>
              <a:sym typeface="Arial"/>
            </a:endParaRPr>
          </a:p>
        </p:txBody>
      </p:sp>
      <p:sp>
        <p:nvSpPr>
          <p:cNvPr id="991" name="Google Shape;991;p42"/>
          <p:cNvSpPr/>
          <p:nvPr/>
        </p:nvSpPr>
        <p:spPr>
          <a:xfrm>
            <a:off x="3022600" y="1689100"/>
            <a:ext cx="17399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42"/>
          <p:cNvSpPr txBox="1"/>
          <p:nvPr/>
        </p:nvSpPr>
        <p:spPr>
          <a:xfrm>
            <a:off x="3022600" y="1689100"/>
            <a:ext cx="17399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初月〜2ヶ月目の募集6件以上</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1件9.5%→6〜10件41.1%（選択バイアス未除去）</a:t>
            </a:r>
            <a:endParaRPr b="0" i="0" sz="750" u="none" cap="none" strike="noStrike">
              <a:solidFill>
                <a:srgbClr val="000000"/>
              </a:solidFill>
              <a:latin typeface="Arial"/>
              <a:ea typeface="Arial"/>
              <a:cs typeface="Arial"/>
              <a:sym typeface="Arial"/>
            </a:endParaRPr>
          </a:p>
        </p:txBody>
      </p:sp>
      <p:sp>
        <p:nvSpPr>
          <p:cNvPr id="993" name="Google Shape;993;p42"/>
          <p:cNvSpPr/>
          <p:nvPr/>
        </p:nvSpPr>
        <p:spPr>
          <a:xfrm>
            <a:off x="3251200" y="2184400"/>
            <a:ext cx="12827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42"/>
          <p:cNvSpPr txBox="1"/>
          <p:nvPr/>
        </p:nvSpPr>
        <p:spPr>
          <a:xfrm>
            <a:off x="3251200" y="2184400"/>
            <a:ext cx="12827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募集曜日の広がり</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 11件以上で+8.2pt、少量層は逆転（No.12）</a:t>
            </a:r>
            <a:endParaRPr b="0" i="0" sz="750" u="none" cap="none" strike="noStrike">
              <a:solidFill>
                <a:srgbClr val="000000"/>
              </a:solidFill>
              <a:latin typeface="Arial"/>
              <a:ea typeface="Arial"/>
              <a:cs typeface="Arial"/>
              <a:sym typeface="Arial"/>
            </a:endParaRPr>
          </a:p>
        </p:txBody>
      </p:sp>
      <p:sp>
        <p:nvSpPr>
          <p:cNvPr id="995" name="Google Shape;995;p42"/>
          <p:cNvSpPr/>
          <p:nvPr/>
        </p:nvSpPr>
        <p:spPr>
          <a:xfrm>
            <a:off x="3429000" y="2692400"/>
            <a:ext cx="15494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42"/>
          <p:cNvSpPr txBox="1"/>
          <p:nvPr/>
        </p:nvSpPr>
        <p:spPr>
          <a:xfrm>
            <a:off x="3429000" y="2692400"/>
            <a:ext cx="15494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早期離脱検知・復活架電</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検証中 2ヶ月目離脱は72%が戻らない（構造上の脱落16pt）</a:t>
            </a:r>
            <a:endParaRPr b="0" i="0" sz="750" u="none" cap="none" strike="noStrike">
              <a:solidFill>
                <a:srgbClr val="000000"/>
              </a:solidFill>
              <a:latin typeface="Arial"/>
              <a:ea typeface="Arial"/>
              <a:cs typeface="Arial"/>
              <a:sym typeface="Arial"/>
            </a:endParaRPr>
          </a:p>
        </p:txBody>
      </p:sp>
      <p:sp>
        <p:nvSpPr>
          <p:cNvPr id="997" name="Google Shape;997;p42"/>
          <p:cNvSpPr/>
          <p:nvPr/>
        </p:nvSpPr>
        <p:spPr>
          <a:xfrm>
            <a:off x="774700" y="1879600"/>
            <a:ext cx="15494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42"/>
          <p:cNvSpPr txBox="1"/>
          <p:nvPr/>
        </p:nvSpPr>
        <p:spPr>
          <a:xfrm>
            <a:off x="774700" y="1879600"/>
            <a:ext cx="15494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業種・初回掲載パターン・流入経路</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属性（可変性なし）</a:t>
            </a:r>
            <a:endParaRPr b="0" i="0" sz="750" u="none" cap="none" strike="noStrike">
              <a:solidFill>
                <a:srgbClr val="000000"/>
              </a:solidFill>
              <a:latin typeface="Arial"/>
              <a:ea typeface="Arial"/>
              <a:cs typeface="Arial"/>
              <a:sym typeface="Arial"/>
            </a:endParaRPr>
          </a:p>
        </p:txBody>
      </p:sp>
      <p:sp>
        <p:nvSpPr>
          <p:cNvPr id="999" name="Google Shape;999;p42"/>
          <p:cNvSpPr/>
          <p:nvPr/>
        </p:nvSpPr>
        <p:spPr>
          <a:xfrm>
            <a:off x="1028700" y="2527300"/>
            <a:ext cx="12827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42"/>
          <p:cNvSpPr txBox="1"/>
          <p:nvPr/>
        </p:nvSpPr>
        <p:spPr>
          <a:xfrm>
            <a:off x="1028700" y="2527300"/>
            <a:ext cx="12827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稼働率</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結果指標。掲載日数が少ないと効かない</a:t>
            </a:r>
            <a:endParaRPr b="0" i="0" sz="750" u="none" cap="none" strike="noStrike">
              <a:solidFill>
                <a:srgbClr val="000000"/>
              </a:solidFill>
              <a:latin typeface="Arial"/>
              <a:ea typeface="Arial"/>
              <a:cs typeface="Arial"/>
              <a:sym typeface="Arial"/>
            </a:endParaRPr>
          </a:p>
        </p:txBody>
      </p:sp>
      <p:sp>
        <p:nvSpPr>
          <p:cNvPr id="1001" name="Google Shape;1001;p42"/>
          <p:cNvSpPr/>
          <p:nvPr/>
        </p:nvSpPr>
        <p:spPr>
          <a:xfrm>
            <a:off x="787400" y="3048000"/>
            <a:ext cx="14605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42"/>
          <p:cNvSpPr txBox="1"/>
          <p:nvPr/>
        </p:nvSpPr>
        <p:spPr>
          <a:xfrm>
            <a:off x="787400" y="3048000"/>
            <a:ext cx="14605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リピーター再稼働</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掲載10日以上で+5.2pt（翌月）。掲載機会に依存</a:t>
            </a:r>
            <a:endParaRPr b="0" i="0" sz="750" u="none" cap="none" strike="noStrike">
              <a:solidFill>
                <a:srgbClr val="000000"/>
              </a:solidFill>
              <a:latin typeface="Arial"/>
              <a:ea typeface="Arial"/>
              <a:cs typeface="Arial"/>
              <a:sym typeface="Arial"/>
            </a:endParaRPr>
          </a:p>
        </p:txBody>
      </p:sp>
      <p:sp>
        <p:nvSpPr>
          <p:cNvPr id="1003" name="Google Shape;1003;p42"/>
          <p:cNvSpPr/>
          <p:nvPr/>
        </p:nvSpPr>
        <p:spPr>
          <a:xfrm>
            <a:off x="3238500" y="3200400"/>
            <a:ext cx="17399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42"/>
          <p:cNvSpPr txBox="1"/>
          <p:nvPr/>
        </p:nvSpPr>
        <p:spPr>
          <a:xfrm>
            <a:off x="3238500" y="3200400"/>
            <a:ext cx="17399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雛形3枚目</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3ヶ月+8.8pt。翌月継続後の2段目提案</a:t>
            </a:r>
            <a:endParaRPr b="0" i="0" sz="750" u="none" cap="none" strike="noStrike">
              <a:solidFill>
                <a:srgbClr val="000000"/>
              </a:solidFill>
              <a:latin typeface="Arial"/>
              <a:ea typeface="Arial"/>
              <a:cs typeface="Arial"/>
              <a:sym typeface="Arial"/>
            </a:endParaRPr>
          </a:p>
        </p:txBody>
      </p:sp>
      <p:sp>
        <p:nvSpPr>
          <p:cNvPr id="1005" name="Google Shape;1005;p42"/>
          <p:cNvSpPr/>
          <p:nvPr/>
        </p:nvSpPr>
        <p:spPr>
          <a:xfrm>
            <a:off x="2311400" y="3657600"/>
            <a:ext cx="12827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42"/>
          <p:cNvSpPr txBox="1"/>
          <p:nvPr/>
        </p:nvSpPr>
        <p:spPr>
          <a:xfrm>
            <a:off x="2311400" y="3657600"/>
            <a:ext cx="12827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自走での再掲載</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検証中 ONB完了定義の候補（No.22）</a:t>
            </a:r>
            <a:endParaRPr b="0" i="0" sz="750" u="none" cap="none" strike="noStrike">
              <a:solidFill>
                <a:srgbClr val="000000"/>
              </a:solidFill>
              <a:latin typeface="Arial"/>
              <a:ea typeface="Arial"/>
              <a:cs typeface="Arial"/>
              <a:sym typeface="Arial"/>
            </a:endParaRPr>
          </a:p>
        </p:txBody>
      </p:sp>
      <p:sp>
        <p:nvSpPr>
          <p:cNvPr id="1007" name="Google Shape;1007;p42"/>
          <p:cNvSpPr/>
          <p:nvPr/>
        </p:nvSpPr>
        <p:spPr>
          <a:xfrm>
            <a:off x="3683000" y="3860800"/>
            <a:ext cx="13335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42"/>
          <p:cNvSpPr txBox="1"/>
          <p:nvPr/>
        </p:nvSpPr>
        <p:spPr>
          <a:xfrm>
            <a:off x="3683000" y="3860800"/>
            <a:ext cx="13335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3ヶ月目1週目までに募集公開</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検証中 早期検知の指標</a:t>
            </a:r>
            <a:endParaRPr b="0" i="0" sz="750" u="none" cap="none" strike="noStrike">
              <a:solidFill>
                <a:srgbClr val="000000"/>
              </a:solidFill>
              <a:latin typeface="Arial"/>
              <a:ea typeface="Arial"/>
              <a:cs typeface="Arial"/>
              <a:sym typeface="Arial"/>
            </a:endParaRPr>
          </a:p>
        </p:txBody>
      </p:sp>
      <p:sp>
        <p:nvSpPr>
          <p:cNvPr id="1009" name="Google Shape;1009;p42"/>
          <p:cNvSpPr/>
          <p:nvPr/>
        </p:nvSpPr>
        <p:spPr>
          <a:xfrm>
            <a:off x="787400" y="3860800"/>
            <a:ext cx="1371600" cy="381000"/>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42"/>
          <p:cNvSpPr txBox="1"/>
          <p:nvPr/>
        </p:nvSpPr>
        <p:spPr>
          <a:xfrm>
            <a:off x="787400" y="3860800"/>
            <a:ext cx="1371600" cy="3810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750"/>
              <a:buFont typeface="Arial"/>
              <a:buNone/>
            </a:pPr>
            <a:r>
              <a:rPr b="0" i="0" lang="ja" sz="750" u="none" cap="none" strike="noStrike">
                <a:solidFill>
                  <a:srgbClr val="767676"/>
                </a:solidFill>
                <a:latin typeface="M PLUS 1p"/>
                <a:ea typeface="M PLUS 1p"/>
                <a:cs typeface="M PLUS 1p"/>
                <a:sym typeface="M PLUS 1p"/>
              </a:rPr>
              <a:t>お気に入り登録</a:t>
            </a:r>
            <a:endParaRPr b="0" i="0" sz="7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ja" sz="650" u="none" cap="none" strike="noStrike">
                <a:solidFill>
                  <a:srgbClr val="BDBDBD"/>
                </a:solidFill>
                <a:latin typeface="M PLUS 1p"/>
                <a:ea typeface="M PLUS 1p"/>
                <a:cs typeface="M PLUS 1p"/>
                <a:sym typeface="M PLUS 1p"/>
              </a:rPr>
              <a:t>検証中 直接数値なし（No.14）</a:t>
            </a:r>
            <a:endParaRPr b="0" i="0" sz="750" u="none" cap="none" strike="noStrike">
              <a:solidFill>
                <a:srgbClr val="000000"/>
              </a:solidFill>
              <a:latin typeface="Arial"/>
              <a:ea typeface="Arial"/>
              <a:cs typeface="Arial"/>
              <a:sym typeface="Arial"/>
            </a:endParaRPr>
          </a:p>
        </p:txBody>
      </p:sp>
      <p:sp>
        <p:nvSpPr>
          <p:cNvPr id="1011" name="Google Shape;1011;p42"/>
          <p:cNvSpPr/>
          <p:nvPr/>
        </p:nvSpPr>
        <p:spPr>
          <a:xfrm>
            <a:off x="6995160" y="1097280"/>
            <a:ext cx="1874520" cy="324612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42"/>
          <p:cNvSpPr txBox="1"/>
          <p:nvPr/>
        </p:nvSpPr>
        <p:spPr>
          <a:xfrm>
            <a:off x="7086600" y="1170432"/>
            <a:ext cx="1737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3ヶ月継続率マトリクスの読み方</a:t>
            </a:r>
            <a:endParaRPr b="0" i="0" sz="900" u="none" cap="none" strike="noStrike">
              <a:solidFill>
                <a:srgbClr val="000000"/>
              </a:solidFill>
              <a:latin typeface="Arial"/>
              <a:ea typeface="Arial"/>
              <a:cs typeface="Arial"/>
              <a:sym typeface="Arial"/>
            </a:endParaRPr>
          </a:p>
        </p:txBody>
      </p:sp>
      <p:sp>
        <p:nvSpPr>
          <p:cNvPr id="1013" name="Google Shape;1013;p42"/>
          <p:cNvSpPr/>
          <p:nvPr/>
        </p:nvSpPr>
        <p:spPr>
          <a:xfrm>
            <a:off x="7104888" y="1481328"/>
            <a:ext cx="274320" cy="182880"/>
          </a:xfrm>
          <a:prstGeom prst="rect">
            <a:avLst/>
          </a:prstGeom>
          <a:solidFill>
            <a:srgbClr val="FFD100"/>
          </a:solidFill>
          <a:ln cap="flat" cmpd="sng" w="12700">
            <a:solidFill>
              <a:srgbClr val="E6B8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42"/>
          <p:cNvSpPr txBox="1"/>
          <p:nvPr/>
        </p:nvSpPr>
        <p:spPr>
          <a:xfrm>
            <a:off x="7452360" y="1435608"/>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3ヶ月スコア採用（4項目）</a:t>
            </a:r>
            <a:endParaRPr b="0" i="0" sz="800" u="none" cap="none" strike="noStrike">
              <a:solidFill>
                <a:srgbClr val="000000"/>
              </a:solidFill>
              <a:latin typeface="Arial"/>
              <a:ea typeface="Arial"/>
              <a:cs typeface="Arial"/>
              <a:sym typeface="Arial"/>
            </a:endParaRPr>
          </a:p>
        </p:txBody>
      </p:sp>
      <p:sp>
        <p:nvSpPr>
          <p:cNvPr id="1015" name="Google Shape;1015;p42"/>
          <p:cNvSpPr/>
          <p:nvPr/>
        </p:nvSpPr>
        <p:spPr>
          <a:xfrm>
            <a:off x="7104888" y="1755648"/>
            <a:ext cx="274320" cy="18288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42"/>
          <p:cNvSpPr txBox="1"/>
          <p:nvPr/>
        </p:nvSpPr>
        <p:spPr>
          <a:xfrm>
            <a:off x="7452360" y="1709928"/>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ja" sz="750" u="none" cap="none" strike="noStrike">
                <a:solidFill>
                  <a:srgbClr val="434343"/>
                </a:solidFill>
                <a:latin typeface="M PLUS 1p"/>
                <a:ea typeface="M PLUS 1p"/>
                <a:cs typeface="M PLUS 1p"/>
                <a:sym typeface="M PLUS 1p"/>
              </a:rPr>
              <a:t>その他の候補（今回は選ばない）</a:t>
            </a:r>
            <a:endParaRPr b="0" i="0" sz="750" u="none" cap="none" strike="noStrike">
              <a:solidFill>
                <a:srgbClr val="000000"/>
              </a:solidFill>
              <a:latin typeface="Arial"/>
              <a:ea typeface="Arial"/>
              <a:cs typeface="Arial"/>
              <a:sym typeface="Arial"/>
            </a:endParaRPr>
          </a:p>
        </p:txBody>
      </p:sp>
      <p:sp>
        <p:nvSpPr>
          <p:cNvPr id="1017" name="Google Shape;1017;p42"/>
          <p:cNvSpPr txBox="1"/>
          <p:nvPr/>
        </p:nvSpPr>
        <p:spPr>
          <a:xfrm>
            <a:off x="7086600" y="2057400"/>
            <a:ext cx="173736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ja" sz="800" u="none" cap="none" strike="noStrike">
                <a:solidFill>
                  <a:srgbClr val="1A1A1A"/>
                </a:solidFill>
                <a:latin typeface="M PLUS 1p"/>
                <a:ea typeface="M PLUS 1p"/>
                <a:cs typeface="M PLUS 1p"/>
                <a:sym typeface="M PLUS 1p"/>
              </a:rPr>
              <a:t>エビデンス強度（後段No.参照）</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 強い：差が大きく複数資料で再現</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 条件付き：関連あり（条件・定義に注意）</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 間接：間接根拠のみ／直接数値なし</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750"/>
              <a:buFont typeface="Arial"/>
              <a:buNone/>
            </a:pPr>
            <a:r>
              <a:rPr b="0" i="0" lang="ja" sz="750" u="none" cap="none" strike="noStrike">
                <a:solidFill>
                  <a:srgbClr val="1A1A1A"/>
                </a:solidFill>
                <a:latin typeface="M PLUS 1p"/>
                <a:ea typeface="M PLUS 1p"/>
                <a:cs typeface="M PLUS 1p"/>
                <a:sym typeface="M PLUS 1p"/>
              </a:rPr>
              <a:t>検証中：定量根拠なし（PoCで検証）</a:t>
            </a:r>
            <a:endParaRPr b="0" i="0" sz="800" u="none" cap="none" strike="noStrike">
              <a:solidFill>
                <a:srgbClr val="000000"/>
              </a:solidFill>
              <a:latin typeface="Arial"/>
              <a:ea typeface="Arial"/>
              <a:cs typeface="Arial"/>
              <a:sym typeface="Arial"/>
            </a:endParaRPr>
          </a:p>
        </p:txBody>
      </p:sp>
      <p:sp>
        <p:nvSpPr>
          <p:cNvPr id="1018" name="Google Shape;1018;p42"/>
          <p:cNvSpPr txBox="1"/>
          <p:nvPr/>
        </p:nvSpPr>
        <p:spPr>
          <a:xfrm>
            <a:off x="7086600" y="3200400"/>
            <a:ext cx="173736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追加したひな形の利用は、翌月側の「追加ひな形作成」（作成の有無）とは別に判定する。No.13の差は使用雛形の値。</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434343"/>
                </a:solidFill>
                <a:latin typeface="M PLUS 1p"/>
                <a:ea typeface="M PLUS 1p"/>
                <a:cs typeface="M PLUS 1p"/>
                <a:sym typeface="M PLUS 1p"/>
              </a:rPr>
              <a:t>時間帯・曜日・募集量は効果があるが、3ヶ月スコアには入れず、その他の候補とする。</a:t>
            </a:r>
            <a:endParaRPr b="0" i="0" sz="700" u="none" cap="none" strike="noStrike">
              <a:solidFill>
                <a:srgbClr val="000000"/>
              </a:solidFill>
              <a:latin typeface="Arial"/>
              <a:ea typeface="Arial"/>
              <a:cs typeface="Arial"/>
              <a:sym typeface="Arial"/>
            </a:endParaRPr>
          </a:p>
        </p:txBody>
      </p:sp>
      <p:sp>
        <p:nvSpPr>
          <p:cNvPr id="1019" name="Google Shape;1019;p42"/>
          <p:cNvSpPr txBox="1"/>
          <p:nvPr/>
        </p:nvSpPr>
        <p:spPr>
          <a:xfrm>
            <a:off x="274320" y="4572000"/>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767676"/>
                </a:solidFill>
                <a:latin typeface="M PLUS 1p"/>
                <a:ea typeface="M PLUS 1p"/>
                <a:cs typeface="M PLUS 1p"/>
                <a:sym typeface="M PLUS 1p"/>
              </a:rPr>
              <a:t>効果は3ヶ月継続率の差で評価し、統制後の値を優先。グループ限定公開・新規AA・レビューは3ヶ月継続での比較値がなく、PoCで検証する。詳細はAppendix「3ヶ月継続率のツボ」参照。</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4" name="Shape 1024"/>
        <p:cNvGrpSpPr/>
        <p:nvPr/>
      </p:nvGrpSpPr>
      <p:grpSpPr>
        <a:xfrm>
          <a:off x="0" y="0"/>
          <a:ext cx="0" cy="0"/>
          <a:chOff x="0" y="0"/>
          <a:chExt cx="0" cy="0"/>
        </a:xfrm>
      </p:grpSpPr>
      <p:sp>
        <p:nvSpPr>
          <p:cNvPr id="1025" name="Google Shape;1025;p43"/>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43"/>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43"/>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16-2｜3ヶ月継続のONB卒業条件｜4項目中3項目以上達成＝完全ONB卒業</a:t>
            </a:r>
            <a:endParaRPr b="0" i="0" sz="1500" u="none" cap="none" strike="noStrike">
              <a:solidFill>
                <a:srgbClr val="000000"/>
              </a:solidFill>
              <a:latin typeface="Arial"/>
              <a:ea typeface="Arial"/>
              <a:cs typeface="Arial"/>
              <a:sym typeface="Arial"/>
            </a:endParaRPr>
          </a:p>
        </p:txBody>
      </p:sp>
      <p:sp>
        <p:nvSpPr>
          <p:cNvPr id="1028" name="Google Shape;1028;p43"/>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1029" name="Google Shape;1029;p43"/>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1030" name="Google Shape;1030;p43"/>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12</a:t>
            </a:r>
            <a:endParaRPr b="0" i="0" sz="800" u="none" cap="none" strike="noStrike">
              <a:solidFill>
                <a:srgbClr val="000000"/>
              </a:solidFill>
              <a:latin typeface="Arial"/>
              <a:ea typeface="Arial"/>
              <a:cs typeface="Arial"/>
              <a:sym typeface="Arial"/>
            </a:endParaRPr>
          </a:p>
        </p:txBody>
      </p:sp>
      <p:sp>
        <p:nvSpPr>
          <p:cNvPr id="1031" name="Google Shape;1031;p43"/>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3ヶ月継続スコアは4項目、必須項目なし。新規AAを開設できない企業も、残り3項目の達成で卒業できる</a:t>
            </a:r>
            <a:endParaRPr b="0" i="0" sz="1150" u="none" cap="none" strike="noStrike">
              <a:solidFill>
                <a:srgbClr val="4A86E8"/>
              </a:solidFill>
              <a:latin typeface="Arial"/>
              <a:ea typeface="Arial"/>
              <a:cs typeface="Arial"/>
              <a:sym typeface="Arial"/>
            </a:endParaRPr>
          </a:p>
        </p:txBody>
      </p:sp>
      <p:sp>
        <p:nvSpPr>
          <p:cNvPr id="1032" name="Google Shape;1032;p43"/>
          <p:cNvSpPr/>
          <p:nvPr/>
        </p:nvSpPr>
        <p:spPr>
          <a:xfrm>
            <a:off x="279400" y="1054100"/>
            <a:ext cx="3175000" cy="571500"/>
          </a:xfrm>
          <a:prstGeom prst="rect">
            <a:avLst/>
          </a:prstGeom>
          <a:solidFill>
            <a:srgbClr val="FFD100"/>
          </a:solidFill>
          <a:ln cap="flat" cmpd="sng" w="952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43"/>
          <p:cNvSpPr txBox="1"/>
          <p:nvPr/>
        </p:nvSpPr>
        <p:spPr>
          <a:xfrm>
            <a:off x="279400" y="1054100"/>
            <a:ext cx="3175000" cy="5715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4項目中</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i="0" lang="ja" sz="1100" u="none" cap="none" strike="noStrike">
                <a:solidFill>
                  <a:srgbClr val="1A1A1A"/>
                </a:solidFill>
                <a:latin typeface="M PLUS 1p"/>
                <a:ea typeface="M PLUS 1p"/>
                <a:cs typeface="M PLUS 1p"/>
                <a:sym typeface="M PLUS 1p"/>
              </a:rPr>
              <a:t>3項目以上達成</a:t>
            </a:r>
            <a:endParaRPr b="0" i="0" sz="1100" u="none" cap="none" strike="noStrike">
              <a:solidFill>
                <a:srgbClr val="000000"/>
              </a:solidFill>
              <a:latin typeface="Arial"/>
              <a:ea typeface="Arial"/>
              <a:cs typeface="Arial"/>
              <a:sym typeface="Arial"/>
            </a:endParaRPr>
          </a:p>
        </p:txBody>
      </p:sp>
      <p:sp>
        <p:nvSpPr>
          <p:cNvPr id="1034" name="Google Shape;1034;p43"/>
          <p:cNvSpPr txBox="1"/>
          <p:nvPr/>
        </p:nvSpPr>
        <p:spPr>
          <a:xfrm>
            <a:off x="3454400" y="1054100"/>
            <a:ext cx="406400" cy="5715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000"/>
              <a:buFont typeface="Arial"/>
              <a:buNone/>
            </a:pPr>
            <a:r>
              <a:rPr b="1" i="0" lang="ja" sz="2000" u="none" cap="none" strike="noStrike">
                <a:solidFill>
                  <a:srgbClr val="1A1A1A"/>
                </a:solidFill>
                <a:latin typeface="M PLUS 1p"/>
                <a:ea typeface="M PLUS 1p"/>
                <a:cs typeface="M PLUS 1p"/>
                <a:sym typeface="M PLUS 1p"/>
              </a:rPr>
              <a:t>＝</a:t>
            </a:r>
            <a:endParaRPr b="0" i="0" sz="2000" u="none" cap="none" strike="noStrike">
              <a:solidFill>
                <a:srgbClr val="000000"/>
              </a:solidFill>
              <a:latin typeface="Arial"/>
              <a:ea typeface="Arial"/>
              <a:cs typeface="Arial"/>
              <a:sym typeface="Arial"/>
            </a:endParaRPr>
          </a:p>
        </p:txBody>
      </p:sp>
      <p:sp>
        <p:nvSpPr>
          <p:cNvPr id="1035" name="Google Shape;1035;p43"/>
          <p:cNvSpPr/>
          <p:nvPr/>
        </p:nvSpPr>
        <p:spPr>
          <a:xfrm>
            <a:off x="3860800" y="1054100"/>
            <a:ext cx="2286000" cy="571500"/>
          </a:xfrm>
          <a:prstGeom prst="rect">
            <a:avLst/>
          </a:prstGeom>
          <a:solidFill>
            <a:srgbClr val="1A1A1A"/>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43"/>
          <p:cNvSpPr txBox="1"/>
          <p:nvPr/>
        </p:nvSpPr>
        <p:spPr>
          <a:xfrm>
            <a:off x="3860800" y="1054100"/>
            <a:ext cx="2286000" cy="57150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000000"/>
              </a:buClr>
              <a:buSzPts val="1300"/>
              <a:buFont typeface="Arial"/>
              <a:buNone/>
            </a:pPr>
            <a:r>
              <a:rPr b="1" i="0" lang="ja" sz="1300" u="none" cap="none" strike="noStrike">
                <a:solidFill>
                  <a:srgbClr val="FFD100"/>
                </a:solidFill>
                <a:latin typeface="M PLUS 1p"/>
                <a:ea typeface="M PLUS 1p"/>
                <a:cs typeface="M PLUS 1p"/>
                <a:sym typeface="M PLUS 1p"/>
              </a:rPr>
              <a:t>★ 完全ONB卒業</a:t>
            </a:r>
            <a:endParaRPr b="0" i="0" sz="1300" u="none" cap="none" strike="noStrike">
              <a:solidFill>
                <a:srgbClr val="000000"/>
              </a:solidFill>
              <a:latin typeface="Arial"/>
              <a:ea typeface="Arial"/>
              <a:cs typeface="Arial"/>
              <a:sym typeface="Arial"/>
            </a:endParaRPr>
          </a:p>
        </p:txBody>
      </p:sp>
      <p:sp>
        <p:nvSpPr>
          <p:cNvPr id="1037" name="Google Shape;1037;p43"/>
          <p:cNvSpPr txBox="1"/>
          <p:nvPr/>
        </p:nvSpPr>
        <p:spPr>
          <a:xfrm>
            <a:off x="274320" y="1783080"/>
            <a:ext cx="859536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【3ヶ月継続スコア】4項目（必須項目なし・どの3項目の組み合わせでも卒業）</a:t>
            </a:r>
            <a:endParaRPr b="0" i="0" sz="1050" u="none" cap="none" strike="noStrike">
              <a:solidFill>
                <a:srgbClr val="000000"/>
              </a:solidFill>
              <a:latin typeface="Arial"/>
              <a:ea typeface="Arial"/>
              <a:cs typeface="Arial"/>
              <a:sym typeface="Arial"/>
            </a:endParaRPr>
          </a:p>
        </p:txBody>
      </p:sp>
      <p:sp>
        <p:nvSpPr>
          <p:cNvPr id="1038" name="Google Shape;1038;p43"/>
          <p:cNvSpPr/>
          <p:nvPr/>
        </p:nvSpPr>
        <p:spPr>
          <a:xfrm>
            <a:off x="279400" y="2108200"/>
            <a:ext cx="4241800" cy="914400"/>
          </a:xfrm>
          <a:prstGeom prst="rect">
            <a:avLst/>
          </a:prstGeom>
          <a:solidFill>
            <a:srgbClr val="FFF6D9"/>
          </a:solidFill>
          <a:ln cap="flat" cmpd="sng" w="254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43"/>
          <p:cNvSpPr txBox="1"/>
          <p:nvPr/>
        </p:nvSpPr>
        <p:spPr>
          <a:xfrm>
            <a:off x="381000" y="2286000"/>
            <a:ext cx="457200" cy="5461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6B800"/>
                </a:solidFill>
                <a:latin typeface="M PLUS 1p"/>
                <a:ea typeface="M PLUS 1p"/>
                <a:cs typeface="M PLUS 1p"/>
                <a:sym typeface="M PLUS 1p"/>
              </a:rPr>
              <a:t>★</a:t>
            </a:r>
            <a:endParaRPr b="0" i="0" sz="2600" u="none" cap="none" strike="noStrike">
              <a:solidFill>
                <a:srgbClr val="000000"/>
              </a:solidFill>
              <a:latin typeface="Arial"/>
              <a:ea typeface="Arial"/>
              <a:cs typeface="Arial"/>
              <a:sym typeface="Arial"/>
            </a:endParaRPr>
          </a:p>
        </p:txBody>
      </p:sp>
      <p:sp>
        <p:nvSpPr>
          <p:cNvPr id="1040" name="Google Shape;1040;p43"/>
          <p:cNvSpPr txBox="1"/>
          <p:nvPr/>
        </p:nvSpPr>
        <p:spPr>
          <a:xfrm>
            <a:off x="914400" y="2209800"/>
            <a:ext cx="3505200" cy="279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200" u="none" cap="none" strike="noStrike">
                <a:solidFill>
                  <a:srgbClr val="1A1A1A"/>
                </a:solidFill>
                <a:latin typeface="M PLUS 1p"/>
                <a:ea typeface="M PLUS 1p"/>
                <a:cs typeface="M PLUS 1p"/>
                <a:sym typeface="M PLUS 1p"/>
              </a:rPr>
              <a:t>① 追加したひな形を実際に利用した</a:t>
            </a:r>
            <a:endParaRPr b="0" i="0" sz="1200" u="none" cap="none" strike="noStrike">
              <a:solidFill>
                <a:srgbClr val="000000"/>
              </a:solidFill>
              <a:latin typeface="Arial"/>
              <a:ea typeface="Arial"/>
              <a:cs typeface="Arial"/>
              <a:sym typeface="Arial"/>
            </a:endParaRPr>
          </a:p>
        </p:txBody>
      </p:sp>
      <p:sp>
        <p:nvSpPr>
          <p:cNvPr id="1041" name="Google Shape;1041;p43"/>
          <p:cNvSpPr txBox="1"/>
          <p:nvPr/>
        </p:nvSpPr>
        <p:spPr>
          <a:xfrm>
            <a:off x="914400" y="2514600"/>
            <a:ext cx="3505200" cy="4572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定義：追加で作成した雛形を使った募集が1件以上</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根拠：使用雛形2枚目で3ヶ月29.3%→47.5%（No.13）</a:t>
            </a:r>
            <a:endParaRPr b="0" i="0" sz="950" u="none" cap="none" strike="noStrike">
              <a:solidFill>
                <a:srgbClr val="000000"/>
              </a:solidFill>
              <a:latin typeface="Arial"/>
              <a:ea typeface="Arial"/>
              <a:cs typeface="Arial"/>
              <a:sym typeface="Arial"/>
            </a:endParaRPr>
          </a:p>
        </p:txBody>
      </p:sp>
      <p:sp>
        <p:nvSpPr>
          <p:cNvPr id="1042" name="Google Shape;1042;p43"/>
          <p:cNvSpPr/>
          <p:nvPr/>
        </p:nvSpPr>
        <p:spPr>
          <a:xfrm>
            <a:off x="4622800" y="2108200"/>
            <a:ext cx="4241800" cy="914400"/>
          </a:xfrm>
          <a:prstGeom prst="rect">
            <a:avLst/>
          </a:prstGeom>
          <a:solidFill>
            <a:srgbClr val="FFF6D9"/>
          </a:solidFill>
          <a:ln cap="flat" cmpd="sng" w="254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43"/>
          <p:cNvSpPr txBox="1"/>
          <p:nvPr/>
        </p:nvSpPr>
        <p:spPr>
          <a:xfrm>
            <a:off x="4724400" y="2286000"/>
            <a:ext cx="457200" cy="5461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6B800"/>
                </a:solidFill>
                <a:latin typeface="M PLUS 1p"/>
                <a:ea typeface="M PLUS 1p"/>
                <a:cs typeface="M PLUS 1p"/>
                <a:sym typeface="M PLUS 1p"/>
              </a:rPr>
              <a:t>★</a:t>
            </a:r>
            <a:endParaRPr b="0" i="0" sz="2600" u="none" cap="none" strike="noStrike">
              <a:solidFill>
                <a:srgbClr val="000000"/>
              </a:solidFill>
              <a:latin typeface="Arial"/>
              <a:ea typeface="Arial"/>
              <a:cs typeface="Arial"/>
              <a:sym typeface="Arial"/>
            </a:endParaRPr>
          </a:p>
        </p:txBody>
      </p:sp>
      <p:sp>
        <p:nvSpPr>
          <p:cNvPr id="1044" name="Google Shape;1044;p43"/>
          <p:cNvSpPr txBox="1"/>
          <p:nvPr/>
        </p:nvSpPr>
        <p:spPr>
          <a:xfrm>
            <a:off x="5257800" y="2209800"/>
            <a:ext cx="3505200" cy="279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200" u="none" cap="none" strike="noStrike">
                <a:solidFill>
                  <a:srgbClr val="1A1A1A"/>
                </a:solidFill>
                <a:latin typeface="M PLUS 1p"/>
                <a:ea typeface="M PLUS 1p"/>
                <a:cs typeface="M PLUS 1p"/>
                <a:sym typeface="M PLUS 1p"/>
              </a:rPr>
              <a:t>② グループ限定公開を利用した</a:t>
            </a:r>
            <a:endParaRPr b="0" i="0" sz="1200" u="none" cap="none" strike="noStrike">
              <a:solidFill>
                <a:srgbClr val="000000"/>
              </a:solidFill>
              <a:latin typeface="Arial"/>
              <a:ea typeface="Arial"/>
              <a:cs typeface="Arial"/>
              <a:sym typeface="Arial"/>
            </a:endParaRPr>
          </a:p>
        </p:txBody>
      </p:sp>
      <p:sp>
        <p:nvSpPr>
          <p:cNvPr id="1045" name="Google Shape;1045;p43"/>
          <p:cNvSpPr txBox="1"/>
          <p:nvPr/>
        </p:nvSpPr>
        <p:spPr>
          <a:xfrm>
            <a:off x="5257800" y="2514600"/>
            <a:ext cx="3505200" cy="4572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定義：グループ限定公開の募集が1件以上</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根拠：ENT領域 翌月76% vs 52%（No.18）。3ヶ月は未検証</a:t>
            </a:r>
            <a:endParaRPr b="0" i="0" sz="950" u="none" cap="none" strike="noStrike">
              <a:solidFill>
                <a:srgbClr val="000000"/>
              </a:solidFill>
              <a:latin typeface="Arial"/>
              <a:ea typeface="Arial"/>
              <a:cs typeface="Arial"/>
              <a:sym typeface="Arial"/>
            </a:endParaRPr>
          </a:p>
        </p:txBody>
      </p:sp>
      <p:sp>
        <p:nvSpPr>
          <p:cNvPr id="1046" name="Google Shape;1046;p43"/>
          <p:cNvSpPr/>
          <p:nvPr/>
        </p:nvSpPr>
        <p:spPr>
          <a:xfrm>
            <a:off x="279400" y="3149600"/>
            <a:ext cx="4241800" cy="914400"/>
          </a:xfrm>
          <a:prstGeom prst="rect">
            <a:avLst/>
          </a:prstGeom>
          <a:solidFill>
            <a:srgbClr val="FFF6D9"/>
          </a:solidFill>
          <a:ln cap="flat" cmpd="sng" w="254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43"/>
          <p:cNvSpPr txBox="1"/>
          <p:nvPr/>
        </p:nvSpPr>
        <p:spPr>
          <a:xfrm>
            <a:off x="381000" y="3327400"/>
            <a:ext cx="457200" cy="5461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6B800"/>
                </a:solidFill>
                <a:latin typeface="M PLUS 1p"/>
                <a:ea typeface="M PLUS 1p"/>
                <a:cs typeface="M PLUS 1p"/>
                <a:sym typeface="M PLUS 1p"/>
              </a:rPr>
              <a:t>★</a:t>
            </a:r>
            <a:endParaRPr b="0" i="0" sz="2600" u="none" cap="none" strike="noStrike">
              <a:solidFill>
                <a:srgbClr val="000000"/>
              </a:solidFill>
              <a:latin typeface="Arial"/>
              <a:ea typeface="Arial"/>
              <a:cs typeface="Arial"/>
              <a:sym typeface="Arial"/>
            </a:endParaRPr>
          </a:p>
        </p:txBody>
      </p:sp>
      <p:sp>
        <p:nvSpPr>
          <p:cNvPr id="1048" name="Google Shape;1048;p43"/>
          <p:cNvSpPr txBox="1"/>
          <p:nvPr/>
        </p:nvSpPr>
        <p:spPr>
          <a:xfrm>
            <a:off x="914400" y="3251200"/>
            <a:ext cx="3505200" cy="279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200" u="none" cap="none" strike="noStrike">
                <a:solidFill>
                  <a:srgbClr val="1A1A1A"/>
                </a:solidFill>
                <a:latin typeface="M PLUS 1p"/>
                <a:ea typeface="M PLUS 1p"/>
                <a:cs typeface="M PLUS 1p"/>
                <a:sym typeface="M PLUS 1p"/>
              </a:rPr>
              <a:t>③ 新規AAを開設した</a:t>
            </a:r>
            <a:endParaRPr b="0" i="0" sz="1200" u="none" cap="none" strike="noStrike">
              <a:solidFill>
                <a:srgbClr val="000000"/>
              </a:solidFill>
              <a:latin typeface="Arial"/>
              <a:ea typeface="Arial"/>
              <a:cs typeface="Arial"/>
              <a:sym typeface="Arial"/>
            </a:endParaRPr>
          </a:p>
        </p:txBody>
      </p:sp>
      <p:sp>
        <p:nvSpPr>
          <p:cNvPr id="1049" name="Google Shape;1049;p43"/>
          <p:cNvSpPr txBox="1"/>
          <p:nvPr/>
        </p:nvSpPr>
        <p:spPr>
          <a:xfrm>
            <a:off x="914400" y="3556000"/>
            <a:ext cx="3505200" cy="4572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定義：既存の新規AA定義に準拠</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根拠：継続率との比較値は資料内になし。PoCで検証</a:t>
            </a:r>
            <a:endParaRPr b="0" i="0" sz="950" u="none" cap="none" strike="noStrike">
              <a:solidFill>
                <a:srgbClr val="000000"/>
              </a:solidFill>
              <a:latin typeface="Arial"/>
              <a:ea typeface="Arial"/>
              <a:cs typeface="Arial"/>
              <a:sym typeface="Arial"/>
            </a:endParaRPr>
          </a:p>
        </p:txBody>
      </p:sp>
      <p:sp>
        <p:nvSpPr>
          <p:cNvPr id="1050" name="Google Shape;1050;p43"/>
          <p:cNvSpPr/>
          <p:nvPr/>
        </p:nvSpPr>
        <p:spPr>
          <a:xfrm>
            <a:off x="4622800" y="3149600"/>
            <a:ext cx="4241800" cy="914400"/>
          </a:xfrm>
          <a:prstGeom prst="rect">
            <a:avLst/>
          </a:prstGeom>
          <a:solidFill>
            <a:srgbClr val="FFF6D9"/>
          </a:solidFill>
          <a:ln cap="flat" cmpd="sng" w="254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43"/>
          <p:cNvSpPr txBox="1"/>
          <p:nvPr/>
        </p:nvSpPr>
        <p:spPr>
          <a:xfrm>
            <a:off x="4724400" y="3327400"/>
            <a:ext cx="457200" cy="546100"/>
          </a:xfrm>
          <a:prstGeom prst="rect">
            <a:avLst/>
          </a:prstGeom>
          <a:noFill/>
          <a:ln>
            <a:noFill/>
          </a:ln>
        </p:spPr>
        <p:txBody>
          <a:bodyPr anchorCtr="0" anchor="ctr" bIns="500" lIns="500" spcFirstLastPara="1" rIns="500" wrap="square" tIns="500">
            <a:no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6B800"/>
                </a:solidFill>
                <a:latin typeface="M PLUS 1p"/>
                <a:ea typeface="M PLUS 1p"/>
                <a:cs typeface="M PLUS 1p"/>
                <a:sym typeface="M PLUS 1p"/>
              </a:rPr>
              <a:t>★</a:t>
            </a:r>
            <a:endParaRPr b="0" i="0" sz="2600" u="none" cap="none" strike="noStrike">
              <a:solidFill>
                <a:srgbClr val="000000"/>
              </a:solidFill>
              <a:latin typeface="Arial"/>
              <a:ea typeface="Arial"/>
              <a:cs typeface="Arial"/>
              <a:sym typeface="Arial"/>
            </a:endParaRPr>
          </a:p>
        </p:txBody>
      </p:sp>
      <p:sp>
        <p:nvSpPr>
          <p:cNvPr id="1052" name="Google Shape;1052;p43"/>
          <p:cNvSpPr txBox="1"/>
          <p:nvPr/>
        </p:nvSpPr>
        <p:spPr>
          <a:xfrm>
            <a:off x="5257800" y="3251200"/>
            <a:ext cx="3505200" cy="2794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1050"/>
              <a:buFont typeface="Arial"/>
              <a:buNone/>
            </a:pPr>
            <a:r>
              <a:rPr b="1" i="0" lang="ja" sz="1200" u="none" cap="none" strike="noStrike">
                <a:solidFill>
                  <a:srgbClr val="1A1A1A"/>
                </a:solidFill>
                <a:latin typeface="M PLUS 1p"/>
                <a:ea typeface="M PLUS 1p"/>
                <a:cs typeface="M PLUS 1p"/>
                <a:sym typeface="M PLUS 1p"/>
              </a:rPr>
              <a:t>④ レビュー／未評価解消</a:t>
            </a:r>
            <a:endParaRPr b="0" i="0" sz="1200" u="none" cap="none" strike="noStrike">
              <a:solidFill>
                <a:srgbClr val="000000"/>
              </a:solidFill>
              <a:latin typeface="Arial"/>
              <a:ea typeface="Arial"/>
              <a:cs typeface="Arial"/>
              <a:sym typeface="Arial"/>
            </a:endParaRPr>
          </a:p>
        </p:txBody>
      </p:sp>
      <p:sp>
        <p:nvSpPr>
          <p:cNvPr id="1053" name="Google Shape;1053;p43"/>
          <p:cNvSpPr txBox="1"/>
          <p:nvPr/>
        </p:nvSpPr>
        <p:spPr>
          <a:xfrm>
            <a:off x="5257800" y="3556000"/>
            <a:ext cx="3505200" cy="45720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定義：判定時点で未評価のお残しがない</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ja" sz="950" u="none" cap="none" strike="noStrike">
                <a:solidFill>
                  <a:srgbClr val="434343"/>
                </a:solidFill>
                <a:latin typeface="M PLUS 1p"/>
                <a:ea typeface="M PLUS 1p"/>
                <a:cs typeface="M PLUS 1p"/>
                <a:sym typeface="M PLUS 1p"/>
              </a:rPr>
              <a:t>根拠：翌月継続の値のみ（No.08）。3ヶ月への効果は未計測</a:t>
            </a:r>
            <a:endParaRPr b="0" i="0" sz="950" u="none" cap="none" strike="noStrike">
              <a:solidFill>
                <a:srgbClr val="000000"/>
              </a:solidFill>
              <a:latin typeface="Arial"/>
              <a:ea typeface="Arial"/>
              <a:cs typeface="Arial"/>
              <a:sym typeface="Arial"/>
            </a:endParaRPr>
          </a:p>
        </p:txBody>
      </p:sp>
      <p:sp>
        <p:nvSpPr>
          <p:cNvPr id="1054" name="Google Shape;1054;p43"/>
          <p:cNvSpPr txBox="1"/>
          <p:nvPr/>
        </p:nvSpPr>
        <p:spPr>
          <a:xfrm>
            <a:off x="279400" y="4216400"/>
            <a:ext cx="85979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ja" sz="800" u="none" cap="none" strike="noStrike">
                <a:solidFill>
                  <a:srgbClr val="767676"/>
                </a:solidFill>
                <a:latin typeface="M PLUS 1p"/>
                <a:ea typeface="M PLUS 1p"/>
                <a:cs typeface="M PLUS 1p"/>
                <a:sym typeface="M PLUS 1p"/>
              </a:rPr>
              <a:t>※必須項目は設けない。4項目のどの3項目を達成しても完全ONB卒業。3ヶ月継続スコアは翌月継続スコアとは別に採点・集計する。</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0" lang="ja" sz="800" u="none" cap="none" strike="noStrike">
                <a:solidFill>
                  <a:srgbClr val="767676"/>
                </a:solidFill>
                <a:latin typeface="M PLUS 1p"/>
                <a:ea typeface="M PLUS 1p"/>
                <a:cs typeface="M PLUS 1p"/>
                <a:sym typeface="M PLUS 1p"/>
              </a:rPr>
              <a:t>※①は募集への使用で判定し、翌月側の「追加ひな形作成」（作成の有無）とは区別する。No.13の3ヶ月29.3%→47.5%は使用雛形の値。差分は関連を示す。</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9" name="Shape 1059"/>
        <p:cNvGrpSpPr/>
        <p:nvPr/>
      </p:nvGrpSpPr>
      <p:grpSpPr>
        <a:xfrm>
          <a:off x="0" y="0"/>
          <a:ext cx="0" cy="0"/>
          <a:chOff x="0" y="0"/>
          <a:chExt cx="0" cy="0"/>
        </a:xfrm>
      </p:grpSpPr>
      <p:sp>
        <p:nvSpPr>
          <p:cNvPr id="1060" name="Google Shape;1060;p44"/>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44"/>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44"/>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17｜翌月継続と3ヶ月継続の違い｜「利用の入口を作る」と「利用を広げ、定着させる」</a:t>
            </a:r>
            <a:endParaRPr b="0" i="0" sz="1500" u="none" cap="none" strike="noStrike">
              <a:solidFill>
                <a:srgbClr val="000000"/>
              </a:solidFill>
              <a:latin typeface="Arial"/>
              <a:ea typeface="Arial"/>
              <a:cs typeface="Arial"/>
              <a:sym typeface="Arial"/>
            </a:endParaRPr>
          </a:p>
        </p:txBody>
      </p:sp>
      <p:sp>
        <p:nvSpPr>
          <p:cNvPr id="1063" name="Google Shape;1063;p44"/>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1064" name="Google Shape;1064;p44"/>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1065" name="Google Shape;1065;p44"/>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21</a:t>
            </a:r>
            <a:endParaRPr b="0" i="0" sz="800" u="none" cap="none" strike="noStrike">
              <a:solidFill>
                <a:srgbClr val="000000"/>
              </a:solidFill>
              <a:latin typeface="Arial"/>
              <a:ea typeface="Arial"/>
              <a:cs typeface="Arial"/>
              <a:sym typeface="Arial"/>
            </a:endParaRPr>
          </a:p>
        </p:txBody>
      </p:sp>
      <p:sp>
        <p:nvSpPr>
          <p:cNvPr id="1066" name="Google Shape;1066;p44"/>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翌月は「利用の入口」、3ヶ月は「利用の広がりと定着」を見る。スコアは翌月4項目・3ヶ月4項目で別々に採点・集計する</a:t>
            </a:r>
            <a:endParaRPr b="0" i="0" sz="1150" u="none" cap="none" strike="noStrike">
              <a:solidFill>
                <a:srgbClr val="4A86E8"/>
              </a:solidFill>
              <a:latin typeface="Arial"/>
              <a:ea typeface="Arial"/>
              <a:cs typeface="Arial"/>
              <a:sym typeface="Arial"/>
            </a:endParaRPr>
          </a:p>
        </p:txBody>
      </p:sp>
      <p:sp>
        <p:nvSpPr>
          <p:cNvPr id="1067" name="Google Shape;1067;p44"/>
          <p:cNvSpPr/>
          <p:nvPr/>
        </p:nvSpPr>
        <p:spPr>
          <a:xfrm>
            <a:off x="274320" y="1051560"/>
            <a:ext cx="283464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44"/>
          <p:cNvSpPr txBox="1"/>
          <p:nvPr/>
        </p:nvSpPr>
        <p:spPr>
          <a:xfrm>
            <a:off x="274320" y="1051560"/>
            <a:ext cx="283464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1A1A1A"/>
                </a:solidFill>
                <a:latin typeface="M PLUS 1p"/>
                <a:ea typeface="M PLUS 1p"/>
                <a:cs typeface="M PLUS 1p"/>
                <a:sym typeface="M PLUS 1p"/>
              </a:rPr>
              <a:t>翌月継続｜利用の入口を作る</a:t>
            </a:r>
            <a:endParaRPr b="0" i="0" sz="1050" u="none" cap="none" strike="noStrike">
              <a:solidFill>
                <a:srgbClr val="000000"/>
              </a:solidFill>
              <a:latin typeface="Arial"/>
              <a:ea typeface="Arial"/>
              <a:cs typeface="Arial"/>
              <a:sym typeface="Arial"/>
            </a:endParaRPr>
          </a:p>
        </p:txBody>
      </p:sp>
      <p:sp>
        <p:nvSpPr>
          <p:cNvPr id="1069" name="Google Shape;1069;p44"/>
          <p:cNvSpPr/>
          <p:nvPr/>
        </p:nvSpPr>
        <p:spPr>
          <a:xfrm>
            <a:off x="274320" y="1417320"/>
            <a:ext cx="2834640" cy="1270000"/>
          </a:xfrm>
          <a:prstGeom prst="rect">
            <a:avLst/>
          </a:prstGeom>
          <a:solidFill>
            <a:srgbClr val="FFF6D9"/>
          </a:solidFill>
          <a:ln cap="flat" cmpd="sng" w="9525">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44"/>
          <p:cNvSpPr txBox="1"/>
          <p:nvPr/>
        </p:nvSpPr>
        <p:spPr>
          <a:xfrm>
            <a:off x="411480" y="1508760"/>
            <a:ext cx="2606040" cy="11684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追加ひな形作成</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当月2回募集</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レビュー／未評価解消</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お気に入り登録（5名以上）</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 4項目中3項目以上達成＝ONB卒業</a:t>
            </a:r>
            <a:endParaRPr b="0" i="0" sz="950" u="none" cap="none" strike="noStrike">
              <a:solidFill>
                <a:srgbClr val="000000"/>
              </a:solidFill>
              <a:latin typeface="Arial"/>
              <a:ea typeface="Arial"/>
              <a:cs typeface="Arial"/>
              <a:sym typeface="Arial"/>
            </a:endParaRPr>
          </a:p>
        </p:txBody>
      </p:sp>
      <p:sp>
        <p:nvSpPr>
          <p:cNvPr id="1071" name="Google Shape;1071;p44"/>
          <p:cNvSpPr/>
          <p:nvPr/>
        </p:nvSpPr>
        <p:spPr>
          <a:xfrm>
            <a:off x="3200400" y="1874520"/>
            <a:ext cx="365760" cy="411480"/>
          </a:xfrm>
          <a:prstGeom prst="rightArrow">
            <a:avLst>
              <a:gd fmla="val 50000" name="adj1"/>
              <a:gd fmla="val 50000" name="adj2"/>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44"/>
          <p:cNvSpPr/>
          <p:nvPr/>
        </p:nvSpPr>
        <p:spPr>
          <a:xfrm>
            <a:off x="3657600" y="1051560"/>
            <a:ext cx="2834640" cy="36576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44"/>
          <p:cNvSpPr txBox="1"/>
          <p:nvPr/>
        </p:nvSpPr>
        <p:spPr>
          <a:xfrm>
            <a:off x="3657600" y="1051560"/>
            <a:ext cx="283464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ja" sz="1050" u="none" cap="none" strike="noStrike">
                <a:solidFill>
                  <a:srgbClr val="FFD100"/>
                </a:solidFill>
                <a:latin typeface="M PLUS 1p"/>
                <a:ea typeface="M PLUS 1p"/>
                <a:cs typeface="M PLUS 1p"/>
                <a:sym typeface="M PLUS 1p"/>
              </a:rPr>
              <a:t>3ヶ月継続｜利用を広げ、定着させる</a:t>
            </a:r>
            <a:endParaRPr b="0" i="0" sz="1050" u="none" cap="none" strike="noStrike">
              <a:solidFill>
                <a:srgbClr val="000000"/>
              </a:solidFill>
              <a:latin typeface="Arial"/>
              <a:ea typeface="Arial"/>
              <a:cs typeface="Arial"/>
              <a:sym typeface="Arial"/>
            </a:endParaRPr>
          </a:p>
        </p:txBody>
      </p:sp>
      <p:sp>
        <p:nvSpPr>
          <p:cNvPr id="1074" name="Google Shape;1074;p44"/>
          <p:cNvSpPr/>
          <p:nvPr/>
        </p:nvSpPr>
        <p:spPr>
          <a:xfrm>
            <a:off x="3657600" y="1417320"/>
            <a:ext cx="2834640" cy="127000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44"/>
          <p:cNvSpPr txBox="1"/>
          <p:nvPr/>
        </p:nvSpPr>
        <p:spPr>
          <a:xfrm>
            <a:off x="3794760" y="1508760"/>
            <a:ext cx="2606040" cy="11684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追加したひな形を実際に利用した</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グループ限定公開を利用した</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新規AAを開設した</a:t>
            </a:r>
            <a:endParaRPr b="0" i="0" sz="950" u="none" cap="none" strike="noStrike">
              <a:solidFill>
                <a:srgbClr val="000000"/>
              </a:solidFill>
              <a:latin typeface="Arial"/>
              <a:ea typeface="Arial"/>
              <a:cs typeface="Arial"/>
              <a:sym typeface="Arial"/>
            </a:endParaRPr>
          </a:p>
          <a:p>
            <a:pPr indent="-127000" lvl="0" marL="127000" marR="0" rtl="0" algn="l">
              <a:lnSpc>
                <a:spcPct val="100000"/>
              </a:lnSpc>
              <a:spcBef>
                <a:spcPts val="400"/>
              </a:spcBef>
              <a:spcAft>
                <a:spcPts val="0"/>
              </a:spcAft>
              <a:buClr>
                <a:srgbClr val="000000"/>
              </a:buClr>
              <a:buSzPts val="950"/>
              <a:buFont typeface="Arial"/>
              <a:buChar char="•"/>
            </a:pPr>
            <a:r>
              <a:rPr b="0" i="0" lang="ja" sz="950" u="none" cap="none" strike="noStrike">
                <a:solidFill>
                  <a:srgbClr val="1A1A1A"/>
                </a:solidFill>
                <a:latin typeface="M PLUS 1p"/>
                <a:ea typeface="M PLUS 1p"/>
                <a:cs typeface="M PLUS 1p"/>
                <a:sym typeface="M PLUS 1p"/>
              </a:rPr>
              <a:t>レビュー／未評価解消（判定時点）</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950"/>
              <a:buFont typeface="Arial"/>
              <a:buNone/>
            </a:pPr>
            <a:r>
              <a:rPr b="1" i="0" lang="ja" sz="950" u="none" cap="none" strike="noStrike">
                <a:solidFill>
                  <a:srgbClr val="1A1A1A"/>
                </a:solidFill>
                <a:latin typeface="M PLUS 1p"/>
                <a:ea typeface="M PLUS 1p"/>
                <a:cs typeface="M PLUS 1p"/>
                <a:sym typeface="M PLUS 1p"/>
              </a:rPr>
              <a:t>→ 4項目中3項目以上達成＝完全ONB卒業</a:t>
            </a:r>
            <a:endParaRPr b="0" i="0" sz="950" u="none" cap="none" strike="noStrike">
              <a:solidFill>
                <a:srgbClr val="000000"/>
              </a:solidFill>
              <a:latin typeface="Arial"/>
              <a:ea typeface="Arial"/>
              <a:cs typeface="Arial"/>
              <a:sym typeface="Arial"/>
            </a:endParaRPr>
          </a:p>
        </p:txBody>
      </p:sp>
      <p:sp>
        <p:nvSpPr>
          <p:cNvPr id="1076" name="Google Shape;1076;p44"/>
          <p:cNvSpPr txBox="1"/>
          <p:nvPr/>
        </p:nvSpPr>
        <p:spPr>
          <a:xfrm>
            <a:off x="6675120" y="1051560"/>
            <a:ext cx="2194560" cy="274320"/>
          </a:xfrm>
          <a:prstGeom prst="rect">
            <a:avLst/>
          </a:prstGeom>
          <a:noFill/>
          <a:ln>
            <a:noFill/>
          </a:ln>
        </p:spPr>
        <p:txBody>
          <a:bodyPr anchorCtr="0" anchor="t" bIns="500" lIns="500" spcFirstLastPara="1" rIns="500" wrap="square" tIns="50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434343"/>
                </a:solidFill>
                <a:latin typeface="M PLUS 1p"/>
                <a:ea typeface="M PLUS 1p"/>
                <a:cs typeface="M PLUS 1p"/>
                <a:sym typeface="M PLUS 1p"/>
              </a:rPr>
              <a:t>継続の構造</a:t>
            </a:r>
            <a:endParaRPr b="0" i="0" sz="900" u="none" cap="none" strike="noStrike">
              <a:solidFill>
                <a:srgbClr val="000000"/>
              </a:solidFill>
              <a:latin typeface="Arial"/>
              <a:ea typeface="Arial"/>
              <a:cs typeface="Arial"/>
              <a:sym typeface="Arial"/>
            </a:endParaRPr>
          </a:p>
        </p:txBody>
      </p:sp>
      <p:sp>
        <p:nvSpPr>
          <p:cNvPr id="1077" name="Google Shape;1077;p44"/>
          <p:cNvSpPr/>
          <p:nvPr/>
        </p:nvSpPr>
        <p:spPr>
          <a:xfrm>
            <a:off x="6675120" y="1371600"/>
            <a:ext cx="2194560" cy="3657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44"/>
          <p:cNvSpPr txBox="1"/>
          <p:nvPr/>
        </p:nvSpPr>
        <p:spPr>
          <a:xfrm>
            <a:off x="6720840" y="1371600"/>
            <a:ext cx="21488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初回掲載　100%</a:t>
            </a:r>
            <a:endParaRPr b="0" i="0" sz="900" u="none" cap="none" strike="noStrike">
              <a:solidFill>
                <a:srgbClr val="000000"/>
              </a:solidFill>
              <a:latin typeface="Arial"/>
              <a:ea typeface="Arial"/>
              <a:cs typeface="Arial"/>
              <a:sym typeface="Arial"/>
            </a:endParaRPr>
          </a:p>
        </p:txBody>
      </p:sp>
      <p:sp>
        <p:nvSpPr>
          <p:cNvPr id="1079" name="Google Shape;1079;p44"/>
          <p:cNvSpPr txBox="1"/>
          <p:nvPr/>
        </p:nvSpPr>
        <p:spPr>
          <a:xfrm>
            <a:off x="6675120" y="1746504"/>
            <a:ext cx="2194560" cy="228600"/>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650"/>
              <a:buFont typeface="Arial"/>
              <a:buNone/>
            </a:pPr>
            <a:r>
              <a:rPr b="0" i="0" lang="ja" sz="650" u="none" cap="none" strike="noStrike">
                <a:solidFill>
                  <a:srgbClr val="D93025"/>
                </a:solidFill>
                <a:latin typeface="M PLUS 1p"/>
                <a:ea typeface="M PLUS 1p"/>
                <a:cs typeface="M PLUS 1p"/>
                <a:sym typeface="M PLUS 1p"/>
              </a:rPr>
              <a:t> 　　　▼</a:t>
            </a:r>
            <a:endParaRPr b="0" i="0" sz="650" u="none" cap="none" strike="noStrike">
              <a:solidFill>
                <a:srgbClr val="000000"/>
              </a:solidFill>
              <a:latin typeface="Arial"/>
              <a:ea typeface="Arial"/>
              <a:cs typeface="Arial"/>
              <a:sym typeface="Arial"/>
            </a:endParaRPr>
          </a:p>
        </p:txBody>
      </p:sp>
      <p:sp>
        <p:nvSpPr>
          <p:cNvPr id="1080" name="Google Shape;1080;p44"/>
          <p:cNvSpPr/>
          <p:nvPr/>
        </p:nvSpPr>
        <p:spPr>
          <a:xfrm>
            <a:off x="6675120" y="1975104"/>
            <a:ext cx="1737360" cy="365760"/>
          </a:xfrm>
          <a:prstGeom prst="rect">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44"/>
          <p:cNvSpPr txBox="1"/>
          <p:nvPr/>
        </p:nvSpPr>
        <p:spPr>
          <a:xfrm>
            <a:off x="6720840" y="1975104"/>
            <a:ext cx="1691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翌月継続　75%</a:t>
            </a:r>
            <a:endParaRPr b="0" i="0" sz="900" u="none" cap="none" strike="noStrike">
              <a:solidFill>
                <a:srgbClr val="000000"/>
              </a:solidFill>
              <a:latin typeface="Arial"/>
              <a:ea typeface="Arial"/>
              <a:cs typeface="Arial"/>
              <a:sym typeface="Arial"/>
            </a:endParaRPr>
          </a:p>
        </p:txBody>
      </p:sp>
      <p:sp>
        <p:nvSpPr>
          <p:cNvPr id="1082" name="Google Shape;1082;p44"/>
          <p:cNvSpPr txBox="1"/>
          <p:nvPr/>
        </p:nvSpPr>
        <p:spPr>
          <a:xfrm>
            <a:off x="6698008" y="2354583"/>
            <a:ext cx="2194500" cy="228600"/>
          </a:xfrm>
          <a:prstGeom prst="rect">
            <a:avLst/>
          </a:prstGeom>
          <a:noFill/>
          <a:ln>
            <a:noFill/>
          </a:ln>
        </p:spPr>
        <p:txBody>
          <a:bodyPr anchorCtr="0" anchor="ctr" bIns="500" lIns="500" spcFirstLastPara="1" rIns="500" wrap="square" tIns="500">
            <a:noAutofit/>
          </a:bodyPr>
          <a:lstStyle/>
          <a:p>
            <a:pPr indent="0" lvl="0" marL="0" marR="0" rtl="0" algn="l">
              <a:lnSpc>
                <a:spcPct val="100000"/>
              </a:lnSpc>
              <a:spcBef>
                <a:spcPts val="0"/>
              </a:spcBef>
              <a:spcAft>
                <a:spcPts val="0"/>
              </a:spcAft>
              <a:buClr>
                <a:srgbClr val="000000"/>
              </a:buClr>
              <a:buSzPts val="650"/>
              <a:buFont typeface="Arial"/>
              <a:buNone/>
            </a:pPr>
            <a:r>
              <a:rPr b="0" i="0" lang="ja" sz="650" u="none" cap="none" strike="noStrike">
                <a:solidFill>
                  <a:srgbClr val="D93025"/>
                </a:solidFill>
                <a:latin typeface="M PLUS 1p"/>
                <a:ea typeface="M PLUS 1p"/>
                <a:cs typeface="M PLUS 1p"/>
                <a:sym typeface="M PLUS 1p"/>
              </a:rPr>
              <a:t>　　　▼</a:t>
            </a:r>
            <a:endParaRPr b="0" i="0" sz="650" u="none" cap="none" strike="noStrike">
              <a:solidFill>
                <a:srgbClr val="000000"/>
              </a:solidFill>
              <a:latin typeface="Arial"/>
              <a:ea typeface="Arial"/>
              <a:cs typeface="Arial"/>
              <a:sym typeface="Arial"/>
            </a:endParaRPr>
          </a:p>
        </p:txBody>
      </p:sp>
      <p:sp>
        <p:nvSpPr>
          <p:cNvPr id="1083" name="Google Shape;1083;p44"/>
          <p:cNvSpPr/>
          <p:nvPr/>
        </p:nvSpPr>
        <p:spPr>
          <a:xfrm>
            <a:off x="6675120" y="2578608"/>
            <a:ext cx="137160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44"/>
          <p:cNvSpPr txBox="1"/>
          <p:nvPr/>
        </p:nvSpPr>
        <p:spPr>
          <a:xfrm>
            <a:off x="6720840" y="2578608"/>
            <a:ext cx="1325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ja" sz="900" u="none" cap="none" strike="noStrike">
                <a:solidFill>
                  <a:srgbClr val="1A1A1A"/>
                </a:solidFill>
                <a:latin typeface="M PLUS 1p"/>
                <a:ea typeface="M PLUS 1p"/>
                <a:cs typeface="M PLUS 1p"/>
                <a:sym typeface="M PLUS 1p"/>
              </a:rPr>
              <a:t>3ヶ月連続掲載　50%</a:t>
            </a:r>
            <a:endParaRPr b="0" i="0" sz="900" u="none" cap="none" strike="noStrike">
              <a:solidFill>
                <a:srgbClr val="000000"/>
              </a:solidFill>
              <a:latin typeface="Arial"/>
              <a:ea typeface="Arial"/>
              <a:cs typeface="Arial"/>
              <a:sym typeface="Arial"/>
            </a:endParaRPr>
          </a:p>
        </p:txBody>
      </p:sp>
      <p:graphicFrame>
        <p:nvGraphicFramePr>
          <p:cNvPr id="1085" name="Google Shape;1085;p44"/>
          <p:cNvGraphicFramePr/>
          <p:nvPr/>
        </p:nvGraphicFramePr>
        <p:xfrm>
          <a:off x="274320" y="3073400"/>
          <a:ext cx="3000000" cy="3000000"/>
        </p:xfrm>
        <a:graphic>
          <a:graphicData uri="http://schemas.openxmlformats.org/drawingml/2006/table">
            <a:tbl>
              <a:tblPr>
                <a:noFill/>
                <a:tableStyleId>{112B7459-E852-49DB-9774-913F371DD808}</a:tableStyleId>
              </a:tblPr>
              <a:tblGrid>
                <a:gridCol w="1016000"/>
                <a:gridCol w="2159000"/>
                <a:gridCol w="2159000"/>
                <a:gridCol w="3263900"/>
              </a:tblGrid>
              <a:tr h="246900">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観点</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翌月継続スコア</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3ヶ月継続スコア</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c>
                  <a:txBody>
                    <a:bodyPr/>
                    <a:lstStyle/>
                    <a:p>
                      <a:pPr indent="0" lvl="0" marL="0" marR="0" rtl="0" algn="ctr">
                        <a:lnSpc>
                          <a:spcPct val="100000"/>
                        </a:lnSpc>
                        <a:spcBef>
                          <a:spcPts val="0"/>
                        </a:spcBef>
                        <a:spcAft>
                          <a:spcPts val="0"/>
                        </a:spcAft>
                        <a:buClr>
                          <a:srgbClr val="FFFFFF"/>
                        </a:buClr>
                        <a:buSzPts val="800"/>
                        <a:buFont typeface="M PLUS 1p"/>
                        <a:buNone/>
                      </a:pPr>
                      <a:r>
                        <a:rPr b="1" lang="ja" sz="800" u="none" cap="none" strike="noStrike">
                          <a:solidFill>
                            <a:srgbClr val="FFFFFF"/>
                          </a:solidFill>
                          <a:latin typeface="M PLUS 1p"/>
                          <a:ea typeface="M PLUS 1p"/>
                          <a:cs typeface="M PLUS 1p"/>
                          <a:sym typeface="M PLUS 1p"/>
                        </a:rPr>
                        <a:t>読み方</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434343"/>
                    </a:solidFill>
                  </a:tcPr>
                </a:tc>
              </a:tr>
              <a:tr h="246900">
                <a:tc>
                  <a:txBody>
                    <a:bodyPr/>
                    <a:lstStyle/>
                    <a:p>
                      <a:pPr indent="0" lvl="0" marL="0" marR="0" rtl="0" algn="l">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ひな形</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追加ひな形作成（作成の有無）</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追加したひな形を実際に利用</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作成と利用は別判定。No.13（翌月+25.2pt／3ヶ月+18.2pt）は使用雛形の値</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46900">
                <a:tc>
                  <a:txBody>
                    <a:bodyPr/>
                    <a:lstStyle/>
                    <a:p>
                      <a:pPr indent="0" lvl="0" marL="0" marR="0" rtl="0" algn="l">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募集・公開</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当月2回募集</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グループ限定公開を利用</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翌月は入口づくり、3ヶ月は再依頼の仕組み化</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46900">
                <a:tc>
                  <a:txBody>
                    <a:bodyPr/>
                    <a:lstStyle/>
                    <a:p>
                      <a:pPr indent="0" lvl="0" marL="0" marR="0" rtl="0" algn="l">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レビュー</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未評価の解消</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判定時点で未評価のお残しなし</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両方に含むが、判定時点が異なる</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46900">
                <a:tc>
                  <a:txBody>
                    <a:bodyPr/>
                    <a:lstStyle/>
                    <a:p>
                      <a:pPr indent="0" lvl="0" marL="0" marR="0" rtl="0" algn="l">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ワーカー／拡張</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お気に入り登録（5名以上）</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新規AAを開設（既存定義）</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新規AAを開設できない企業も残り3項目で卒業できる</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46900">
                <a:tc>
                  <a:txBody>
                    <a:bodyPr/>
                    <a:lstStyle/>
                    <a:p>
                      <a:pPr indent="0" lvl="0" marL="0" marR="0" rtl="0" algn="l">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卒業条件</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4項目中3項目以上達成＝ONB卒業</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4項目中3項目以上達成＝完全ONB卒業</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1A1A1A"/>
                        </a:buClr>
                        <a:buSzPts val="800"/>
                        <a:buFont typeface="M PLUS 1p"/>
                        <a:buNone/>
                      </a:pPr>
                      <a:r>
                        <a:rPr b="0" lang="ja" sz="800" u="none" cap="none" strike="noStrike">
                          <a:solidFill>
                            <a:srgbClr val="1A1A1A"/>
                          </a:solidFill>
                          <a:latin typeface="M PLUS 1p"/>
                          <a:ea typeface="M PLUS 1p"/>
                          <a:cs typeface="M PLUS 1p"/>
                          <a:sym typeface="M PLUS 1p"/>
                        </a:rPr>
                        <a:t>必須項目なし。翌月・3ヶ月で別々に採点・集計</a:t>
                      </a:r>
                      <a:endParaRPr sz="800" u="none" cap="none" strike="noStrike">
                        <a:latin typeface="M PLUS 1p"/>
                        <a:ea typeface="M PLUS 1p"/>
                        <a:cs typeface="M PLUS 1p"/>
                        <a:sym typeface="M PLUS 1p"/>
                      </a:endParaRPr>
                    </a:p>
                  </a:txBody>
                  <a:tcPr marT="27425" marB="27425" marR="27425" marL="27425"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bl>
          </a:graphicData>
        </a:graphic>
      </p:graphicFrame>
      <p:sp>
        <p:nvSpPr>
          <p:cNvPr id="1086" name="Google Shape;1086;p44"/>
          <p:cNvSpPr txBox="1"/>
          <p:nvPr/>
        </p:nvSpPr>
        <p:spPr>
          <a:xfrm>
            <a:off x="274320" y="4526280"/>
            <a:ext cx="8595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1" name="Shape 1091"/>
        <p:cNvGrpSpPr/>
        <p:nvPr/>
      </p:nvGrpSpPr>
      <p:grpSpPr>
        <a:xfrm>
          <a:off x="0" y="0"/>
          <a:ext cx="0" cy="0"/>
          <a:chOff x="0" y="0"/>
          <a:chExt cx="0" cy="0"/>
        </a:xfrm>
      </p:grpSpPr>
      <p:sp>
        <p:nvSpPr>
          <p:cNvPr id="1092" name="Google Shape;1092;p45"/>
          <p:cNvSpPr/>
          <p:nvPr/>
        </p:nvSpPr>
        <p:spPr>
          <a:xfrm>
            <a:off x="0" y="0"/>
            <a:ext cx="9144000" cy="50292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45"/>
          <p:cNvSpPr/>
          <p:nvPr/>
        </p:nvSpPr>
        <p:spPr>
          <a:xfrm>
            <a:off x="0" y="0"/>
            <a:ext cx="128016" cy="502920"/>
          </a:xfrm>
          <a:prstGeom prst="rect">
            <a:avLst/>
          </a:prstGeom>
          <a:solidFill>
            <a:srgbClr val="007BFF"/>
          </a:solidFill>
          <a:ln cap="flat" cmpd="sng" w="12700">
            <a:solidFill>
              <a:srgbClr val="007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45"/>
          <p:cNvSpPr txBox="1"/>
          <p:nvPr/>
        </p:nvSpPr>
        <p:spPr>
          <a:xfrm>
            <a:off x="274320" y="0"/>
            <a:ext cx="8595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ja" sz="1500" u="none" cap="none" strike="noStrike">
                <a:solidFill>
                  <a:srgbClr val="1A1A1A"/>
                </a:solidFill>
                <a:latin typeface="M PLUS 1p"/>
                <a:ea typeface="M PLUS 1p"/>
                <a:cs typeface="M PLUS 1p"/>
                <a:sym typeface="M PLUS 1p"/>
              </a:rPr>
              <a:t>18｜結局、10月から何が変わる？</a:t>
            </a:r>
            <a:endParaRPr b="0" i="0" sz="1500" u="none" cap="none" strike="noStrike">
              <a:solidFill>
                <a:srgbClr val="000000"/>
              </a:solidFill>
              <a:latin typeface="Arial"/>
              <a:ea typeface="Arial"/>
              <a:cs typeface="Arial"/>
              <a:sym typeface="Arial"/>
            </a:endParaRPr>
          </a:p>
        </p:txBody>
      </p:sp>
      <p:sp>
        <p:nvSpPr>
          <p:cNvPr id="1095" name="Google Shape;1095;p45"/>
          <p:cNvSpPr txBox="1"/>
          <p:nvPr/>
        </p:nvSpPr>
        <p:spPr>
          <a:xfrm>
            <a:off x="274320" y="4846320"/>
            <a:ext cx="10972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
        <p:nvSpPr>
          <p:cNvPr id="1096" name="Google Shape;1096;p45"/>
          <p:cNvSpPr txBox="1"/>
          <p:nvPr/>
        </p:nvSpPr>
        <p:spPr>
          <a:xfrm>
            <a:off x="5760720" y="4846320"/>
            <a:ext cx="27432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50"/>
              <a:buFont typeface="Arial"/>
              <a:buNone/>
            </a:pPr>
            <a:r>
              <a:rPr b="0" i="0" lang="ja" sz="650" u="none" cap="none" strike="noStrike">
                <a:solidFill>
                  <a:srgbClr val="767676"/>
                </a:solidFill>
                <a:latin typeface="M PLUS 1p"/>
                <a:ea typeface="M PLUS 1p"/>
                <a:cs typeface="M PLUS 1p"/>
                <a:sym typeface="M PLUS 1p"/>
              </a:rPr>
              <a:t>Copyright © Timee All Rights Reserved</a:t>
            </a:r>
            <a:endParaRPr b="0" i="0" sz="650" u="none" cap="none" strike="noStrike">
              <a:solidFill>
                <a:srgbClr val="000000"/>
              </a:solidFill>
              <a:latin typeface="Arial"/>
              <a:ea typeface="Arial"/>
              <a:cs typeface="Arial"/>
              <a:sym typeface="Arial"/>
            </a:endParaRPr>
          </a:p>
        </p:txBody>
      </p:sp>
      <p:sp>
        <p:nvSpPr>
          <p:cNvPr id="1097" name="Google Shape;1097;p45"/>
          <p:cNvSpPr txBox="1"/>
          <p:nvPr/>
        </p:nvSpPr>
        <p:spPr>
          <a:xfrm>
            <a:off x="8549640" y="4846320"/>
            <a:ext cx="3657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ja" sz="800" u="none" cap="none" strike="noStrike">
                <a:solidFill>
                  <a:srgbClr val="434343"/>
                </a:solidFill>
                <a:latin typeface="M PLUS 1p"/>
                <a:ea typeface="M PLUS 1p"/>
                <a:cs typeface="M PLUS 1p"/>
                <a:sym typeface="M PLUS 1p"/>
              </a:rPr>
              <a:t>22</a:t>
            </a:r>
            <a:endParaRPr b="0" i="0" sz="800" u="none" cap="none" strike="noStrike">
              <a:solidFill>
                <a:srgbClr val="000000"/>
              </a:solidFill>
              <a:latin typeface="Arial"/>
              <a:ea typeface="Arial"/>
              <a:cs typeface="Arial"/>
              <a:sym typeface="Arial"/>
            </a:endParaRPr>
          </a:p>
        </p:txBody>
      </p:sp>
      <p:sp>
        <p:nvSpPr>
          <p:cNvPr id="1098" name="Google Shape;1098;p45"/>
          <p:cNvSpPr txBox="1"/>
          <p:nvPr/>
        </p:nvSpPr>
        <p:spPr>
          <a:xfrm>
            <a:off x="274320" y="621792"/>
            <a:ext cx="85953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ja" sz="1150" u="none" cap="none" strike="noStrike">
                <a:solidFill>
                  <a:srgbClr val="4A86E8"/>
                </a:solidFill>
                <a:latin typeface="M PLUS 1p"/>
                <a:ea typeface="M PLUS 1p"/>
                <a:cs typeface="M PLUS 1p"/>
                <a:sym typeface="M PLUS 1p"/>
              </a:rPr>
              <a:t>ヨミを追う運用から、顧客のONB卒業条件をつくる運用へ。管理されて動くのではなく、勝ち条件を理解して自分で次の打ち手を考える</a:t>
            </a:r>
            <a:endParaRPr b="0" i="0" sz="1150" u="none" cap="none" strike="noStrike">
              <a:solidFill>
                <a:srgbClr val="4A86E8"/>
              </a:solidFill>
              <a:latin typeface="Arial"/>
              <a:ea typeface="Arial"/>
              <a:cs typeface="Arial"/>
              <a:sym typeface="Arial"/>
            </a:endParaRPr>
          </a:p>
        </p:txBody>
      </p:sp>
      <p:sp>
        <p:nvSpPr>
          <p:cNvPr id="1099" name="Google Shape;1099;p45"/>
          <p:cNvSpPr/>
          <p:nvPr/>
        </p:nvSpPr>
        <p:spPr>
          <a:xfrm>
            <a:off x="274320" y="1051560"/>
            <a:ext cx="3566160" cy="384048"/>
          </a:xfrm>
          <a:prstGeom prst="rect">
            <a:avLst/>
          </a:prstGeom>
          <a:solidFill>
            <a:srgbClr val="434343"/>
          </a:solidFill>
          <a:ln cap="flat" cmpd="sng" w="1270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45"/>
          <p:cNvSpPr txBox="1"/>
          <p:nvPr/>
        </p:nvSpPr>
        <p:spPr>
          <a:xfrm>
            <a:off x="274320" y="1051560"/>
            <a:ext cx="356616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FFFFFF"/>
                </a:solidFill>
                <a:latin typeface="M PLUS 1p"/>
                <a:ea typeface="M PLUS 1p"/>
                <a:cs typeface="M PLUS 1p"/>
                <a:sym typeface="M PLUS 1p"/>
              </a:rPr>
              <a:t>これまで</a:t>
            </a:r>
            <a:endParaRPr b="0" i="0" sz="1200" u="none" cap="none" strike="noStrike">
              <a:solidFill>
                <a:srgbClr val="000000"/>
              </a:solidFill>
              <a:latin typeface="Arial"/>
              <a:ea typeface="Arial"/>
              <a:cs typeface="Arial"/>
              <a:sym typeface="Arial"/>
            </a:endParaRPr>
          </a:p>
        </p:txBody>
      </p:sp>
      <p:sp>
        <p:nvSpPr>
          <p:cNvPr id="1101" name="Google Shape;1101;p45"/>
          <p:cNvSpPr/>
          <p:nvPr/>
        </p:nvSpPr>
        <p:spPr>
          <a:xfrm>
            <a:off x="274320" y="1435608"/>
            <a:ext cx="3566160" cy="251460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45"/>
          <p:cNvSpPr txBox="1"/>
          <p:nvPr/>
        </p:nvSpPr>
        <p:spPr>
          <a:xfrm>
            <a:off x="457200" y="1572768"/>
            <a:ext cx="3200400" cy="22860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000000"/>
              </a:buClr>
              <a:buSzPts val="1100"/>
              <a:buFont typeface="Arial"/>
              <a:buChar char="•"/>
            </a:pPr>
            <a:r>
              <a:rPr b="0" i="0" lang="ja" sz="1100" u="none" cap="none" strike="noStrike">
                <a:solidFill>
                  <a:srgbClr val="434343"/>
                </a:solidFill>
                <a:latin typeface="M PLUS 1p"/>
                <a:ea typeface="M PLUS 1p"/>
                <a:cs typeface="M PLUS 1p"/>
                <a:sym typeface="M PLUS 1p"/>
              </a:rPr>
              <a:t>ヨミを上げる</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800"/>
              </a:spcBef>
              <a:spcAft>
                <a:spcPts val="0"/>
              </a:spcAft>
              <a:buClr>
                <a:srgbClr val="000000"/>
              </a:buClr>
              <a:buSzPts val="1100"/>
              <a:buFont typeface="Arial"/>
              <a:buChar char="•"/>
            </a:pPr>
            <a:r>
              <a:rPr b="0" i="0" lang="ja" sz="1100" u="none" cap="none" strike="noStrike">
                <a:solidFill>
                  <a:srgbClr val="434343"/>
                </a:solidFill>
                <a:latin typeface="M PLUS 1p"/>
                <a:ea typeface="M PLUS 1p"/>
                <a:cs typeface="M PLUS 1p"/>
                <a:sym typeface="M PLUS 1p"/>
              </a:rPr>
              <a:t>予定日を入れる</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800"/>
              </a:spcBef>
              <a:spcAft>
                <a:spcPts val="0"/>
              </a:spcAft>
              <a:buClr>
                <a:srgbClr val="000000"/>
              </a:buClr>
              <a:buSzPts val="1100"/>
              <a:buFont typeface="Arial"/>
              <a:buChar char="•"/>
            </a:pPr>
            <a:r>
              <a:rPr b="0" i="0" lang="ja" sz="1100" u="none" cap="none" strike="noStrike">
                <a:solidFill>
                  <a:srgbClr val="434343"/>
                </a:solidFill>
                <a:latin typeface="M PLUS 1p"/>
                <a:ea typeface="M PLUS 1p"/>
                <a:cs typeface="M PLUS 1p"/>
                <a:sym typeface="M PLUS 1p"/>
              </a:rPr>
              <a:t>月末まで追う</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800"/>
              </a:spcBef>
              <a:spcAft>
                <a:spcPts val="0"/>
              </a:spcAft>
              <a:buClr>
                <a:srgbClr val="000000"/>
              </a:buClr>
              <a:buSzPts val="1100"/>
              <a:buFont typeface="Arial"/>
              <a:buChar char="•"/>
            </a:pPr>
            <a:r>
              <a:rPr b="0" i="0" lang="ja" sz="1100" u="none" cap="none" strike="noStrike">
                <a:solidFill>
                  <a:srgbClr val="434343"/>
                </a:solidFill>
                <a:latin typeface="M PLUS 1p"/>
                <a:ea typeface="M PLUS 1p"/>
                <a:cs typeface="M PLUS 1p"/>
                <a:sym typeface="M PLUS 1p"/>
              </a:rPr>
              <a:t>継続しそうかを見る</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800"/>
              </a:spcBef>
              <a:spcAft>
                <a:spcPts val="0"/>
              </a:spcAft>
              <a:buClr>
                <a:srgbClr val="000000"/>
              </a:buClr>
              <a:buSzPts val="1100"/>
              <a:buFont typeface="Arial"/>
              <a:buChar char="•"/>
            </a:pPr>
            <a:r>
              <a:rPr b="0" i="0" lang="ja" sz="1100" u="none" cap="none" strike="noStrike">
                <a:solidFill>
                  <a:srgbClr val="434343"/>
                </a:solidFill>
                <a:latin typeface="M PLUS 1p"/>
                <a:ea typeface="M PLUS 1p"/>
                <a:cs typeface="M PLUS 1p"/>
                <a:sym typeface="M PLUS 1p"/>
              </a:rPr>
              <a:t>管理者から細かく指示</a:t>
            </a:r>
            <a:endParaRPr b="0" i="0" sz="1100" u="none" cap="none" strike="noStrike">
              <a:solidFill>
                <a:srgbClr val="000000"/>
              </a:solidFill>
              <a:latin typeface="Arial"/>
              <a:ea typeface="Arial"/>
              <a:cs typeface="Arial"/>
              <a:sym typeface="Arial"/>
            </a:endParaRPr>
          </a:p>
        </p:txBody>
      </p:sp>
      <p:sp>
        <p:nvSpPr>
          <p:cNvPr id="1103" name="Google Shape;1103;p45"/>
          <p:cNvSpPr/>
          <p:nvPr/>
        </p:nvSpPr>
        <p:spPr>
          <a:xfrm>
            <a:off x="3977640" y="2331720"/>
            <a:ext cx="548640" cy="548640"/>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45"/>
          <p:cNvSpPr/>
          <p:nvPr/>
        </p:nvSpPr>
        <p:spPr>
          <a:xfrm>
            <a:off x="4663440" y="1051560"/>
            <a:ext cx="4206240" cy="384048"/>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45"/>
          <p:cNvSpPr txBox="1"/>
          <p:nvPr/>
        </p:nvSpPr>
        <p:spPr>
          <a:xfrm>
            <a:off x="4663440" y="1051560"/>
            <a:ext cx="420624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1A1A1A"/>
                </a:solidFill>
                <a:latin typeface="M PLUS 1p"/>
                <a:ea typeface="M PLUS 1p"/>
                <a:cs typeface="M PLUS 1p"/>
                <a:sym typeface="M PLUS 1p"/>
              </a:rPr>
              <a:t>10月から</a:t>
            </a:r>
            <a:endParaRPr b="0" i="0" sz="1200" u="none" cap="none" strike="noStrike">
              <a:solidFill>
                <a:srgbClr val="000000"/>
              </a:solidFill>
              <a:latin typeface="Arial"/>
              <a:ea typeface="Arial"/>
              <a:cs typeface="Arial"/>
              <a:sym typeface="Arial"/>
            </a:endParaRPr>
          </a:p>
        </p:txBody>
      </p:sp>
      <p:sp>
        <p:nvSpPr>
          <p:cNvPr id="1106" name="Google Shape;1106;p45"/>
          <p:cNvSpPr/>
          <p:nvPr/>
        </p:nvSpPr>
        <p:spPr>
          <a:xfrm>
            <a:off x="4663440" y="1435608"/>
            <a:ext cx="4206240" cy="2514600"/>
          </a:xfrm>
          <a:prstGeom prst="rect">
            <a:avLst/>
          </a:prstGeom>
          <a:solidFill>
            <a:srgbClr val="FFF6D9"/>
          </a:solidFill>
          <a:ln cap="flat" cmpd="sng" w="1905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45"/>
          <p:cNvSpPr txBox="1"/>
          <p:nvPr/>
        </p:nvSpPr>
        <p:spPr>
          <a:xfrm>
            <a:off x="4846320" y="1536192"/>
            <a:ext cx="3931800" cy="2377500"/>
          </a:xfrm>
          <a:prstGeom prst="rect">
            <a:avLst/>
          </a:prstGeom>
          <a:noFill/>
          <a:ln>
            <a:noFill/>
          </a:ln>
        </p:spPr>
        <p:txBody>
          <a:bodyPr anchorCtr="0" anchor="t" bIns="0" lIns="0" spcFirstLastPara="1" rIns="0" wrap="square" tIns="0">
            <a:noAutofit/>
          </a:bodyPr>
          <a:lstStyle/>
          <a:p>
            <a:pPr indent="-127000" lvl="0" marL="127000" marR="0" rtl="0" algn="l">
              <a:lnSpc>
                <a:spcPct val="115000"/>
              </a:lnSpc>
              <a:spcBef>
                <a:spcPts val="0"/>
              </a:spcBef>
              <a:spcAft>
                <a:spcPts val="0"/>
              </a:spcAft>
              <a:buClr>
                <a:srgbClr val="000000"/>
              </a:buClr>
              <a:buSzPts val="1100"/>
              <a:buFont typeface="Arial"/>
              <a:buChar char="•"/>
            </a:pPr>
            <a:r>
              <a:rPr b="1" i="0" lang="ja" sz="1100" u="none" cap="none" strike="noStrike">
                <a:solidFill>
                  <a:srgbClr val="1A1A1A"/>
                </a:solidFill>
                <a:latin typeface="M PLUS 1p"/>
                <a:ea typeface="M PLUS 1p"/>
                <a:cs typeface="M PLUS 1p"/>
                <a:sym typeface="M PLUS 1p"/>
              </a:rPr>
              <a:t>卒業条件</a:t>
            </a:r>
            <a:r>
              <a:rPr b="1" lang="ja" sz="1100">
                <a:solidFill>
                  <a:srgbClr val="1A1A1A"/>
                </a:solidFill>
                <a:latin typeface="M PLUS 1p"/>
                <a:ea typeface="M PLUS 1p"/>
                <a:cs typeface="M PLUS 1p"/>
                <a:sym typeface="M PLUS 1p"/>
              </a:rPr>
              <a:t>と未達項目をみる</a:t>
            </a:r>
            <a:endParaRPr b="0" i="0" sz="1100" u="none" cap="none" strike="noStrike">
              <a:solidFill>
                <a:srgbClr val="000000"/>
              </a:solidFill>
              <a:latin typeface="Arial"/>
              <a:ea typeface="Arial"/>
              <a:cs typeface="Arial"/>
              <a:sym typeface="Arial"/>
            </a:endParaRPr>
          </a:p>
          <a:p>
            <a:pPr indent="-127000" lvl="0" marL="127000" marR="0" rtl="0" algn="l">
              <a:lnSpc>
                <a:spcPct val="115000"/>
              </a:lnSpc>
              <a:spcBef>
                <a:spcPts val="400"/>
              </a:spcBef>
              <a:spcAft>
                <a:spcPts val="0"/>
              </a:spcAft>
              <a:buClr>
                <a:srgbClr val="000000"/>
              </a:buClr>
              <a:buSzPts val="1100"/>
              <a:buFont typeface="Arial"/>
              <a:buChar char="•"/>
            </a:pPr>
            <a:r>
              <a:rPr b="1" i="0" lang="ja" sz="1100" u="none" cap="none" strike="noStrike">
                <a:solidFill>
                  <a:srgbClr val="1A1A1A"/>
                </a:solidFill>
                <a:latin typeface="M PLUS 1p"/>
                <a:ea typeface="M PLUS 1p"/>
                <a:cs typeface="M PLUS 1p"/>
                <a:sym typeface="M PLUS 1p"/>
              </a:rPr>
              <a:t>未達から提案を決める</a:t>
            </a:r>
            <a:endParaRPr b="0" i="0" sz="1100" u="none" cap="none" strike="noStrike">
              <a:solidFill>
                <a:srgbClr val="000000"/>
              </a:solidFill>
              <a:latin typeface="Arial"/>
              <a:ea typeface="Arial"/>
              <a:cs typeface="Arial"/>
              <a:sym typeface="Arial"/>
            </a:endParaRPr>
          </a:p>
          <a:p>
            <a:pPr indent="-127000" lvl="0" marL="127000" marR="0" rtl="0" algn="l">
              <a:lnSpc>
                <a:spcPct val="115000"/>
              </a:lnSpc>
              <a:spcBef>
                <a:spcPts val="400"/>
              </a:spcBef>
              <a:spcAft>
                <a:spcPts val="0"/>
              </a:spcAft>
              <a:buClr>
                <a:srgbClr val="000000"/>
              </a:buClr>
              <a:buSzPts val="1100"/>
              <a:buFont typeface="Arial"/>
              <a:buChar char="•"/>
            </a:pPr>
            <a:r>
              <a:rPr b="1" i="0" lang="ja" sz="1100" u="none" cap="none" strike="noStrike">
                <a:solidFill>
                  <a:srgbClr val="1A1A1A"/>
                </a:solidFill>
                <a:latin typeface="M PLUS 1p"/>
                <a:ea typeface="M PLUS 1p"/>
                <a:cs typeface="M PLUS 1p"/>
                <a:sym typeface="M PLUS 1p"/>
              </a:rPr>
              <a:t>顧客が行動したら達成</a:t>
            </a:r>
            <a:endParaRPr b="0" i="0" sz="1100" u="none" cap="none" strike="noStrike">
              <a:solidFill>
                <a:srgbClr val="000000"/>
              </a:solidFill>
              <a:latin typeface="Arial"/>
              <a:ea typeface="Arial"/>
              <a:cs typeface="Arial"/>
              <a:sym typeface="Arial"/>
            </a:endParaRPr>
          </a:p>
          <a:p>
            <a:pPr indent="-127000" lvl="0" marL="127000" marR="0" rtl="0" algn="l">
              <a:lnSpc>
                <a:spcPct val="115000"/>
              </a:lnSpc>
              <a:spcBef>
                <a:spcPts val="400"/>
              </a:spcBef>
              <a:spcAft>
                <a:spcPts val="0"/>
              </a:spcAft>
              <a:buClr>
                <a:srgbClr val="000000"/>
              </a:buClr>
              <a:buSzPts val="1100"/>
              <a:buFont typeface="Arial"/>
              <a:buChar char="•"/>
            </a:pPr>
            <a:r>
              <a:rPr b="1" i="0" lang="ja" sz="1100" u="none" cap="none" strike="noStrike">
                <a:solidFill>
                  <a:srgbClr val="1A1A1A"/>
                </a:solidFill>
                <a:latin typeface="M PLUS 1p"/>
                <a:ea typeface="M PLUS 1p"/>
                <a:cs typeface="M PLUS 1p"/>
                <a:sym typeface="M PLUS 1p"/>
              </a:rPr>
              <a:t>卒業顧客は追いすぎない</a:t>
            </a:r>
            <a:endParaRPr b="0" i="0" sz="1100" u="none" cap="none" strike="noStrike">
              <a:solidFill>
                <a:srgbClr val="000000"/>
              </a:solidFill>
              <a:latin typeface="Arial"/>
              <a:ea typeface="Arial"/>
              <a:cs typeface="Arial"/>
              <a:sym typeface="Arial"/>
            </a:endParaRPr>
          </a:p>
          <a:p>
            <a:pPr indent="-127000" lvl="0" marL="127000" marR="0" rtl="0" algn="l">
              <a:lnSpc>
                <a:spcPct val="115000"/>
              </a:lnSpc>
              <a:spcBef>
                <a:spcPts val="400"/>
              </a:spcBef>
              <a:spcAft>
                <a:spcPts val="0"/>
              </a:spcAft>
              <a:buClr>
                <a:srgbClr val="000000"/>
              </a:buClr>
              <a:buSzPts val="1100"/>
              <a:buFont typeface="Arial"/>
              <a:buChar char="•"/>
            </a:pPr>
            <a:r>
              <a:rPr b="1" i="0" lang="ja" sz="1100" u="none" cap="none" strike="noStrike">
                <a:solidFill>
                  <a:srgbClr val="1A1A1A"/>
                </a:solidFill>
                <a:latin typeface="M PLUS 1p"/>
                <a:ea typeface="M PLUS 1p"/>
                <a:cs typeface="M PLUS 1p"/>
                <a:sym typeface="M PLUS 1p"/>
              </a:rPr>
              <a:t>自分で次の打ち手を考える</a:t>
            </a:r>
            <a:endParaRPr b="0" i="0" sz="1100" u="none" cap="none" strike="noStrike">
              <a:solidFill>
                <a:srgbClr val="000000"/>
              </a:solidFill>
              <a:latin typeface="Arial"/>
              <a:ea typeface="Arial"/>
              <a:cs typeface="Arial"/>
              <a:sym typeface="Arial"/>
            </a:endParaRPr>
          </a:p>
        </p:txBody>
      </p:sp>
      <p:sp>
        <p:nvSpPr>
          <p:cNvPr id="1108" name="Google Shape;1108;p45"/>
          <p:cNvSpPr/>
          <p:nvPr/>
        </p:nvSpPr>
        <p:spPr>
          <a:xfrm>
            <a:off x="274320" y="4069080"/>
            <a:ext cx="8595360" cy="59436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45"/>
          <p:cNvSpPr txBox="1"/>
          <p:nvPr/>
        </p:nvSpPr>
        <p:spPr>
          <a:xfrm>
            <a:off x="274320" y="4069080"/>
            <a:ext cx="859536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ja" sz="2000" u="none" cap="none" strike="noStrike">
                <a:solidFill>
                  <a:srgbClr val="FFD100"/>
                </a:solidFill>
                <a:latin typeface="M PLUS 1p"/>
                <a:ea typeface="M PLUS 1p"/>
                <a:cs typeface="M PLUS 1p"/>
                <a:sym typeface="M PLUS 1p"/>
              </a:rPr>
              <a:t>やることは減らす。考えることまで減らさない。</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114" name="Shape 1114"/>
        <p:cNvGrpSpPr/>
        <p:nvPr/>
      </p:nvGrpSpPr>
      <p:grpSpPr>
        <a:xfrm>
          <a:off x="0" y="0"/>
          <a:ext cx="0" cy="0"/>
          <a:chOff x="0" y="0"/>
          <a:chExt cx="0" cy="0"/>
        </a:xfrm>
      </p:grpSpPr>
      <p:sp>
        <p:nvSpPr>
          <p:cNvPr id="1115" name="Google Shape;1115;p46"/>
          <p:cNvSpPr/>
          <p:nvPr/>
        </p:nvSpPr>
        <p:spPr>
          <a:xfrm>
            <a:off x="0" y="0"/>
            <a:ext cx="228600" cy="5143500"/>
          </a:xfrm>
          <a:prstGeom prst="rect">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46"/>
          <p:cNvSpPr txBox="1"/>
          <p:nvPr/>
        </p:nvSpPr>
        <p:spPr>
          <a:xfrm>
            <a:off x="640080" y="1463040"/>
            <a:ext cx="7863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rgbClr val="767676"/>
                </a:solidFill>
                <a:latin typeface="M PLUS 1p"/>
                <a:ea typeface="M PLUS 1p"/>
                <a:cs typeface="M PLUS 1p"/>
                <a:sym typeface="M PLUS 1p"/>
              </a:rPr>
              <a:t>Appendix</a:t>
            </a:r>
            <a:endParaRPr b="0" i="0" sz="1400" u="none" cap="none" strike="noStrike">
              <a:solidFill>
                <a:srgbClr val="000000"/>
              </a:solidFill>
              <a:latin typeface="Arial"/>
              <a:ea typeface="Arial"/>
              <a:cs typeface="Arial"/>
              <a:sym typeface="Arial"/>
            </a:endParaRPr>
          </a:p>
        </p:txBody>
      </p:sp>
      <p:sp>
        <p:nvSpPr>
          <p:cNvPr id="1117" name="Google Shape;1117;p46"/>
          <p:cNvSpPr txBox="1"/>
          <p:nvPr/>
        </p:nvSpPr>
        <p:spPr>
          <a:xfrm>
            <a:off x="640080" y="1920240"/>
            <a:ext cx="78638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ja" sz="2600">
                <a:solidFill>
                  <a:srgbClr val="1A1A1A"/>
                </a:solidFill>
                <a:latin typeface="M PLUS 1p"/>
                <a:ea typeface="M PLUS 1p"/>
                <a:cs typeface="M PLUS 1p"/>
                <a:sym typeface="M PLUS 1p"/>
              </a:rPr>
              <a:t>集約したエビデンスデータ</a:t>
            </a:r>
            <a:endParaRPr b="0" i="0" sz="2600" u="none" cap="none" strike="noStrike">
              <a:solidFill>
                <a:srgbClr val="000000"/>
              </a:solidFill>
              <a:latin typeface="Arial"/>
              <a:ea typeface="Arial"/>
              <a:cs typeface="Arial"/>
              <a:sym typeface="Arial"/>
            </a:endParaRPr>
          </a:p>
        </p:txBody>
      </p:sp>
      <p:sp>
        <p:nvSpPr>
          <p:cNvPr id="1118" name="Google Shape;1118;p46"/>
          <p:cNvSpPr txBox="1"/>
          <p:nvPr/>
        </p:nvSpPr>
        <p:spPr>
          <a:xfrm>
            <a:off x="640080" y="466344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1A1A1A"/>
                </a:solidFill>
                <a:latin typeface="M PLUS 1p"/>
                <a:ea typeface="M PLUS 1p"/>
                <a:cs typeface="M PLUS 1p"/>
                <a:sym typeface="M PLUS 1p"/>
              </a:rPr>
              <a:t>Timee</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3" name="Shape 1123"/>
        <p:cNvGrpSpPr/>
        <p:nvPr/>
      </p:nvGrpSpPr>
      <p:grpSpPr>
        <a:xfrm>
          <a:off x="0" y="0"/>
          <a:ext cx="0" cy="0"/>
          <a:chOff x="0" y="0"/>
          <a:chExt cx="0" cy="0"/>
        </a:xfrm>
      </p:grpSpPr>
      <p:sp>
        <p:nvSpPr>
          <p:cNvPr id="1124" name="Google Shape;1124;p47"/>
          <p:cNvSpPr txBox="1"/>
          <p:nvPr/>
        </p:nvSpPr>
        <p:spPr>
          <a:xfrm>
            <a:off x="342900" y="274320"/>
            <a:ext cx="8435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総括（1/2）｜直接根拠あり4指標、条件付き3指標、検証中9指標</a:t>
            </a:r>
            <a:endParaRPr b="0" i="0" sz="1500" u="none" cap="none" strike="noStrike">
              <a:solidFill>
                <a:srgbClr val="000000"/>
              </a:solidFill>
              <a:latin typeface="M PLUS 1p"/>
              <a:ea typeface="M PLUS 1p"/>
              <a:cs typeface="M PLUS 1p"/>
              <a:sym typeface="M PLUS 1p"/>
            </a:endParaRPr>
          </a:p>
        </p:txBody>
      </p:sp>
      <p:sp>
        <p:nvSpPr>
          <p:cNvPr id="1125" name="Google Shape;1125;p47"/>
          <p:cNvSpPr txBox="1"/>
          <p:nvPr/>
        </p:nvSpPr>
        <p:spPr>
          <a:xfrm>
            <a:off x="342900" y="720090"/>
            <a:ext cx="84354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0" i="0" lang="ja" sz="900" u="none" cap="none" strike="noStrike">
                <a:solidFill>
                  <a:srgbClr val="595959"/>
                </a:solidFill>
                <a:latin typeface="M PLUS 1p"/>
                <a:ea typeface="M PLUS 1p"/>
                <a:cs typeface="M PLUS 1p"/>
                <a:sym typeface="M PLUS 1p"/>
              </a:rPr>
              <a:t>◎4（2回目掲載・翌週継続・ヨミ・雛形2枚目）／○3／△6／検証中9。差の大きい◎は「継続の構成要素に近い行動」で、因果効果は差分より小さい点に注意。</a:t>
            </a:r>
            <a:endParaRPr b="0" i="0" sz="900" u="none" cap="none" strike="noStrike">
              <a:solidFill>
                <a:srgbClr val="000000"/>
              </a:solidFill>
              <a:latin typeface="M PLUS 1p"/>
              <a:ea typeface="M PLUS 1p"/>
              <a:cs typeface="M PLUS 1p"/>
              <a:sym typeface="M PLUS 1p"/>
            </a:endParaRPr>
          </a:p>
        </p:txBody>
      </p:sp>
      <p:graphicFrame>
        <p:nvGraphicFramePr>
          <p:cNvPr id="1126" name="Google Shape;1126;p47"/>
          <p:cNvGraphicFramePr/>
          <p:nvPr/>
        </p:nvGraphicFramePr>
        <p:xfrm>
          <a:off x="342900" y="1097280"/>
          <a:ext cx="3000000" cy="3000000"/>
        </p:xfrm>
        <a:graphic>
          <a:graphicData uri="http://schemas.openxmlformats.org/drawingml/2006/table">
            <a:tbl>
              <a:tblPr>
                <a:noFill/>
                <a:tableStyleId>{8659DB5D-94B2-4BAF-BFA3-85DCF8ECF55B}</a:tableStyleId>
              </a:tblPr>
              <a:tblGrid>
                <a:gridCol w="342900"/>
                <a:gridCol w="1988800"/>
                <a:gridCol w="548625"/>
                <a:gridCol w="3429000"/>
                <a:gridCol w="822950"/>
                <a:gridCol w="1303000"/>
              </a:tblGrid>
              <a:tr h="288025">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No</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指標</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判定</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翌月継続率への差（出典記載値）</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営業側の可変性</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出典</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2日以上掲載（当月2回目）</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あり69% vs なし5.2%（差63.8pt）</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ONB／Excel R01</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初回→次の募集作成日数（翌週継続）</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翌週継続あり64.1% vs なし25.4%（差38.7pt）</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Part2 p.13</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3</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当月5掲載以上</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1D7FE8"/>
                        </a:buClr>
                        <a:buSzPts val="800"/>
                        <a:buFont typeface="M PLUS 1p"/>
                        <a:buNone/>
                      </a:pPr>
                      <a:r>
                        <a:rPr b="1" lang="ja" sz="800" u="none" cap="none" strike="noStrike">
                          <a:solidFill>
                            <a:srgbClr val="1D7FE8"/>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仕事開始日数1日19.8%→4日50.0%→10日70.7%／5件以上76.1% vs 2件69.0%</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GrowthSquad p.25／R03</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4</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営業ヨミA〜C</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A93.3%・B70.0%・C＋45.5%（差47.8pt）</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中（主観）</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ONB p.7／R04</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5</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Bad体験</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掲載量を揃えると差なし（5件以上74.0 vs 74.6／5件未満44.9 vs 41.2）</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中</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未達要因分析 G08</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6</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C＋かつ未接触</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継続率の直接比較なし</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Excel T2</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7</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前月の初回掲載時期</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下旬初回層：暦月継続61.0% vs 60日生存39.5%（判定窓の差）</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なし（属性）</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ONB p.7／R05</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8</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未評価の滞留・レビュー実施率</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D7FE8"/>
                        </a:buClr>
                        <a:buSzPts val="800"/>
                        <a:buFont typeface="M PLUS 1p"/>
                        <a:buNone/>
                      </a:pPr>
                      <a:r>
                        <a:rPr b="1" lang="ja" sz="800" u="none" cap="none" strike="noStrike">
                          <a:solidFill>
                            <a:srgbClr val="1D7FE8"/>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初月2回掲載：両回レビューあり42.4% vs なし17.1%／初月1回：20.1% vs 5.3%</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Part2 p.17／G03</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9</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計画掲載有無・リードタイム</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1D7FE8"/>
                        </a:buClr>
                        <a:buSzPts val="800"/>
                        <a:buFont typeface="M PLUS 1p"/>
                        <a:buNone/>
                      </a:pPr>
                      <a:r>
                        <a:rPr b="1" lang="ja" sz="800" u="none" cap="none" strike="noStrike">
                          <a:solidFill>
                            <a:srgbClr val="1D7FE8"/>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掲載4〜6日層：あり58.0% vs なし47.8%（差10.2pt）。10日以上では差1.7pt</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GrowthSquad p.31</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10</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募集開始時間帯数</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3ヶ月継続率のみ：初月6〜10件で1帯41.1%→4帯57.5%</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中</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FY25 4Q p.34</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11</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ログイン・作成画面訪問後の未公開</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アクセスのみ層が15〜20%存在。継続率差の数値なし</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高（支援トリガー）</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FY25 4Q p.37-38</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bl>
          </a:graphicData>
        </a:graphic>
      </p:graphicFrame>
      <p:sp>
        <p:nvSpPr>
          <p:cNvPr id="1127" name="Google Shape;1127;p47"/>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出典：各指標スライドの出典欄を参照　／　判定基準は「読み方」スライド</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2" name="Shape 1132"/>
        <p:cNvGrpSpPr/>
        <p:nvPr/>
      </p:nvGrpSpPr>
      <p:grpSpPr>
        <a:xfrm>
          <a:off x="0" y="0"/>
          <a:ext cx="0" cy="0"/>
          <a:chOff x="0" y="0"/>
          <a:chExt cx="0" cy="0"/>
        </a:xfrm>
      </p:grpSpPr>
      <p:sp>
        <p:nvSpPr>
          <p:cNvPr id="1133" name="Google Shape;1133;p48"/>
          <p:cNvSpPr txBox="1"/>
          <p:nvPr/>
        </p:nvSpPr>
        <p:spPr>
          <a:xfrm>
            <a:off x="342900" y="274320"/>
            <a:ext cx="8435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総括（2/2）｜直接根拠あり4指標、条件付き3指標、検証中9指標</a:t>
            </a:r>
            <a:endParaRPr b="0" i="0" sz="1500" u="none" cap="none" strike="noStrike">
              <a:solidFill>
                <a:srgbClr val="000000"/>
              </a:solidFill>
              <a:latin typeface="M PLUS 1p"/>
              <a:ea typeface="M PLUS 1p"/>
              <a:cs typeface="M PLUS 1p"/>
              <a:sym typeface="M PLUS 1p"/>
            </a:endParaRPr>
          </a:p>
        </p:txBody>
      </p:sp>
      <p:sp>
        <p:nvSpPr>
          <p:cNvPr id="1134" name="Google Shape;1134;p48"/>
          <p:cNvSpPr txBox="1"/>
          <p:nvPr/>
        </p:nvSpPr>
        <p:spPr>
          <a:xfrm>
            <a:off x="342900" y="720090"/>
            <a:ext cx="84354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0" i="0" lang="ja" sz="900" u="none" cap="none" strike="noStrike">
                <a:solidFill>
                  <a:srgbClr val="595959"/>
                </a:solidFill>
                <a:latin typeface="M PLUS 1p"/>
                <a:ea typeface="M PLUS 1p"/>
                <a:cs typeface="M PLUS 1p"/>
                <a:sym typeface="M PLUS 1p"/>
              </a:rPr>
              <a:t>◎4（2回目掲載・翌週継続・ヨミ・雛形2枚目）／○3／△6／検証中9。差の大きい◎は「継続の構成要素に近い行動」で、因果効果は差分より小さい点に注意。</a:t>
            </a:r>
            <a:endParaRPr b="0" i="0" sz="900" u="none" cap="none" strike="noStrike">
              <a:solidFill>
                <a:srgbClr val="000000"/>
              </a:solidFill>
              <a:latin typeface="M PLUS 1p"/>
              <a:ea typeface="M PLUS 1p"/>
              <a:cs typeface="M PLUS 1p"/>
              <a:sym typeface="M PLUS 1p"/>
            </a:endParaRPr>
          </a:p>
        </p:txBody>
      </p:sp>
      <p:graphicFrame>
        <p:nvGraphicFramePr>
          <p:cNvPr id="1135" name="Google Shape;1135;p48"/>
          <p:cNvGraphicFramePr/>
          <p:nvPr/>
        </p:nvGraphicFramePr>
        <p:xfrm>
          <a:off x="342900" y="1097280"/>
          <a:ext cx="3000000" cy="3000000"/>
        </p:xfrm>
        <a:graphic>
          <a:graphicData uri="http://schemas.openxmlformats.org/drawingml/2006/table">
            <a:tbl>
              <a:tblPr>
                <a:noFill/>
                <a:tableStyleId>{8659DB5D-94B2-4BAF-BFA3-85DCF8ECF55B}</a:tableStyleId>
              </a:tblPr>
              <a:tblGrid>
                <a:gridCol w="342900"/>
                <a:gridCol w="1988800"/>
                <a:gridCol w="548625"/>
                <a:gridCol w="3429000"/>
                <a:gridCol w="822950"/>
                <a:gridCol w="1303000"/>
              </a:tblGrid>
              <a:tr h="288025">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No</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指標</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判定</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翌月継続率への差（出典記載値）</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営業側の可変性</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lnSpc>
                          <a:spcPct val="100000"/>
                        </a:lnSpc>
                        <a:spcBef>
                          <a:spcPts val="0"/>
                        </a:spcBef>
                        <a:spcAft>
                          <a:spcPts val="0"/>
                        </a:spcAft>
                        <a:buClr>
                          <a:srgbClr val="FFFFFF"/>
                        </a:buClr>
                        <a:buSzPts val="700"/>
                        <a:buFont typeface="M PLUS 1p"/>
                        <a:buNone/>
                      </a:pPr>
                      <a:r>
                        <a:rPr b="1" lang="ja" sz="700" u="none" cap="none" strike="noStrike">
                          <a:solidFill>
                            <a:srgbClr val="FFFFFF"/>
                          </a:solidFill>
                          <a:latin typeface="M PLUS 1p"/>
                          <a:ea typeface="M PLUS 1p"/>
                          <a:cs typeface="M PLUS 1p"/>
                          <a:sym typeface="M PLUS 1p"/>
                        </a:rPr>
                        <a:t>出典</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12</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募集曜日の広がり</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3ヶ月継続率のみ：11件以上で平日58.7%→平日・週末66.9%。少量層では逆転</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中</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FY25 4Q p.34</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13</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利用ひな形数・任せる業務数</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A1A1A"/>
                        </a:buClr>
                        <a:buSzPts val="800"/>
                        <a:buFont typeface="M PLUS 1p"/>
                        <a:buNone/>
                      </a:pPr>
                      <a:r>
                        <a:rPr b="1" lang="ja" sz="800" u="none" cap="none" strike="noStrike">
                          <a:solidFill>
                            <a:srgbClr val="1A1A1A"/>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1枚51.0% vs 2枚76.2%（+25.2pt）。活動量統制後+15pt、因果見立て+10〜15pt</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雛形追加分析 p.4-6</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14</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企業のお気に入り登録数・プール倍率</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直接数値なし。参考：リピーター稼働は掲載10日以上で+5.2pt、それ未満は差なし</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中</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GrowthSquad p.28</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15</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掲載頻度の急減・最大空白期間</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仮説。参考：離脱期間が短いほど復活後AA率が高い（数値は復活後12ヶ月）</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高（アラート）</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FY25 4Q p.48</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16</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AI雛形活用</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数値なし（na）</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プロセスKPI整理</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17</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勤務中トラブル（CS問い合わせ）</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欠勤で継続率▲5.1pt、遅刻で▲1.6pt（原典・母数未照合）</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低</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プロセスKPI整理</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18</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グループ限定公開</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ENT領域：76% vs 52%（差24pt）。SMB/Lowでは未検証</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中</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プロセスKPI整理</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19</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バッジ限定募集</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フード領域で「継続率向上」の記載のみ、数値なし</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中</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プロセスKPI整理</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20</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ブロック利用</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6D9"/>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ブロック率20%以上ワーカー稼働で初回継続率▲2.0〜2.6pt（定義が「利用有無」と不一致）</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低</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プロセスKPI整理</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21</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未払い・利用制限</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数値なし。停止要因の記録項目</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低</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Excel N70</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88025">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22</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b="1" lang="ja" sz="700" u="none" cap="none" strike="noStrike">
                          <a:solidFill>
                            <a:srgbClr val="000000"/>
                          </a:solidFill>
                          <a:latin typeface="M PLUS 1p"/>
                          <a:ea typeface="M PLUS 1p"/>
                          <a:cs typeface="M PLUS 1p"/>
                          <a:sym typeface="M PLUS 1p"/>
                        </a:rPr>
                        <a:t>自走での再掲載有無</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595959"/>
                        </a:buClr>
                        <a:buSzPts val="800"/>
                        <a:buFont typeface="M PLUS 1p"/>
                        <a:buNone/>
                      </a:pPr>
                      <a:r>
                        <a:rPr b="1" lang="ja" sz="800" u="none" cap="none" strike="noStrike">
                          <a:solidFill>
                            <a:srgbClr val="595959"/>
                          </a:solidFill>
                          <a:latin typeface="M PLUS 1p"/>
                          <a:ea typeface="M PLUS 1p"/>
                          <a:cs typeface="M PLUS 1p"/>
                          <a:sym typeface="M PLUS 1p"/>
                        </a:rPr>
                        <a:t>検証中</a:t>
                      </a:r>
                      <a:endParaRPr sz="8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数値なし。完了定義に必須だが継続率根拠は未取得</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700"/>
                        <a:buFont typeface="M PLUS 1p"/>
                        <a:buNone/>
                      </a:pPr>
                      <a:r>
                        <a:rPr lang="ja" sz="700" u="none" cap="none" strike="noStrike">
                          <a:solidFill>
                            <a:srgbClr val="000000"/>
                          </a:solidFill>
                          <a:latin typeface="M PLUS 1p"/>
                          <a:ea typeface="M PLUS 1p"/>
                          <a:cs typeface="M PLUS 1p"/>
                          <a:sym typeface="M PLUS 1p"/>
                        </a:rPr>
                        <a:t>高</a:t>
                      </a:r>
                      <a:endParaRPr sz="7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595959"/>
                        </a:buClr>
                        <a:buSzPts val="600"/>
                        <a:buFont typeface="M PLUS 1p"/>
                        <a:buNone/>
                      </a:pPr>
                      <a:r>
                        <a:rPr lang="ja" sz="600" u="none" cap="none" strike="noStrike">
                          <a:solidFill>
                            <a:srgbClr val="595959"/>
                          </a:solidFill>
                          <a:latin typeface="M PLUS 1p"/>
                          <a:ea typeface="M PLUS 1p"/>
                          <a:cs typeface="M PLUS 1p"/>
                          <a:sym typeface="M PLUS 1p"/>
                        </a:rPr>
                        <a:t>Excel N07</a:t>
                      </a:r>
                      <a:endParaRPr sz="600" u="none" cap="none" strike="noStrike">
                        <a:latin typeface="M PLUS 1p"/>
                        <a:ea typeface="M PLUS 1p"/>
                        <a:cs typeface="M PLUS 1p"/>
                        <a:sym typeface="M PLUS 1p"/>
                      </a:endParaRPr>
                    </a:p>
                  </a:txBody>
                  <a:tcPr marT="34300" marB="34300" marR="68600" marL="686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5"/>
                    </a:solidFill>
                  </a:tcPr>
                </a:tc>
              </a:tr>
            </a:tbl>
          </a:graphicData>
        </a:graphic>
      </p:graphicFrame>
      <p:sp>
        <p:nvSpPr>
          <p:cNvPr id="1136" name="Google Shape;1136;p48"/>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出典：各指標スライドの出典欄を参照　／　判定基準は「読み方」スライド</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1" name="Shape 1141"/>
        <p:cNvGrpSpPr/>
        <p:nvPr/>
      </p:nvGrpSpPr>
      <p:grpSpPr>
        <a:xfrm>
          <a:off x="0" y="0"/>
          <a:ext cx="0" cy="0"/>
          <a:chOff x="0" y="0"/>
          <a:chExt cx="0" cy="0"/>
        </a:xfrm>
      </p:grpSpPr>
      <p:sp>
        <p:nvSpPr>
          <p:cNvPr id="1142" name="Google Shape;1142;p49"/>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No.01　2日以上掲載しているか（当月に2回目の募集作成がある）</a:t>
            </a:r>
            <a:endParaRPr b="0" i="0" sz="900" u="none" cap="none" strike="noStrike">
              <a:solidFill>
                <a:srgbClr val="000000"/>
              </a:solidFill>
              <a:latin typeface="M PLUS 1p"/>
              <a:ea typeface="M PLUS 1p"/>
              <a:cs typeface="M PLUS 1p"/>
              <a:sym typeface="M PLUS 1p"/>
            </a:endParaRPr>
          </a:p>
        </p:txBody>
      </p:sp>
      <p:sp>
        <p:nvSpPr>
          <p:cNvPr id="1143" name="Google Shape;1143;p49"/>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144" name="Google Shape;1144;p49"/>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　差が大きく、複数資料で再現</a:t>
            </a:r>
            <a:endParaRPr b="0" i="0" sz="900" u="none" cap="none" strike="noStrike">
              <a:solidFill>
                <a:srgbClr val="000000"/>
              </a:solidFill>
              <a:latin typeface="M PLUS 1p"/>
              <a:ea typeface="M PLUS 1p"/>
              <a:cs typeface="M PLUS 1p"/>
              <a:sym typeface="M PLUS 1p"/>
            </a:endParaRPr>
          </a:p>
        </p:txBody>
      </p:sp>
      <p:sp>
        <p:nvSpPr>
          <p:cNvPr id="1145" name="Google Shape;1145;p49"/>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2回目掲載の有無で翌月継続率は69%対5.2%。差63.8ptで全指標中最大、ただし「継続の入口そのもの」に近い</a:t>
            </a:r>
            <a:endParaRPr b="0" i="0" sz="1500" u="none" cap="none" strike="noStrike">
              <a:solidFill>
                <a:srgbClr val="000000"/>
              </a:solidFill>
              <a:latin typeface="M PLUS 1p"/>
              <a:ea typeface="M PLUS 1p"/>
              <a:cs typeface="M PLUS 1p"/>
              <a:sym typeface="M PLUS 1p"/>
            </a:endParaRPr>
          </a:p>
        </p:txBody>
      </p:sp>
      <p:sp>
        <p:nvSpPr>
          <p:cNvPr id="1146" name="Google Shape;1146;p49"/>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翌月継続率（%）｜2回目掲載の有無</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147" name="Google Shape;1147;p49"/>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148" name="Google Shape;1148;p49"/>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149" name="Google Shape;1149;p49"/>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150" name="Google Shape;1150;p49"/>
          <p:cNvSpPr txBox="1"/>
          <p:nvPr/>
        </p:nvSpPr>
        <p:spPr>
          <a:xfrm>
            <a:off x="4476750" y="1533525"/>
            <a:ext cx="4172100" cy="104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2回目掲載あり69〜75%（複数コホートの下限を表示）、なし5.2%。差63.8pt</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Low Touch別分析でも、初月に追加掲載がない店舗は約8割が翌月離反（追加掲載あり55.7〜62.5% vs なし16.9〜24.9%）</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初回パターン（緊急／計画、単発／一括）を問わず同方向</a:t>
            </a:r>
            <a:endParaRPr b="0" i="0" sz="950" u="none" cap="none" strike="noStrike">
              <a:solidFill>
                <a:srgbClr val="000000"/>
              </a:solidFill>
              <a:latin typeface="M PLUS 1p"/>
              <a:ea typeface="M PLUS 1p"/>
              <a:cs typeface="M PLUS 1p"/>
              <a:sym typeface="M PLUS 1p"/>
            </a:endParaRPr>
          </a:p>
        </p:txBody>
      </p:sp>
      <p:sp>
        <p:nvSpPr>
          <p:cNvPr id="1151" name="Google Shape;1151;p49"/>
          <p:cNvSpPr txBox="1"/>
          <p:nvPr/>
        </p:nvSpPr>
        <p:spPr>
          <a:xfrm>
            <a:off x="4476750" y="2595562"/>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152" name="Google Shape;1152;p49"/>
          <p:cNvSpPr txBox="1"/>
          <p:nvPr/>
        </p:nvSpPr>
        <p:spPr>
          <a:xfrm>
            <a:off x="4476750" y="2824162"/>
            <a:ext cx="4172100" cy="104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2026年3〜6月初回、初回作成が20日以前の店舗に限定。群別nは不明</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「2日」「2回」「2件」の単位が資料間で混在。正式なカウント単位は要照合</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2回目掲載は継続行動の一部であり、差分をそのまま施策効果と見なせない</a:t>
            </a:r>
            <a:endParaRPr b="0" i="0" sz="950" u="none" cap="none" strike="noStrike">
              <a:solidFill>
                <a:srgbClr val="000000"/>
              </a:solidFill>
              <a:latin typeface="M PLUS 1p"/>
              <a:ea typeface="M PLUS 1p"/>
              <a:cs typeface="M PLUS 1p"/>
              <a:sym typeface="M PLUS 1p"/>
            </a:endParaRPr>
          </a:p>
        </p:txBody>
      </p:sp>
      <p:sp>
        <p:nvSpPr>
          <p:cNvPr id="1153" name="Google Shape;1153;p49"/>
          <p:cNvSpPr txBox="1"/>
          <p:nvPr/>
        </p:nvSpPr>
        <p:spPr>
          <a:xfrm>
            <a:off x="4476750" y="3886200"/>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154" name="Google Shape;1154;p49"/>
          <p:cNvSpPr txBox="1"/>
          <p:nvPr/>
        </p:nvSpPr>
        <p:spPr>
          <a:xfrm>
            <a:off x="4476750" y="4114800"/>
            <a:ext cx="4172100" cy="5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現行＋1点は妥当。ただし配点よりも「初回作成後◯日以内に2回目を作らせる」という完了条件として使う方が運用価値が高い。</a:t>
            </a:r>
            <a:endParaRPr b="0" i="0" sz="950" u="none" cap="none" strike="noStrike">
              <a:solidFill>
                <a:srgbClr val="000000"/>
              </a:solidFill>
              <a:latin typeface="M PLUS 1p"/>
              <a:ea typeface="M PLUS 1p"/>
              <a:cs typeface="M PLUS 1p"/>
              <a:sym typeface="M PLUS 1p"/>
            </a:endParaRPr>
          </a:p>
        </p:txBody>
      </p:sp>
      <p:sp>
        <p:nvSpPr>
          <p:cNvPr id="1155" name="Google Shape;1155;p49"/>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出典：ONB スコアリング 施策概要（2026.9） p.6／ONB_現行スコアと次の候補.xlsx R01　／　[FY26] GrowthSquad_翌月継続率の探索分析（Low Touch, 2025/1〜9初回） p.13</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50"/>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No.02　初回の募集作成日から次の募集作成までの日数（翌週継続）</a:t>
            </a:r>
            <a:endParaRPr b="0" i="0" sz="900" u="none" cap="none" strike="noStrike">
              <a:solidFill>
                <a:srgbClr val="000000"/>
              </a:solidFill>
              <a:latin typeface="M PLUS 1p"/>
              <a:ea typeface="M PLUS 1p"/>
              <a:cs typeface="M PLUS 1p"/>
              <a:sym typeface="M PLUS 1p"/>
            </a:endParaRPr>
          </a:p>
        </p:txBody>
      </p:sp>
      <p:sp>
        <p:nvSpPr>
          <p:cNvPr id="1162" name="Google Shape;1162;p50"/>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163" name="Google Shape;1163;p50"/>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　差が大きく、複数資料で再現</a:t>
            </a:r>
            <a:endParaRPr b="0" i="0" sz="900" u="none" cap="none" strike="noStrike">
              <a:solidFill>
                <a:srgbClr val="000000"/>
              </a:solidFill>
              <a:latin typeface="M PLUS 1p"/>
              <a:ea typeface="M PLUS 1p"/>
              <a:cs typeface="M PLUS 1p"/>
              <a:sym typeface="M PLUS 1p"/>
            </a:endParaRPr>
          </a:p>
        </p:txBody>
      </p:sp>
      <p:sp>
        <p:nvSpPr>
          <p:cNvPr id="1164" name="Google Shape;1164;p50"/>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400" u="none" cap="none" strike="noStrike">
                <a:solidFill>
                  <a:srgbClr val="1A1A1A"/>
                </a:solidFill>
                <a:latin typeface="M PLUS 1p"/>
                <a:ea typeface="M PLUS 1p"/>
                <a:cs typeface="M PLUS 1p"/>
                <a:sym typeface="M PLUS 1p"/>
              </a:rPr>
              <a:t>翌週継続があると翌月継続率は64.1%、ないと25.4%。差38.7pt。4週目まで掲載が続く店舗は75.5%</a:t>
            </a:r>
            <a:endParaRPr b="0" i="0" sz="1500" u="none" cap="none" strike="noStrike">
              <a:solidFill>
                <a:srgbClr val="000000"/>
              </a:solidFill>
              <a:latin typeface="M PLUS 1p"/>
              <a:ea typeface="M PLUS 1p"/>
              <a:cs typeface="M PLUS 1p"/>
              <a:sym typeface="M PLUS 1p"/>
            </a:endParaRPr>
          </a:p>
        </p:txBody>
      </p:sp>
      <p:sp>
        <p:nvSpPr>
          <p:cNvPr id="1165" name="Google Shape;1165;p50"/>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翌月継続率（%）｜翌週継続の有無（左）と掲載が続く期間（右）</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166" name="Google Shape;1166;p50"/>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167" name="Google Shape;1167;p50"/>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168" name="Google Shape;1168;p50"/>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169" name="Google Shape;1169;p50"/>
          <p:cNvSpPr txBox="1"/>
          <p:nvPr/>
        </p:nvSpPr>
        <p:spPr>
          <a:xfrm>
            <a:off x="4476750" y="1533525"/>
            <a:ext cx="4172100" cy="94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翌週継続あり64.1% vs なし25.4%（差38.7pt）。Low Touchの翌週継続率は28.8%でHigh Touchより11.5pt低い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初月の掲載週パターン別では、2〜4週すべて掲載87%、追加週なし16%。2週目を飛ばしても3・4週目に再掲載すれば75〜79%まで回復</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4週目も掲載75.5% vs 初回のみ19.2%（2026年3〜5月初回、n=7,127）</a:t>
            </a:r>
            <a:endParaRPr b="0" i="0" sz="950" u="none" cap="none" strike="noStrike">
              <a:solidFill>
                <a:srgbClr val="000000"/>
              </a:solidFill>
              <a:latin typeface="M PLUS 1p"/>
              <a:ea typeface="M PLUS 1p"/>
              <a:cs typeface="M PLUS 1p"/>
              <a:sym typeface="M PLUS 1p"/>
            </a:endParaRPr>
          </a:p>
        </p:txBody>
      </p:sp>
      <p:sp>
        <p:nvSpPr>
          <p:cNvPr id="1170" name="Google Shape;1170;p50"/>
          <p:cNvSpPr txBox="1"/>
          <p:nvPr/>
        </p:nvSpPr>
        <p:spPr>
          <a:xfrm>
            <a:off x="4476750" y="2495021"/>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171" name="Google Shape;1171;p50"/>
          <p:cNvSpPr txBox="1"/>
          <p:nvPr/>
        </p:nvSpPr>
        <p:spPr>
          <a:xfrm>
            <a:off x="4476750" y="2723621"/>
            <a:ext cx="4172100" cy="109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Part2はLow Touch・初回掲載から31〜60日目の継続を「翌月継続」と定義。暦月定義とは異なる</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現行配点「1〜7日＋2／8〜14日＋1」の直接検証ではない。根拠は翌週継続の有無と週パターン</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現行は初回作成日から最新作成日の差で判定するため、継続掲載すると点が下がる恒常的な問題あり</a:t>
            </a:r>
            <a:endParaRPr b="0" i="0" sz="950" u="none" cap="none" strike="noStrike">
              <a:solidFill>
                <a:srgbClr val="000000"/>
              </a:solidFill>
              <a:latin typeface="M PLUS 1p"/>
              <a:ea typeface="M PLUS 1p"/>
              <a:cs typeface="M PLUS 1p"/>
              <a:sym typeface="M PLUS 1p"/>
            </a:endParaRPr>
          </a:p>
        </p:txBody>
      </p:sp>
      <p:sp>
        <p:nvSpPr>
          <p:cNvPr id="1172" name="Google Shape;1172;p50"/>
          <p:cNvSpPr txBox="1"/>
          <p:nvPr/>
        </p:nvSpPr>
        <p:spPr>
          <a:xfrm>
            <a:off x="4476750" y="3835929"/>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173" name="Google Shape;1173;p50"/>
          <p:cNvSpPr txBox="1"/>
          <p:nvPr/>
        </p:nvSpPr>
        <p:spPr>
          <a:xfrm>
            <a:off x="4476750" y="4064529"/>
            <a:ext cx="4172100" cy="56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指標としての妥当性は高い。ただし判定は「間隔の日数」ではなく「初回から8〜14日目に公開があるか（翌週継続）」＋「各週の公開有無」に置き換えるべき。</a:t>
            </a:r>
            <a:endParaRPr b="0" i="0" sz="950" u="none" cap="none" strike="noStrike">
              <a:solidFill>
                <a:srgbClr val="000000"/>
              </a:solidFill>
              <a:latin typeface="M PLUS 1p"/>
              <a:ea typeface="M PLUS 1p"/>
              <a:cs typeface="M PLUS 1p"/>
              <a:sym typeface="M PLUS 1p"/>
            </a:endParaRPr>
          </a:p>
        </p:txBody>
      </p:sp>
      <p:sp>
        <p:nvSpPr>
          <p:cNvPr id="1174" name="Google Shape;1174;p50"/>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出典：翌月継続率の構造化分析_Part2（DA, Low Touch, 31〜60日継続） p.13-14／ONB_現行スコアと次の候補.xlsx R02・G02　／　ONB スコアリング 施策概要（2026.9） p.6</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9" name="Shape 1179"/>
        <p:cNvGrpSpPr/>
        <p:nvPr/>
      </p:nvGrpSpPr>
      <p:grpSpPr>
        <a:xfrm>
          <a:off x="0" y="0"/>
          <a:ext cx="0" cy="0"/>
          <a:chOff x="0" y="0"/>
          <a:chExt cx="0" cy="0"/>
        </a:xfrm>
      </p:grpSpPr>
      <p:sp>
        <p:nvSpPr>
          <p:cNvPr id="1180" name="Google Shape;1180;p51"/>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No.03　当月に5掲載以上掲載しているか</a:t>
            </a:r>
            <a:endParaRPr b="0" i="0" sz="900" u="none" cap="none" strike="noStrike">
              <a:solidFill>
                <a:srgbClr val="000000"/>
              </a:solidFill>
              <a:latin typeface="M PLUS 1p"/>
              <a:ea typeface="M PLUS 1p"/>
              <a:cs typeface="M PLUS 1p"/>
              <a:sym typeface="M PLUS 1p"/>
            </a:endParaRPr>
          </a:p>
        </p:txBody>
      </p:sp>
      <p:sp>
        <p:nvSpPr>
          <p:cNvPr id="1181" name="Google Shape;1181;p51"/>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182" name="Google Shape;1182;p51"/>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7FE8"/>
              </a:buClr>
              <a:buSzPts val="800"/>
              <a:buFont typeface="M PLUS 1p"/>
              <a:buNone/>
            </a:pPr>
            <a:r>
              <a:rPr b="1" i="0" lang="ja" sz="900" u="none" cap="none" strike="noStrike">
                <a:solidFill>
                  <a:srgbClr val="1D7FE8"/>
                </a:solidFill>
                <a:latin typeface="M PLUS 1p"/>
                <a:ea typeface="M PLUS 1p"/>
                <a:cs typeface="M PLUS 1p"/>
                <a:sym typeface="M PLUS 1p"/>
              </a:rPr>
              <a:t>○　関連あり（条件付き）</a:t>
            </a:r>
            <a:endParaRPr b="0" i="0" sz="900" u="none" cap="none" strike="noStrike">
              <a:solidFill>
                <a:srgbClr val="000000"/>
              </a:solidFill>
              <a:latin typeface="M PLUS 1p"/>
              <a:ea typeface="M PLUS 1p"/>
              <a:cs typeface="M PLUS 1p"/>
              <a:sym typeface="M PLUS 1p"/>
            </a:endParaRPr>
          </a:p>
        </p:txBody>
      </p:sp>
      <p:sp>
        <p:nvSpPr>
          <p:cNvPr id="1183" name="Google Shape;1183;p51"/>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初月の掲載日数が増えるほど単調に上昇。4日で50%を超え、10日で70.7%。「5件」に特別な境界は確認できない</a:t>
            </a:r>
            <a:endParaRPr b="0" i="0" sz="1500" u="none" cap="none" strike="noStrike">
              <a:solidFill>
                <a:srgbClr val="000000"/>
              </a:solidFill>
              <a:latin typeface="M PLUS 1p"/>
              <a:ea typeface="M PLUS 1p"/>
              <a:cs typeface="M PLUS 1p"/>
              <a:sym typeface="M PLUS 1p"/>
            </a:endParaRPr>
          </a:p>
        </p:txBody>
      </p:sp>
      <p:sp>
        <p:nvSpPr>
          <p:cNvPr id="1184" name="Google Shape;1184;p51"/>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翌月継続率（%）｜利用初月の掲載募集日数（Low Touch）</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185" name="Google Shape;1185;p51"/>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186" name="Google Shape;1186;p51"/>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187" name="Google Shape;1187;p51"/>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188" name="Google Shape;1188;p51"/>
          <p:cNvSpPr txBox="1"/>
          <p:nvPr/>
        </p:nvSpPr>
        <p:spPr>
          <a:xfrm>
            <a:off x="4476750" y="1533525"/>
            <a:ext cx="4172100" cy="114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掲載日数1日19.8%→4日50.0%→10日70.7%。店舗数は1日が最多（約1.1万店）で、日数が増えるほど減る</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件数ベースの旧集約では5件以上76.1% vs 2件69.0%（差7.1pt）。3ソースで76.1／74.5／74.1%と再現</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稼働率80%以上でも掲載日数1〜3日なら翌月継続44.4%。掲載習慣の方が稼働率より重要</a:t>
            </a:r>
            <a:endParaRPr b="0" i="0" sz="950" u="none" cap="none" strike="noStrike">
              <a:solidFill>
                <a:srgbClr val="000000"/>
              </a:solidFill>
              <a:latin typeface="M PLUS 1p"/>
              <a:ea typeface="M PLUS 1p"/>
              <a:cs typeface="M PLUS 1p"/>
              <a:sym typeface="M PLUS 1p"/>
            </a:endParaRPr>
          </a:p>
        </p:txBody>
      </p:sp>
      <p:sp>
        <p:nvSpPr>
          <p:cNvPr id="1189" name="Google Shape;1189;p51"/>
          <p:cNvSpPr txBox="1"/>
          <p:nvPr/>
        </p:nvSpPr>
        <p:spPr>
          <a:xfrm>
            <a:off x="4476750" y="2696104"/>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190" name="Google Shape;1190;p51"/>
          <p:cNvSpPr txBox="1"/>
          <p:nvPr/>
        </p:nvSpPr>
        <p:spPr>
          <a:xfrm>
            <a:off x="4476750" y="2924704"/>
            <a:ext cx="4172100" cy="84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「日数（仕事開始日の重複除去）」と「件数（募集ID）」で数値が異なる。現行の採点単位は要確定</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日数が多い店舗は元々ニーズが強い可能性が高く、選択バイアスを含む</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5件以上 vs 2件の差7.1ptは、2回目掲載の差（63.8pt）と比べて小さい</a:t>
            </a:r>
            <a:endParaRPr b="0" i="0" sz="950" u="none" cap="none" strike="noStrike">
              <a:solidFill>
                <a:srgbClr val="000000"/>
              </a:solidFill>
              <a:latin typeface="M PLUS 1p"/>
              <a:ea typeface="M PLUS 1p"/>
              <a:cs typeface="M PLUS 1p"/>
              <a:sym typeface="M PLUS 1p"/>
            </a:endParaRPr>
          </a:p>
        </p:txBody>
      </p:sp>
      <p:sp>
        <p:nvSpPr>
          <p:cNvPr id="1191" name="Google Shape;1191;p51"/>
          <p:cNvSpPr txBox="1"/>
          <p:nvPr/>
        </p:nvSpPr>
        <p:spPr>
          <a:xfrm>
            <a:off x="4476750" y="378565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192" name="Google Shape;1192;p51"/>
          <p:cNvSpPr txBox="1"/>
          <p:nvPr/>
        </p:nvSpPr>
        <p:spPr>
          <a:xfrm>
            <a:off x="4476750" y="4014258"/>
            <a:ext cx="4172100" cy="61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「5件以上で＋2」より「初月に仕事開始日4日分以上」を境界とする方が根拠に合う。件数を積ませる架電より、週1回のリズムを作る支援に接続する。</a:t>
            </a:r>
            <a:endParaRPr b="0" i="0" sz="950" u="none" cap="none" strike="noStrike">
              <a:solidFill>
                <a:srgbClr val="000000"/>
              </a:solidFill>
              <a:latin typeface="M PLUS 1p"/>
              <a:ea typeface="M PLUS 1p"/>
              <a:cs typeface="M PLUS 1p"/>
              <a:sym typeface="M PLUS 1p"/>
            </a:endParaRPr>
          </a:p>
        </p:txBody>
      </p:sp>
      <p:sp>
        <p:nvSpPr>
          <p:cNvPr id="1193" name="Google Shape;1193;p51"/>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600" u="none" cap="none" strike="noStrike">
                <a:solidFill>
                  <a:srgbClr val="595959"/>
                </a:solidFill>
                <a:latin typeface="M PLUS 1p"/>
                <a:ea typeface="M PLUS 1p"/>
                <a:cs typeface="M PLUS 1p"/>
                <a:sym typeface="M PLUS 1p"/>
              </a:rPr>
              <a:t>出典：[FY26] GrowthSquad_翌月継続率の探索分析（Low Touch, 2025/1〜9初回） p.25・27／ONB_現行スコアと次の候補.xlsx G01・R03　／　ONB スコアリング 施策概要（2026.9） p.6</a:t>
            </a:r>
            <a:endParaRPr b="0" i="0" sz="600" u="none" cap="none" strike="noStrike">
              <a:solidFill>
                <a:srgbClr val="000000"/>
              </a:solidFill>
              <a:latin typeface="M PLUS 1p"/>
              <a:ea typeface="M PLUS 1p"/>
              <a:cs typeface="M PLUS 1p"/>
              <a:sym typeface="M PLUS 1p"/>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8" name="Shape 1198"/>
        <p:cNvGrpSpPr/>
        <p:nvPr/>
      </p:nvGrpSpPr>
      <p:grpSpPr>
        <a:xfrm>
          <a:off x="0" y="0"/>
          <a:ext cx="0" cy="0"/>
          <a:chOff x="0" y="0"/>
          <a:chExt cx="0" cy="0"/>
        </a:xfrm>
      </p:grpSpPr>
      <p:sp>
        <p:nvSpPr>
          <p:cNvPr id="1199" name="Google Shape;1199;p52"/>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No.04　営業ヨミがA〜C</a:t>
            </a:r>
            <a:endParaRPr b="0" i="0" sz="900" u="none" cap="none" strike="noStrike">
              <a:solidFill>
                <a:srgbClr val="000000"/>
              </a:solidFill>
              <a:latin typeface="M PLUS 1p"/>
              <a:ea typeface="M PLUS 1p"/>
              <a:cs typeface="M PLUS 1p"/>
              <a:sym typeface="M PLUS 1p"/>
            </a:endParaRPr>
          </a:p>
        </p:txBody>
      </p:sp>
      <p:sp>
        <p:nvSpPr>
          <p:cNvPr id="1200" name="Google Shape;1200;p52"/>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01" name="Google Shape;1201;p52"/>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　差が大きく、複数資料で再現</a:t>
            </a:r>
            <a:endParaRPr b="0" i="0" sz="900" u="none" cap="none" strike="noStrike">
              <a:solidFill>
                <a:srgbClr val="000000"/>
              </a:solidFill>
              <a:latin typeface="M PLUS 1p"/>
              <a:ea typeface="M PLUS 1p"/>
              <a:cs typeface="M PLUS 1p"/>
              <a:sym typeface="M PLUS 1p"/>
            </a:endParaRPr>
          </a:p>
        </p:txBody>
      </p:sp>
      <p:sp>
        <p:nvSpPr>
          <p:cNvPr id="1202" name="Google Shape;1202;p52"/>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月初ヨミ別の翌月継続率はA93.3%・B70.0%・C＋45.5%。A→C＋で差47.8pt。継続確度を分ける予測指標として機能</a:t>
            </a:r>
            <a:endParaRPr b="0" i="0" sz="1500" u="none" cap="none" strike="noStrike">
              <a:solidFill>
                <a:srgbClr val="000000"/>
              </a:solidFill>
              <a:latin typeface="M PLUS 1p"/>
              <a:ea typeface="M PLUS 1p"/>
              <a:cs typeface="M PLUS 1p"/>
              <a:sym typeface="M PLUS 1p"/>
            </a:endParaRPr>
          </a:p>
        </p:txBody>
      </p:sp>
      <p:sp>
        <p:nvSpPr>
          <p:cNvPr id="1203" name="Google Shape;1203;p52"/>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翌月継続率（%）｜月初時点のヨミ（2026年7月新規、n=149／170／301）</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204" name="Google Shape;1204;p52"/>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205" name="Google Shape;1205;p52"/>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06" name="Google Shape;1206;p52"/>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207" name="Google Shape;1207;p52"/>
          <p:cNvSpPr txBox="1"/>
          <p:nvPr/>
        </p:nvSpPr>
        <p:spPr>
          <a:xfrm>
            <a:off x="4476750" y="1533525"/>
            <a:ext cx="4172100" cy="8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A93.3%（n=149）、B70.0%（n=170）、C＋45.5%（n=301）。差47.8pt</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8月新規のランク別実績でもA96.5%・B68.5%・C48.9%・D39.0%とヨミ込みスコアの順序は概ね整合</a:t>
            </a:r>
            <a:endParaRPr b="0" i="0" sz="950" u="none" cap="none" strike="noStrike">
              <a:solidFill>
                <a:srgbClr val="000000"/>
              </a:solidFill>
              <a:latin typeface="M PLUS 1p"/>
              <a:ea typeface="M PLUS 1p"/>
              <a:cs typeface="M PLUS 1p"/>
              <a:sym typeface="M PLUS 1p"/>
            </a:endParaRPr>
          </a:p>
        </p:txBody>
      </p:sp>
      <p:sp>
        <p:nvSpPr>
          <p:cNvPr id="1208" name="Google Shape;1208;p52"/>
          <p:cNvSpPr txBox="1"/>
          <p:nvPr/>
        </p:nvSpPr>
        <p:spPr>
          <a:xfrm>
            <a:off x="4476750" y="2419350"/>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209" name="Google Shape;1209;p52"/>
          <p:cNvSpPr txBox="1"/>
          <p:nvPr/>
        </p:nvSpPr>
        <p:spPr>
          <a:xfrm>
            <a:off x="4476750" y="2647950"/>
            <a:ext cx="4172100" cy="105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7月新規・8月頭ヨミの単一コホート。C全体ではなくC＋のみの値</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ヨミは営業の主観であり、未来情報（既に次の掲載約束がある）が混入する。ヨミ実施率は43%で未入力層が半数超</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8月実績ではE74.6%がD39.0%を上回るなど、下位ランクの順序は崩れている</a:t>
            </a:r>
            <a:endParaRPr b="0" i="0" sz="950" u="none" cap="none" strike="noStrike">
              <a:solidFill>
                <a:srgbClr val="000000"/>
              </a:solidFill>
              <a:latin typeface="M PLUS 1p"/>
              <a:ea typeface="M PLUS 1p"/>
              <a:cs typeface="M PLUS 1p"/>
              <a:sym typeface="M PLUS 1p"/>
            </a:endParaRPr>
          </a:p>
        </p:txBody>
      </p:sp>
      <p:sp>
        <p:nvSpPr>
          <p:cNvPr id="1210" name="Google Shape;1210;p52"/>
          <p:cNvSpPr txBox="1"/>
          <p:nvPr/>
        </p:nvSpPr>
        <p:spPr>
          <a:xfrm>
            <a:off x="4476750" y="372268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211" name="Google Shape;1211;p52"/>
          <p:cNvSpPr txBox="1"/>
          <p:nvPr/>
        </p:nvSpPr>
        <p:spPr>
          <a:xfrm>
            <a:off x="4476750" y="3951288"/>
            <a:ext cx="4172100" cy="6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予測（FCT）用途には有効。ただし「行動を変える指標」ではないため、加点対象ではなく診断情報として維持し、ヨミ実施率と実績との乖離を別管理する。</a:t>
            </a:r>
            <a:endParaRPr b="0" i="0" sz="950" u="none" cap="none" strike="noStrike">
              <a:solidFill>
                <a:srgbClr val="000000"/>
              </a:solidFill>
              <a:latin typeface="M PLUS 1p"/>
              <a:ea typeface="M PLUS 1p"/>
              <a:cs typeface="M PLUS 1p"/>
              <a:sym typeface="M PLUS 1p"/>
            </a:endParaRPr>
          </a:p>
        </p:txBody>
      </p:sp>
      <p:sp>
        <p:nvSpPr>
          <p:cNvPr id="1212" name="Google Shape;1212;p52"/>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出典：ONB スコアリング 施策概要（2026.9） p.7・9・13／ONB_現行スコアと次の候補.xlsx R04</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7" name="Shape 1217"/>
        <p:cNvGrpSpPr/>
        <p:nvPr/>
      </p:nvGrpSpPr>
      <p:grpSpPr>
        <a:xfrm>
          <a:off x="0" y="0"/>
          <a:ext cx="0" cy="0"/>
          <a:chOff x="0" y="0"/>
          <a:chExt cx="0" cy="0"/>
        </a:xfrm>
      </p:grpSpPr>
      <p:sp>
        <p:nvSpPr>
          <p:cNvPr id="1218" name="Google Shape;1218;p53"/>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No.05　Bad体験が起きているか（稼働なし・評価なし・ワーカーキャンセル）</a:t>
            </a:r>
            <a:endParaRPr b="0" i="0" sz="900" u="none" cap="none" strike="noStrike">
              <a:solidFill>
                <a:srgbClr val="000000"/>
              </a:solidFill>
              <a:latin typeface="M PLUS 1p"/>
              <a:ea typeface="M PLUS 1p"/>
              <a:cs typeface="M PLUS 1p"/>
              <a:sym typeface="M PLUS 1p"/>
            </a:endParaRPr>
          </a:p>
        </p:txBody>
      </p:sp>
      <p:sp>
        <p:nvSpPr>
          <p:cNvPr id="1219" name="Google Shape;1219;p53"/>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20" name="Google Shape;1220;p53"/>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　間接根拠のみ／翌月継続の直接数値なし</a:t>
            </a:r>
            <a:endParaRPr b="0" i="0" sz="900" u="none" cap="none" strike="noStrike">
              <a:solidFill>
                <a:srgbClr val="000000"/>
              </a:solidFill>
              <a:latin typeface="M PLUS 1p"/>
              <a:ea typeface="M PLUS 1p"/>
              <a:cs typeface="M PLUS 1p"/>
              <a:sym typeface="M PLUS 1p"/>
            </a:endParaRPr>
          </a:p>
        </p:txBody>
      </p:sp>
      <p:sp>
        <p:nvSpPr>
          <p:cNvPr id="1221" name="Google Shape;1221;p53"/>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掲載量を揃えるとBadあり／なしの差はほぼゼロ。資料の「▲29.1pt」は掲載量の差であり、一律減点の根拠にならない</a:t>
            </a:r>
            <a:endParaRPr b="0" i="0" sz="1500" u="none" cap="none" strike="noStrike">
              <a:solidFill>
                <a:srgbClr val="000000"/>
              </a:solidFill>
              <a:latin typeface="M PLUS 1p"/>
              <a:ea typeface="M PLUS 1p"/>
              <a:cs typeface="M PLUS 1p"/>
              <a:sym typeface="M PLUS 1p"/>
            </a:endParaRPr>
          </a:p>
        </p:txBody>
      </p:sp>
      <p:sp>
        <p:nvSpPr>
          <p:cNvPr id="1222" name="Google Shape;1222;p53"/>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翌月継続率（%）｜Bad体験の有無 × 当月掲載量（2026年7月初回）</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223" name="Google Shape;1223;p53"/>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224" name="Google Shape;1224;p53"/>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25" name="Google Shape;1225;p53"/>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226" name="Google Shape;1226;p53"/>
          <p:cNvSpPr txBox="1"/>
          <p:nvPr/>
        </p:nvSpPr>
        <p:spPr>
          <a:xfrm>
            <a:off x="4476750" y="1533525"/>
            <a:ext cx="4172100" cy="109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5掲載以上：Badあり74.0%（n=416） vs なし74.6%（n=240）。差0.6pt</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5掲載未満：Badあり44.9%（n=539） vs なし41.2%（n=498）。Badありの方が高い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一方、初回募集の「稼働なし」は追加掲載率を10〜17pt下げ、企業キャンセル後の未充足は39.0%と最低（Low Touch）</a:t>
            </a:r>
            <a:endParaRPr b="0" i="0" sz="950" u="none" cap="none" strike="noStrike">
              <a:solidFill>
                <a:srgbClr val="000000"/>
              </a:solidFill>
              <a:latin typeface="M PLUS 1p"/>
              <a:ea typeface="M PLUS 1p"/>
              <a:cs typeface="M PLUS 1p"/>
              <a:sym typeface="M PLUS 1p"/>
            </a:endParaRPr>
          </a:p>
        </p:txBody>
      </p:sp>
      <p:sp>
        <p:nvSpPr>
          <p:cNvPr id="1227" name="Google Shape;1227;p53"/>
          <p:cNvSpPr txBox="1"/>
          <p:nvPr/>
        </p:nvSpPr>
        <p:spPr>
          <a:xfrm>
            <a:off x="4476750" y="2645833"/>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228" name="Google Shape;1228;p53"/>
          <p:cNvSpPr txBox="1"/>
          <p:nvPr/>
        </p:nvSpPr>
        <p:spPr>
          <a:xfrm>
            <a:off x="4476750" y="2874433"/>
            <a:ext cx="4172100" cy="94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Badの定義が「稼働なし・評価なし・キャンセルあり」の合成で、原因の異なる事象を混ぜている</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4群合計1,693と冒頭1,817の母数差は要照合</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「未評価」はBadではなく、店舗側の行動未実施。別指標（No.8）へ分離すべき</a:t>
            </a:r>
            <a:endParaRPr b="0" i="0" sz="950" u="none" cap="none" strike="noStrike">
              <a:solidFill>
                <a:srgbClr val="000000"/>
              </a:solidFill>
              <a:latin typeface="M PLUS 1p"/>
              <a:ea typeface="M PLUS 1p"/>
              <a:cs typeface="M PLUS 1p"/>
              <a:sym typeface="M PLUS 1p"/>
            </a:endParaRPr>
          </a:p>
        </p:txBody>
      </p:sp>
      <p:sp>
        <p:nvSpPr>
          <p:cNvPr id="1229" name="Google Shape;1229;p53"/>
          <p:cNvSpPr txBox="1"/>
          <p:nvPr/>
        </p:nvSpPr>
        <p:spPr>
          <a:xfrm>
            <a:off x="4476750" y="3835929"/>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230" name="Google Shape;1230;p53"/>
          <p:cNvSpPr txBox="1"/>
          <p:nvPr/>
        </p:nvSpPr>
        <p:spPr>
          <a:xfrm>
            <a:off x="4476750" y="4064529"/>
            <a:ext cx="4172100" cy="56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現行の一律−1点は根拠が弱い。Badを「初回稼働の成立」「Good評価の有無」「企業キャンセル」に分解し、未解決かどうかで支援トリガーにする方が妥当。</a:t>
            </a:r>
            <a:endParaRPr b="0" i="0" sz="950" u="none" cap="none" strike="noStrike">
              <a:solidFill>
                <a:srgbClr val="000000"/>
              </a:solidFill>
              <a:latin typeface="M PLUS 1p"/>
              <a:ea typeface="M PLUS 1p"/>
              <a:cs typeface="M PLUS 1p"/>
              <a:sym typeface="M PLUS 1p"/>
            </a:endParaRPr>
          </a:p>
        </p:txBody>
      </p:sp>
      <p:sp>
        <p:nvSpPr>
          <p:cNvPr id="1231" name="Google Shape;1231;p53"/>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600" u="none" cap="none" strike="noStrike">
                <a:solidFill>
                  <a:srgbClr val="595959"/>
                </a:solidFill>
                <a:latin typeface="M PLUS 1p"/>
                <a:ea typeface="M PLUS 1p"/>
                <a:cs typeface="M PLUS 1p"/>
                <a:sym typeface="M PLUS 1p"/>
              </a:rPr>
              <a:t>出典：翌月継続率_未達要因分析_2708（2026年7月初回）※Excel転記値 p.5／ONB_現行スコアと次の候補.xlsx G08　／　[FY26] GrowthSquad_翌月継続率の探索分析（Low Touch, 2025/1〜9初回） p.17-18</a:t>
            </a:r>
            <a:endParaRPr b="0" i="0" sz="600" u="none" cap="none" strike="noStrike">
              <a:solidFill>
                <a:srgbClr val="000000"/>
              </a:solidFill>
              <a:latin typeface="M PLUS 1p"/>
              <a:ea typeface="M PLUS 1p"/>
              <a:cs typeface="M PLUS 1p"/>
              <a:sym typeface="M PLUS 1p"/>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6" name="Shape 1236"/>
        <p:cNvGrpSpPr/>
        <p:nvPr/>
      </p:nvGrpSpPr>
      <p:grpSpPr>
        <a:xfrm>
          <a:off x="0" y="0"/>
          <a:ext cx="0" cy="0"/>
          <a:chOff x="0" y="0"/>
          <a:chExt cx="0" cy="0"/>
        </a:xfrm>
      </p:grpSpPr>
      <p:sp>
        <p:nvSpPr>
          <p:cNvPr id="1237" name="Google Shape;1237;p54"/>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No.06　C＋かつ未接触（検討中顧客を放置していないか）</a:t>
            </a:r>
            <a:endParaRPr b="0" i="0" sz="900" u="none" cap="none" strike="noStrike">
              <a:solidFill>
                <a:srgbClr val="000000"/>
              </a:solidFill>
              <a:latin typeface="M PLUS 1p"/>
              <a:ea typeface="M PLUS 1p"/>
              <a:cs typeface="M PLUS 1p"/>
              <a:sym typeface="M PLUS 1p"/>
            </a:endParaRPr>
          </a:p>
        </p:txBody>
      </p:sp>
      <p:sp>
        <p:nvSpPr>
          <p:cNvPr id="1238" name="Google Shape;1238;p54"/>
          <p:cNvSpPr/>
          <p:nvPr/>
        </p:nvSpPr>
        <p:spPr>
          <a:xfrm>
            <a:off x="5897880" y="205740"/>
            <a:ext cx="2914800" cy="274200"/>
          </a:xfrm>
          <a:prstGeom prst="roundRect">
            <a:avLst>
              <a:gd fmla="val 20000"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39" name="Google Shape;1239;p54"/>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　定量根拠なし（要検証）</a:t>
            </a:r>
            <a:endParaRPr b="0" i="0" sz="900" u="none" cap="none" strike="noStrike">
              <a:solidFill>
                <a:srgbClr val="000000"/>
              </a:solidFill>
              <a:latin typeface="M PLUS 1p"/>
              <a:ea typeface="M PLUS 1p"/>
              <a:cs typeface="M PLUS 1p"/>
              <a:sym typeface="M PLUS 1p"/>
            </a:endParaRPr>
          </a:p>
        </p:txBody>
      </p:sp>
      <p:sp>
        <p:nvSpPr>
          <p:cNvPr id="1240" name="Google Shape;1240;p54"/>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C＋のまま15日以上未接触の顧客と、接触済み顧客の翌月継続率を比較したデータは存在しない</a:t>
            </a:r>
            <a:endParaRPr b="0" i="0" sz="1500" u="none" cap="none" strike="noStrike">
              <a:solidFill>
                <a:srgbClr val="000000"/>
              </a:solidFill>
              <a:latin typeface="M PLUS 1p"/>
              <a:ea typeface="M PLUS 1p"/>
              <a:cs typeface="M PLUS 1p"/>
              <a:sym typeface="M PLUS 1p"/>
            </a:endParaRPr>
          </a:p>
        </p:txBody>
      </p:sp>
      <p:sp>
        <p:nvSpPr>
          <p:cNvPr id="1241" name="Google Shape;1241;p54"/>
          <p:cNvSpPr/>
          <p:nvPr/>
        </p:nvSpPr>
        <p:spPr>
          <a:xfrm>
            <a:off x="342900" y="1200150"/>
            <a:ext cx="4937700" cy="349770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42" name="Google Shape;1242;p54"/>
          <p:cNvSpPr/>
          <p:nvPr/>
        </p:nvSpPr>
        <p:spPr>
          <a:xfrm>
            <a:off x="1954530" y="1405890"/>
            <a:ext cx="1714500" cy="411600"/>
          </a:xfrm>
          <a:prstGeom prst="roundRect">
            <a:avLst>
              <a:gd fmla="val 16667"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43" name="Google Shape;1243;p54"/>
          <p:cNvSpPr txBox="1"/>
          <p:nvPr/>
        </p:nvSpPr>
        <p:spPr>
          <a:xfrm>
            <a:off x="1954530" y="1405890"/>
            <a:ext cx="1714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検証中（グラフ化できる数値なし）</a:t>
            </a:r>
            <a:endParaRPr b="0" i="0" sz="900" u="none" cap="none" strike="noStrike">
              <a:solidFill>
                <a:srgbClr val="000000"/>
              </a:solidFill>
              <a:latin typeface="M PLUS 1p"/>
              <a:ea typeface="M PLUS 1p"/>
              <a:cs typeface="M PLUS 1p"/>
              <a:sym typeface="M PLUS 1p"/>
            </a:endParaRPr>
          </a:p>
        </p:txBody>
      </p:sp>
      <p:sp>
        <p:nvSpPr>
          <p:cNvPr id="1244" name="Google Shape;1244;p54"/>
          <p:cNvSpPr txBox="1"/>
          <p:nvPr/>
        </p:nvSpPr>
        <p:spPr>
          <a:xfrm>
            <a:off x="548640" y="1988820"/>
            <a:ext cx="1097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翌月継続率の差</a:t>
            </a:r>
            <a:endParaRPr b="0" i="0" sz="900" u="none" cap="none" strike="noStrike">
              <a:solidFill>
                <a:srgbClr val="000000"/>
              </a:solidFill>
              <a:latin typeface="M PLUS 1p"/>
              <a:ea typeface="M PLUS 1p"/>
              <a:cs typeface="M PLUS 1p"/>
              <a:sym typeface="M PLUS 1p"/>
            </a:endParaRPr>
          </a:p>
        </p:txBody>
      </p:sp>
      <p:sp>
        <p:nvSpPr>
          <p:cNvPr id="1245" name="Google Shape;1245;p54"/>
          <p:cNvSpPr txBox="1"/>
          <p:nvPr/>
        </p:nvSpPr>
        <p:spPr>
          <a:xfrm>
            <a:off x="1645920" y="1988820"/>
            <a:ext cx="34290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未計測。「C＋かつ未接触」群と「C＋かつ接触あり」群の翌月継続率比較は、参照した全資料に記載なし。</a:t>
            </a:r>
            <a:endParaRPr b="0" i="0" sz="900" u="none" cap="none" strike="noStrike">
              <a:solidFill>
                <a:srgbClr val="000000"/>
              </a:solidFill>
              <a:latin typeface="M PLUS 1p"/>
              <a:ea typeface="M PLUS 1p"/>
              <a:cs typeface="M PLUS 1p"/>
              <a:sym typeface="M PLUS 1p"/>
            </a:endParaRPr>
          </a:p>
        </p:txBody>
      </p:sp>
      <p:cxnSp>
        <p:nvCxnSpPr>
          <p:cNvPr id="1246" name="Google Shape;1246;p54"/>
          <p:cNvCxnSpPr/>
          <p:nvPr/>
        </p:nvCxnSpPr>
        <p:spPr>
          <a:xfrm>
            <a:off x="548640" y="2640330"/>
            <a:ext cx="4526400" cy="0"/>
          </a:xfrm>
          <a:prstGeom prst="straightConnector1">
            <a:avLst/>
          </a:prstGeom>
          <a:noFill/>
          <a:ln cap="flat" cmpd="sng" w="9525">
            <a:solidFill>
              <a:srgbClr val="E0E0E0"/>
            </a:solidFill>
            <a:prstDash val="solid"/>
            <a:round/>
            <a:headEnd len="sm" w="sm" type="none"/>
            <a:tailEnd len="sm" w="sm" type="none"/>
          </a:ln>
        </p:spPr>
      </p:cxnSp>
      <p:sp>
        <p:nvSpPr>
          <p:cNvPr id="1247" name="Google Shape;1247;p54"/>
          <p:cNvSpPr txBox="1"/>
          <p:nvPr/>
        </p:nvSpPr>
        <p:spPr>
          <a:xfrm>
            <a:off x="548640" y="2743200"/>
            <a:ext cx="10974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間接的な根拠</a:t>
            </a:r>
            <a:endParaRPr b="0" i="0" sz="900" u="none" cap="none" strike="noStrike">
              <a:solidFill>
                <a:srgbClr val="000000"/>
              </a:solidFill>
              <a:latin typeface="M PLUS 1p"/>
              <a:ea typeface="M PLUS 1p"/>
              <a:cs typeface="M PLUS 1p"/>
              <a:sym typeface="M PLUS 1p"/>
            </a:endParaRPr>
          </a:p>
        </p:txBody>
      </p:sp>
      <p:sp>
        <p:nvSpPr>
          <p:cNvPr id="1248" name="Google Shape;1248;p54"/>
          <p:cNvSpPr txBox="1"/>
          <p:nvPr/>
        </p:nvSpPr>
        <p:spPr>
          <a:xfrm>
            <a:off x="1645920" y="2743200"/>
            <a:ext cx="3429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月末5週目に失注確定が91件発生しているという記載が唯一の間接根拠（2026年7月新規）。ただし失注理由が「未接触」に起因するかは切り分けられていない。ヨミ実施率43%のため、C＋の母集団自体が営業判断のばらつきを含む。</a:t>
            </a:r>
            <a:endParaRPr b="0" i="0" sz="900" u="none" cap="none" strike="noStrike">
              <a:solidFill>
                <a:srgbClr val="000000"/>
              </a:solidFill>
              <a:latin typeface="M PLUS 1p"/>
              <a:ea typeface="M PLUS 1p"/>
              <a:cs typeface="M PLUS 1p"/>
              <a:sym typeface="M PLUS 1p"/>
            </a:endParaRPr>
          </a:p>
        </p:txBody>
      </p:sp>
      <p:cxnSp>
        <p:nvCxnSpPr>
          <p:cNvPr id="1249" name="Google Shape;1249;p54"/>
          <p:cNvCxnSpPr/>
          <p:nvPr/>
        </p:nvCxnSpPr>
        <p:spPr>
          <a:xfrm>
            <a:off x="548640" y="3600450"/>
            <a:ext cx="4526400" cy="0"/>
          </a:xfrm>
          <a:prstGeom prst="straightConnector1">
            <a:avLst/>
          </a:prstGeom>
          <a:noFill/>
          <a:ln cap="flat" cmpd="sng" w="9525">
            <a:solidFill>
              <a:srgbClr val="E0E0E0"/>
            </a:solidFill>
            <a:prstDash val="solid"/>
            <a:round/>
            <a:headEnd len="sm" w="sm" type="none"/>
            <a:tailEnd len="sm" w="sm" type="none"/>
          </a:ln>
        </p:spPr>
      </p:cxnSp>
      <p:sp>
        <p:nvSpPr>
          <p:cNvPr id="1250" name="Google Shape;1250;p54"/>
          <p:cNvSpPr txBox="1"/>
          <p:nvPr/>
        </p:nvSpPr>
        <p:spPr>
          <a:xfrm>
            <a:off x="548640" y="3703320"/>
            <a:ext cx="10974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採用前に必要な検証</a:t>
            </a:r>
            <a:endParaRPr b="0" i="0" sz="900" u="none" cap="none" strike="noStrike">
              <a:solidFill>
                <a:srgbClr val="000000"/>
              </a:solidFill>
              <a:latin typeface="M PLUS 1p"/>
              <a:ea typeface="M PLUS 1p"/>
              <a:cs typeface="M PLUS 1p"/>
              <a:sym typeface="M PLUS 1p"/>
            </a:endParaRPr>
          </a:p>
        </p:txBody>
      </p:sp>
      <p:sp>
        <p:nvSpPr>
          <p:cNvPr id="1251" name="Google Shape;1251;p54"/>
          <p:cNvSpPr txBox="1"/>
          <p:nvPr/>
        </p:nvSpPr>
        <p:spPr>
          <a:xfrm>
            <a:off x="1645920" y="3703320"/>
            <a:ext cx="34290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① 9月新規のC＋顧客を「最終接触からの日数」で分け、翌月継続率を比較（15日の妥当性検証）</a:t>
            </a:r>
            <a:endParaRPr b="0" i="0" sz="8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② 接触の定義（架電のみ／メール・LINE含む）を固定</a:t>
            </a:r>
            <a:endParaRPr b="0" i="0" sz="8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③ 接触あり群の継続率が高くても、接触しやすい顧客が元々継続しやすい選択バイアスを考慮し、接触タイミングをランダム化した比較を設計</a:t>
            </a:r>
            <a:endParaRPr b="0" i="0" sz="800" u="none" cap="none" strike="noStrike">
              <a:solidFill>
                <a:srgbClr val="000000"/>
              </a:solidFill>
              <a:latin typeface="M PLUS 1p"/>
              <a:ea typeface="M PLUS 1p"/>
              <a:cs typeface="M PLUS 1p"/>
              <a:sym typeface="M PLUS 1p"/>
            </a:endParaRPr>
          </a:p>
        </p:txBody>
      </p:sp>
      <p:sp>
        <p:nvSpPr>
          <p:cNvPr id="1252" name="Google Shape;1252;p54"/>
          <p:cNvSpPr/>
          <p:nvPr/>
        </p:nvSpPr>
        <p:spPr>
          <a:xfrm>
            <a:off x="5410200" y="1200150"/>
            <a:ext cx="33720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53" name="Google Shape;1253;p54"/>
          <p:cNvSpPr txBox="1"/>
          <p:nvPr/>
        </p:nvSpPr>
        <p:spPr>
          <a:xfrm>
            <a:off x="5524500" y="1304925"/>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254" name="Google Shape;1254;p54"/>
          <p:cNvSpPr txBox="1"/>
          <p:nvPr/>
        </p:nvSpPr>
        <p:spPr>
          <a:xfrm>
            <a:off x="5524500" y="1533525"/>
            <a:ext cx="3143400" cy="87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翌月継続率との直接比較なし</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現行は「C＋かつ最終接触日が空欄または15日以上経過で−1」。空欄（未入力）と未接触を区別していない</a:t>
            </a:r>
            <a:endParaRPr b="0" i="0" sz="900" u="none" cap="none" strike="noStrike">
              <a:solidFill>
                <a:srgbClr val="000000"/>
              </a:solidFill>
              <a:latin typeface="M PLUS 1p"/>
              <a:ea typeface="M PLUS 1p"/>
              <a:cs typeface="M PLUS 1p"/>
              <a:sym typeface="M PLUS 1p"/>
            </a:endParaRPr>
          </a:p>
        </p:txBody>
      </p:sp>
      <p:sp>
        <p:nvSpPr>
          <p:cNvPr id="1255" name="Google Shape;1255;p54"/>
          <p:cNvSpPr txBox="1"/>
          <p:nvPr/>
        </p:nvSpPr>
        <p:spPr>
          <a:xfrm>
            <a:off x="5524500" y="2432050"/>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256" name="Google Shape;1256;p54"/>
          <p:cNvSpPr txBox="1"/>
          <p:nvPr/>
        </p:nvSpPr>
        <p:spPr>
          <a:xfrm>
            <a:off x="5524500" y="2660650"/>
            <a:ext cx="3143400" cy="87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C＋になってからの日数ではなく、最後の接触からの日数で判定している</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15日という閾値の根拠は未検証</a:t>
            </a:r>
            <a:endParaRPr b="0" i="0" sz="900" u="none" cap="none" strike="noStrike">
              <a:solidFill>
                <a:srgbClr val="000000"/>
              </a:solidFill>
              <a:latin typeface="M PLUS 1p"/>
              <a:ea typeface="M PLUS 1p"/>
              <a:cs typeface="M PLUS 1p"/>
              <a:sym typeface="M PLUS 1p"/>
            </a:endParaRPr>
          </a:p>
        </p:txBody>
      </p:sp>
      <p:sp>
        <p:nvSpPr>
          <p:cNvPr id="1257" name="Google Shape;1257;p54"/>
          <p:cNvSpPr txBox="1"/>
          <p:nvPr/>
        </p:nvSpPr>
        <p:spPr>
          <a:xfrm>
            <a:off x="5524500" y="3559175"/>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258" name="Google Shape;1258;p54"/>
          <p:cNvSpPr txBox="1"/>
          <p:nvPr/>
        </p:nvSpPr>
        <p:spPr>
          <a:xfrm>
            <a:off x="5524500" y="3787775"/>
            <a:ext cx="3143400" cy="84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現時点では「営業の行動管理指標（放置アラート）」として扱い、スコアの減点項目からは外す。9月運用で接触日数別の継続率を取得してから採否を決める。</a:t>
            </a:r>
            <a:endParaRPr b="0" i="0" sz="900" u="none" cap="none" strike="noStrike">
              <a:solidFill>
                <a:srgbClr val="000000"/>
              </a:solidFill>
              <a:latin typeface="M PLUS 1p"/>
              <a:ea typeface="M PLUS 1p"/>
              <a:cs typeface="M PLUS 1p"/>
              <a:sym typeface="M PLUS 1p"/>
            </a:endParaRPr>
          </a:p>
        </p:txBody>
      </p:sp>
      <p:sp>
        <p:nvSpPr>
          <p:cNvPr id="1259" name="Google Shape;1259;p54"/>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出典：ONB_現行スコアと次の候補.xlsx 現行スコア T2・運用ガイド　／　ONB スコアリング 施策概要（2026.9） p.5</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4" name="Shape 1264"/>
        <p:cNvGrpSpPr/>
        <p:nvPr/>
      </p:nvGrpSpPr>
      <p:grpSpPr>
        <a:xfrm>
          <a:off x="0" y="0"/>
          <a:ext cx="0" cy="0"/>
          <a:chOff x="0" y="0"/>
          <a:chExt cx="0" cy="0"/>
        </a:xfrm>
      </p:grpSpPr>
      <p:sp>
        <p:nvSpPr>
          <p:cNvPr id="1265" name="Google Shape;1265;p55"/>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No.07　前月の初回掲載時期（月前半・中盤・後半）</a:t>
            </a:r>
            <a:endParaRPr b="0" i="0" sz="900" u="none" cap="none" strike="noStrike">
              <a:solidFill>
                <a:srgbClr val="000000"/>
              </a:solidFill>
              <a:latin typeface="M PLUS 1p"/>
              <a:ea typeface="M PLUS 1p"/>
              <a:cs typeface="M PLUS 1p"/>
              <a:sym typeface="M PLUS 1p"/>
            </a:endParaRPr>
          </a:p>
        </p:txBody>
      </p:sp>
      <p:sp>
        <p:nvSpPr>
          <p:cNvPr id="1266" name="Google Shape;1266;p55"/>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67" name="Google Shape;1267;p55"/>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　間接根拠のみ／翌月継続の直接数値なし</a:t>
            </a:r>
            <a:endParaRPr b="0" i="0" sz="900" u="none" cap="none" strike="noStrike">
              <a:solidFill>
                <a:srgbClr val="000000"/>
              </a:solidFill>
              <a:latin typeface="M PLUS 1p"/>
              <a:ea typeface="M PLUS 1p"/>
              <a:cs typeface="M PLUS 1p"/>
              <a:sym typeface="M PLUS 1p"/>
            </a:endParaRPr>
          </a:p>
        </p:txBody>
      </p:sp>
      <p:sp>
        <p:nvSpPr>
          <p:cNvPr id="1268" name="Google Shape;1268;p55"/>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下旬に初回掲載した層は暦月継続61.0%に対し60日生存39.5%。差21.5ptは「判定窓の違い」であり、上旬・中旬・下旬の直接比較ではない</a:t>
            </a:r>
            <a:endParaRPr b="0" i="0" sz="1500" u="none" cap="none" strike="noStrike">
              <a:solidFill>
                <a:srgbClr val="000000"/>
              </a:solidFill>
              <a:latin typeface="M PLUS 1p"/>
              <a:ea typeface="M PLUS 1p"/>
              <a:cs typeface="M PLUS 1p"/>
              <a:sym typeface="M PLUS 1p"/>
            </a:endParaRPr>
          </a:p>
        </p:txBody>
      </p:sp>
      <p:sp>
        <p:nvSpPr>
          <p:cNvPr id="1269" name="Google Shape;1269;p55"/>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各指標の割合（%）｜前月21日以降に初回掲載した層</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270" name="Google Shape;1270;p55"/>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271" name="Google Shape;1271;p55"/>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72" name="Google Shape;1272;p55"/>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273" name="Google Shape;1273;p55"/>
          <p:cNvSpPr txBox="1"/>
          <p:nvPr/>
        </p:nvSpPr>
        <p:spPr>
          <a:xfrm>
            <a:off x="4476750" y="1533525"/>
            <a:ext cx="4172100" cy="7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前月21日以降初回層：暦月ベースの翌月継続61.0%、60日生存39.5%</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月末近くの初回掲載は、翌月初旬の掲載で「見かけの継続」になりやすい</a:t>
            </a:r>
            <a:endParaRPr b="0" i="0" sz="950" u="none" cap="none" strike="noStrike">
              <a:solidFill>
                <a:srgbClr val="000000"/>
              </a:solidFill>
              <a:latin typeface="M PLUS 1p"/>
              <a:ea typeface="M PLUS 1p"/>
              <a:cs typeface="M PLUS 1p"/>
              <a:sym typeface="M PLUS 1p"/>
            </a:endParaRPr>
          </a:p>
        </p:txBody>
      </p:sp>
      <p:sp>
        <p:nvSpPr>
          <p:cNvPr id="1274" name="Google Shape;1274;p55"/>
          <p:cNvSpPr txBox="1"/>
          <p:nvPr/>
        </p:nvSpPr>
        <p:spPr>
          <a:xfrm>
            <a:off x="4476750" y="231880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275" name="Google Shape;1275;p55"/>
          <p:cNvSpPr txBox="1"/>
          <p:nvPr/>
        </p:nvSpPr>
        <p:spPr>
          <a:xfrm>
            <a:off x="4476750" y="2547408"/>
            <a:ext cx="4172100" cy="110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上旬・中旬・下旬それぞれの翌月継続率を並べた比較値は資料にない。現行の−2／−1／0の直接根拠ではない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初回掲載時期は顧客が今から変えられない属性で、営業側の可変性はない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異なる判定窓の値を「時系列の低下」として読まないこと</a:t>
            </a:r>
            <a:endParaRPr b="0" i="0" sz="950" u="none" cap="none" strike="noStrike">
              <a:solidFill>
                <a:srgbClr val="000000"/>
              </a:solidFill>
              <a:latin typeface="M PLUS 1p"/>
              <a:ea typeface="M PLUS 1p"/>
              <a:cs typeface="M PLUS 1p"/>
              <a:sym typeface="M PLUS 1p"/>
            </a:endParaRPr>
          </a:p>
        </p:txBody>
      </p:sp>
      <p:sp>
        <p:nvSpPr>
          <p:cNvPr id="1276" name="Google Shape;1276;p55"/>
          <p:cNvSpPr txBox="1"/>
          <p:nvPr/>
        </p:nvSpPr>
        <p:spPr>
          <a:xfrm>
            <a:off x="4476750" y="3672417"/>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277" name="Google Shape;1277;p55"/>
          <p:cNvSpPr txBox="1"/>
          <p:nvPr/>
        </p:nvSpPr>
        <p:spPr>
          <a:xfrm>
            <a:off x="4476750" y="3901017"/>
            <a:ext cx="4172100" cy="72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スコアの減点項目ではなく、コホート比較の補正区分（月前半／後半で目標値を分ける）へ移す。判定窓は暦月か60日かを1つに固定する。</a:t>
            </a:r>
            <a:endParaRPr b="0" i="0" sz="950" u="none" cap="none" strike="noStrike">
              <a:solidFill>
                <a:srgbClr val="000000"/>
              </a:solidFill>
              <a:latin typeface="M PLUS 1p"/>
              <a:ea typeface="M PLUS 1p"/>
              <a:cs typeface="M PLUS 1p"/>
              <a:sym typeface="M PLUS 1p"/>
            </a:endParaRPr>
          </a:p>
        </p:txBody>
      </p:sp>
      <p:sp>
        <p:nvSpPr>
          <p:cNvPr id="1278" name="Google Shape;1278;p55"/>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出典：ONB スコアリング 施策概要（2026.9） p.7／ONB_現行スコアと次の候補.xlsx R05・現行スコア T3</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3" name="Shape 1283"/>
        <p:cNvGrpSpPr/>
        <p:nvPr/>
      </p:nvGrpSpPr>
      <p:grpSpPr>
        <a:xfrm>
          <a:off x="0" y="0"/>
          <a:ext cx="0" cy="0"/>
          <a:chOff x="0" y="0"/>
          <a:chExt cx="0" cy="0"/>
        </a:xfrm>
      </p:grpSpPr>
      <p:sp>
        <p:nvSpPr>
          <p:cNvPr id="1284" name="Google Shape;1284;p56"/>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No.08　未評価の滞留・レビュー実施率（勤務後の評価が終わっているか）</a:t>
            </a:r>
            <a:endParaRPr b="0" i="0" sz="900" u="none" cap="none" strike="noStrike">
              <a:solidFill>
                <a:srgbClr val="000000"/>
              </a:solidFill>
              <a:latin typeface="M PLUS 1p"/>
              <a:ea typeface="M PLUS 1p"/>
              <a:cs typeface="M PLUS 1p"/>
              <a:sym typeface="M PLUS 1p"/>
            </a:endParaRPr>
          </a:p>
        </p:txBody>
      </p:sp>
      <p:sp>
        <p:nvSpPr>
          <p:cNvPr id="1285" name="Google Shape;1285;p56"/>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86" name="Google Shape;1286;p56"/>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7FE8"/>
              </a:buClr>
              <a:buSzPts val="800"/>
              <a:buFont typeface="M PLUS 1p"/>
              <a:buNone/>
            </a:pPr>
            <a:r>
              <a:rPr b="1" i="0" lang="ja" sz="900" u="none" cap="none" strike="noStrike">
                <a:solidFill>
                  <a:srgbClr val="1D7FE8"/>
                </a:solidFill>
                <a:latin typeface="M PLUS 1p"/>
                <a:ea typeface="M PLUS 1p"/>
                <a:cs typeface="M PLUS 1p"/>
                <a:sym typeface="M PLUS 1p"/>
              </a:rPr>
              <a:t>○　関連あり（条件付き）</a:t>
            </a:r>
            <a:endParaRPr b="0" i="0" sz="900" u="none" cap="none" strike="noStrike">
              <a:solidFill>
                <a:srgbClr val="000000"/>
              </a:solidFill>
              <a:latin typeface="M PLUS 1p"/>
              <a:ea typeface="M PLUS 1p"/>
              <a:cs typeface="M PLUS 1p"/>
              <a:sym typeface="M PLUS 1p"/>
            </a:endParaRPr>
          </a:p>
        </p:txBody>
      </p:sp>
      <p:sp>
        <p:nvSpPr>
          <p:cNvPr id="1287" name="Google Shape;1287;p56"/>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初月2回掲載の店舗で、両回レビューあり42.4% vs 両回なし17.1%（差25.3pt）。Good評価の有無で追加掲載率も20〜28pt差</a:t>
            </a:r>
            <a:endParaRPr b="0" i="0" sz="1500" u="none" cap="none" strike="noStrike">
              <a:solidFill>
                <a:srgbClr val="000000"/>
              </a:solidFill>
              <a:latin typeface="M PLUS 1p"/>
              <a:ea typeface="M PLUS 1p"/>
              <a:cs typeface="M PLUS 1p"/>
              <a:sym typeface="M PLUS 1p"/>
            </a:endParaRPr>
          </a:p>
        </p:txBody>
      </p:sp>
      <p:sp>
        <p:nvSpPr>
          <p:cNvPr id="1288" name="Google Shape;1288;p56"/>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翌月継続率（%）｜初月2回だけ掲載した店舗のレビュー状況（Low Touch）</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289" name="Google Shape;1289;p56"/>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290" name="Google Shape;1290;p56"/>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291" name="Google Shape;1291;p56"/>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292" name="Google Shape;1292;p56"/>
          <p:cNvSpPr txBox="1"/>
          <p:nvPr/>
        </p:nvSpPr>
        <p:spPr>
          <a:xfrm>
            <a:off x="4476750" y="1533525"/>
            <a:ext cx="4172100" cy="99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初月2回掲載：両回あり42.4%、1回目のみ22.2%、2回目のみ33.4%、両回なし17.1%</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初月1回のみ掲載：レビューあり20.1% vs なし5.3%</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初回募集でGood評価をつけた店舗の追加掲載率は、つけなかった店舗より20.4〜27.8pt高い（計画・単発：55.8% vs 28.0%、n=6,728／991）</a:t>
            </a:r>
            <a:endParaRPr b="0" i="0" sz="950" u="none" cap="none" strike="noStrike">
              <a:solidFill>
                <a:srgbClr val="000000"/>
              </a:solidFill>
              <a:latin typeface="M PLUS 1p"/>
              <a:ea typeface="M PLUS 1p"/>
              <a:cs typeface="M PLUS 1p"/>
              <a:sym typeface="M PLUS 1p"/>
            </a:endParaRPr>
          </a:p>
        </p:txBody>
      </p:sp>
      <p:sp>
        <p:nvSpPr>
          <p:cNvPr id="1293" name="Google Shape;1293;p56"/>
          <p:cNvSpPr txBox="1"/>
          <p:nvPr/>
        </p:nvSpPr>
        <p:spPr>
          <a:xfrm>
            <a:off x="4476750" y="2545292"/>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294" name="Google Shape;1294;p56"/>
          <p:cNvSpPr txBox="1"/>
          <p:nvPr/>
        </p:nvSpPr>
        <p:spPr>
          <a:xfrm>
            <a:off x="4476750" y="2773892"/>
            <a:ext cx="4172100" cy="99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レビューする店舗は継続意向が元々高い可能性（逆因果）。原資料も因果は「つかめていない」と明記</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「Goodなし」には未評価とBadが混在。3群（Good／Bad／未評価）に分けた比較はまだない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Part2は31〜60日継続定義、Low Touch対象</a:t>
            </a:r>
            <a:endParaRPr b="0" i="0" sz="950" u="none" cap="none" strike="noStrike">
              <a:solidFill>
                <a:srgbClr val="000000"/>
              </a:solidFill>
              <a:latin typeface="M PLUS 1p"/>
              <a:ea typeface="M PLUS 1p"/>
              <a:cs typeface="M PLUS 1p"/>
              <a:sym typeface="M PLUS 1p"/>
            </a:endParaRPr>
          </a:p>
        </p:txBody>
      </p:sp>
      <p:sp>
        <p:nvSpPr>
          <p:cNvPr id="1295" name="Google Shape;1295;p56"/>
          <p:cNvSpPr txBox="1"/>
          <p:nvPr/>
        </p:nvSpPr>
        <p:spPr>
          <a:xfrm>
            <a:off x="4476750" y="378565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296" name="Google Shape;1296;p56"/>
          <p:cNvSpPr txBox="1"/>
          <p:nvPr/>
        </p:nvSpPr>
        <p:spPr>
          <a:xfrm>
            <a:off x="4476750" y="4014258"/>
            <a:ext cx="4172100" cy="61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「レビュー実施」は営業が促せる行動で、差も大きい。加点候補として有力。ただしBad項目（No.5）の「評価なし」と重複するため、Bad側から切り出して1項目にする。</a:t>
            </a:r>
            <a:endParaRPr b="0" i="0" sz="950" u="none" cap="none" strike="noStrike">
              <a:solidFill>
                <a:srgbClr val="000000"/>
              </a:solidFill>
              <a:latin typeface="M PLUS 1p"/>
              <a:ea typeface="M PLUS 1p"/>
              <a:cs typeface="M PLUS 1p"/>
              <a:sym typeface="M PLUS 1p"/>
            </a:endParaRPr>
          </a:p>
        </p:txBody>
      </p:sp>
      <p:sp>
        <p:nvSpPr>
          <p:cNvPr id="1297" name="Google Shape;1297;p56"/>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600" u="none" cap="none" strike="noStrike">
                <a:solidFill>
                  <a:srgbClr val="595959"/>
                </a:solidFill>
                <a:latin typeface="M PLUS 1p"/>
                <a:ea typeface="M PLUS 1p"/>
                <a:cs typeface="M PLUS 1p"/>
                <a:sym typeface="M PLUS 1p"/>
              </a:rPr>
              <a:t>出典：翌月継続率の構造化分析_Part2（DA, Low Touch, 31〜60日継続） p.17／[FY26] GrowthSquad_翌月継続率の探索分析（Low Touch, 2025/1〜9初回） p.20／ONB_現行スコアと次の候補.xlsx G03</a:t>
            </a:r>
            <a:endParaRPr b="0" i="0" sz="600" u="none" cap="none" strike="noStrike">
              <a:solidFill>
                <a:srgbClr val="000000"/>
              </a:solidFill>
              <a:latin typeface="M PLUS 1p"/>
              <a:ea typeface="M PLUS 1p"/>
              <a:cs typeface="M PLUS 1p"/>
              <a:sym typeface="M PLUS 1p"/>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2" name="Shape 1302"/>
        <p:cNvGrpSpPr/>
        <p:nvPr/>
      </p:nvGrpSpPr>
      <p:grpSpPr>
        <a:xfrm>
          <a:off x="0" y="0"/>
          <a:ext cx="0" cy="0"/>
          <a:chOff x="0" y="0"/>
          <a:chExt cx="0" cy="0"/>
        </a:xfrm>
      </p:grpSpPr>
      <p:sp>
        <p:nvSpPr>
          <p:cNvPr id="1303" name="Google Shape;1303;p57"/>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No.09　計画掲載有無・リードタイム（勤務日より前に余裕を持って公開したか）</a:t>
            </a:r>
            <a:endParaRPr b="0" i="0" sz="900" u="none" cap="none" strike="noStrike">
              <a:solidFill>
                <a:srgbClr val="000000"/>
              </a:solidFill>
              <a:latin typeface="M PLUS 1p"/>
              <a:ea typeface="M PLUS 1p"/>
              <a:cs typeface="M PLUS 1p"/>
              <a:sym typeface="M PLUS 1p"/>
            </a:endParaRPr>
          </a:p>
        </p:txBody>
      </p:sp>
      <p:sp>
        <p:nvSpPr>
          <p:cNvPr id="1304" name="Google Shape;1304;p57"/>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05" name="Google Shape;1305;p57"/>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7FE8"/>
              </a:buClr>
              <a:buSzPts val="800"/>
              <a:buFont typeface="M PLUS 1p"/>
              <a:buNone/>
            </a:pPr>
            <a:r>
              <a:rPr b="1" i="0" lang="ja" sz="900" u="none" cap="none" strike="noStrike">
                <a:solidFill>
                  <a:srgbClr val="1D7FE8"/>
                </a:solidFill>
                <a:latin typeface="M PLUS 1p"/>
                <a:ea typeface="M PLUS 1p"/>
                <a:cs typeface="M PLUS 1p"/>
                <a:sym typeface="M PLUS 1p"/>
              </a:rPr>
              <a:t>○　関連あり（条件付き）</a:t>
            </a:r>
            <a:endParaRPr b="0" i="0" sz="900" u="none" cap="none" strike="noStrike">
              <a:solidFill>
                <a:srgbClr val="000000"/>
              </a:solidFill>
              <a:latin typeface="M PLUS 1p"/>
              <a:ea typeface="M PLUS 1p"/>
              <a:cs typeface="M PLUS 1p"/>
              <a:sym typeface="M PLUS 1p"/>
            </a:endParaRPr>
          </a:p>
        </p:txBody>
      </p:sp>
      <p:sp>
        <p:nvSpPr>
          <p:cNvPr id="1306" name="Google Shape;1306;p57"/>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計画掲載ありの方が高いが、差は掲載日数4〜6日層で10.2ptと最大、10日以上では1.7ptに縮小。少量掲載層に効く指標</a:t>
            </a:r>
            <a:endParaRPr b="0" i="0" sz="1500" u="none" cap="none" strike="noStrike">
              <a:solidFill>
                <a:srgbClr val="000000"/>
              </a:solidFill>
              <a:latin typeface="M PLUS 1p"/>
              <a:ea typeface="M PLUS 1p"/>
              <a:cs typeface="M PLUS 1p"/>
              <a:sym typeface="M PLUS 1p"/>
            </a:endParaRPr>
          </a:p>
        </p:txBody>
      </p:sp>
      <p:sp>
        <p:nvSpPr>
          <p:cNvPr id="1307" name="Google Shape;1307;p57"/>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翌月継続率（%）｜計画掲載の有無 × 利用初月の掲載日数（Low Touch）</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308" name="Google Shape;1308;p57"/>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309" name="Google Shape;1309;p57"/>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10" name="Google Shape;1310;p57"/>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311" name="Google Shape;1311;p57"/>
          <p:cNvSpPr txBox="1"/>
          <p:nvPr/>
        </p:nvSpPr>
        <p:spPr>
          <a:xfrm>
            <a:off x="4476750" y="1533525"/>
            <a:ext cx="4172100" cy="99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差：1〜3日＋6.4pt、4〜6日＋10.2pt、7〜9日＋4.9pt、10日以上＋1.7pt</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掲載日数が多い店舗ほど計画掲載あり割合も高い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初週に翌週稼働分も出した店舗は翌月継続55.2% vs 初週のみ32.9%（n=9,305／14,191）</a:t>
            </a:r>
            <a:endParaRPr b="0" i="0" sz="950" u="none" cap="none" strike="noStrike">
              <a:solidFill>
                <a:srgbClr val="000000"/>
              </a:solidFill>
              <a:latin typeface="M PLUS 1p"/>
              <a:ea typeface="M PLUS 1p"/>
              <a:cs typeface="M PLUS 1p"/>
              <a:sym typeface="M PLUS 1p"/>
            </a:endParaRPr>
          </a:p>
        </p:txBody>
      </p:sp>
      <p:sp>
        <p:nvSpPr>
          <p:cNvPr id="1312" name="Google Shape;1312;p57"/>
          <p:cNvSpPr txBox="1"/>
          <p:nvPr/>
        </p:nvSpPr>
        <p:spPr>
          <a:xfrm>
            <a:off x="4476750" y="2545292"/>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313" name="Google Shape;1313;p57"/>
          <p:cNvSpPr txBox="1"/>
          <p:nvPr/>
        </p:nvSpPr>
        <p:spPr>
          <a:xfrm>
            <a:off x="4476750" y="2773892"/>
            <a:ext cx="4172100" cy="99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計画掲載＝初月に仕事開始まで2日以上の募集が1件でもある、という緩い定義。日付差と時間差の区別が必要</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あり／なし別のnは未記載</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リードタイムが長いと稼働率が極端に低くなりにくい、という経路を介している可能性</a:t>
            </a:r>
            <a:endParaRPr b="0" i="0" sz="950" u="none" cap="none" strike="noStrike">
              <a:solidFill>
                <a:srgbClr val="000000"/>
              </a:solidFill>
              <a:latin typeface="M PLUS 1p"/>
              <a:ea typeface="M PLUS 1p"/>
              <a:cs typeface="M PLUS 1p"/>
              <a:sym typeface="M PLUS 1p"/>
            </a:endParaRPr>
          </a:p>
        </p:txBody>
      </p:sp>
      <p:sp>
        <p:nvSpPr>
          <p:cNvPr id="1314" name="Google Shape;1314;p57"/>
          <p:cNvSpPr txBox="1"/>
          <p:nvPr/>
        </p:nvSpPr>
        <p:spPr>
          <a:xfrm>
            <a:off x="4476750" y="378565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315" name="Google Shape;1315;p57"/>
          <p:cNvSpPr txBox="1"/>
          <p:nvPr/>
        </p:nvSpPr>
        <p:spPr>
          <a:xfrm>
            <a:off x="4476750" y="4014258"/>
            <a:ext cx="4172100" cy="61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加点候補。ただし対象は「初月掲載日数が10日未満の層」に限定して効く。初回設定時に「翌週分まで公開」を標準手順にする方が、点数より効果が出やすい。</a:t>
            </a:r>
            <a:endParaRPr b="0" i="0" sz="950" u="none" cap="none" strike="noStrike">
              <a:solidFill>
                <a:srgbClr val="000000"/>
              </a:solidFill>
              <a:latin typeface="M PLUS 1p"/>
              <a:ea typeface="M PLUS 1p"/>
              <a:cs typeface="M PLUS 1p"/>
              <a:sym typeface="M PLUS 1p"/>
            </a:endParaRPr>
          </a:p>
        </p:txBody>
      </p:sp>
      <p:sp>
        <p:nvSpPr>
          <p:cNvPr id="1316" name="Google Shape;1316;p57"/>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600" u="none" cap="none" strike="noStrike">
                <a:solidFill>
                  <a:srgbClr val="595959"/>
                </a:solidFill>
                <a:latin typeface="M PLUS 1p"/>
                <a:ea typeface="M PLUS 1p"/>
                <a:cs typeface="M PLUS 1p"/>
                <a:sym typeface="M PLUS 1p"/>
              </a:rPr>
              <a:t>出典：[FY26] GrowthSquad_翌月継続率の探索分析（Low Touch, 2025/1〜9初回） p.31／ONB_現行スコアと次の候補.xlsx G05　／　翌月継続率の構造化分析_Part2（DA, Low Touch, 31〜60日継続） p.16</a:t>
            </a:r>
            <a:endParaRPr b="0" i="0" sz="600" u="none" cap="none" strike="noStrike">
              <a:solidFill>
                <a:srgbClr val="000000"/>
              </a:solidFill>
              <a:latin typeface="M PLUS 1p"/>
              <a:ea typeface="M PLUS 1p"/>
              <a:cs typeface="M PLUS 1p"/>
              <a:sym typeface="M PLUS 1p"/>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1" name="Shape 1321"/>
        <p:cNvGrpSpPr/>
        <p:nvPr/>
      </p:nvGrpSpPr>
      <p:grpSpPr>
        <a:xfrm>
          <a:off x="0" y="0"/>
          <a:ext cx="0" cy="0"/>
          <a:chOff x="0" y="0"/>
          <a:chExt cx="0" cy="0"/>
        </a:xfrm>
      </p:grpSpPr>
      <p:sp>
        <p:nvSpPr>
          <p:cNvPr id="1322" name="Google Shape;1322;p58"/>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No.10　募集開始時間帯数（朝・昼・夕・夜の何区分で募集したか）</a:t>
            </a:r>
            <a:endParaRPr b="0" i="0" sz="900" u="none" cap="none" strike="noStrike">
              <a:solidFill>
                <a:srgbClr val="000000"/>
              </a:solidFill>
              <a:latin typeface="M PLUS 1p"/>
              <a:ea typeface="M PLUS 1p"/>
              <a:cs typeface="M PLUS 1p"/>
              <a:sym typeface="M PLUS 1p"/>
            </a:endParaRPr>
          </a:p>
        </p:txBody>
      </p:sp>
      <p:sp>
        <p:nvSpPr>
          <p:cNvPr id="1323" name="Google Shape;1323;p58"/>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24" name="Google Shape;1324;p58"/>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　間接根拠のみ／翌月継続の直接数値なし</a:t>
            </a:r>
            <a:endParaRPr b="0" i="0" sz="900" u="none" cap="none" strike="noStrike">
              <a:solidFill>
                <a:srgbClr val="000000"/>
              </a:solidFill>
              <a:latin typeface="M PLUS 1p"/>
              <a:ea typeface="M PLUS 1p"/>
              <a:cs typeface="M PLUS 1p"/>
              <a:sym typeface="M PLUS 1p"/>
            </a:endParaRPr>
          </a:p>
        </p:txBody>
      </p:sp>
      <p:sp>
        <p:nvSpPr>
          <p:cNvPr id="1325" name="Google Shape;1325;p58"/>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時間帯数が多いほど3ヶ月継続率は高い（初月6〜10件で1帯41.1%→4帯57.5%）。ただし翌月継続率での確認はなく、Low限定でもない</a:t>
            </a:r>
            <a:endParaRPr b="0" i="0" sz="1500" u="none" cap="none" strike="noStrike">
              <a:solidFill>
                <a:srgbClr val="000000"/>
              </a:solidFill>
              <a:latin typeface="M PLUS 1p"/>
              <a:ea typeface="M PLUS 1p"/>
              <a:cs typeface="M PLUS 1p"/>
              <a:sym typeface="M PLUS 1p"/>
            </a:endParaRPr>
          </a:p>
        </p:txBody>
      </p:sp>
      <p:sp>
        <p:nvSpPr>
          <p:cNvPr id="1326" name="Google Shape;1326;p58"/>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3ヶ月継続率（%）｜初月の時間帯数 × 初月募集数（全体分析）</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327" name="Google Shape;1327;p58"/>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328" name="Google Shape;1328;p58"/>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29" name="Google Shape;1329;p58"/>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330" name="Google Shape;1330;p58"/>
          <p:cNvSpPr txBox="1"/>
          <p:nvPr/>
        </p:nvSpPr>
        <p:spPr>
          <a:xfrm>
            <a:off x="4476750" y="1533525"/>
            <a:ext cx="4172100" cy="8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募集量を揃えても時間帯数が多いほど3ヶ月継続率が高い。6〜10件で＋16.4pt、11件以上で＋22.5pt</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決まった時間帯に長時間より、短時間で複数時間帯に募集した方が3ヶ月継続率・稼働率とも高い</a:t>
            </a:r>
            <a:endParaRPr b="0" i="0" sz="950" u="none" cap="none" strike="noStrike">
              <a:solidFill>
                <a:srgbClr val="000000"/>
              </a:solidFill>
              <a:latin typeface="M PLUS 1p"/>
              <a:ea typeface="M PLUS 1p"/>
              <a:cs typeface="M PLUS 1p"/>
              <a:sym typeface="M PLUS 1p"/>
            </a:endParaRPr>
          </a:p>
        </p:txBody>
      </p:sp>
      <p:sp>
        <p:nvSpPr>
          <p:cNvPr id="1331" name="Google Shape;1331;p58"/>
          <p:cNvSpPr txBox="1"/>
          <p:nvPr/>
        </p:nvSpPr>
        <p:spPr>
          <a:xfrm>
            <a:off x="4476750" y="2419350"/>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332" name="Google Shape;1332;p58"/>
          <p:cNvSpPr txBox="1"/>
          <p:nvPr/>
        </p:nvSpPr>
        <p:spPr>
          <a:xfrm>
            <a:off x="4476750" y="2647950"/>
            <a:ext cx="4172100" cy="105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指標は3ヶ月継続率（翌月継続ではない）。翌月への効果は未計測</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全事業本部の分析でLow Touch限定ではない。SMB_lowはベースラインが低いが傾向は同じ</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3〜5件層では3時間帯（31.4%）が2時間帯（32.3%）を下回り、単調ではない</a:t>
            </a:r>
            <a:endParaRPr b="0" i="0" sz="950" u="none" cap="none" strike="noStrike">
              <a:solidFill>
                <a:srgbClr val="000000"/>
              </a:solidFill>
              <a:latin typeface="M PLUS 1p"/>
              <a:ea typeface="M PLUS 1p"/>
              <a:cs typeface="M PLUS 1p"/>
              <a:sym typeface="M PLUS 1p"/>
            </a:endParaRPr>
          </a:p>
        </p:txBody>
      </p:sp>
      <p:sp>
        <p:nvSpPr>
          <p:cNvPr id="1333" name="Google Shape;1333;p58"/>
          <p:cNvSpPr txBox="1"/>
          <p:nvPr/>
        </p:nvSpPr>
        <p:spPr>
          <a:xfrm>
            <a:off x="4476750" y="372268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334" name="Google Shape;1334;p58"/>
          <p:cNvSpPr txBox="1"/>
          <p:nvPr/>
        </p:nvSpPr>
        <p:spPr>
          <a:xfrm>
            <a:off x="4476750" y="3951288"/>
            <a:ext cx="4172100" cy="6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翌月継続のスコアには現時点で入れない。中長期（3ヶ月継続）向けの提案トーク「別時間帯の業務を分けて出す」として活用し、Low対象で翌月継続率を再集計してから判断。</a:t>
            </a:r>
            <a:endParaRPr b="0" i="0" sz="950" u="none" cap="none" strike="noStrike">
              <a:solidFill>
                <a:srgbClr val="000000"/>
              </a:solidFill>
              <a:latin typeface="M PLUS 1p"/>
              <a:ea typeface="M PLUS 1p"/>
              <a:cs typeface="M PLUS 1p"/>
              <a:sym typeface="M PLUS 1p"/>
            </a:endParaRPr>
          </a:p>
        </p:txBody>
      </p:sp>
      <p:sp>
        <p:nvSpPr>
          <p:cNvPr id="1335" name="Google Shape;1335;p58"/>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出典：[FY25 4Q] 3ヶ月連続継続と中長期の継続に効くレバーの探索（DA, 全体） p.33-35／ONB_現行スコアと次の候補.xlsx G06</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0" name="Shape 1340"/>
        <p:cNvGrpSpPr/>
        <p:nvPr/>
      </p:nvGrpSpPr>
      <p:grpSpPr>
        <a:xfrm>
          <a:off x="0" y="0"/>
          <a:ext cx="0" cy="0"/>
          <a:chOff x="0" y="0"/>
          <a:chExt cx="0" cy="0"/>
        </a:xfrm>
      </p:grpSpPr>
      <p:sp>
        <p:nvSpPr>
          <p:cNvPr id="1341" name="Google Shape;1341;p59"/>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No.11　ログイン・求人作成画面訪問後の未公開（作成途中で止まっていないか）</a:t>
            </a:r>
            <a:endParaRPr b="0" i="0" sz="900" u="none" cap="none" strike="noStrike">
              <a:solidFill>
                <a:srgbClr val="000000"/>
              </a:solidFill>
              <a:latin typeface="M PLUS 1p"/>
              <a:ea typeface="M PLUS 1p"/>
              <a:cs typeface="M PLUS 1p"/>
              <a:sym typeface="M PLUS 1p"/>
            </a:endParaRPr>
          </a:p>
        </p:txBody>
      </p:sp>
      <p:sp>
        <p:nvSpPr>
          <p:cNvPr id="1342" name="Google Shape;1342;p59"/>
          <p:cNvSpPr/>
          <p:nvPr/>
        </p:nvSpPr>
        <p:spPr>
          <a:xfrm>
            <a:off x="5897880" y="205740"/>
            <a:ext cx="2914800" cy="274200"/>
          </a:xfrm>
          <a:prstGeom prst="roundRect">
            <a:avLst>
              <a:gd fmla="val 20000"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43" name="Google Shape;1343;p59"/>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　定量根拠なし（要検証）</a:t>
            </a:r>
            <a:endParaRPr b="0" i="0" sz="900" u="none" cap="none" strike="noStrike">
              <a:solidFill>
                <a:srgbClr val="000000"/>
              </a:solidFill>
              <a:latin typeface="M PLUS 1p"/>
              <a:ea typeface="M PLUS 1p"/>
              <a:cs typeface="M PLUS 1p"/>
              <a:sym typeface="M PLUS 1p"/>
            </a:endParaRPr>
          </a:p>
        </p:txBody>
      </p:sp>
      <p:sp>
        <p:nvSpPr>
          <p:cNvPr id="1344" name="Google Shape;1344;p59"/>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初回募集後、管理画面にアクセスだけして募集を作らない店舗が常に15〜20%存在。ただし「未公開層の継続率」は未計測</a:t>
            </a:r>
            <a:endParaRPr b="0" i="0" sz="1500" u="none" cap="none" strike="noStrike">
              <a:solidFill>
                <a:srgbClr val="000000"/>
              </a:solidFill>
              <a:latin typeface="M PLUS 1p"/>
              <a:ea typeface="M PLUS 1p"/>
              <a:cs typeface="M PLUS 1p"/>
              <a:sym typeface="M PLUS 1p"/>
            </a:endParaRPr>
          </a:p>
        </p:txBody>
      </p:sp>
      <p:sp>
        <p:nvSpPr>
          <p:cNvPr id="1345" name="Google Shape;1345;p59"/>
          <p:cNvSpPr/>
          <p:nvPr/>
        </p:nvSpPr>
        <p:spPr>
          <a:xfrm>
            <a:off x="342900" y="1200150"/>
            <a:ext cx="4937700" cy="349770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46" name="Google Shape;1346;p59"/>
          <p:cNvSpPr/>
          <p:nvPr/>
        </p:nvSpPr>
        <p:spPr>
          <a:xfrm>
            <a:off x="1954530" y="1405890"/>
            <a:ext cx="1714500" cy="411600"/>
          </a:xfrm>
          <a:prstGeom prst="roundRect">
            <a:avLst>
              <a:gd fmla="val 16667"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47" name="Google Shape;1347;p59"/>
          <p:cNvSpPr txBox="1"/>
          <p:nvPr/>
        </p:nvSpPr>
        <p:spPr>
          <a:xfrm>
            <a:off x="1954530" y="1405890"/>
            <a:ext cx="1714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検証中（グラフ化できる数値なし）</a:t>
            </a:r>
            <a:endParaRPr b="0" i="0" sz="900" u="none" cap="none" strike="noStrike">
              <a:solidFill>
                <a:srgbClr val="000000"/>
              </a:solidFill>
              <a:latin typeface="M PLUS 1p"/>
              <a:ea typeface="M PLUS 1p"/>
              <a:cs typeface="M PLUS 1p"/>
              <a:sym typeface="M PLUS 1p"/>
            </a:endParaRPr>
          </a:p>
        </p:txBody>
      </p:sp>
      <p:sp>
        <p:nvSpPr>
          <p:cNvPr id="1348" name="Google Shape;1348;p59"/>
          <p:cNvSpPr txBox="1"/>
          <p:nvPr/>
        </p:nvSpPr>
        <p:spPr>
          <a:xfrm>
            <a:off x="548640" y="1988820"/>
            <a:ext cx="1097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翌月継続率の差</a:t>
            </a:r>
            <a:endParaRPr b="0" i="0" sz="900" u="none" cap="none" strike="noStrike">
              <a:solidFill>
                <a:srgbClr val="000000"/>
              </a:solidFill>
              <a:latin typeface="M PLUS 1p"/>
              <a:ea typeface="M PLUS 1p"/>
              <a:cs typeface="M PLUS 1p"/>
              <a:sym typeface="M PLUS 1p"/>
            </a:endParaRPr>
          </a:p>
        </p:txBody>
      </p:sp>
      <p:sp>
        <p:nvSpPr>
          <p:cNvPr id="1349" name="Google Shape;1349;p59"/>
          <p:cNvSpPr txBox="1"/>
          <p:nvPr/>
        </p:nvSpPr>
        <p:spPr>
          <a:xfrm>
            <a:off x="1645920" y="1988820"/>
            <a:ext cx="34290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未計測。アクセスのみ層と非アクセス層、または作成画面訪問後に公開した／しなかった層の翌月継続率比較は資料にない。</a:t>
            </a:r>
            <a:endParaRPr b="0" i="0" sz="900" u="none" cap="none" strike="noStrike">
              <a:solidFill>
                <a:srgbClr val="000000"/>
              </a:solidFill>
              <a:latin typeface="M PLUS 1p"/>
              <a:ea typeface="M PLUS 1p"/>
              <a:cs typeface="M PLUS 1p"/>
              <a:sym typeface="M PLUS 1p"/>
            </a:endParaRPr>
          </a:p>
        </p:txBody>
      </p:sp>
      <p:cxnSp>
        <p:nvCxnSpPr>
          <p:cNvPr id="1350" name="Google Shape;1350;p59"/>
          <p:cNvCxnSpPr/>
          <p:nvPr/>
        </p:nvCxnSpPr>
        <p:spPr>
          <a:xfrm>
            <a:off x="548640" y="2640330"/>
            <a:ext cx="4526400" cy="0"/>
          </a:xfrm>
          <a:prstGeom prst="straightConnector1">
            <a:avLst/>
          </a:prstGeom>
          <a:noFill/>
          <a:ln cap="flat" cmpd="sng" w="9525">
            <a:solidFill>
              <a:srgbClr val="E0E0E0"/>
            </a:solidFill>
            <a:prstDash val="solid"/>
            <a:round/>
            <a:headEnd len="sm" w="sm" type="none"/>
            <a:tailEnd len="sm" w="sm" type="none"/>
          </a:ln>
        </p:spPr>
      </p:cxnSp>
      <p:sp>
        <p:nvSpPr>
          <p:cNvPr id="1351" name="Google Shape;1351;p59"/>
          <p:cNvSpPr txBox="1"/>
          <p:nvPr/>
        </p:nvSpPr>
        <p:spPr>
          <a:xfrm>
            <a:off x="548640" y="2743200"/>
            <a:ext cx="10974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間接的な根拠</a:t>
            </a:r>
            <a:endParaRPr b="0" i="0" sz="900" u="none" cap="none" strike="noStrike">
              <a:solidFill>
                <a:srgbClr val="000000"/>
              </a:solidFill>
              <a:latin typeface="M PLUS 1p"/>
              <a:ea typeface="M PLUS 1p"/>
              <a:cs typeface="M PLUS 1p"/>
              <a:sym typeface="M PLUS 1p"/>
            </a:endParaRPr>
          </a:p>
        </p:txBody>
      </p:sp>
      <p:sp>
        <p:nvSpPr>
          <p:cNvPr id="1352" name="Google Shape;1352;p59"/>
          <p:cNvSpPr txBox="1"/>
          <p:nvPr/>
        </p:nvSpPr>
        <p:spPr>
          <a:xfrm>
            <a:off x="1645920" y="2743200"/>
            <a:ext cx="3429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初回募集作成後90日間、全店舗の15〜20%が「アクセスのみ」。7日周期で約5pt増える波がある。アクセスのみ層の約半数は求人一覧・ひな形一覧を閲覧し、約20%は求人作成画面まで到達している（FY25 4Q p.37-38）。Low TouchはHigh Touchよりアクセスのみ割合が半分程度。</a:t>
            </a:r>
            <a:endParaRPr b="0" i="0" sz="900" u="none" cap="none" strike="noStrike">
              <a:solidFill>
                <a:srgbClr val="000000"/>
              </a:solidFill>
              <a:latin typeface="M PLUS 1p"/>
              <a:ea typeface="M PLUS 1p"/>
              <a:cs typeface="M PLUS 1p"/>
              <a:sym typeface="M PLUS 1p"/>
            </a:endParaRPr>
          </a:p>
        </p:txBody>
      </p:sp>
      <p:cxnSp>
        <p:nvCxnSpPr>
          <p:cNvPr id="1353" name="Google Shape;1353;p59"/>
          <p:cNvCxnSpPr/>
          <p:nvPr/>
        </p:nvCxnSpPr>
        <p:spPr>
          <a:xfrm>
            <a:off x="548640" y="3600450"/>
            <a:ext cx="4526400" cy="0"/>
          </a:xfrm>
          <a:prstGeom prst="straightConnector1">
            <a:avLst/>
          </a:prstGeom>
          <a:noFill/>
          <a:ln cap="flat" cmpd="sng" w="9525">
            <a:solidFill>
              <a:srgbClr val="E0E0E0"/>
            </a:solidFill>
            <a:prstDash val="solid"/>
            <a:round/>
            <a:headEnd len="sm" w="sm" type="none"/>
            <a:tailEnd len="sm" w="sm" type="none"/>
          </a:ln>
        </p:spPr>
      </p:cxnSp>
      <p:sp>
        <p:nvSpPr>
          <p:cNvPr id="1354" name="Google Shape;1354;p59"/>
          <p:cNvSpPr txBox="1"/>
          <p:nvPr/>
        </p:nvSpPr>
        <p:spPr>
          <a:xfrm>
            <a:off x="548640" y="3703320"/>
            <a:ext cx="10974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採用前に必要な検証</a:t>
            </a:r>
            <a:endParaRPr b="0" i="0" sz="900" u="none" cap="none" strike="noStrike">
              <a:solidFill>
                <a:srgbClr val="000000"/>
              </a:solidFill>
              <a:latin typeface="M PLUS 1p"/>
              <a:ea typeface="M PLUS 1p"/>
              <a:cs typeface="M PLUS 1p"/>
              <a:sym typeface="M PLUS 1p"/>
            </a:endParaRPr>
          </a:p>
        </p:txBody>
      </p:sp>
      <p:sp>
        <p:nvSpPr>
          <p:cNvPr id="1355" name="Google Shape;1355;p59"/>
          <p:cNvSpPr txBox="1"/>
          <p:nvPr/>
        </p:nvSpPr>
        <p:spPr>
          <a:xfrm>
            <a:off x="1645920" y="3703320"/>
            <a:ext cx="34290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① 求人作成画面訪問後◯日未公開の店舗を抽出し、翌月継続率を非訪問層と比較</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② 抽出層に対する架電・自動メッセージの介入群／非介入群で公開率と継続率を比較</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③ 画面イベントログの取得可否をプロダクト側に確認</a:t>
            </a:r>
            <a:endParaRPr b="0" i="0" sz="900" u="none" cap="none" strike="noStrike">
              <a:solidFill>
                <a:srgbClr val="000000"/>
              </a:solidFill>
              <a:latin typeface="M PLUS 1p"/>
              <a:ea typeface="M PLUS 1p"/>
              <a:cs typeface="M PLUS 1p"/>
              <a:sym typeface="M PLUS 1p"/>
            </a:endParaRPr>
          </a:p>
        </p:txBody>
      </p:sp>
      <p:sp>
        <p:nvSpPr>
          <p:cNvPr id="1356" name="Google Shape;1356;p59"/>
          <p:cNvSpPr/>
          <p:nvPr/>
        </p:nvSpPr>
        <p:spPr>
          <a:xfrm>
            <a:off x="5410200" y="1200150"/>
            <a:ext cx="33720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57" name="Google Shape;1357;p59"/>
          <p:cNvSpPr txBox="1"/>
          <p:nvPr/>
        </p:nvSpPr>
        <p:spPr>
          <a:xfrm>
            <a:off x="5524500" y="1304925"/>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358" name="Google Shape;1358;p59"/>
          <p:cNvSpPr txBox="1"/>
          <p:nvPr/>
        </p:nvSpPr>
        <p:spPr>
          <a:xfrm>
            <a:off x="5524500" y="1533525"/>
            <a:ext cx="3143400" cy="78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アクセスのみ層が全店舗の15〜20%で推移</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うち求人作成画面まで来た店舗が約20%</a:t>
            </a:r>
            <a:endParaRPr b="0" i="0" sz="900" u="none" cap="none" strike="noStrike">
              <a:solidFill>
                <a:srgbClr val="000000"/>
              </a:solidFill>
              <a:latin typeface="M PLUS 1p"/>
              <a:ea typeface="M PLUS 1p"/>
              <a:cs typeface="M PLUS 1p"/>
              <a:sym typeface="M PLUS 1p"/>
            </a:endParaRPr>
          </a:p>
        </p:txBody>
      </p:sp>
      <p:sp>
        <p:nvSpPr>
          <p:cNvPr id="1359" name="Google Shape;1359;p59"/>
          <p:cNvSpPr txBox="1"/>
          <p:nvPr/>
        </p:nvSpPr>
        <p:spPr>
          <a:xfrm>
            <a:off x="5524500" y="2342092"/>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360" name="Google Shape;1360;p59"/>
          <p:cNvSpPr txBox="1"/>
          <p:nvPr/>
        </p:nvSpPr>
        <p:spPr>
          <a:xfrm>
            <a:off x="5524500" y="2570692"/>
            <a:ext cx="3143400" cy="92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行動ログの割合であり、継続率の差ではない</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アクセスなし層（60〜70%）の方が多く、アクセス自体が継続意向のシグナルである可能性</a:t>
            </a:r>
            <a:endParaRPr b="0" i="0" sz="900" u="none" cap="none" strike="noStrike">
              <a:solidFill>
                <a:srgbClr val="000000"/>
              </a:solidFill>
              <a:latin typeface="M PLUS 1p"/>
              <a:ea typeface="M PLUS 1p"/>
              <a:cs typeface="M PLUS 1p"/>
              <a:sym typeface="M PLUS 1p"/>
            </a:endParaRPr>
          </a:p>
        </p:txBody>
      </p:sp>
      <p:sp>
        <p:nvSpPr>
          <p:cNvPr id="1361" name="Google Shape;1361;p59"/>
          <p:cNvSpPr txBox="1"/>
          <p:nvPr/>
        </p:nvSpPr>
        <p:spPr>
          <a:xfrm>
            <a:off x="5524500" y="3514196"/>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362" name="Google Shape;1362;p59"/>
          <p:cNvSpPr txBox="1"/>
          <p:nvPr/>
        </p:nvSpPr>
        <p:spPr>
          <a:xfrm>
            <a:off x="5524500" y="3742796"/>
            <a:ext cx="3143400" cy="88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スコア項目ではなく「支援開始の合図（トリガー）」として最優先で使う。作成画面まで来て未公開＝操作のつまずきの可能性が高く、テックタッチで拾える。</a:t>
            </a:r>
            <a:endParaRPr b="0" i="0" sz="900" u="none" cap="none" strike="noStrike">
              <a:solidFill>
                <a:srgbClr val="000000"/>
              </a:solidFill>
              <a:latin typeface="M PLUS 1p"/>
              <a:ea typeface="M PLUS 1p"/>
              <a:cs typeface="M PLUS 1p"/>
              <a:sym typeface="M PLUS 1p"/>
            </a:endParaRPr>
          </a:p>
        </p:txBody>
      </p:sp>
      <p:sp>
        <p:nvSpPr>
          <p:cNvPr id="1363" name="Google Shape;1363;p59"/>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出典：[FY25 4Q] 3ヶ月連続継続と中長期の継続に効くレバーの探索（DA, 全体） p.37-38・50-52／ONB_現行スコアと次の候補.xlsx N08</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8" name="Shape 1368"/>
        <p:cNvGrpSpPr/>
        <p:nvPr/>
      </p:nvGrpSpPr>
      <p:grpSpPr>
        <a:xfrm>
          <a:off x="0" y="0"/>
          <a:ext cx="0" cy="0"/>
          <a:chOff x="0" y="0"/>
          <a:chExt cx="0" cy="0"/>
        </a:xfrm>
      </p:grpSpPr>
      <p:sp>
        <p:nvSpPr>
          <p:cNvPr id="1369" name="Google Shape;1369;p60"/>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No.12　募集曜日の広がり（平日と土日の両方で募集したか）</a:t>
            </a:r>
            <a:endParaRPr b="0" i="0" sz="900" u="none" cap="none" strike="noStrike">
              <a:solidFill>
                <a:srgbClr val="000000"/>
              </a:solidFill>
              <a:latin typeface="M PLUS 1p"/>
              <a:ea typeface="M PLUS 1p"/>
              <a:cs typeface="M PLUS 1p"/>
              <a:sym typeface="M PLUS 1p"/>
            </a:endParaRPr>
          </a:p>
        </p:txBody>
      </p:sp>
      <p:sp>
        <p:nvSpPr>
          <p:cNvPr id="1370" name="Google Shape;1370;p60"/>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71" name="Google Shape;1371;p60"/>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　間接根拠のみ／翌月継続の直接数値なし</a:t>
            </a:r>
            <a:endParaRPr b="0" i="0" sz="900" u="none" cap="none" strike="noStrike">
              <a:solidFill>
                <a:srgbClr val="000000"/>
              </a:solidFill>
              <a:latin typeface="M PLUS 1p"/>
              <a:ea typeface="M PLUS 1p"/>
              <a:cs typeface="M PLUS 1p"/>
              <a:sym typeface="M PLUS 1p"/>
            </a:endParaRPr>
          </a:p>
        </p:txBody>
      </p:sp>
      <p:sp>
        <p:nvSpPr>
          <p:cNvPr id="1372" name="Google Shape;1372;p60"/>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募集11件以上では平日・週末併用が66.9%と最高だが、3〜5件では週末のみ33.2%が併用30.6%を上回る。一律加点は不適</a:t>
            </a:r>
            <a:endParaRPr b="0" i="0" sz="1500" u="none" cap="none" strike="noStrike">
              <a:solidFill>
                <a:srgbClr val="000000"/>
              </a:solidFill>
              <a:latin typeface="M PLUS 1p"/>
              <a:ea typeface="M PLUS 1p"/>
              <a:cs typeface="M PLUS 1p"/>
              <a:sym typeface="M PLUS 1p"/>
            </a:endParaRPr>
          </a:p>
        </p:txBody>
      </p:sp>
      <p:sp>
        <p:nvSpPr>
          <p:cNvPr id="1373" name="Google Shape;1373;p60"/>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3ヶ月継続率（%）｜掲載曜日 × 初月募集数（全体分析）</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374" name="Google Shape;1374;p60"/>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375" name="Google Shape;1375;p60"/>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76" name="Google Shape;1376;p60"/>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377" name="Google Shape;1377;p60"/>
          <p:cNvSpPr txBox="1"/>
          <p:nvPr/>
        </p:nvSpPr>
        <p:spPr>
          <a:xfrm>
            <a:off x="4476750" y="1533525"/>
            <a:ext cx="4172100" cy="89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11件以上：平日のみ58.7%→併用66.9%（＋8.2pt）</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3〜5件・6〜10件：週末のみが最も高く、併用は2番手</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募集量が増えるほど曜日の広がりの効果が出る</a:t>
            </a:r>
            <a:endParaRPr b="0" i="0" sz="950" u="none" cap="none" strike="noStrike">
              <a:solidFill>
                <a:srgbClr val="000000"/>
              </a:solidFill>
              <a:latin typeface="M PLUS 1p"/>
              <a:ea typeface="M PLUS 1p"/>
              <a:cs typeface="M PLUS 1p"/>
              <a:sym typeface="M PLUS 1p"/>
            </a:endParaRPr>
          </a:p>
        </p:txBody>
      </p:sp>
      <p:sp>
        <p:nvSpPr>
          <p:cNvPr id="1378" name="Google Shape;1378;p60"/>
          <p:cNvSpPr txBox="1"/>
          <p:nvPr/>
        </p:nvSpPr>
        <p:spPr>
          <a:xfrm>
            <a:off x="4476750" y="2444750"/>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379" name="Google Shape;1379;p60"/>
          <p:cNvSpPr txBox="1"/>
          <p:nvPr/>
        </p:nvSpPr>
        <p:spPr>
          <a:xfrm>
            <a:off x="4476750" y="2673350"/>
            <a:ext cx="4172100" cy="104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指標は3ヶ月継続率。翌月継続の数値はない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全体分析でLow限定ではない。群別n未記載</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「曜日を広げる」ことが原因か、業態（週末営業の飲食など）の差かは切り分けられていない</a:t>
            </a:r>
            <a:endParaRPr b="0" i="0" sz="950" u="none" cap="none" strike="noStrike">
              <a:solidFill>
                <a:srgbClr val="000000"/>
              </a:solidFill>
              <a:latin typeface="M PLUS 1p"/>
              <a:ea typeface="M PLUS 1p"/>
              <a:cs typeface="M PLUS 1p"/>
              <a:sym typeface="M PLUS 1p"/>
            </a:endParaRPr>
          </a:p>
        </p:txBody>
      </p:sp>
      <p:sp>
        <p:nvSpPr>
          <p:cNvPr id="1380" name="Google Shape;1380;p60"/>
          <p:cNvSpPr txBox="1"/>
          <p:nvPr/>
        </p:nvSpPr>
        <p:spPr>
          <a:xfrm>
            <a:off x="4476750" y="3735387"/>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381" name="Google Shape;1381;p60"/>
          <p:cNvSpPr txBox="1"/>
          <p:nvPr/>
        </p:nvSpPr>
        <p:spPr>
          <a:xfrm>
            <a:off x="4476750" y="3963987"/>
            <a:ext cx="4172100" cy="66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翌月継続スコアには入れない。少量掲載層では方向が逆転するため、加点すると誤誘導になる。業態別に再集計するまで保留。</a:t>
            </a:r>
            <a:endParaRPr b="0" i="0" sz="950" u="none" cap="none" strike="noStrike">
              <a:solidFill>
                <a:srgbClr val="000000"/>
              </a:solidFill>
              <a:latin typeface="M PLUS 1p"/>
              <a:ea typeface="M PLUS 1p"/>
              <a:cs typeface="M PLUS 1p"/>
              <a:sym typeface="M PLUS 1p"/>
            </a:endParaRPr>
          </a:p>
        </p:txBody>
      </p:sp>
      <p:sp>
        <p:nvSpPr>
          <p:cNvPr id="1382" name="Google Shape;1382;p60"/>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出典：[FY25 4Q] 3ヶ月連続継続と中長期の継続に効くレバーの探索（DA, 全体） p.33-34／ONB_現行スコアと次の候補.xlsx G07</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7" name="Shape 1387"/>
        <p:cNvGrpSpPr/>
        <p:nvPr/>
      </p:nvGrpSpPr>
      <p:grpSpPr>
        <a:xfrm>
          <a:off x="0" y="0"/>
          <a:ext cx="0" cy="0"/>
          <a:chOff x="0" y="0"/>
          <a:chExt cx="0" cy="0"/>
        </a:xfrm>
      </p:grpSpPr>
      <p:sp>
        <p:nvSpPr>
          <p:cNvPr id="1388" name="Google Shape;1388;p61"/>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No.13　利用ひな形数・任せる業務数（複数の業務へ利用が広がったか）</a:t>
            </a:r>
            <a:endParaRPr b="0" i="0" sz="900" u="none" cap="none" strike="noStrike">
              <a:solidFill>
                <a:srgbClr val="000000"/>
              </a:solidFill>
              <a:latin typeface="M PLUS 1p"/>
              <a:ea typeface="M PLUS 1p"/>
              <a:cs typeface="M PLUS 1p"/>
              <a:sym typeface="M PLUS 1p"/>
            </a:endParaRPr>
          </a:p>
        </p:txBody>
      </p:sp>
      <p:sp>
        <p:nvSpPr>
          <p:cNvPr id="1389" name="Google Shape;1389;p61"/>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90" name="Google Shape;1390;p61"/>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　差が大きく、複数資料で再現</a:t>
            </a:r>
            <a:endParaRPr b="0" i="0" sz="900" u="none" cap="none" strike="noStrike">
              <a:solidFill>
                <a:srgbClr val="000000"/>
              </a:solidFill>
              <a:latin typeface="M PLUS 1p"/>
              <a:ea typeface="M PLUS 1p"/>
              <a:cs typeface="M PLUS 1p"/>
              <a:sym typeface="M PLUS 1p"/>
            </a:endParaRPr>
          </a:p>
        </p:txBody>
      </p:sp>
      <p:sp>
        <p:nvSpPr>
          <p:cNvPr id="1391" name="Google Shape;1391;p61"/>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雛形1枚のみ51.0%に対し2枚76.2%（+25.2pt）。活動量を揃えても+15pt残り、因果効果の見立ては翌月+10〜15pt。3枚目以降の上積みは小さい</a:t>
            </a:r>
            <a:endParaRPr b="0" i="0" sz="1500" u="none" cap="none" strike="noStrike">
              <a:solidFill>
                <a:srgbClr val="000000"/>
              </a:solidFill>
              <a:latin typeface="M PLUS 1p"/>
              <a:ea typeface="M PLUS 1p"/>
              <a:cs typeface="M PLUS 1p"/>
              <a:sym typeface="M PLUS 1p"/>
            </a:endParaRPr>
          </a:p>
        </p:txBody>
      </p:sp>
      <p:sp>
        <p:nvSpPr>
          <p:cNvPr id="1392" name="Google Shape;1392;p61"/>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翌月継続率（%）｜初月末時点の使用雛形数（n=11,437／2,033／455／161／164）</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393" name="Google Shape;1393;p61"/>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394" name="Google Shape;1394;p61"/>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395" name="Google Shape;1395;p61"/>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396" name="Google Shape;1396;p61"/>
          <p:cNvSpPr txBox="1"/>
          <p:nvPr/>
        </p:nvSpPr>
        <p:spPr>
          <a:xfrm>
            <a:off x="4476750" y="1533525"/>
            <a:ext cx="4172100" cy="126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1枚51.0%→2枚76.2%（+25.2pt）。3枚77.4%（+1.2pt）、4枚以上は母数が小さく上積み不明</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初月の活動量（仕事開始日数4日以上）を揃えると差は+15pt。逆因果（追加雛形を翌月に初使用）を除いても+25pt</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「初回時点で複数」と「初月内に追加」の継続率はほぼ同じ（75.2% vs 81.6%）。2枚目があるかが効く</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新規店舗の80.6%は1枚のまま初月を終える</a:t>
            </a:r>
            <a:endParaRPr b="0" i="0" sz="950" u="none" cap="none" strike="noStrike">
              <a:solidFill>
                <a:srgbClr val="000000"/>
              </a:solidFill>
              <a:latin typeface="M PLUS 1p"/>
              <a:ea typeface="M PLUS 1p"/>
              <a:cs typeface="M PLUS 1p"/>
              <a:sym typeface="M PLUS 1p"/>
            </a:endParaRPr>
          </a:p>
        </p:txBody>
      </p:sp>
      <p:sp>
        <p:nvSpPr>
          <p:cNvPr id="1397" name="Google Shape;1397;p61"/>
          <p:cNvSpPr txBox="1"/>
          <p:nvPr/>
        </p:nvSpPr>
        <p:spPr>
          <a:xfrm>
            <a:off x="4476750" y="2822046"/>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398" name="Google Shape;1398;p61"/>
          <p:cNvSpPr txBox="1"/>
          <p:nvPr/>
        </p:nvSpPr>
        <p:spPr>
          <a:xfrm>
            <a:off x="4476750" y="3050646"/>
            <a:ext cx="4172100" cy="77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観測は「募集に使われた雛形」のみ。作成したが未使用の雛形は見えない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全体（High/Low混在）、2026年1〜8月初回、暦月継続。Low限定値ではない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統制後の差も観察差であり、RCTでの確認は10月コホートで予定</a:t>
            </a:r>
            <a:endParaRPr b="0" i="0" sz="950" u="none" cap="none" strike="noStrike">
              <a:solidFill>
                <a:srgbClr val="000000"/>
              </a:solidFill>
              <a:latin typeface="M PLUS 1p"/>
              <a:ea typeface="M PLUS 1p"/>
              <a:cs typeface="M PLUS 1p"/>
              <a:sym typeface="M PLUS 1p"/>
            </a:endParaRPr>
          </a:p>
        </p:txBody>
      </p:sp>
      <p:sp>
        <p:nvSpPr>
          <p:cNvPr id="1399" name="Google Shape;1399;p61"/>
          <p:cNvSpPr txBox="1"/>
          <p:nvPr/>
        </p:nvSpPr>
        <p:spPr>
          <a:xfrm>
            <a:off x="4476750" y="3848629"/>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400" name="Google Shape;1400;p61"/>
          <p:cNvSpPr txBox="1"/>
          <p:nvPr/>
        </p:nvSpPr>
        <p:spPr>
          <a:xfrm>
            <a:off x="4476750" y="4077229"/>
            <a:ext cx="4172100" cy="55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加点候補として最有力。「初月内に使用雛形2枚以上」で＋1〜2点。3枚目は翌月に効かないため加点しない。初回設定時の同席作成を標準化すれば追加工数はほぼゼロ。</a:t>
            </a:r>
            <a:endParaRPr b="0" i="0" sz="950" u="none" cap="none" strike="noStrike">
              <a:solidFill>
                <a:srgbClr val="000000"/>
              </a:solidFill>
              <a:latin typeface="M PLUS 1p"/>
              <a:ea typeface="M PLUS 1p"/>
              <a:cs typeface="M PLUS 1p"/>
              <a:sym typeface="M PLUS 1p"/>
            </a:endParaRPr>
          </a:p>
        </p:txBody>
      </p:sp>
      <p:sp>
        <p:nvSpPr>
          <p:cNvPr id="1401" name="Google Shape;1401;p61"/>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出典：雛形の追加作成は継続率を上げるのか（2026/9/11, 2026/1〜8初回 16,361店） p.2-6・10</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6" name="Shape 1406"/>
        <p:cNvGrpSpPr/>
        <p:nvPr/>
      </p:nvGrpSpPr>
      <p:grpSpPr>
        <a:xfrm>
          <a:off x="0" y="0"/>
          <a:ext cx="0" cy="0"/>
          <a:chOff x="0" y="0"/>
          <a:chExt cx="0" cy="0"/>
        </a:xfrm>
      </p:grpSpPr>
      <p:sp>
        <p:nvSpPr>
          <p:cNvPr id="1407" name="Google Shape;1407;p62"/>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No.14　企業のお気に入り登録数・プール倍率（再依頼しやすいワーカーが増えたか）</a:t>
            </a:r>
            <a:endParaRPr b="0" i="0" sz="900" u="none" cap="none" strike="noStrike">
              <a:solidFill>
                <a:srgbClr val="000000"/>
              </a:solidFill>
              <a:latin typeface="M PLUS 1p"/>
              <a:ea typeface="M PLUS 1p"/>
              <a:cs typeface="M PLUS 1p"/>
              <a:sym typeface="M PLUS 1p"/>
            </a:endParaRPr>
          </a:p>
        </p:txBody>
      </p:sp>
      <p:sp>
        <p:nvSpPr>
          <p:cNvPr id="1408" name="Google Shape;1408;p62"/>
          <p:cNvSpPr/>
          <p:nvPr/>
        </p:nvSpPr>
        <p:spPr>
          <a:xfrm>
            <a:off x="5897880" y="205740"/>
            <a:ext cx="2914800" cy="274200"/>
          </a:xfrm>
          <a:prstGeom prst="roundRect">
            <a:avLst>
              <a:gd fmla="val 20000"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09" name="Google Shape;1409;p62"/>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　定量根拠なし（要検証）</a:t>
            </a:r>
            <a:endParaRPr b="0" i="0" sz="900" u="none" cap="none" strike="noStrike">
              <a:solidFill>
                <a:srgbClr val="000000"/>
              </a:solidFill>
              <a:latin typeface="M PLUS 1p"/>
              <a:ea typeface="M PLUS 1p"/>
              <a:cs typeface="M PLUS 1p"/>
              <a:sym typeface="M PLUS 1p"/>
            </a:endParaRPr>
          </a:p>
        </p:txBody>
      </p:sp>
      <p:sp>
        <p:nvSpPr>
          <p:cNvPr id="1410" name="Google Shape;1410;p62"/>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お気に入り登録数と翌月継続率の比較データはない。近い指標のリピーター稼働は、掲載10日以上の店舗でのみ+5.2ptの差</a:t>
            </a:r>
            <a:endParaRPr b="0" i="0" sz="1500" u="none" cap="none" strike="noStrike">
              <a:solidFill>
                <a:srgbClr val="000000"/>
              </a:solidFill>
              <a:latin typeface="M PLUS 1p"/>
              <a:ea typeface="M PLUS 1p"/>
              <a:cs typeface="M PLUS 1p"/>
              <a:sym typeface="M PLUS 1p"/>
            </a:endParaRPr>
          </a:p>
        </p:txBody>
      </p:sp>
      <p:sp>
        <p:nvSpPr>
          <p:cNvPr id="1411" name="Google Shape;1411;p62"/>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【参考】翌月継続率（%）｜初月リピーター稼働の有無 × 掲載日数（Low Touch・追加掲載あり）</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412" name="Google Shape;1412;p62"/>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413" name="Google Shape;1413;p62"/>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14" name="Google Shape;1414;p62"/>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415" name="Google Shape;1415;p62"/>
          <p:cNvSpPr txBox="1"/>
          <p:nvPr/>
        </p:nvSpPr>
        <p:spPr>
          <a:xfrm>
            <a:off x="4476750" y="1533525"/>
            <a:ext cx="4172100" cy="104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お気に入り登録数：翌月継続率との比較値なし。「15人」閾値は既存整理の候補で原典条件未確認</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参考：リピーター稼働の差は掲載10日以上で+5.2pt、それ未満は−1.3〜+2.3ptで差なし</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平均的に4回目の稼働で店舗の半分にリピーターが発生</a:t>
            </a:r>
            <a:endParaRPr b="0" i="0" sz="950" u="none" cap="none" strike="noStrike">
              <a:solidFill>
                <a:srgbClr val="000000"/>
              </a:solidFill>
              <a:latin typeface="M PLUS 1p"/>
              <a:ea typeface="M PLUS 1p"/>
              <a:cs typeface="M PLUS 1p"/>
              <a:sym typeface="M PLUS 1p"/>
            </a:endParaRPr>
          </a:p>
        </p:txBody>
      </p:sp>
      <p:sp>
        <p:nvSpPr>
          <p:cNvPr id="1416" name="Google Shape;1416;p62"/>
          <p:cNvSpPr txBox="1"/>
          <p:nvPr/>
        </p:nvSpPr>
        <p:spPr>
          <a:xfrm>
            <a:off x="4476750" y="2595562"/>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417" name="Google Shape;1417;p62"/>
          <p:cNvSpPr txBox="1"/>
          <p:nvPr/>
        </p:nvSpPr>
        <p:spPr>
          <a:xfrm>
            <a:off x="4476750" y="2824162"/>
            <a:ext cx="4172100" cy="89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登録主体（企業→ワーカー／ワーカー→店舗）を区別する必要がある</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リピーター発生は稼働機会の多さと相関し、翌月継続の独立要因とは言えない（原資料も「限定的」と評価）</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初月（翌月継続）には効きにくく、中期指標に近い</a:t>
            </a:r>
            <a:endParaRPr b="0" i="0" sz="950" u="none" cap="none" strike="noStrike">
              <a:solidFill>
                <a:srgbClr val="000000"/>
              </a:solidFill>
              <a:latin typeface="M PLUS 1p"/>
              <a:ea typeface="M PLUS 1p"/>
              <a:cs typeface="M PLUS 1p"/>
              <a:sym typeface="M PLUS 1p"/>
            </a:endParaRPr>
          </a:p>
        </p:txBody>
      </p:sp>
      <p:sp>
        <p:nvSpPr>
          <p:cNvPr id="1418" name="Google Shape;1418;p62"/>
          <p:cNvSpPr txBox="1"/>
          <p:nvPr/>
        </p:nvSpPr>
        <p:spPr>
          <a:xfrm>
            <a:off x="4476750" y="3735387"/>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419" name="Google Shape;1419;p62"/>
          <p:cNvSpPr txBox="1"/>
          <p:nvPr/>
        </p:nvSpPr>
        <p:spPr>
          <a:xfrm>
            <a:off x="4476750" y="3963987"/>
            <a:ext cx="4172100" cy="66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翌月継続スコアには入れない。掲載日数10日以上の層に対する「リピーター戦力化」提案のトークとして使い、お気に入り登録数は取得可否と閾値の検証から着手。</a:t>
            </a:r>
            <a:endParaRPr b="0" i="0" sz="950" u="none" cap="none" strike="noStrike">
              <a:solidFill>
                <a:srgbClr val="000000"/>
              </a:solidFill>
              <a:latin typeface="M PLUS 1p"/>
              <a:ea typeface="M PLUS 1p"/>
              <a:cs typeface="M PLUS 1p"/>
              <a:sym typeface="M PLUS 1p"/>
            </a:endParaRPr>
          </a:p>
        </p:txBody>
      </p:sp>
      <p:sp>
        <p:nvSpPr>
          <p:cNvPr id="1420" name="Google Shape;1420;p62"/>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出典：[FY26] GrowthSquad_翌月継続率の探索分析（Low Touch, 2025/1〜9初回） p.28-29／ONB_現行スコアと次の候補.xlsx N16・N19</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5" name="Shape 1425"/>
        <p:cNvGrpSpPr/>
        <p:nvPr/>
      </p:nvGrpSpPr>
      <p:grpSpPr>
        <a:xfrm>
          <a:off x="0" y="0"/>
          <a:ext cx="0" cy="0"/>
          <a:chOff x="0" y="0"/>
          <a:chExt cx="0" cy="0"/>
        </a:xfrm>
      </p:grpSpPr>
      <p:sp>
        <p:nvSpPr>
          <p:cNvPr id="1426" name="Google Shape;1426;p63"/>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No.15　掲載頻度の急減・最大空白期間（普段より募集の間隔が空いていないか）</a:t>
            </a:r>
            <a:endParaRPr b="0" i="0" sz="900" u="none" cap="none" strike="noStrike">
              <a:solidFill>
                <a:srgbClr val="000000"/>
              </a:solidFill>
              <a:latin typeface="M PLUS 1p"/>
              <a:ea typeface="M PLUS 1p"/>
              <a:cs typeface="M PLUS 1p"/>
              <a:sym typeface="M PLUS 1p"/>
            </a:endParaRPr>
          </a:p>
        </p:txBody>
      </p:sp>
      <p:sp>
        <p:nvSpPr>
          <p:cNvPr id="1427" name="Google Shape;1427;p63"/>
          <p:cNvSpPr/>
          <p:nvPr/>
        </p:nvSpPr>
        <p:spPr>
          <a:xfrm>
            <a:off x="5897880" y="205740"/>
            <a:ext cx="2914800" cy="274200"/>
          </a:xfrm>
          <a:prstGeom prst="roundRect">
            <a:avLst>
              <a:gd fmla="val 20000"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28" name="Google Shape;1428;p63"/>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　定量根拠なし（要検証）</a:t>
            </a:r>
            <a:endParaRPr b="0" i="0" sz="900" u="none" cap="none" strike="noStrike">
              <a:solidFill>
                <a:srgbClr val="000000"/>
              </a:solidFill>
              <a:latin typeface="M PLUS 1p"/>
              <a:ea typeface="M PLUS 1p"/>
              <a:cs typeface="M PLUS 1p"/>
              <a:sym typeface="M PLUS 1p"/>
            </a:endParaRPr>
          </a:p>
        </p:txBody>
      </p:sp>
      <p:sp>
        <p:nvSpPr>
          <p:cNvPr id="1429" name="Google Shape;1429;p63"/>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顧客ごとの掲載間隔からの乖離と翌月継続率を比較したデータはない。「離脱が短いほど復活しやすい」という中長期の傾向が唯一の参考</a:t>
            </a:r>
            <a:endParaRPr b="0" i="0" sz="1500" u="none" cap="none" strike="noStrike">
              <a:solidFill>
                <a:srgbClr val="000000"/>
              </a:solidFill>
              <a:latin typeface="M PLUS 1p"/>
              <a:ea typeface="M PLUS 1p"/>
              <a:cs typeface="M PLUS 1p"/>
              <a:sym typeface="M PLUS 1p"/>
            </a:endParaRPr>
          </a:p>
        </p:txBody>
      </p:sp>
      <p:sp>
        <p:nvSpPr>
          <p:cNvPr id="1430" name="Google Shape;1430;p63"/>
          <p:cNvSpPr/>
          <p:nvPr/>
        </p:nvSpPr>
        <p:spPr>
          <a:xfrm>
            <a:off x="342900" y="1200150"/>
            <a:ext cx="4937700" cy="349770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31" name="Google Shape;1431;p63"/>
          <p:cNvSpPr/>
          <p:nvPr/>
        </p:nvSpPr>
        <p:spPr>
          <a:xfrm>
            <a:off x="1954530" y="1405890"/>
            <a:ext cx="1714500" cy="411600"/>
          </a:xfrm>
          <a:prstGeom prst="roundRect">
            <a:avLst>
              <a:gd fmla="val 16667"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32" name="Google Shape;1432;p63"/>
          <p:cNvSpPr txBox="1"/>
          <p:nvPr/>
        </p:nvSpPr>
        <p:spPr>
          <a:xfrm>
            <a:off x="1954530" y="1405890"/>
            <a:ext cx="1714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検証中（グラフ化できる数値なし）</a:t>
            </a:r>
            <a:endParaRPr b="0" i="0" sz="900" u="none" cap="none" strike="noStrike">
              <a:solidFill>
                <a:srgbClr val="000000"/>
              </a:solidFill>
              <a:latin typeface="M PLUS 1p"/>
              <a:ea typeface="M PLUS 1p"/>
              <a:cs typeface="M PLUS 1p"/>
              <a:sym typeface="M PLUS 1p"/>
            </a:endParaRPr>
          </a:p>
        </p:txBody>
      </p:sp>
      <p:sp>
        <p:nvSpPr>
          <p:cNvPr id="1433" name="Google Shape;1433;p63"/>
          <p:cNvSpPr txBox="1"/>
          <p:nvPr/>
        </p:nvSpPr>
        <p:spPr>
          <a:xfrm>
            <a:off x="548640" y="1988820"/>
            <a:ext cx="1097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翌月継続率の差</a:t>
            </a:r>
            <a:endParaRPr b="0" i="0" sz="900" u="none" cap="none" strike="noStrike">
              <a:solidFill>
                <a:srgbClr val="000000"/>
              </a:solidFill>
              <a:latin typeface="M PLUS 1p"/>
              <a:ea typeface="M PLUS 1p"/>
              <a:cs typeface="M PLUS 1p"/>
              <a:sym typeface="M PLUS 1p"/>
            </a:endParaRPr>
          </a:p>
        </p:txBody>
      </p:sp>
      <p:sp>
        <p:nvSpPr>
          <p:cNvPr id="1434" name="Google Shape;1434;p63"/>
          <p:cNvSpPr txBox="1"/>
          <p:nvPr/>
        </p:nvSpPr>
        <p:spPr>
          <a:xfrm>
            <a:off x="1645920" y="1988820"/>
            <a:ext cx="34290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未計測。「普段の掲載間隔の中央値」「最大空白日数」を店舗単位で算出し、翌月継続率と比較した集計は資料にない。</a:t>
            </a:r>
            <a:endParaRPr b="0" i="0" sz="900" u="none" cap="none" strike="noStrike">
              <a:solidFill>
                <a:srgbClr val="000000"/>
              </a:solidFill>
              <a:latin typeface="M PLUS 1p"/>
              <a:ea typeface="M PLUS 1p"/>
              <a:cs typeface="M PLUS 1p"/>
              <a:sym typeface="M PLUS 1p"/>
            </a:endParaRPr>
          </a:p>
        </p:txBody>
      </p:sp>
      <p:cxnSp>
        <p:nvCxnSpPr>
          <p:cNvPr id="1435" name="Google Shape;1435;p63"/>
          <p:cNvCxnSpPr/>
          <p:nvPr/>
        </p:nvCxnSpPr>
        <p:spPr>
          <a:xfrm>
            <a:off x="548640" y="2640330"/>
            <a:ext cx="4526400" cy="0"/>
          </a:xfrm>
          <a:prstGeom prst="straightConnector1">
            <a:avLst/>
          </a:prstGeom>
          <a:noFill/>
          <a:ln cap="flat" cmpd="sng" w="9525">
            <a:solidFill>
              <a:srgbClr val="E0E0E0"/>
            </a:solidFill>
            <a:prstDash val="solid"/>
            <a:round/>
            <a:headEnd len="sm" w="sm" type="none"/>
            <a:tailEnd len="sm" w="sm" type="none"/>
          </a:ln>
        </p:spPr>
      </p:cxnSp>
      <p:sp>
        <p:nvSpPr>
          <p:cNvPr id="1436" name="Google Shape;1436;p63"/>
          <p:cNvSpPr txBox="1"/>
          <p:nvPr/>
        </p:nvSpPr>
        <p:spPr>
          <a:xfrm>
            <a:off x="548640" y="2743200"/>
            <a:ext cx="10974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間接的な根拠</a:t>
            </a:r>
            <a:endParaRPr b="0" i="0" sz="900" u="none" cap="none" strike="noStrike">
              <a:solidFill>
                <a:srgbClr val="000000"/>
              </a:solidFill>
              <a:latin typeface="M PLUS 1p"/>
              <a:ea typeface="M PLUS 1p"/>
              <a:cs typeface="M PLUS 1p"/>
              <a:sym typeface="M PLUS 1p"/>
            </a:endParaRPr>
          </a:p>
        </p:txBody>
      </p:sp>
      <p:sp>
        <p:nvSpPr>
          <p:cNvPr id="1437" name="Google Shape;1437;p63"/>
          <p:cNvSpPr txBox="1"/>
          <p:nvPr/>
        </p:nvSpPr>
        <p:spPr>
          <a:xfrm>
            <a:off x="1645920" y="2743200"/>
            <a:ext cx="3429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初回連続掲載月数に関わらず、離脱期間が短いほど復活後12ヶ月のAA率が高い（グラフは全群で右肩下がり。FY25 4Q p.48）。復活前には管理画面ログインが先行する。ただしこれは離脱後の復活率であり、初月中の掲載間隔の話ではない。</a:t>
            </a:r>
            <a:endParaRPr b="0" i="0" sz="900" u="none" cap="none" strike="noStrike">
              <a:solidFill>
                <a:srgbClr val="000000"/>
              </a:solidFill>
              <a:latin typeface="M PLUS 1p"/>
              <a:ea typeface="M PLUS 1p"/>
              <a:cs typeface="M PLUS 1p"/>
              <a:sym typeface="M PLUS 1p"/>
            </a:endParaRPr>
          </a:p>
        </p:txBody>
      </p:sp>
      <p:cxnSp>
        <p:nvCxnSpPr>
          <p:cNvPr id="1438" name="Google Shape;1438;p63"/>
          <p:cNvCxnSpPr/>
          <p:nvPr/>
        </p:nvCxnSpPr>
        <p:spPr>
          <a:xfrm>
            <a:off x="548640" y="3600450"/>
            <a:ext cx="4526400" cy="0"/>
          </a:xfrm>
          <a:prstGeom prst="straightConnector1">
            <a:avLst/>
          </a:prstGeom>
          <a:noFill/>
          <a:ln cap="flat" cmpd="sng" w="9525">
            <a:solidFill>
              <a:srgbClr val="E0E0E0"/>
            </a:solidFill>
            <a:prstDash val="solid"/>
            <a:round/>
            <a:headEnd len="sm" w="sm" type="none"/>
            <a:tailEnd len="sm" w="sm" type="none"/>
          </a:ln>
        </p:spPr>
      </p:cxnSp>
      <p:sp>
        <p:nvSpPr>
          <p:cNvPr id="1439" name="Google Shape;1439;p63"/>
          <p:cNvSpPr txBox="1"/>
          <p:nvPr/>
        </p:nvSpPr>
        <p:spPr>
          <a:xfrm>
            <a:off x="548640" y="3703320"/>
            <a:ext cx="10974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採用前に必要な検証</a:t>
            </a:r>
            <a:endParaRPr b="0" i="0" sz="900" u="none" cap="none" strike="noStrike">
              <a:solidFill>
                <a:srgbClr val="000000"/>
              </a:solidFill>
              <a:latin typeface="M PLUS 1p"/>
              <a:ea typeface="M PLUS 1p"/>
              <a:cs typeface="M PLUS 1p"/>
              <a:sym typeface="M PLUS 1p"/>
            </a:endParaRPr>
          </a:p>
        </p:txBody>
      </p:sp>
      <p:sp>
        <p:nvSpPr>
          <p:cNvPr id="1440" name="Google Shape;1440;p63"/>
          <p:cNvSpPr txBox="1"/>
          <p:nvPr/>
        </p:nvSpPr>
        <p:spPr>
          <a:xfrm>
            <a:off x="1645920" y="3703320"/>
            <a:ext cx="34290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① 初月に2回以上掲載した店舗について、公開間隔の中央値と最大空白日数を算出</a:t>
            </a:r>
            <a:endParaRPr b="0" i="0" sz="8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② 最大空白が「中央値×2」を超えた店舗と超えない店舗の翌月継続率を比較</a:t>
            </a:r>
            <a:endParaRPr b="0" i="0" sz="8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③ 空白発生から◯日以内の架電で再掲載率が変わるかを介入比較で確認</a:t>
            </a:r>
            <a:endParaRPr b="0" i="0" sz="800" u="none" cap="none" strike="noStrike">
              <a:solidFill>
                <a:srgbClr val="000000"/>
              </a:solidFill>
              <a:latin typeface="M PLUS 1p"/>
              <a:ea typeface="M PLUS 1p"/>
              <a:cs typeface="M PLUS 1p"/>
              <a:sym typeface="M PLUS 1p"/>
            </a:endParaRPr>
          </a:p>
        </p:txBody>
      </p:sp>
      <p:sp>
        <p:nvSpPr>
          <p:cNvPr id="1441" name="Google Shape;1441;p63"/>
          <p:cNvSpPr/>
          <p:nvPr/>
        </p:nvSpPr>
        <p:spPr>
          <a:xfrm>
            <a:off x="5410200" y="1200150"/>
            <a:ext cx="33720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42" name="Google Shape;1442;p63"/>
          <p:cNvSpPr txBox="1"/>
          <p:nvPr/>
        </p:nvSpPr>
        <p:spPr>
          <a:xfrm>
            <a:off x="5524500" y="1304925"/>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443" name="Google Shape;1443;p63"/>
          <p:cNvSpPr txBox="1"/>
          <p:nvPr/>
        </p:nvSpPr>
        <p:spPr>
          <a:xfrm>
            <a:off x="5524500" y="1533525"/>
            <a:ext cx="3143400" cy="78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翌月継続率との比較値なし</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離脱期間が短いほど復活後AA率が高い傾向（中長期）</a:t>
            </a:r>
            <a:endParaRPr b="0" i="0" sz="900" u="none" cap="none" strike="noStrike">
              <a:solidFill>
                <a:srgbClr val="000000"/>
              </a:solidFill>
              <a:latin typeface="M PLUS 1p"/>
              <a:ea typeface="M PLUS 1p"/>
              <a:cs typeface="M PLUS 1p"/>
              <a:sym typeface="M PLUS 1p"/>
            </a:endParaRPr>
          </a:p>
        </p:txBody>
      </p:sp>
      <p:sp>
        <p:nvSpPr>
          <p:cNvPr id="1444" name="Google Shape;1444;p63"/>
          <p:cNvSpPr txBox="1"/>
          <p:nvPr/>
        </p:nvSpPr>
        <p:spPr>
          <a:xfrm>
            <a:off x="5524500" y="2342092"/>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445" name="Google Shape;1445;p63"/>
          <p:cNvSpPr txBox="1"/>
          <p:nvPr/>
        </p:nvSpPr>
        <p:spPr>
          <a:xfrm>
            <a:off x="5524500" y="2570692"/>
            <a:ext cx="3143400" cy="92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現行の「初回から最新作成までの間隔」とは別概念。顧客ごとの定常周期を基準にする必要がある</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競合利用・休業・需要減・操作トラブルを区別できない</a:t>
            </a:r>
            <a:endParaRPr b="0" i="0" sz="900" u="none" cap="none" strike="noStrike">
              <a:solidFill>
                <a:srgbClr val="000000"/>
              </a:solidFill>
              <a:latin typeface="M PLUS 1p"/>
              <a:ea typeface="M PLUS 1p"/>
              <a:cs typeface="M PLUS 1p"/>
              <a:sym typeface="M PLUS 1p"/>
            </a:endParaRPr>
          </a:p>
        </p:txBody>
      </p:sp>
      <p:sp>
        <p:nvSpPr>
          <p:cNvPr id="1446" name="Google Shape;1446;p63"/>
          <p:cNvSpPr txBox="1"/>
          <p:nvPr/>
        </p:nvSpPr>
        <p:spPr>
          <a:xfrm>
            <a:off x="5524500" y="3514196"/>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447" name="Google Shape;1447;p63"/>
          <p:cNvSpPr txBox="1"/>
          <p:nvPr/>
        </p:nvSpPr>
        <p:spPr>
          <a:xfrm>
            <a:off x="5524500" y="3742796"/>
            <a:ext cx="3143400" cy="88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スコアではなく「アラート」として設計する。顧客ごとの周期を基準にした空白検知は、一律の日数閾値より誤検知が少ない。</a:t>
            </a:r>
            <a:endParaRPr b="0" i="0" sz="900" u="none" cap="none" strike="noStrike">
              <a:solidFill>
                <a:srgbClr val="000000"/>
              </a:solidFill>
              <a:latin typeface="M PLUS 1p"/>
              <a:ea typeface="M PLUS 1p"/>
              <a:cs typeface="M PLUS 1p"/>
              <a:sym typeface="M PLUS 1p"/>
            </a:endParaRPr>
          </a:p>
        </p:txBody>
      </p:sp>
      <p:sp>
        <p:nvSpPr>
          <p:cNvPr id="1448" name="Google Shape;1448;p63"/>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出典：[FY25 4Q] 3ヶ月連続継続と中長期の継続に効くレバーの探索（DA, 全体） p.46-50／ONB_現行スコアと次の候補.xlsx N20</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3" name="Shape 1453"/>
        <p:cNvGrpSpPr/>
        <p:nvPr/>
      </p:nvGrpSpPr>
      <p:grpSpPr>
        <a:xfrm>
          <a:off x="0" y="0"/>
          <a:ext cx="0" cy="0"/>
          <a:chOff x="0" y="0"/>
          <a:chExt cx="0" cy="0"/>
        </a:xfrm>
      </p:grpSpPr>
      <p:sp>
        <p:nvSpPr>
          <p:cNvPr id="1454" name="Google Shape;1454;p64"/>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No.16　AI雛形活用（AI雛形活用の有無）</a:t>
            </a:r>
            <a:endParaRPr b="0" i="0" sz="900" u="none" cap="none" strike="noStrike">
              <a:solidFill>
                <a:srgbClr val="000000"/>
              </a:solidFill>
              <a:latin typeface="M PLUS 1p"/>
              <a:ea typeface="M PLUS 1p"/>
              <a:cs typeface="M PLUS 1p"/>
              <a:sym typeface="M PLUS 1p"/>
            </a:endParaRPr>
          </a:p>
        </p:txBody>
      </p:sp>
      <p:sp>
        <p:nvSpPr>
          <p:cNvPr id="1455" name="Google Shape;1455;p64"/>
          <p:cNvSpPr/>
          <p:nvPr/>
        </p:nvSpPr>
        <p:spPr>
          <a:xfrm>
            <a:off x="5897880" y="205740"/>
            <a:ext cx="2914800" cy="274200"/>
          </a:xfrm>
          <a:prstGeom prst="roundRect">
            <a:avLst>
              <a:gd fmla="val 20000"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56" name="Google Shape;1456;p64"/>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　定量根拠なし（要検証）</a:t>
            </a:r>
            <a:endParaRPr b="0" i="0" sz="900" u="none" cap="none" strike="noStrike">
              <a:solidFill>
                <a:srgbClr val="000000"/>
              </a:solidFill>
              <a:latin typeface="M PLUS 1p"/>
              <a:ea typeface="M PLUS 1p"/>
              <a:cs typeface="M PLUS 1p"/>
              <a:sym typeface="M PLUS 1p"/>
            </a:endParaRPr>
          </a:p>
        </p:txBody>
      </p:sp>
      <p:sp>
        <p:nvSpPr>
          <p:cNvPr id="1457" name="Google Shape;1457;p64"/>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AI雛形の活用有無と翌月継続率を比較したデータは、参照した全資料に存在しない</a:t>
            </a:r>
            <a:endParaRPr b="0" i="0" sz="1500" u="none" cap="none" strike="noStrike">
              <a:solidFill>
                <a:srgbClr val="000000"/>
              </a:solidFill>
              <a:latin typeface="M PLUS 1p"/>
              <a:ea typeface="M PLUS 1p"/>
              <a:cs typeface="M PLUS 1p"/>
              <a:sym typeface="M PLUS 1p"/>
            </a:endParaRPr>
          </a:p>
        </p:txBody>
      </p:sp>
      <p:sp>
        <p:nvSpPr>
          <p:cNvPr id="1458" name="Google Shape;1458;p64"/>
          <p:cNvSpPr/>
          <p:nvPr/>
        </p:nvSpPr>
        <p:spPr>
          <a:xfrm>
            <a:off x="342900" y="1200150"/>
            <a:ext cx="4937700" cy="349770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59" name="Google Shape;1459;p64"/>
          <p:cNvSpPr/>
          <p:nvPr/>
        </p:nvSpPr>
        <p:spPr>
          <a:xfrm>
            <a:off x="1954530" y="1405890"/>
            <a:ext cx="1714500" cy="411600"/>
          </a:xfrm>
          <a:prstGeom prst="roundRect">
            <a:avLst>
              <a:gd fmla="val 16667"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60" name="Google Shape;1460;p64"/>
          <p:cNvSpPr txBox="1"/>
          <p:nvPr/>
        </p:nvSpPr>
        <p:spPr>
          <a:xfrm>
            <a:off x="1954530" y="1405890"/>
            <a:ext cx="1714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検証中（グラフ化できる数値なし）</a:t>
            </a:r>
            <a:endParaRPr b="0" i="0" sz="900" u="none" cap="none" strike="noStrike">
              <a:solidFill>
                <a:srgbClr val="000000"/>
              </a:solidFill>
              <a:latin typeface="M PLUS 1p"/>
              <a:ea typeface="M PLUS 1p"/>
              <a:cs typeface="M PLUS 1p"/>
              <a:sym typeface="M PLUS 1p"/>
            </a:endParaRPr>
          </a:p>
        </p:txBody>
      </p:sp>
      <p:sp>
        <p:nvSpPr>
          <p:cNvPr id="1461" name="Google Shape;1461;p64"/>
          <p:cNvSpPr txBox="1"/>
          <p:nvPr/>
        </p:nvSpPr>
        <p:spPr>
          <a:xfrm>
            <a:off x="548640" y="1988820"/>
            <a:ext cx="1097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翌月継続率の差</a:t>
            </a:r>
            <a:endParaRPr b="0" i="0" sz="900" u="none" cap="none" strike="noStrike">
              <a:solidFill>
                <a:srgbClr val="000000"/>
              </a:solidFill>
              <a:latin typeface="M PLUS 1p"/>
              <a:ea typeface="M PLUS 1p"/>
              <a:cs typeface="M PLUS 1p"/>
              <a:sym typeface="M PLUS 1p"/>
            </a:endParaRPr>
          </a:p>
        </p:txBody>
      </p:sp>
      <p:sp>
        <p:nvSpPr>
          <p:cNvPr id="1462" name="Google Shape;1462;p64"/>
          <p:cNvSpPr txBox="1"/>
          <p:nvPr/>
        </p:nvSpPr>
        <p:spPr>
          <a:xfrm>
            <a:off x="1645920" y="1988820"/>
            <a:ext cx="34290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未計測。既存棚卸し（プロセスKPI整理）でも根拠欄は「na」。</a:t>
            </a:r>
            <a:endParaRPr b="0" i="0" sz="900" u="none" cap="none" strike="noStrike">
              <a:solidFill>
                <a:srgbClr val="000000"/>
              </a:solidFill>
              <a:latin typeface="M PLUS 1p"/>
              <a:ea typeface="M PLUS 1p"/>
              <a:cs typeface="M PLUS 1p"/>
              <a:sym typeface="M PLUS 1p"/>
            </a:endParaRPr>
          </a:p>
        </p:txBody>
      </p:sp>
      <p:cxnSp>
        <p:nvCxnSpPr>
          <p:cNvPr id="1463" name="Google Shape;1463;p64"/>
          <p:cNvCxnSpPr/>
          <p:nvPr/>
        </p:nvCxnSpPr>
        <p:spPr>
          <a:xfrm>
            <a:off x="548640" y="2640330"/>
            <a:ext cx="4526400" cy="0"/>
          </a:xfrm>
          <a:prstGeom prst="straightConnector1">
            <a:avLst/>
          </a:prstGeom>
          <a:noFill/>
          <a:ln cap="flat" cmpd="sng" w="9525">
            <a:solidFill>
              <a:srgbClr val="E0E0E0"/>
            </a:solidFill>
            <a:prstDash val="solid"/>
            <a:round/>
            <a:headEnd len="sm" w="sm" type="none"/>
            <a:tailEnd len="sm" w="sm" type="none"/>
          </a:ln>
        </p:spPr>
      </p:cxnSp>
      <p:sp>
        <p:nvSpPr>
          <p:cNvPr id="1464" name="Google Shape;1464;p64"/>
          <p:cNvSpPr txBox="1"/>
          <p:nvPr/>
        </p:nvSpPr>
        <p:spPr>
          <a:xfrm>
            <a:off x="548640" y="2743200"/>
            <a:ext cx="10974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間接的な根拠</a:t>
            </a:r>
            <a:endParaRPr b="0" i="0" sz="900" u="none" cap="none" strike="noStrike">
              <a:solidFill>
                <a:srgbClr val="000000"/>
              </a:solidFill>
              <a:latin typeface="M PLUS 1p"/>
              <a:ea typeface="M PLUS 1p"/>
              <a:cs typeface="M PLUS 1p"/>
              <a:sym typeface="M PLUS 1p"/>
            </a:endParaRPr>
          </a:p>
        </p:txBody>
      </p:sp>
      <p:sp>
        <p:nvSpPr>
          <p:cNvPr id="1465" name="Google Shape;1465;p64"/>
          <p:cNvSpPr txBox="1"/>
          <p:nvPr/>
        </p:nvSpPr>
        <p:spPr>
          <a:xfrm>
            <a:off x="1645920" y="2743200"/>
            <a:ext cx="3429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なし。雛形の枚数（No.13）については強い根拠があるが、「AIで作ったか」による差は別問題。AI雛形は作成ハードルを下げるため、2枚目作成率（プロセスKPI）を上げる手段になり得る。</a:t>
            </a:r>
            <a:endParaRPr b="0" i="0" sz="900" u="none" cap="none" strike="noStrike">
              <a:solidFill>
                <a:srgbClr val="000000"/>
              </a:solidFill>
              <a:latin typeface="M PLUS 1p"/>
              <a:ea typeface="M PLUS 1p"/>
              <a:cs typeface="M PLUS 1p"/>
              <a:sym typeface="M PLUS 1p"/>
            </a:endParaRPr>
          </a:p>
        </p:txBody>
      </p:sp>
      <p:cxnSp>
        <p:nvCxnSpPr>
          <p:cNvPr id="1466" name="Google Shape;1466;p64"/>
          <p:cNvCxnSpPr/>
          <p:nvPr/>
        </p:nvCxnSpPr>
        <p:spPr>
          <a:xfrm>
            <a:off x="548640" y="3600450"/>
            <a:ext cx="4526400" cy="0"/>
          </a:xfrm>
          <a:prstGeom prst="straightConnector1">
            <a:avLst/>
          </a:prstGeom>
          <a:noFill/>
          <a:ln cap="flat" cmpd="sng" w="9525">
            <a:solidFill>
              <a:srgbClr val="E0E0E0"/>
            </a:solidFill>
            <a:prstDash val="solid"/>
            <a:round/>
            <a:headEnd len="sm" w="sm" type="none"/>
            <a:tailEnd len="sm" w="sm" type="none"/>
          </a:ln>
        </p:spPr>
      </p:cxnSp>
      <p:sp>
        <p:nvSpPr>
          <p:cNvPr id="1467" name="Google Shape;1467;p64"/>
          <p:cNvSpPr txBox="1"/>
          <p:nvPr/>
        </p:nvSpPr>
        <p:spPr>
          <a:xfrm>
            <a:off x="548640" y="3703320"/>
            <a:ext cx="10974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採用前に必要な検証</a:t>
            </a:r>
            <a:endParaRPr b="0" i="0" sz="900" u="none" cap="none" strike="noStrike">
              <a:solidFill>
                <a:srgbClr val="000000"/>
              </a:solidFill>
              <a:latin typeface="M PLUS 1p"/>
              <a:ea typeface="M PLUS 1p"/>
              <a:cs typeface="M PLUS 1p"/>
              <a:sym typeface="M PLUS 1p"/>
            </a:endParaRPr>
          </a:p>
        </p:txBody>
      </p:sp>
      <p:sp>
        <p:nvSpPr>
          <p:cNvPr id="1468" name="Google Shape;1468;p64"/>
          <p:cNvSpPr txBox="1"/>
          <p:nvPr/>
        </p:nvSpPr>
        <p:spPr>
          <a:xfrm>
            <a:off x="1645920" y="3703320"/>
            <a:ext cx="34290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① AI雛形で作成した募集の識別フラグを取得できるかプロダクト側に確認</a:t>
            </a:r>
            <a:endParaRPr b="0" i="0" sz="8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② 同じ雛形枚数・掲載日数の店舗で、AI雛形あり／なしの翌月継続率を比較</a:t>
            </a:r>
            <a:endParaRPr b="0" i="0" sz="8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800" u="none" cap="none" strike="noStrike">
                <a:solidFill>
                  <a:srgbClr val="1A1A1A"/>
                </a:solidFill>
                <a:latin typeface="M PLUS 1p"/>
                <a:ea typeface="M PLUS 1p"/>
                <a:cs typeface="M PLUS 1p"/>
                <a:sym typeface="M PLUS 1p"/>
              </a:rPr>
              <a:t>③ 差がなくても「2枚目作成率」「初回公開までの時間」への効果を別途計測</a:t>
            </a:r>
            <a:endParaRPr b="0" i="0" sz="800" u="none" cap="none" strike="noStrike">
              <a:solidFill>
                <a:srgbClr val="000000"/>
              </a:solidFill>
              <a:latin typeface="M PLUS 1p"/>
              <a:ea typeface="M PLUS 1p"/>
              <a:cs typeface="M PLUS 1p"/>
              <a:sym typeface="M PLUS 1p"/>
            </a:endParaRPr>
          </a:p>
        </p:txBody>
      </p:sp>
      <p:sp>
        <p:nvSpPr>
          <p:cNvPr id="1469" name="Google Shape;1469;p64"/>
          <p:cNvSpPr/>
          <p:nvPr/>
        </p:nvSpPr>
        <p:spPr>
          <a:xfrm>
            <a:off x="5410200" y="1200150"/>
            <a:ext cx="33720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70" name="Google Shape;1470;p64"/>
          <p:cNvSpPr txBox="1"/>
          <p:nvPr/>
        </p:nvSpPr>
        <p:spPr>
          <a:xfrm>
            <a:off x="5524500" y="1304925"/>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471" name="Google Shape;1471;p64"/>
          <p:cNvSpPr txBox="1"/>
          <p:nvPr/>
        </p:nvSpPr>
        <p:spPr>
          <a:xfrm>
            <a:off x="5524500" y="1533525"/>
            <a:ext cx="3143400" cy="77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翌月継続率との比較値なし</a:t>
            </a:r>
            <a:endParaRPr b="0" i="0" sz="900" u="none" cap="none" strike="noStrike">
              <a:solidFill>
                <a:srgbClr val="000000"/>
              </a:solidFill>
              <a:latin typeface="M PLUS 1p"/>
              <a:ea typeface="M PLUS 1p"/>
              <a:cs typeface="M PLUS 1p"/>
              <a:sym typeface="M PLUS 1p"/>
            </a:endParaRPr>
          </a:p>
        </p:txBody>
      </p:sp>
      <p:sp>
        <p:nvSpPr>
          <p:cNvPr id="1472" name="Google Shape;1472;p64"/>
          <p:cNvSpPr txBox="1"/>
          <p:nvPr/>
        </p:nvSpPr>
        <p:spPr>
          <a:xfrm>
            <a:off x="5524500" y="2329392"/>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473" name="Google Shape;1473;p64"/>
          <p:cNvSpPr txBox="1"/>
          <p:nvPr/>
        </p:nvSpPr>
        <p:spPr>
          <a:xfrm>
            <a:off x="5524500" y="2557992"/>
            <a:ext cx="3143400" cy="91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AI雛形の利用は店舗属性（ITリテラシー）と相関する可能性が高く、単純比較では過大評価になる</a:t>
            </a:r>
            <a:endParaRPr b="0" i="0" sz="900" u="none" cap="none" strike="noStrike">
              <a:solidFill>
                <a:srgbClr val="000000"/>
              </a:solidFill>
              <a:latin typeface="M PLUS 1p"/>
              <a:ea typeface="M PLUS 1p"/>
              <a:cs typeface="M PLUS 1p"/>
              <a:sym typeface="M PLUS 1p"/>
            </a:endParaRPr>
          </a:p>
        </p:txBody>
      </p:sp>
      <p:sp>
        <p:nvSpPr>
          <p:cNvPr id="1474" name="Google Shape;1474;p64"/>
          <p:cNvSpPr txBox="1"/>
          <p:nvPr/>
        </p:nvSpPr>
        <p:spPr>
          <a:xfrm>
            <a:off x="5524500" y="3488796"/>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475" name="Google Shape;1475;p64"/>
          <p:cNvSpPr txBox="1"/>
          <p:nvPr/>
        </p:nvSpPr>
        <p:spPr>
          <a:xfrm>
            <a:off x="5524500" y="3717396"/>
            <a:ext cx="3143400" cy="91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スコア項目にはしない。No.13（雛形2枚目）を達成させる「手段」として位置づけ、活用率をプロセス指標で追う。</a:t>
            </a:r>
            <a:endParaRPr b="0" i="0" sz="900" u="none" cap="none" strike="noStrike">
              <a:solidFill>
                <a:srgbClr val="000000"/>
              </a:solidFill>
              <a:latin typeface="M PLUS 1p"/>
              <a:ea typeface="M PLUS 1p"/>
              <a:cs typeface="M PLUS 1p"/>
              <a:sym typeface="M PLUS 1p"/>
            </a:endParaRPr>
          </a:p>
        </p:txBody>
      </p:sp>
      <p:sp>
        <p:nvSpPr>
          <p:cNvPr id="1476" name="Google Shape;1476;p64"/>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出典：ONB_現行スコアと次の候補.xlsx N23／プロセスKPI整理.xlsx（既存棚卸し）※原典未照合</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1" name="Shape 1481"/>
        <p:cNvGrpSpPr/>
        <p:nvPr/>
      </p:nvGrpSpPr>
      <p:grpSpPr>
        <a:xfrm>
          <a:off x="0" y="0"/>
          <a:ext cx="0" cy="0"/>
          <a:chOff x="0" y="0"/>
          <a:chExt cx="0" cy="0"/>
        </a:xfrm>
      </p:grpSpPr>
      <p:sp>
        <p:nvSpPr>
          <p:cNvPr id="1482" name="Google Shape;1482;p65"/>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No.17　勤務中トラブル（CSへの問い合わせ有無）</a:t>
            </a:r>
            <a:endParaRPr b="0" i="0" sz="900" u="none" cap="none" strike="noStrike">
              <a:solidFill>
                <a:srgbClr val="000000"/>
              </a:solidFill>
              <a:latin typeface="M PLUS 1p"/>
              <a:ea typeface="M PLUS 1p"/>
              <a:cs typeface="M PLUS 1p"/>
              <a:sym typeface="M PLUS 1p"/>
            </a:endParaRPr>
          </a:p>
        </p:txBody>
      </p:sp>
      <p:sp>
        <p:nvSpPr>
          <p:cNvPr id="1483" name="Google Shape;1483;p65"/>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84" name="Google Shape;1484;p65"/>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　間接根拠のみ／翌月継続の直接数値なし</a:t>
            </a:r>
            <a:endParaRPr b="0" i="0" sz="900" u="none" cap="none" strike="noStrike">
              <a:solidFill>
                <a:srgbClr val="000000"/>
              </a:solidFill>
              <a:latin typeface="M PLUS 1p"/>
              <a:ea typeface="M PLUS 1p"/>
              <a:cs typeface="M PLUS 1p"/>
              <a:sym typeface="M PLUS 1p"/>
            </a:endParaRPr>
          </a:p>
        </p:txBody>
      </p:sp>
      <p:sp>
        <p:nvSpPr>
          <p:cNvPr id="1485" name="Google Shape;1485;p65"/>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既存整理では欠勤で継続率▲5.1pt、遅刻で▲1.6ptの記載。ただし原典・母数・対象期間が未照合で、参考値の扱い</a:t>
            </a:r>
            <a:endParaRPr b="0" i="0" sz="1500" u="none" cap="none" strike="noStrike">
              <a:solidFill>
                <a:srgbClr val="000000"/>
              </a:solidFill>
              <a:latin typeface="M PLUS 1p"/>
              <a:ea typeface="M PLUS 1p"/>
              <a:cs typeface="M PLUS 1p"/>
              <a:sym typeface="M PLUS 1p"/>
            </a:endParaRPr>
          </a:p>
        </p:txBody>
      </p:sp>
      <p:sp>
        <p:nvSpPr>
          <p:cNvPr id="1486" name="Google Shape;1486;p65"/>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継続率の低下幅（pt）｜トラブル種別（既存棚卸しの記載値・原典未照合）</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487" name="Google Shape;1487;p65"/>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488" name="Google Shape;1488;p65"/>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489" name="Google Shape;1489;p65"/>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490" name="Google Shape;1490;p65"/>
          <p:cNvSpPr txBox="1"/>
          <p:nvPr/>
        </p:nvSpPr>
        <p:spPr>
          <a:xfrm>
            <a:off x="4476750" y="1533525"/>
            <a:ext cx="4172100" cy="81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欠勤発生で継続率▲5.1pt、遅刻発生で▲1.6pt（プロセスKPI整理の記載）</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「CSへの問い合わせ有無」そのものと継続率の比較値はない</a:t>
            </a:r>
            <a:endParaRPr b="0" i="0" sz="950" u="none" cap="none" strike="noStrike">
              <a:solidFill>
                <a:srgbClr val="000000"/>
              </a:solidFill>
              <a:latin typeface="M PLUS 1p"/>
              <a:ea typeface="M PLUS 1p"/>
              <a:cs typeface="M PLUS 1p"/>
              <a:sym typeface="M PLUS 1p"/>
            </a:endParaRPr>
          </a:p>
        </p:txBody>
      </p:sp>
      <p:sp>
        <p:nvSpPr>
          <p:cNvPr id="1491" name="Google Shape;1491;p65"/>
          <p:cNvSpPr txBox="1"/>
          <p:nvPr/>
        </p:nvSpPr>
        <p:spPr>
          <a:xfrm>
            <a:off x="4476750" y="2369079"/>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492" name="Google Shape;1492;p65"/>
          <p:cNvSpPr txBox="1"/>
          <p:nvPr/>
        </p:nvSpPr>
        <p:spPr>
          <a:xfrm>
            <a:off x="4476750" y="2597679"/>
            <a:ext cx="4172100" cy="115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原典資料・母数・翌月継続か他の継続定義かが未確認</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Bad体験（No.5）の分析では、掲載量を揃えるとBadあり／なしの差はほぼない。トラブル単独の効果は小さい可能性</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問い合わせは「不満」だけでなく「使い方の質問」も含み、方向が一定でない</a:t>
            </a:r>
            <a:endParaRPr b="0" i="0" sz="950" u="none" cap="none" strike="noStrike">
              <a:solidFill>
                <a:srgbClr val="000000"/>
              </a:solidFill>
              <a:latin typeface="M PLUS 1p"/>
              <a:ea typeface="M PLUS 1p"/>
              <a:cs typeface="M PLUS 1p"/>
              <a:sym typeface="M PLUS 1p"/>
            </a:endParaRPr>
          </a:p>
        </p:txBody>
      </p:sp>
      <p:sp>
        <p:nvSpPr>
          <p:cNvPr id="1493" name="Google Shape;1493;p65"/>
          <p:cNvSpPr txBox="1"/>
          <p:nvPr/>
        </p:nvSpPr>
        <p:spPr>
          <a:xfrm>
            <a:off x="4476750" y="377295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494" name="Google Shape;1494;p65"/>
          <p:cNvSpPr txBox="1"/>
          <p:nvPr/>
        </p:nvSpPr>
        <p:spPr>
          <a:xfrm>
            <a:off x="4476750" y="4001558"/>
            <a:ext cx="4172100" cy="62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減点項目にはしない。未解決のトラブルを「支援トリガー」として扱い、解決日と再掲載日を記録して効果を後追いする。</a:t>
            </a:r>
            <a:endParaRPr b="0" i="0" sz="950" u="none" cap="none" strike="noStrike">
              <a:solidFill>
                <a:srgbClr val="000000"/>
              </a:solidFill>
              <a:latin typeface="M PLUS 1p"/>
              <a:ea typeface="M PLUS 1p"/>
              <a:cs typeface="M PLUS 1p"/>
              <a:sym typeface="M PLUS 1p"/>
            </a:endParaRPr>
          </a:p>
        </p:txBody>
      </p:sp>
      <p:sp>
        <p:nvSpPr>
          <p:cNvPr id="1495" name="Google Shape;1495;p65"/>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出典：プロセスKPI整理.xlsx（既存棚卸し）※原典未照合 行17／ONB_現行スコアと次の候補.xlsx N30・N11</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0" name="Shape 1500"/>
        <p:cNvGrpSpPr/>
        <p:nvPr/>
      </p:nvGrpSpPr>
      <p:grpSpPr>
        <a:xfrm>
          <a:off x="0" y="0"/>
          <a:ext cx="0" cy="0"/>
          <a:chOff x="0" y="0"/>
          <a:chExt cx="0" cy="0"/>
        </a:xfrm>
      </p:grpSpPr>
      <p:sp>
        <p:nvSpPr>
          <p:cNvPr id="1501" name="Google Shape;1501;p66"/>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No.18　グループ限定公開（グループ限定公開の有無）</a:t>
            </a:r>
            <a:endParaRPr b="0" i="0" sz="900" u="none" cap="none" strike="noStrike">
              <a:solidFill>
                <a:srgbClr val="000000"/>
              </a:solidFill>
              <a:latin typeface="M PLUS 1p"/>
              <a:ea typeface="M PLUS 1p"/>
              <a:cs typeface="M PLUS 1p"/>
              <a:sym typeface="M PLUS 1p"/>
            </a:endParaRPr>
          </a:p>
        </p:txBody>
      </p:sp>
      <p:sp>
        <p:nvSpPr>
          <p:cNvPr id="1502" name="Google Shape;1502;p66"/>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03" name="Google Shape;1503;p66"/>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　間接根拠のみ／翌月継続の直接数値なし</a:t>
            </a:r>
            <a:endParaRPr b="0" i="0" sz="900" u="none" cap="none" strike="noStrike">
              <a:solidFill>
                <a:srgbClr val="000000"/>
              </a:solidFill>
              <a:latin typeface="M PLUS 1p"/>
              <a:ea typeface="M PLUS 1p"/>
              <a:cs typeface="M PLUS 1p"/>
              <a:sym typeface="M PLUS 1p"/>
            </a:endParaRPr>
          </a:p>
        </p:txBody>
      </p:sp>
      <p:sp>
        <p:nvSpPr>
          <p:cNvPr id="1504" name="Google Shape;1504;p66"/>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ENT領域では利用店舗の翌月継続率76%に対し非利用52%（差24pt）。ただしSMB／Low Touchでの検証はなく、10回以上募集の店舗が中心</a:t>
            </a:r>
            <a:endParaRPr b="0" i="0" sz="1500" u="none" cap="none" strike="noStrike">
              <a:solidFill>
                <a:srgbClr val="000000"/>
              </a:solidFill>
              <a:latin typeface="M PLUS 1p"/>
              <a:ea typeface="M PLUS 1p"/>
              <a:cs typeface="M PLUS 1p"/>
              <a:sym typeface="M PLUS 1p"/>
            </a:endParaRPr>
          </a:p>
        </p:txBody>
      </p:sp>
      <p:sp>
        <p:nvSpPr>
          <p:cNvPr id="1505" name="Google Shape;1505;p66"/>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翌月継続率（%）｜グループ限定公開の利用有無（ENT領域・既存棚卸しの記載値）</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506" name="Google Shape;1506;p66"/>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507" name="Google Shape;1507;p66"/>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08" name="Google Shape;1508;p66"/>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509" name="Google Shape;1509;p66"/>
          <p:cNvSpPr txBox="1"/>
          <p:nvPr/>
        </p:nvSpPr>
        <p:spPr>
          <a:xfrm>
            <a:off x="4476750" y="1533525"/>
            <a:ext cx="4172100" cy="71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ENT領域：利用あり76% vs なし52%（差24pt）</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10回以上募集している事業所で利用率約50%</a:t>
            </a:r>
            <a:endParaRPr b="0" i="0" sz="950" u="none" cap="none" strike="noStrike">
              <a:solidFill>
                <a:srgbClr val="000000"/>
              </a:solidFill>
              <a:latin typeface="M PLUS 1p"/>
              <a:ea typeface="M PLUS 1p"/>
              <a:cs typeface="M PLUS 1p"/>
              <a:sym typeface="M PLUS 1p"/>
            </a:endParaRPr>
          </a:p>
        </p:txBody>
      </p:sp>
      <p:sp>
        <p:nvSpPr>
          <p:cNvPr id="1510" name="Google Shape;1510;p66"/>
          <p:cNvSpPr txBox="1"/>
          <p:nvPr/>
        </p:nvSpPr>
        <p:spPr>
          <a:xfrm>
            <a:off x="4476750" y="226853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511" name="Google Shape;1511;p66"/>
          <p:cNvSpPr txBox="1"/>
          <p:nvPr/>
        </p:nvSpPr>
        <p:spPr>
          <a:xfrm>
            <a:off x="4476750" y="2497137"/>
            <a:ext cx="4172100" cy="120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ENT（大手）の値で、SMB／Low Touchでの再現は未確認</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利用店舗は募集量が多い層に偏る。募集量を揃えた比較ではないため、差の大半は掲載量の差である可能性</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新規店舗の初月にグループ（お気に入りワーカー）が形成されていることは稀</a:t>
            </a:r>
            <a:endParaRPr b="0" i="0" sz="950" u="none" cap="none" strike="noStrike">
              <a:solidFill>
                <a:srgbClr val="000000"/>
              </a:solidFill>
              <a:latin typeface="M PLUS 1p"/>
              <a:ea typeface="M PLUS 1p"/>
              <a:cs typeface="M PLUS 1p"/>
              <a:sym typeface="M PLUS 1p"/>
            </a:endParaRPr>
          </a:p>
        </p:txBody>
      </p:sp>
      <p:sp>
        <p:nvSpPr>
          <p:cNvPr id="1512" name="Google Shape;1512;p66"/>
          <p:cNvSpPr txBox="1"/>
          <p:nvPr/>
        </p:nvSpPr>
        <p:spPr>
          <a:xfrm>
            <a:off x="4476750" y="3722687"/>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513" name="Google Shape;1513;p66"/>
          <p:cNvSpPr txBox="1"/>
          <p:nvPr/>
        </p:nvSpPr>
        <p:spPr>
          <a:xfrm>
            <a:off x="4476750" y="3951287"/>
            <a:ext cx="4172100" cy="6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翌月継続スコアには入れない。初月の新規店舗には前提条件（リピーターの存在）がなく、中期の提案メニューとして扱う。</a:t>
            </a:r>
            <a:endParaRPr b="0" i="0" sz="950" u="none" cap="none" strike="noStrike">
              <a:solidFill>
                <a:srgbClr val="000000"/>
              </a:solidFill>
              <a:latin typeface="M PLUS 1p"/>
              <a:ea typeface="M PLUS 1p"/>
              <a:cs typeface="M PLUS 1p"/>
              <a:sym typeface="M PLUS 1p"/>
            </a:endParaRPr>
          </a:p>
        </p:txBody>
      </p:sp>
      <p:sp>
        <p:nvSpPr>
          <p:cNvPr id="1514" name="Google Shape;1514;p66"/>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出典：プロセスKPI整理.xlsx（既存棚卸し）※原典未照合 行26／ONB_現行スコアと次の候補.xlsx N37</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9" name="Shape 1519"/>
        <p:cNvGrpSpPr/>
        <p:nvPr/>
      </p:nvGrpSpPr>
      <p:grpSpPr>
        <a:xfrm>
          <a:off x="0" y="0"/>
          <a:ext cx="0" cy="0"/>
          <a:chOff x="0" y="0"/>
          <a:chExt cx="0" cy="0"/>
        </a:xfrm>
      </p:grpSpPr>
      <p:sp>
        <p:nvSpPr>
          <p:cNvPr id="1520" name="Google Shape;1520;p67"/>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No.19　バッジ限定募集（バッジ限定募集の有無）</a:t>
            </a:r>
            <a:endParaRPr b="0" i="0" sz="900" u="none" cap="none" strike="noStrike">
              <a:solidFill>
                <a:srgbClr val="000000"/>
              </a:solidFill>
              <a:latin typeface="M PLUS 1p"/>
              <a:ea typeface="M PLUS 1p"/>
              <a:cs typeface="M PLUS 1p"/>
              <a:sym typeface="M PLUS 1p"/>
            </a:endParaRPr>
          </a:p>
        </p:txBody>
      </p:sp>
      <p:sp>
        <p:nvSpPr>
          <p:cNvPr id="1521" name="Google Shape;1521;p67"/>
          <p:cNvSpPr/>
          <p:nvPr/>
        </p:nvSpPr>
        <p:spPr>
          <a:xfrm>
            <a:off x="5897880" y="205740"/>
            <a:ext cx="2914800" cy="274200"/>
          </a:xfrm>
          <a:prstGeom prst="roundRect">
            <a:avLst>
              <a:gd fmla="val 20000"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22" name="Google Shape;1522;p67"/>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　定量根拠なし（要検証）</a:t>
            </a:r>
            <a:endParaRPr b="0" i="0" sz="900" u="none" cap="none" strike="noStrike">
              <a:solidFill>
                <a:srgbClr val="000000"/>
              </a:solidFill>
              <a:latin typeface="M PLUS 1p"/>
              <a:ea typeface="M PLUS 1p"/>
              <a:cs typeface="M PLUS 1p"/>
              <a:sym typeface="M PLUS 1p"/>
            </a:endParaRPr>
          </a:p>
        </p:txBody>
      </p:sp>
      <p:sp>
        <p:nvSpPr>
          <p:cNvPr id="1523" name="Google Shape;1523;p67"/>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フード領域で「バッジ持ちワーカー稼働時に継続率が向上」という記載のみ。数値・母数・対象期間はなく、SMB／Lowでの検証もない</a:t>
            </a:r>
            <a:endParaRPr b="0" i="0" sz="1500" u="none" cap="none" strike="noStrike">
              <a:solidFill>
                <a:srgbClr val="000000"/>
              </a:solidFill>
              <a:latin typeface="M PLUS 1p"/>
              <a:ea typeface="M PLUS 1p"/>
              <a:cs typeface="M PLUS 1p"/>
              <a:sym typeface="M PLUS 1p"/>
            </a:endParaRPr>
          </a:p>
        </p:txBody>
      </p:sp>
      <p:sp>
        <p:nvSpPr>
          <p:cNvPr id="1524" name="Google Shape;1524;p67"/>
          <p:cNvSpPr/>
          <p:nvPr/>
        </p:nvSpPr>
        <p:spPr>
          <a:xfrm>
            <a:off x="342900" y="1200150"/>
            <a:ext cx="4937700" cy="349770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25" name="Google Shape;1525;p67"/>
          <p:cNvSpPr/>
          <p:nvPr/>
        </p:nvSpPr>
        <p:spPr>
          <a:xfrm>
            <a:off x="1954530" y="1405890"/>
            <a:ext cx="1714500" cy="411600"/>
          </a:xfrm>
          <a:prstGeom prst="roundRect">
            <a:avLst>
              <a:gd fmla="val 16667"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26" name="Google Shape;1526;p67"/>
          <p:cNvSpPr txBox="1"/>
          <p:nvPr/>
        </p:nvSpPr>
        <p:spPr>
          <a:xfrm>
            <a:off x="1954530" y="1405890"/>
            <a:ext cx="1714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検証中（グラフ化できる数値なし）</a:t>
            </a:r>
            <a:endParaRPr b="0" i="0" sz="900" u="none" cap="none" strike="noStrike">
              <a:solidFill>
                <a:srgbClr val="000000"/>
              </a:solidFill>
              <a:latin typeface="M PLUS 1p"/>
              <a:ea typeface="M PLUS 1p"/>
              <a:cs typeface="M PLUS 1p"/>
              <a:sym typeface="M PLUS 1p"/>
            </a:endParaRPr>
          </a:p>
        </p:txBody>
      </p:sp>
      <p:sp>
        <p:nvSpPr>
          <p:cNvPr id="1527" name="Google Shape;1527;p67"/>
          <p:cNvSpPr txBox="1"/>
          <p:nvPr/>
        </p:nvSpPr>
        <p:spPr>
          <a:xfrm>
            <a:off x="548640" y="1988820"/>
            <a:ext cx="1097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翌月継続率の差</a:t>
            </a:r>
            <a:endParaRPr b="0" i="0" sz="900" u="none" cap="none" strike="noStrike">
              <a:solidFill>
                <a:srgbClr val="000000"/>
              </a:solidFill>
              <a:latin typeface="M PLUS 1p"/>
              <a:ea typeface="M PLUS 1p"/>
              <a:cs typeface="M PLUS 1p"/>
              <a:sym typeface="M PLUS 1p"/>
            </a:endParaRPr>
          </a:p>
        </p:txBody>
      </p:sp>
      <p:sp>
        <p:nvSpPr>
          <p:cNvPr id="1528" name="Google Shape;1528;p67"/>
          <p:cNvSpPr txBox="1"/>
          <p:nvPr/>
        </p:nvSpPr>
        <p:spPr>
          <a:xfrm>
            <a:off x="1645920" y="1988820"/>
            <a:ext cx="34290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未計測。既存棚卸しに定性的な記載はあるが、継続率の比較値は存在しない。</a:t>
            </a:r>
            <a:endParaRPr b="0" i="0" sz="900" u="none" cap="none" strike="noStrike">
              <a:solidFill>
                <a:srgbClr val="000000"/>
              </a:solidFill>
              <a:latin typeface="M PLUS 1p"/>
              <a:ea typeface="M PLUS 1p"/>
              <a:cs typeface="M PLUS 1p"/>
              <a:sym typeface="M PLUS 1p"/>
            </a:endParaRPr>
          </a:p>
        </p:txBody>
      </p:sp>
      <p:cxnSp>
        <p:nvCxnSpPr>
          <p:cNvPr id="1529" name="Google Shape;1529;p67"/>
          <p:cNvCxnSpPr/>
          <p:nvPr/>
        </p:nvCxnSpPr>
        <p:spPr>
          <a:xfrm>
            <a:off x="548640" y="2640330"/>
            <a:ext cx="4526400" cy="0"/>
          </a:xfrm>
          <a:prstGeom prst="straightConnector1">
            <a:avLst/>
          </a:prstGeom>
          <a:noFill/>
          <a:ln cap="flat" cmpd="sng" w="9525">
            <a:solidFill>
              <a:srgbClr val="E0E0E0"/>
            </a:solidFill>
            <a:prstDash val="solid"/>
            <a:round/>
            <a:headEnd len="sm" w="sm" type="none"/>
            <a:tailEnd len="sm" w="sm" type="none"/>
          </a:ln>
        </p:spPr>
      </p:cxnSp>
      <p:sp>
        <p:nvSpPr>
          <p:cNvPr id="1530" name="Google Shape;1530;p67"/>
          <p:cNvSpPr txBox="1"/>
          <p:nvPr/>
        </p:nvSpPr>
        <p:spPr>
          <a:xfrm>
            <a:off x="548640" y="2743200"/>
            <a:ext cx="10974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間接的な根拠</a:t>
            </a:r>
            <a:endParaRPr b="0" i="0" sz="900" u="none" cap="none" strike="noStrike">
              <a:solidFill>
                <a:srgbClr val="000000"/>
              </a:solidFill>
              <a:latin typeface="M PLUS 1p"/>
              <a:ea typeface="M PLUS 1p"/>
              <a:cs typeface="M PLUS 1p"/>
              <a:sym typeface="M PLUS 1p"/>
            </a:endParaRPr>
          </a:p>
        </p:txBody>
      </p:sp>
      <p:sp>
        <p:nvSpPr>
          <p:cNvPr id="1531" name="Google Shape;1531;p67"/>
          <p:cNvSpPr txBox="1"/>
          <p:nvPr/>
        </p:nvSpPr>
        <p:spPr>
          <a:xfrm>
            <a:off x="1645920" y="2743200"/>
            <a:ext cx="3429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フード領域でバッジ持ちワーカーが稼働した場合に継続率が向上（プロセスKPI整理 行30）。ただし「バッジ限定で募集したか」と「バッジ持ちが稼働したか」は別の事象で、指標の定義と根拠がずれている。</a:t>
            </a:r>
            <a:endParaRPr b="0" i="0" sz="900" u="none" cap="none" strike="noStrike">
              <a:solidFill>
                <a:srgbClr val="000000"/>
              </a:solidFill>
              <a:latin typeface="M PLUS 1p"/>
              <a:ea typeface="M PLUS 1p"/>
              <a:cs typeface="M PLUS 1p"/>
              <a:sym typeface="M PLUS 1p"/>
            </a:endParaRPr>
          </a:p>
        </p:txBody>
      </p:sp>
      <p:cxnSp>
        <p:nvCxnSpPr>
          <p:cNvPr id="1532" name="Google Shape;1532;p67"/>
          <p:cNvCxnSpPr/>
          <p:nvPr/>
        </p:nvCxnSpPr>
        <p:spPr>
          <a:xfrm>
            <a:off x="548640" y="3600450"/>
            <a:ext cx="4526400" cy="0"/>
          </a:xfrm>
          <a:prstGeom prst="straightConnector1">
            <a:avLst/>
          </a:prstGeom>
          <a:noFill/>
          <a:ln cap="flat" cmpd="sng" w="9525">
            <a:solidFill>
              <a:srgbClr val="E0E0E0"/>
            </a:solidFill>
            <a:prstDash val="solid"/>
            <a:round/>
            <a:headEnd len="sm" w="sm" type="none"/>
            <a:tailEnd len="sm" w="sm" type="none"/>
          </a:ln>
        </p:spPr>
      </p:cxnSp>
      <p:sp>
        <p:nvSpPr>
          <p:cNvPr id="1533" name="Google Shape;1533;p67"/>
          <p:cNvSpPr txBox="1"/>
          <p:nvPr/>
        </p:nvSpPr>
        <p:spPr>
          <a:xfrm>
            <a:off x="548640" y="3703320"/>
            <a:ext cx="10974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採用前に必要な検証</a:t>
            </a:r>
            <a:endParaRPr b="0" i="0" sz="900" u="none" cap="none" strike="noStrike">
              <a:solidFill>
                <a:srgbClr val="000000"/>
              </a:solidFill>
              <a:latin typeface="M PLUS 1p"/>
              <a:ea typeface="M PLUS 1p"/>
              <a:cs typeface="M PLUS 1p"/>
              <a:sym typeface="M PLUS 1p"/>
            </a:endParaRPr>
          </a:p>
        </p:txBody>
      </p:sp>
      <p:sp>
        <p:nvSpPr>
          <p:cNvPr id="1534" name="Google Shape;1534;p67"/>
          <p:cNvSpPr txBox="1"/>
          <p:nvPr/>
        </p:nvSpPr>
        <p:spPr>
          <a:xfrm>
            <a:off x="1645920" y="3703320"/>
            <a:ext cx="34290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① 原典資料を特定し、数値・母数・継続定義を確認</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② SMB新規店舗でバッジ限定募集を使った店舗数を把握（母数が小さければ検証自体が成立しない）</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③ 稼働ワーカーの質（Good率）を揃えた上で比較</a:t>
            </a:r>
            <a:endParaRPr b="0" i="0" sz="900" u="none" cap="none" strike="noStrike">
              <a:solidFill>
                <a:srgbClr val="000000"/>
              </a:solidFill>
              <a:latin typeface="M PLUS 1p"/>
              <a:ea typeface="M PLUS 1p"/>
              <a:cs typeface="M PLUS 1p"/>
              <a:sym typeface="M PLUS 1p"/>
            </a:endParaRPr>
          </a:p>
        </p:txBody>
      </p:sp>
      <p:sp>
        <p:nvSpPr>
          <p:cNvPr id="1535" name="Google Shape;1535;p67"/>
          <p:cNvSpPr/>
          <p:nvPr/>
        </p:nvSpPr>
        <p:spPr>
          <a:xfrm>
            <a:off x="5410200" y="1200150"/>
            <a:ext cx="33720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36" name="Google Shape;1536;p67"/>
          <p:cNvSpPr txBox="1"/>
          <p:nvPr/>
        </p:nvSpPr>
        <p:spPr>
          <a:xfrm>
            <a:off x="5524500" y="1304925"/>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537" name="Google Shape;1537;p67"/>
          <p:cNvSpPr txBox="1"/>
          <p:nvPr/>
        </p:nvSpPr>
        <p:spPr>
          <a:xfrm>
            <a:off x="5524500" y="1533525"/>
            <a:ext cx="3143400" cy="71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翌月継続率との比較値なし</a:t>
            </a:r>
            <a:endParaRPr b="0" i="0" sz="900" u="none" cap="none" strike="noStrike">
              <a:solidFill>
                <a:srgbClr val="000000"/>
              </a:solidFill>
              <a:latin typeface="M PLUS 1p"/>
              <a:ea typeface="M PLUS 1p"/>
              <a:cs typeface="M PLUS 1p"/>
              <a:sym typeface="M PLUS 1p"/>
            </a:endParaRPr>
          </a:p>
        </p:txBody>
      </p:sp>
      <p:sp>
        <p:nvSpPr>
          <p:cNvPr id="1538" name="Google Shape;1538;p67"/>
          <p:cNvSpPr txBox="1"/>
          <p:nvPr/>
        </p:nvSpPr>
        <p:spPr>
          <a:xfrm>
            <a:off x="5524500" y="2271712"/>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539" name="Google Shape;1539;p67"/>
          <p:cNvSpPr txBox="1"/>
          <p:nvPr/>
        </p:nvSpPr>
        <p:spPr>
          <a:xfrm>
            <a:off x="5524500" y="2500312"/>
            <a:ext cx="3143400" cy="116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指標「募集の有無」と根拠「稼働ワーカーの属性」が一致していない</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バッジ限定は応募母集団を絞るため、充足率低下のリスクと相殺される可能性</a:t>
            </a:r>
            <a:endParaRPr b="0" i="0" sz="900" u="none" cap="none" strike="noStrike">
              <a:solidFill>
                <a:srgbClr val="000000"/>
              </a:solidFill>
              <a:latin typeface="M PLUS 1p"/>
              <a:ea typeface="M PLUS 1p"/>
              <a:cs typeface="M PLUS 1p"/>
              <a:sym typeface="M PLUS 1p"/>
            </a:endParaRPr>
          </a:p>
        </p:txBody>
      </p:sp>
      <p:sp>
        <p:nvSpPr>
          <p:cNvPr id="1540" name="Google Shape;1540;p67"/>
          <p:cNvSpPr txBox="1"/>
          <p:nvPr/>
        </p:nvSpPr>
        <p:spPr>
          <a:xfrm>
            <a:off x="5524500" y="3681412"/>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541" name="Google Shape;1541;p67"/>
          <p:cNvSpPr txBox="1"/>
          <p:nvPr/>
        </p:nvSpPr>
        <p:spPr>
          <a:xfrm>
            <a:off x="5524500" y="3910012"/>
            <a:ext cx="3143400" cy="71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スコア項目にはしない。原典確認と利用店舗数の把握が先。</a:t>
            </a:r>
            <a:endParaRPr b="0" i="0" sz="900" u="none" cap="none" strike="noStrike">
              <a:solidFill>
                <a:srgbClr val="000000"/>
              </a:solidFill>
              <a:latin typeface="M PLUS 1p"/>
              <a:ea typeface="M PLUS 1p"/>
              <a:cs typeface="M PLUS 1p"/>
              <a:sym typeface="M PLUS 1p"/>
            </a:endParaRPr>
          </a:p>
        </p:txBody>
      </p:sp>
      <p:sp>
        <p:nvSpPr>
          <p:cNvPr id="1542" name="Google Shape;1542;p67"/>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出典：プロセスKPI整理.xlsx（既存棚卸し）※原典未照合 行30／ONB_現行スコアと次の候補.xlsx N41</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7" name="Shape 1547"/>
        <p:cNvGrpSpPr/>
        <p:nvPr/>
      </p:nvGrpSpPr>
      <p:grpSpPr>
        <a:xfrm>
          <a:off x="0" y="0"/>
          <a:ext cx="0" cy="0"/>
          <a:chOff x="0" y="0"/>
          <a:chExt cx="0" cy="0"/>
        </a:xfrm>
      </p:grpSpPr>
      <p:sp>
        <p:nvSpPr>
          <p:cNvPr id="1548" name="Google Shape;1548;p68"/>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No.20　ブロック利用（ブロック利用の有無）</a:t>
            </a:r>
            <a:endParaRPr b="0" i="0" sz="900" u="none" cap="none" strike="noStrike">
              <a:solidFill>
                <a:srgbClr val="000000"/>
              </a:solidFill>
              <a:latin typeface="M PLUS 1p"/>
              <a:ea typeface="M PLUS 1p"/>
              <a:cs typeface="M PLUS 1p"/>
              <a:sym typeface="M PLUS 1p"/>
            </a:endParaRPr>
          </a:p>
        </p:txBody>
      </p:sp>
      <p:sp>
        <p:nvSpPr>
          <p:cNvPr id="1549" name="Google Shape;1549;p68"/>
          <p:cNvSpPr/>
          <p:nvPr/>
        </p:nvSpPr>
        <p:spPr>
          <a:xfrm>
            <a:off x="5897880" y="205740"/>
            <a:ext cx="2914800" cy="274200"/>
          </a:xfrm>
          <a:prstGeom prst="roundRect">
            <a:avLst>
              <a:gd fmla="val 20000" name="adj"/>
            </a:avLst>
          </a:prstGeom>
          <a:solidFill>
            <a:srgbClr val="FFF6D9"/>
          </a:solidFill>
          <a:ln cap="flat" cmpd="sng" w="12700">
            <a:solidFill>
              <a:srgbClr val="FFF6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50" name="Google Shape;1550;p68"/>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　間接根拠のみ／翌月継続の直接数値なし</a:t>
            </a:r>
            <a:endParaRPr b="0" i="0" sz="900" u="none" cap="none" strike="noStrike">
              <a:solidFill>
                <a:srgbClr val="000000"/>
              </a:solidFill>
              <a:latin typeface="M PLUS 1p"/>
              <a:ea typeface="M PLUS 1p"/>
              <a:cs typeface="M PLUS 1p"/>
              <a:sym typeface="M PLUS 1p"/>
            </a:endParaRPr>
          </a:p>
        </p:txBody>
      </p:sp>
      <p:sp>
        <p:nvSpPr>
          <p:cNvPr id="1551" name="Google Shape;1551;p68"/>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根拠は「ブロック率20%以上のワーカーが稼働すると初回継続率▲2.0〜2.6pt」。店舗のブロック機能利用とは別の事象で、差も小さい</a:t>
            </a:r>
            <a:endParaRPr b="0" i="0" sz="1500" u="none" cap="none" strike="noStrike">
              <a:solidFill>
                <a:srgbClr val="000000"/>
              </a:solidFill>
              <a:latin typeface="M PLUS 1p"/>
              <a:ea typeface="M PLUS 1p"/>
              <a:cs typeface="M PLUS 1p"/>
              <a:sym typeface="M PLUS 1p"/>
            </a:endParaRPr>
          </a:p>
        </p:txBody>
      </p:sp>
      <p:sp>
        <p:nvSpPr>
          <p:cNvPr id="1552" name="Google Shape;1552;p68"/>
          <p:cNvSpPr txBox="1"/>
          <p:nvPr/>
        </p:nvSpPr>
        <p:spPr>
          <a:xfrm>
            <a:off x="342900" y="1200150"/>
            <a:ext cx="3876600" cy="4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M PLUS 1p"/>
              <a:buNone/>
            </a:pPr>
            <a:r>
              <a:rPr b="1" i="0" lang="ja" sz="900" u="none" cap="none" strike="noStrike">
                <a:solidFill>
                  <a:srgbClr val="434343"/>
                </a:solidFill>
                <a:latin typeface="M PLUS 1p"/>
                <a:ea typeface="M PLUS 1p"/>
                <a:cs typeface="M PLUS 1p"/>
                <a:sym typeface="M PLUS 1p"/>
              </a:rPr>
              <a:t>初回継続率の低下幅（pt）｜ブロック率20%以上ワーカーの稼働（既存棚卸しの記載値）</a:t>
            </a:r>
            <a:endParaRPr b="0" i="0" sz="900" u="none" cap="none" strike="noStrike">
              <a:solidFill>
                <a:srgbClr val="000000"/>
              </a:solidFill>
              <a:latin typeface="M PLUS 1p"/>
              <a:ea typeface="M PLUS 1p"/>
              <a:cs typeface="M PLUS 1p"/>
              <a:sym typeface="M PLUS 1p"/>
            </a:endParaRPr>
          </a:p>
        </p:txBody>
      </p:sp>
      <p:pic>
        <p:nvPicPr>
          <p:cNvPr descr="元の数値・ラベルをM PLUS 1pで描画した高解像度グラフ" id="1553" name="Google Shape;1553;p68"/>
          <p:cNvPicPr preferRelativeResize="0"/>
          <p:nvPr/>
        </p:nvPicPr>
        <p:blipFill rotWithShape="1">
          <a:blip r:embed="rId3">
            <a:alphaModFix/>
          </a:blip>
          <a:srcRect b="0" l="0" r="0" t="0"/>
          <a:stretch/>
        </p:blipFill>
        <p:spPr>
          <a:xfrm>
            <a:off x="342900" y="1647825"/>
            <a:ext cx="3876675" cy="2914650"/>
          </a:xfrm>
          <a:prstGeom prst="rect">
            <a:avLst/>
          </a:prstGeom>
          <a:noFill/>
          <a:ln>
            <a:noFill/>
          </a:ln>
        </p:spPr>
      </p:pic>
      <p:sp>
        <p:nvSpPr>
          <p:cNvPr id="1554" name="Google Shape;1554;p68"/>
          <p:cNvSpPr/>
          <p:nvPr/>
        </p:nvSpPr>
        <p:spPr>
          <a:xfrm>
            <a:off x="4362450" y="1200150"/>
            <a:ext cx="44007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55" name="Google Shape;1555;p68"/>
          <p:cNvSpPr txBox="1"/>
          <p:nvPr/>
        </p:nvSpPr>
        <p:spPr>
          <a:xfrm>
            <a:off x="4476750" y="1304925"/>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556" name="Google Shape;1556;p68"/>
          <p:cNvSpPr txBox="1"/>
          <p:nvPr/>
        </p:nvSpPr>
        <p:spPr>
          <a:xfrm>
            <a:off x="4476750" y="1533525"/>
            <a:ext cx="4172100" cy="81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ブロック率20%以上のワーカーが稼働した店舗で初回継続率▲2.0〜2.6pt（記載値）</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店舗が「ブロック機能を使ったか」と継続率の比較はない</a:t>
            </a:r>
            <a:endParaRPr b="0" i="0" sz="950" u="none" cap="none" strike="noStrike">
              <a:solidFill>
                <a:srgbClr val="000000"/>
              </a:solidFill>
              <a:latin typeface="M PLUS 1p"/>
              <a:ea typeface="M PLUS 1p"/>
              <a:cs typeface="M PLUS 1p"/>
              <a:sym typeface="M PLUS 1p"/>
            </a:endParaRPr>
          </a:p>
        </p:txBody>
      </p:sp>
      <p:sp>
        <p:nvSpPr>
          <p:cNvPr id="1557" name="Google Shape;1557;p68"/>
          <p:cNvSpPr txBox="1"/>
          <p:nvPr/>
        </p:nvSpPr>
        <p:spPr>
          <a:xfrm>
            <a:off x="4476750" y="2369079"/>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558" name="Google Shape;1558;p68"/>
          <p:cNvSpPr txBox="1"/>
          <p:nvPr/>
        </p:nvSpPr>
        <p:spPr>
          <a:xfrm>
            <a:off x="4476750" y="2597679"/>
            <a:ext cx="4172100" cy="115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指標の定義（店舗のブロック利用有無）と根拠（ワーカーの被ブロック率）が一致していない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差2〜2.6ptは他指標（20〜60pt）に比べて小さく、スコアの1点に相当しない</a:t>
            </a:r>
            <a:endParaRPr b="0" i="0" sz="95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原典・母数・「初回継続」の定義が未照合</a:t>
            </a:r>
            <a:endParaRPr b="0" i="0" sz="950" u="none" cap="none" strike="noStrike">
              <a:solidFill>
                <a:srgbClr val="000000"/>
              </a:solidFill>
              <a:latin typeface="M PLUS 1p"/>
              <a:ea typeface="M PLUS 1p"/>
              <a:cs typeface="M PLUS 1p"/>
              <a:sym typeface="M PLUS 1p"/>
            </a:endParaRPr>
          </a:p>
        </p:txBody>
      </p:sp>
      <p:sp>
        <p:nvSpPr>
          <p:cNvPr id="1559" name="Google Shape;1559;p68"/>
          <p:cNvSpPr txBox="1"/>
          <p:nvPr/>
        </p:nvSpPr>
        <p:spPr>
          <a:xfrm>
            <a:off x="4476750" y="3772958"/>
            <a:ext cx="41721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560" name="Google Shape;1560;p68"/>
          <p:cNvSpPr txBox="1"/>
          <p:nvPr/>
        </p:nvSpPr>
        <p:spPr>
          <a:xfrm>
            <a:off x="4476750" y="4001558"/>
            <a:ext cx="4172100" cy="62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M PLUS 1p"/>
              <a:buNone/>
            </a:pPr>
            <a:r>
              <a:rPr b="0" i="0" lang="ja" sz="950" u="none" cap="none" strike="noStrike">
                <a:solidFill>
                  <a:srgbClr val="1A1A1A"/>
                </a:solidFill>
                <a:latin typeface="M PLUS 1p"/>
                <a:ea typeface="M PLUS 1p"/>
                <a:cs typeface="M PLUS 1p"/>
                <a:sym typeface="M PLUS 1p"/>
              </a:rPr>
              <a:t>スコア項目にはしない。店舗がブロックした＝ワーカー品質への不満、というシグナルなら、Bad体験の分解項目（No.5）の一部として記録する。</a:t>
            </a:r>
            <a:endParaRPr b="0" i="0" sz="950" u="none" cap="none" strike="noStrike">
              <a:solidFill>
                <a:srgbClr val="000000"/>
              </a:solidFill>
              <a:latin typeface="M PLUS 1p"/>
              <a:ea typeface="M PLUS 1p"/>
              <a:cs typeface="M PLUS 1p"/>
              <a:sym typeface="M PLUS 1p"/>
            </a:endParaRPr>
          </a:p>
        </p:txBody>
      </p:sp>
      <p:sp>
        <p:nvSpPr>
          <p:cNvPr id="1561" name="Google Shape;1561;p68"/>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出典：プロセスKPI整理.xlsx（既存棚卸し）※原典未照合 行34／ONB_現行スコアと次の候補.xlsx N43</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6" name="Shape 1566"/>
        <p:cNvGrpSpPr/>
        <p:nvPr/>
      </p:nvGrpSpPr>
      <p:grpSpPr>
        <a:xfrm>
          <a:off x="0" y="0"/>
          <a:ext cx="0" cy="0"/>
          <a:chOff x="0" y="0"/>
          <a:chExt cx="0" cy="0"/>
        </a:xfrm>
      </p:grpSpPr>
      <p:sp>
        <p:nvSpPr>
          <p:cNvPr id="1567" name="Google Shape;1567;p69"/>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No.21　未払い・利用制限（利用停止につながる制限と解消日）</a:t>
            </a:r>
            <a:endParaRPr b="0" i="0" sz="900" u="none" cap="none" strike="noStrike">
              <a:solidFill>
                <a:srgbClr val="000000"/>
              </a:solidFill>
              <a:latin typeface="M PLUS 1p"/>
              <a:ea typeface="M PLUS 1p"/>
              <a:cs typeface="M PLUS 1p"/>
              <a:sym typeface="M PLUS 1p"/>
            </a:endParaRPr>
          </a:p>
        </p:txBody>
      </p:sp>
      <p:sp>
        <p:nvSpPr>
          <p:cNvPr id="1568" name="Google Shape;1568;p69"/>
          <p:cNvSpPr/>
          <p:nvPr/>
        </p:nvSpPr>
        <p:spPr>
          <a:xfrm>
            <a:off x="5897880" y="205740"/>
            <a:ext cx="2914800" cy="274200"/>
          </a:xfrm>
          <a:prstGeom prst="roundRect">
            <a:avLst>
              <a:gd fmla="val 20000"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69" name="Google Shape;1569;p69"/>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　定量根拠なし（要検証）</a:t>
            </a:r>
            <a:endParaRPr b="0" i="0" sz="900" u="none" cap="none" strike="noStrike">
              <a:solidFill>
                <a:srgbClr val="000000"/>
              </a:solidFill>
              <a:latin typeface="M PLUS 1p"/>
              <a:ea typeface="M PLUS 1p"/>
              <a:cs typeface="M PLUS 1p"/>
              <a:sym typeface="M PLUS 1p"/>
            </a:endParaRPr>
          </a:p>
        </p:txBody>
      </p:sp>
      <p:sp>
        <p:nvSpPr>
          <p:cNvPr id="1570" name="Google Shape;1570;p69"/>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未払い・利用制限が発生した店舗の翌月継続率を比較したデータはない。停止要因の「記録項目」として位置づける</a:t>
            </a:r>
            <a:endParaRPr b="0" i="0" sz="1500" u="none" cap="none" strike="noStrike">
              <a:solidFill>
                <a:srgbClr val="000000"/>
              </a:solidFill>
              <a:latin typeface="M PLUS 1p"/>
              <a:ea typeface="M PLUS 1p"/>
              <a:cs typeface="M PLUS 1p"/>
              <a:sym typeface="M PLUS 1p"/>
            </a:endParaRPr>
          </a:p>
        </p:txBody>
      </p:sp>
      <p:sp>
        <p:nvSpPr>
          <p:cNvPr id="1571" name="Google Shape;1571;p69"/>
          <p:cNvSpPr/>
          <p:nvPr/>
        </p:nvSpPr>
        <p:spPr>
          <a:xfrm>
            <a:off x="342900" y="1200150"/>
            <a:ext cx="4937700" cy="349770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72" name="Google Shape;1572;p69"/>
          <p:cNvSpPr/>
          <p:nvPr/>
        </p:nvSpPr>
        <p:spPr>
          <a:xfrm>
            <a:off x="1954530" y="1405890"/>
            <a:ext cx="1714500" cy="411600"/>
          </a:xfrm>
          <a:prstGeom prst="roundRect">
            <a:avLst>
              <a:gd fmla="val 16667"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73" name="Google Shape;1573;p69"/>
          <p:cNvSpPr txBox="1"/>
          <p:nvPr/>
        </p:nvSpPr>
        <p:spPr>
          <a:xfrm>
            <a:off x="1954530" y="1405890"/>
            <a:ext cx="1714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検証中（グラフ化できる数値なし）</a:t>
            </a:r>
            <a:endParaRPr b="0" i="0" sz="900" u="none" cap="none" strike="noStrike">
              <a:solidFill>
                <a:srgbClr val="000000"/>
              </a:solidFill>
              <a:latin typeface="M PLUS 1p"/>
              <a:ea typeface="M PLUS 1p"/>
              <a:cs typeface="M PLUS 1p"/>
              <a:sym typeface="M PLUS 1p"/>
            </a:endParaRPr>
          </a:p>
        </p:txBody>
      </p:sp>
      <p:sp>
        <p:nvSpPr>
          <p:cNvPr id="1574" name="Google Shape;1574;p69"/>
          <p:cNvSpPr txBox="1"/>
          <p:nvPr/>
        </p:nvSpPr>
        <p:spPr>
          <a:xfrm>
            <a:off x="548640" y="1988820"/>
            <a:ext cx="1097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翌月継続率の差</a:t>
            </a:r>
            <a:endParaRPr b="0" i="0" sz="900" u="none" cap="none" strike="noStrike">
              <a:solidFill>
                <a:srgbClr val="000000"/>
              </a:solidFill>
              <a:latin typeface="M PLUS 1p"/>
              <a:ea typeface="M PLUS 1p"/>
              <a:cs typeface="M PLUS 1p"/>
              <a:sym typeface="M PLUS 1p"/>
            </a:endParaRPr>
          </a:p>
        </p:txBody>
      </p:sp>
      <p:sp>
        <p:nvSpPr>
          <p:cNvPr id="1575" name="Google Shape;1575;p69"/>
          <p:cNvSpPr txBox="1"/>
          <p:nvPr/>
        </p:nvSpPr>
        <p:spPr>
          <a:xfrm>
            <a:off x="1645920" y="1988820"/>
            <a:ext cx="34290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未計測。既存棚卸しでも「定量値なし」。</a:t>
            </a:r>
            <a:endParaRPr b="0" i="0" sz="900" u="none" cap="none" strike="noStrike">
              <a:solidFill>
                <a:srgbClr val="000000"/>
              </a:solidFill>
              <a:latin typeface="M PLUS 1p"/>
              <a:ea typeface="M PLUS 1p"/>
              <a:cs typeface="M PLUS 1p"/>
              <a:sym typeface="M PLUS 1p"/>
            </a:endParaRPr>
          </a:p>
        </p:txBody>
      </p:sp>
      <p:cxnSp>
        <p:nvCxnSpPr>
          <p:cNvPr id="1576" name="Google Shape;1576;p69"/>
          <p:cNvCxnSpPr/>
          <p:nvPr/>
        </p:nvCxnSpPr>
        <p:spPr>
          <a:xfrm>
            <a:off x="548640" y="2640330"/>
            <a:ext cx="4526400" cy="0"/>
          </a:xfrm>
          <a:prstGeom prst="straightConnector1">
            <a:avLst/>
          </a:prstGeom>
          <a:noFill/>
          <a:ln cap="flat" cmpd="sng" w="9525">
            <a:solidFill>
              <a:srgbClr val="E0E0E0"/>
            </a:solidFill>
            <a:prstDash val="solid"/>
            <a:round/>
            <a:headEnd len="sm" w="sm" type="none"/>
            <a:tailEnd len="sm" w="sm" type="none"/>
          </a:ln>
        </p:spPr>
      </p:cxnSp>
      <p:sp>
        <p:nvSpPr>
          <p:cNvPr id="1577" name="Google Shape;1577;p69"/>
          <p:cNvSpPr txBox="1"/>
          <p:nvPr/>
        </p:nvSpPr>
        <p:spPr>
          <a:xfrm>
            <a:off x="548640" y="2743200"/>
            <a:ext cx="10974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間接的な根拠</a:t>
            </a:r>
            <a:endParaRPr b="0" i="0" sz="900" u="none" cap="none" strike="noStrike">
              <a:solidFill>
                <a:srgbClr val="000000"/>
              </a:solidFill>
              <a:latin typeface="M PLUS 1p"/>
              <a:ea typeface="M PLUS 1p"/>
              <a:cs typeface="M PLUS 1p"/>
              <a:sym typeface="M PLUS 1p"/>
            </a:endParaRPr>
          </a:p>
        </p:txBody>
      </p:sp>
      <p:sp>
        <p:nvSpPr>
          <p:cNvPr id="1578" name="Google Shape;1578;p69"/>
          <p:cNvSpPr txBox="1"/>
          <p:nvPr/>
        </p:nvSpPr>
        <p:spPr>
          <a:xfrm>
            <a:off x="1645920" y="2743200"/>
            <a:ext cx="3429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なし。利用制限中の店舗は掲載自体ができないため、翌月継続率は定義上ほぼ0%になる。「継続率が低い」ことは自明で、スコアで予測する意味がない。</a:t>
            </a:r>
            <a:endParaRPr b="0" i="0" sz="900" u="none" cap="none" strike="noStrike">
              <a:solidFill>
                <a:srgbClr val="000000"/>
              </a:solidFill>
              <a:latin typeface="M PLUS 1p"/>
              <a:ea typeface="M PLUS 1p"/>
              <a:cs typeface="M PLUS 1p"/>
              <a:sym typeface="M PLUS 1p"/>
            </a:endParaRPr>
          </a:p>
        </p:txBody>
      </p:sp>
      <p:cxnSp>
        <p:nvCxnSpPr>
          <p:cNvPr id="1579" name="Google Shape;1579;p69"/>
          <p:cNvCxnSpPr/>
          <p:nvPr/>
        </p:nvCxnSpPr>
        <p:spPr>
          <a:xfrm>
            <a:off x="548640" y="3600450"/>
            <a:ext cx="4526400" cy="0"/>
          </a:xfrm>
          <a:prstGeom prst="straightConnector1">
            <a:avLst/>
          </a:prstGeom>
          <a:noFill/>
          <a:ln cap="flat" cmpd="sng" w="9525">
            <a:solidFill>
              <a:srgbClr val="E0E0E0"/>
            </a:solidFill>
            <a:prstDash val="solid"/>
            <a:round/>
            <a:headEnd len="sm" w="sm" type="none"/>
            <a:tailEnd len="sm" w="sm" type="none"/>
          </a:ln>
        </p:spPr>
      </p:cxnSp>
      <p:sp>
        <p:nvSpPr>
          <p:cNvPr id="1580" name="Google Shape;1580;p69"/>
          <p:cNvSpPr txBox="1"/>
          <p:nvPr/>
        </p:nvSpPr>
        <p:spPr>
          <a:xfrm>
            <a:off x="548640" y="3703320"/>
            <a:ext cx="10974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採用前に必要な検証</a:t>
            </a:r>
            <a:endParaRPr b="0" i="0" sz="900" u="none" cap="none" strike="noStrike">
              <a:solidFill>
                <a:srgbClr val="000000"/>
              </a:solidFill>
              <a:latin typeface="M PLUS 1p"/>
              <a:ea typeface="M PLUS 1p"/>
              <a:cs typeface="M PLUS 1p"/>
              <a:sym typeface="M PLUS 1p"/>
            </a:endParaRPr>
          </a:p>
        </p:txBody>
      </p:sp>
      <p:sp>
        <p:nvSpPr>
          <p:cNvPr id="1581" name="Google Shape;1581;p69"/>
          <p:cNvSpPr txBox="1"/>
          <p:nvPr/>
        </p:nvSpPr>
        <p:spPr>
          <a:xfrm>
            <a:off x="1645920" y="3703320"/>
            <a:ext cx="34290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① 新規店舗のうち初月〜翌月に利用制限がかかった件数と割合を把握（母数確認）</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② 制限解消から再掲載までの日数を計測し、解消後フォローの効果を確認</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③ 制限理由（未払い／規約違反）別に、解消後の継続率を比較</a:t>
            </a:r>
            <a:endParaRPr b="0" i="0" sz="900" u="none" cap="none" strike="noStrike">
              <a:solidFill>
                <a:srgbClr val="000000"/>
              </a:solidFill>
              <a:latin typeface="M PLUS 1p"/>
              <a:ea typeface="M PLUS 1p"/>
              <a:cs typeface="M PLUS 1p"/>
              <a:sym typeface="M PLUS 1p"/>
            </a:endParaRPr>
          </a:p>
        </p:txBody>
      </p:sp>
      <p:sp>
        <p:nvSpPr>
          <p:cNvPr id="1582" name="Google Shape;1582;p69"/>
          <p:cNvSpPr/>
          <p:nvPr/>
        </p:nvSpPr>
        <p:spPr>
          <a:xfrm>
            <a:off x="5410200" y="1200150"/>
            <a:ext cx="33720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83" name="Google Shape;1583;p69"/>
          <p:cNvSpPr txBox="1"/>
          <p:nvPr/>
        </p:nvSpPr>
        <p:spPr>
          <a:xfrm>
            <a:off x="5524500" y="1304925"/>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584" name="Google Shape;1584;p69"/>
          <p:cNvSpPr txBox="1"/>
          <p:nvPr/>
        </p:nvSpPr>
        <p:spPr>
          <a:xfrm>
            <a:off x="5524500" y="1533525"/>
            <a:ext cx="3143400" cy="77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翌月継続率との比較値なし</a:t>
            </a:r>
            <a:endParaRPr b="0" i="0" sz="900" u="none" cap="none" strike="noStrike">
              <a:solidFill>
                <a:srgbClr val="000000"/>
              </a:solidFill>
              <a:latin typeface="M PLUS 1p"/>
              <a:ea typeface="M PLUS 1p"/>
              <a:cs typeface="M PLUS 1p"/>
              <a:sym typeface="M PLUS 1p"/>
            </a:endParaRPr>
          </a:p>
        </p:txBody>
      </p:sp>
      <p:sp>
        <p:nvSpPr>
          <p:cNvPr id="1585" name="Google Shape;1585;p69"/>
          <p:cNvSpPr txBox="1"/>
          <p:nvPr/>
        </p:nvSpPr>
        <p:spPr>
          <a:xfrm>
            <a:off x="5524500" y="2329392"/>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586" name="Google Shape;1586;p69"/>
          <p:cNvSpPr txBox="1"/>
          <p:nvPr/>
        </p:nvSpPr>
        <p:spPr>
          <a:xfrm>
            <a:off x="5524500" y="2557992"/>
            <a:ext cx="3143400" cy="91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制限中は掲載不能なため、継続率との相関は構造的に決まっており、指標としての情報量がない</a:t>
            </a:r>
            <a:endParaRPr b="0" i="0" sz="900" u="none" cap="none" strike="noStrike">
              <a:solidFill>
                <a:srgbClr val="000000"/>
              </a:solidFill>
              <a:latin typeface="M PLUS 1p"/>
              <a:ea typeface="M PLUS 1p"/>
              <a:cs typeface="M PLUS 1p"/>
              <a:sym typeface="M PLUS 1p"/>
            </a:endParaRPr>
          </a:p>
        </p:txBody>
      </p:sp>
      <p:sp>
        <p:nvSpPr>
          <p:cNvPr id="1587" name="Google Shape;1587;p69"/>
          <p:cNvSpPr txBox="1"/>
          <p:nvPr/>
        </p:nvSpPr>
        <p:spPr>
          <a:xfrm>
            <a:off x="5524500" y="3488796"/>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588" name="Google Shape;1588;p69"/>
          <p:cNvSpPr txBox="1"/>
          <p:nvPr/>
        </p:nvSpPr>
        <p:spPr>
          <a:xfrm>
            <a:off x="5524500" y="3717396"/>
            <a:ext cx="3143400" cy="91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スコアではなく「除外・別管理」項目。制限中の店舗はスコア対象から外し、解消日をトリガーに再開フォローする。</a:t>
            </a:r>
            <a:endParaRPr b="0" i="0" sz="900" u="none" cap="none" strike="noStrike">
              <a:solidFill>
                <a:srgbClr val="000000"/>
              </a:solidFill>
              <a:latin typeface="M PLUS 1p"/>
              <a:ea typeface="M PLUS 1p"/>
              <a:cs typeface="M PLUS 1p"/>
              <a:sym typeface="M PLUS 1p"/>
            </a:endParaRPr>
          </a:p>
        </p:txBody>
      </p:sp>
      <p:sp>
        <p:nvSpPr>
          <p:cNvPr id="1589" name="Google Shape;1589;p69"/>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出典：ONB_現行スコアと次の候補.xlsx N70</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4" name="Shape 1594"/>
        <p:cNvGrpSpPr/>
        <p:nvPr/>
      </p:nvGrpSpPr>
      <p:grpSpPr>
        <a:xfrm>
          <a:off x="0" y="0"/>
          <a:ext cx="0" cy="0"/>
          <a:chOff x="0" y="0"/>
          <a:chExt cx="0" cy="0"/>
        </a:xfrm>
      </p:grpSpPr>
      <p:sp>
        <p:nvSpPr>
          <p:cNvPr id="1595" name="Google Shape;1595;p70"/>
          <p:cNvSpPr txBox="1"/>
          <p:nvPr/>
        </p:nvSpPr>
        <p:spPr>
          <a:xfrm>
            <a:off x="342900" y="240030"/>
            <a:ext cx="51435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No.22　自走での再掲載有無（営業の支援なしで2回目以降を作成・公開できたか）</a:t>
            </a:r>
            <a:endParaRPr b="0" i="0" sz="900" u="none" cap="none" strike="noStrike">
              <a:solidFill>
                <a:srgbClr val="000000"/>
              </a:solidFill>
              <a:latin typeface="M PLUS 1p"/>
              <a:ea typeface="M PLUS 1p"/>
              <a:cs typeface="M PLUS 1p"/>
              <a:sym typeface="M PLUS 1p"/>
            </a:endParaRPr>
          </a:p>
        </p:txBody>
      </p:sp>
      <p:sp>
        <p:nvSpPr>
          <p:cNvPr id="1596" name="Google Shape;1596;p70"/>
          <p:cNvSpPr/>
          <p:nvPr/>
        </p:nvSpPr>
        <p:spPr>
          <a:xfrm>
            <a:off x="5897880" y="205740"/>
            <a:ext cx="2914800" cy="274200"/>
          </a:xfrm>
          <a:prstGeom prst="roundRect">
            <a:avLst>
              <a:gd fmla="val 20000"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597" name="Google Shape;1597;p70"/>
          <p:cNvSpPr txBox="1"/>
          <p:nvPr/>
        </p:nvSpPr>
        <p:spPr>
          <a:xfrm>
            <a:off x="5897880" y="205740"/>
            <a:ext cx="2914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　定量根拠なし（要検証）</a:t>
            </a:r>
            <a:endParaRPr b="0" i="0" sz="900" u="none" cap="none" strike="noStrike">
              <a:solidFill>
                <a:srgbClr val="000000"/>
              </a:solidFill>
              <a:latin typeface="M PLUS 1p"/>
              <a:ea typeface="M PLUS 1p"/>
              <a:cs typeface="M PLUS 1p"/>
              <a:sym typeface="M PLUS 1p"/>
            </a:endParaRPr>
          </a:p>
        </p:txBody>
      </p:sp>
      <p:sp>
        <p:nvSpPr>
          <p:cNvPr id="1598" name="Google Shape;1598;p70"/>
          <p:cNvSpPr txBox="1"/>
          <p:nvPr/>
        </p:nvSpPr>
        <p:spPr>
          <a:xfrm>
            <a:off x="342900" y="480060"/>
            <a:ext cx="8435400" cy="6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500"/>
              <a:buFont typeface="M PLUS 1p"/>
              <a:buNone/>
            </a:pPr>
            <a:r>
              <a:rPr b="1" i="0" lang="ja" sz="1500" u="none" cap="none" strike="noStrike">
                <a:solidFill>
                  <a:srgbClr val="1A1A1A"/>
                </a:solidFill>
                <a:latin typeface="M PLUS 1p"/>
                <a:ea typeface="M PLUS 1p"/>
                <a:cs typeface="M PLUS 1p"/>
                <a:sym typeface="M PLUS 1p"/>
              </a:rPr>
              <a:t>自走で再掲載した店舗と営業代行で再掲載した店舗の翌月継続率を比較したデータはない。ONB完了の定義には不可欠だが、根拠は未取得</a:t>
            </a:r>
            <a:endParaRPr b="0" i="0" sz="1500" u="none" cap="none" strike="noStrike">
              <a:solidFill>
                <a:srgbClr val="000000"/>
              </a:solidFill>
              <a:latin typeface="M PLUS 1p"/>
              <a:ea typeface="M PLUS 1p"/>
              <a:cs typeface="M PLUS 1p"/>
              <a:sym typeface="M PLUS 1p"/>
            </a:endParaRPr>
          </a:p>
        </p:txBody>
      </p:sp>
      <p:sp>
        <p:nvSpPr>
          <p:cNvPr id="1599" name="Google Shape;1599;p70"/>
          <p:cNvSpPr/>
          <p:nvPr/>
        </p:nvSpPr>
        <p:spPr>
          <a:xfrm>
            <a:off x="342900" y="1200150"/>
            <a:ext cx="4937700" cy="3497700"/>
          </a:xfrm>
          <a:prstGeom prst="rect">
            <a:avLst/>
          </a:prstGeom>
          <a:solidFill>
            <a:srgbClr val="FFFFFF"/>
          </a:solidFill>
          <a:ln cap="flat" cmpd="sng" w="12700">
            <a:solidFill>
              <a:srgbClr val="E0E0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600" name="Google Shape;1600;p70"/>
          <p:cNvSpPr/>
          <p:nvPr/>
        </p:nvSpPr>
        <p:spPr>
          <a:xfrm>
            <a:off x="1954530" y="1405890"/>
            <a:ext cx="1714500" cy="411600"/>
          </a:xfrm>
          <a:prstGeom prst="roundRect">
            <a:avLst>
              <a:gd fmla="val 16667" name="adj"/>
            </a:avLst>
          </a:prstGeom>
          <a:solidFill>
            <a:srgbClr val="EDEDED"/>
          </a:solidFill>
          <a:ln cap="flat" cmpd="sng" w="12700">
            <a:solidFill>
              <a:srgbClr val="EDED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601" name="Google Shape;1601;p70"/>
          <p:cNvSpPr txBox="1"/>
          <p:nvPr/>
        </p:nvSpPr>
        <p:spPr>
          <a:xfrm>
            <a:off x="1954530" y="1405890"/>
            <a:ext cx="1714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95959"/>
              </a:buClr>
              <a:buSzPts val="800"/>
              <a:buFont typeface="M PLUS 1p"/>
              <a:buNone/>
            </a:pPr>
            <a:r>
              <a:rPr b="1" i="0" lang="ja" sz="900" u="none" cap="none" strike="noStrike">
                <a:solidFill>
                  <a:srgbClr val="595959"/>
                </a:solidFill>
                <a:latin typeface="M PLUS 1p"/>
                <a:ea typeface="M PLUS 1p"/>
                <a:cs typeface="M PLUS 1p"/>
                <a:sym typeface="M PLUS 1p"/>
              </a:rPr>
              <a:t>検証中（グラフ化できる数値なし）</a:t>
            </a:r>
            <a:endParaRPr b="0" i="0" sz="900" u="none" cap="none" strike="noStrike">
              <a:solidFill>
                <a:srgbClr val="000000"/>
              </a:solidFill>
              <a:latin typeface="M PLUS 1p"/>
              <a:ea typeface="M PLUS 1p"/>
              <a:cs typeface="M PLUS 1p"/>
              <a:sym typeface="M PLUS 1p"/>
            </a:endParaRPr>
          </a:p>
        </p:txBody>
      </p:sp>
      <p:sp>
        <p:nvSpPr>
          <p:cNvPr id="1602" name="Google Shape;1602;p70"/>
          <p:cNvSpPr txBox="1"/>
          <p:nvPr/>
        </p:nvSpPr>
        <p:spPr>
          <a:xfrm>
            <a:off x="548640" y="1988820"/>
            <a:ext cx="1097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翌月継続率の差</a:t>
            </a:r>
            <a:endParaRPr b="0" i="0" sz="900" u="none" cap="none" strike="noStrike">
              <a:solidFill>
                <a:srgbClr val="000000"/>
              </a:solidFill>
              <a:latin typeface="M PLUS 1p"/>
              <a:ea typeface="M PLUS 1p"/>
              <a:cs typeface="M PLUS 1p"/>
              <a:sym typeface="M PLUS 1p"/>
            </a:endParaRPr>
          </a:p>
        </p:txBody>
      </p:sp>
      <p:sp>
        <p:nvSpPr>
          <p:cNvPr id="1603" name="Google Shape;1603;p70"/>
          <p:cNvSpPr txBox="1"/>
          <p:nvPr/>
        </p:nvSpPr>
        <p:spPr>
          <a:xfrm>
            <a:off x="1645920" y="1988820"/>
            <a:ext cx="34290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未計測。「営業代行」「画面同行」「完全自走」を区別した継続率の比較は資料にない。</a:t>
            </a:r>
            <a:endParaRPr b="0" i="0" sz="900" u="none" cap="none" strike="noStrike">
              <a:solidFill>
                <a:srgbClr val="000000"/>
              </a:solidFill>
              <a:latin typeface="M PLUS 1p"/>
              <a:ea typeface="M PLUS 1p"/>
              <a:cs typeface="M PLUS 1p"/>
              <a:sym typeface="M PLUS 1p"/>
            </a:endParaRPr>
          </a:p>
        </p:txBody>
      </p:sp>
      <p:cxnSp>
        <p:nvCxnSpPr>
          <p:cNvPr id="1604" name="Google Shape;1604;p70"/>
          <p:cNvCxnSpPr/>
          <p:nvPr/>
        </p:nvCxnSpPr>
        <p:spPr>
          <a:xfrm>
            <a:off x="548640" y="2640330"/>
            <a:ext cx="4526400" cy="0"/>
          </a:xfrm>
          <a:prstGeom prst="straightConnector1">
            <a:avLst/>
          </a:prstGeom>
          <a:noFill/>
          <a:ln cap="flat" cmpd="sng" w="9525">
            <a:solidFill>
              <a:srgbClr val="E0E0E0"/>
            </a:solidFill>
            <a:prstDash val="solid"/>
            <a:round/>
            <a:headEnd len="sm" w="sm" type="none"/>
            <a:tailEnd len="sm" w="sm" type="none"/>
          </a:ln>
        </p:spPr>
      </p:cxnSp>
      <p:sp>
        <p:nvSpPr>
          <p:cNvPr id="1605" name="Google Shape;1605;p70"/>
          <p:cNvSpPr txBox="1"/>
          <p:nvPr/>
        </p:nvSpPr>
        <p:spPr>
          <a:xfrm>
            <a:off x="548640" y="2743200"/>
            <a:ext cx="10974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間接的な根拠</a:t>
            </a:r>
            <a:endParaRPr b="0" i="0" sz="900" u="none" cap="none" strike="noStrike">
              <a:solidFill>
                <a:srgbClr val="000000"/>
              </a:solidFill>
              <a:latin typeface="M PLUS 1p"/>
              <a:ea typeface="M PLUS 1p"/>
              <a:cs typeface="M PLUS 1p"/>
              <a:sym typeface="M PLUS 1p"/>
            </a:endParaRPr>
          </a:p>
        </p:txBody>
      </p:sp>
      <p:sp>
        <p:nvSpPr>
          <p:cNvPr id="1606" name="Google Shape;1606;p70"/>
          <p:cNvSpPr txBox="1"/>
          <p:nvPr/>
        </p:nvSpPr>
        <p:spPr>
          <a:xfrm>
            <a:off x="1645920" y="2743200"/>
            <a:ext cx="3429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2回目掲載の有無（No.1）は差63.8ptと強いが、それが自走か代行かは区別されていない。運用上は「営業が全部入力＝代行」「画面共有で手伝う＝同行」「顧客だけで公開＝自走」の3区分が提案されている。</a:t>
            </a:r>
            <a:endParaRPr b="0" i="0" sz="900" u="none" cap="none" strike="noStrike">
              <a:solidFill>
                <a:srgbClr val="000000"/>
              </a:solidFill>
              <a:latin typeface="M PLUS 1p"/>
              <a:ea typeface="M PLUS 1p"/>
              <a:cs typeface="M PLUS 1p"/>
              <a:sym typeface="M PLUS 1p"/>
            </a:endParaRPr>
          </a:p>
        </p:txBody>
      </p:sp>
      <p:cxnSp>
        <p:nvCxnSpPr>
          <p:cNvPr id="1607" name="Google Shape;1607;p70"/>
          <p:cNvCxnSpPr/>
          <p:nvPr/>
        </p:nvCxnSpPr>
        <p:spPr>
          <a:xfrm>
            <a:off x="548640" y="3600450"/>
            <a:ext cx="4526400" cy="0"/>
          </a:xfrm>
          <a:prstGeom prst="straightConnector1">
            <a:avLst/>
          </a:prstGeom>
          <a:noFill/>
          <a:ln cap="flat" cmpd="sng" w="9525">
            <a:solidFill>
              <a:srgbClr val="E0E0E0"/>
            </a:solidFill>
            <a:prstDash val="solid"/>
            <a:round/>
            <a:headEnd len="sm" w="sm" type="none"/>
            <a:tailEnd len="sm" w="sm" type="none"/>
          </a:ln>
        </p:spPr>
      </p:cxnSp>
      <p:sp>
        <p:nvSpPr>
          <p:cNvPr id="1608" name="Google Shape;1608;p70"/>
          <p:cNvSpPr txBox="1"/>
          <p:nvPr/>
        </p:nvSpPr>
        <p:spPr>
          <a:xfrm>
            <a:off x="548640" y="3703320"/>
            <a:ext cx="10974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900" u="none" cap="none" strike="noStrike">
                <a:solidFill>
                  <a:srgbClr val="1A1A1A"/>
                </a:solidFill>
                <a:latin typeface="M PLUS 1p"/>
                <a:ea typeface="M PLUS 1p"/>
                <a:cs typeface="M PLUS 1p"/>
                <a:sym typeface="M PLUS 1p"/>
              </a:rPr>
              <a:t>採用前に必要な検証</a:t>
            </a:r>
            <a:endParaRPr b="0" i="0" sz="900" u="none" cap="none" strike="noStrike">
              <a:solidFill>
                <a:srgbClr val="000000"/>
              </a:solidFill>
              <a:latin typeface="M PLUS 1p"/>
              <a:ea typeface="M PLUS 1p"/>
              <a:cs typeface="M PLUS 1p"/>
              <a:sym typeface="M PLUS 1p"/>
            </a:endParaRPr>
          </a:p>
        </p:txBody>
      </p:sp>
      <p:sp>
        <p:nvSpPr>
          <p:cNvPr id="1609" name="Google Shape;1609;p70"/>
          <p:cNvSpPr txBox="1"/>
          <p:nvPr/>
        </p:nvSpPr>
        <p:spPr>
          <a:xfrm>
            <a:off x="1645920" y="3703320"/>
            <a:ext cx="34290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① 操作主体（誰が公開ボタンを押したか）のログ取得可否をプロダクト側に確認。取れない場合は営業の支援履歴から判定</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② 2回目掲載あり店舗を自走／同行／代行に分け、翌月継続率を比較</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0"/>
              </a:spcBef>
              <a:spcAft>
                <a:spcPts val="0"/>
              </a:spcAft>
              <a:buClr>
                <a:srgbClr val="1A1A1A"/>
              </a:buClr>
              <a:buSzPts val="800"/>
              <a:buFont typeface="M PLUS 1p"/>
              <a:buNone/>
            </a:pPr>
            <a:r>
              <a:rPr b="0" i="0" lang="ja" sz="900" u="none" cap="none" strike="noStrike">
                <a:solidFill>
                  <a:srgbClr val="1A1A1A"/>
                </a:solidFill>
                <a:latin typeface="M PLUS 1p"/>
                <a:ea typeface="M PLUS 1p"/>
                <a:cs typeface="M PLUS 1p"/>
                <a:sym typeface="M PLUS 1p"/>
              </a:rPr>
              <a:t>③ 代行で2回目を作った店舗が翌月に自走できているかを追跡</a:t>
            </a:r>
            <a:endParaRPr b="0" i="0" sz="900" u="none" cap="none" strike="noStrike">
              <a:solidFill>
                <a:srgbClr val="000000"/>
              </a:solidFill>
              <a:latin typeface="M PLUS 1p"/>
              <a:ea typeface="M PLUS 1p"/>
              <a:cs typeface="M PLUS 1p"/>
              <a:sym typeface="M PLUS 1p"/>
            </a:endParaRPr>
          </a:p>
        </p:txBody>
      </p:sp>
      <p:sp>
        <p:nvSpPr>
          <p:cNvPr id="1610" name="Google Shape;1610;p70"/>
          <p:cNvSpPr/>
          <p:nvPr/>
        </p:nvSpPr>
        <p:spPr>
          <a:xfrm>
            <a:off x="5410200" y="1200150"/>
            <a:ext cx="3372000" cy="349770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M PLUS 1p"/>
              <a:buNone/>
            </a:pPr>
            <a:r>
              <a:t/>
            </a:r>
            <a:endParaRPr b="0" i="0" sz="1400" u="none" cap="none" strike="noStrike">
              <a:solidFill>
                <a:srgbClr val="000000"/>
              </a:solidFill>
              <a:latin typeface="M PLUS 1p"/>
              <a:ea typeface="M PLUS 1p"/>
              <a:cs typeface="M PLUS 1p"/>
              <a:sym typeface="M PLUS 1p"/>
            </a:endParaRPr>
          </a:p>
        </p:txBody>
      </p:sp>
      <p:sp>
        <p:nvSpPr>
          <p:cNvPr id="1611" name="Google Shape;1611;p70"/>
          <p:cNvSpPr txBox="1"/>
          <p:nvPr/>
        </p:nvSpPr>
        <p:spPr>
          <a:xfrm>
            <a:off x="5524500" y="1304925"/>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事実（データで確認できること）</a:t>
            </a:r>
            <a:endParaRPr b="0" i="0" sz="1000" u="none" cap="none" strike="noStrike">
              <a:solidFill>
                <a:srgbClr val="000000"/>
              </a:solidFill>
              <a:latin typeface="M PLUS 1p"/>
              <a:ea typeface="M PLUS 1p"/>
              <a:cs typeface="M PLUS 1p"/>
              <a:sym typeface="M PLUS 1p"/>
            </a:endParaRPr>
          </a:p>
        </p:txBody>
      </p:sp>
      <p:sp>
        <p:nvSpPr>
          <p:cNvPr id="1612" name="Google Shape;1612;p70"/>
          <p:cNvSpPr txBox="1"/>
          <p:nvPr/>
        </p:nvSpPr>
        <p:spPr>
          <a:xfrm>
            <a:off x="5524500" y="1533525"/>
            <a:ext cx="3143400" cy="78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翌月継続率との比較値なし</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2回目掲載そのものは差63.8pt（No.1）</a:t>
            </a:r>
            <a:endParaRPr b="0" i="0" sz="900" u="none" cap="none" strike="noStrike">
              <a:solidFill>
                <a:srgbClr val="000000"/>
              </a:solidFill>
              <a:latin typeface="M PLUS 1p"/>
              <a:ea typeface="M PLUS 1p"/>
              <a:cs typeface="M PLUS 1p"/>
              <a:sym typeface="M PLUS 1p"/>
            </a:endParaRPr>
          </a:p>
        </p:txBody>
      </p:sp>
      <p:sp>
        <p:nvSpPr>
          <p:cNvPr id="1613" name="Google Shape;1613;p70"/>
          <p:cNvSpPr txBox="1"/>
          <p:nvPr/>
        </p:nvSpPr>
        <p:spPr>
          <a:xfrm>
            <a:off x="5524500" y="2342092"/>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注意（定義・比較条件の限界）</a:t>
            </a:r>
            <a:endParaRPr b="0" i="0" sz="1000" u="none" cap="none" strike="noStrike">
              <a:solidFill>
                <a:srgbClr val="000000"/>
              </a:solidFill>
              <a:latin typeface="M PLUS 1p"/>
              <a:ea typeface="M PLUS 1p"/>
              <a:cs typeface="M PLUS 1p"/>
              <a:sym typeface="M PLUS 1p"/>
            </a:endParaRPr>
          </a:p>
        </p:txBody>
      </p:sp>
      <p:sp>
        <p:nvSpPr>
          <p:cNvPr id="1614" name="Google Shape;1614;p70"/>
          <p:cNvSpPr txBox="1"/>
          <p:nvPr/>
        </p:nvSpPr>
        <p:spPr>
          <a:xfrm>
            <a:off x="5524500" y="2570692"/>
            <a:ext cx="3143400" cy="92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代行で作った2回目掲載は「顧客の行動変化」ではなく「営業の行動」。同じ＋1点で扱うと継続予測を歪める</a:t>
            </a:r>
            <a:endParaRPr b="0" i="0" sz="900" u="none" cap="none" strike="noStrike">
              <a:solidFill>
                <a:srgbClr val="000000"/>
              </a:solidFill>
              <a:latin typeface="M PLUS 1p"/>
              <a:ea typeface="M PLUS 1p"/>
              <a:cs typeface="M PLUS 1p"/>
              <a:sym typeface="M PLUS 1p"/>
            </a:endParaRPr>
          </a:p>
          <a:p>
            <a:pPr indent="0" lvl="0" marL="0" marR="0" rtl="0" algn="l">
              <a:lnSpc>
                <a:spcPct val="100000"/>
              </a:lnSpc>
              <a:spcBef>
                <a:spcPts val="20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操作主体のログがないと判定が営業の自己申告になる</a:t>
            </a:r>
            <a:endParaRPr b="0" i="0" sz="900" u="none" cap="none" strike="noStrike">
              <a:solidFill>
                <a:srgbClr val="000000"/>
              </a:solidFill>
              <a:latin typeface="M PLUS 1p"/>
              <a:ea typeface="M PLUS 1p"/>
              <a:cs typeface="M PLUS 1p"/>
              <a:sym typeface="M PLUS 1p"/>
            </a:endParaRPr>
          </a:p>
        </p:txBody>
      </p:sp>
      <p:sp>
        <p:nvSpPr>
          <p:cNvPr id="1615" name="Google Shape;1615;p70"/>
          <p:cNvSpPr txBox="1"/>
          <p:nvPr/>
        </p:nvSpPr>
        <p:spPr>
          <a:xfrm>
            <a:off x="5524500" y="3514196"/>
            <a:ext cx="31434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800"/>
              <a:buFont typeface="M PLUS 1p"/>
              <a:buNone/>
            </a:pPr>
            <a:r>
              <a:rPr b="1" i="0" lang="ja" sz="1000" u="none" cap="none" strike="noStrike">
                <a:solidFill>
                  <a:srgbClr val="1A1A1A"/>
                </a:solidFill>
                <a:latin typeface="M PLUS 1p"/>
                <a:ea typeface="M PLUS 1p"/>
                <a:cs typeface="M PLUS 1p"/>
                <a:sym typeface="M PLUS 1p"/>
              </a:rPr>
              <a:t>スコアへの示唆</a:t>
            </a:r>
            <a:endParaRPr b="0" i="0" sz="1000" u="none" cap="none" strike="noStrike">
              <a:solidFill>
                <a:srgbClr val="000000"/>
              </a:solidFill>
              <a:latin typeface="M PLUS 1p"/>
              <a:ea typeface="M PLUS 1p"/>
              <a:cs typeface="M PLUS 1p"/>
              <a:sym typeface="M PLUS 1p"/>
            </a:endParaRPr>
          </a:p>
        </p:txBody>
      </p:sp>
      <p:sp>
        <p:nvSpPr>
          <p:cNvPr id="1616" name="Google Shape;1616;p70"/>
          <p:cNvSpPr txBox="1"/>
          <p:nvPr/>
        </p:nvSpPr>
        <p:spPr>
          <a:xfrm>
            <a:off x="5524500" y="3742796"/>
            <a:ext cx="3143400" cy="88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M PLUS 1p"/>
              <a:buNone/>
            </a:pPr>
            <a:r>
              <a:rPr b="0" i="0" lang="ja" sz="900" u="none" cap="none" strike="noStrike">
                <a:solidFill>
                  <a:srgbClr val="1A1A1A"/>
                </a:solidFill>
                <a:latin typeface="M PLUS 1p"/>
                <a:ea typeface="M PLUS 1p"/>
                <a:cs typeface="M PLUS 1p"/>
                <a:sym typeface="M PLUS 1p"/>
              </a:rPr>
              <a:t>スコアの加点ではなく「ONB完了条件」の候補。No.1の2回目掲載を「自走で」に限定できれば、指標の質が上がる。取得手段の確認が先。</a:t>
            </a:r>
            <a:endParaRPr b="0" i="0" sz="900" u="none" cap="none" strike="noStrike">
              <a:solidFill>
                <a:srgbClr val="000000"/>
              </a:solidFill>
              <a:latin typeface="M PLUS 1p"/>
              <a:ea typeface="M PLUS 1p"/>
              <a:cs typeface="M PLUS 1p"/>
              <a:sym typeface="M PLUS 1p"/>
            </a:endParaRPr>
          </a:p>
        </p:txBody>
      </p:sp>
      <p:sp>
        <p:nvSpPr>
          <p:cNvPr id="1617" name="Google Shape;1617;p70"/>
          <p:cNvSpPr txBox="1"/>
          <p:nvPr/>
        </p:nvSpPr>
        <p:spPr>
          <a:xfrm>
            <a:off x="342900" y="4800600"/>
            <a:ext cx="84354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M PLUS 1p"/>
              <a:buNone/>
            </a:pPr>
            <a:r>
              <a:rPr b="0" i="0" lang="ja" sz="750" u="none" cap="none" strike="noStrike">
                <a:solidFill>
                  <a:srgbClr val="595959"/>
                </a:solidFill>
                <a:latin typeface="M PLUS 1p"/>
                <a:ea typeface="M PLUS 1p"/>
                <a:cs typeface="M PLUS 1p"/>
                <a:sym typeface="M PLUS 1p"/>
              </a:rPr>
              <a:t>出典：ONB_現行スコアと次の候補.xlsx N07・運用ガイド KPI案　／　ONB スコアリング 施策概要（2026.9） p.14</a:t>
            </a:r>
            <a:endParaRPr b="0" i="0" sz="750" u="none" cap="none" strike="noStrike">
              <a:solidFill>
                <a:srgbClr val="000000"/>
              </a:solidFill>
              <a:latin typeface="M PLUS 1p"/>
              <a:ea typeface="M PLUS 1p"/>
              <a:cs typeface="M PLUS 1p"/>
              <a:sym typeface="M PLUS 1p"/>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